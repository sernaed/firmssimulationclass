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8" d="100"/>
          <a:sy n="108" d="100"/>
        </p:scale>
        <p:origin x="67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692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9" Type="http://schemas.openxmlformats.org/officeDocument/2006/relationships/image" Target="../media/image7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869680" y="-2834640"/>
            <a:ext cx="5029200" cy="5029200"/>
          </a:xfrm>
          <a:prstGeom prst="ellipse">
            <a:avLst/>
          </a:prstGeom>
          <a:solidFill>
            <a:srgbClr val="047857"/>
          </a:solidFill>
          <a:ln/>
        </p:spPr>
        <p:txBody>
          <a:bodyPr/>
          <a:lstStyle/>
          <a:p>
            <a:endParaRPr lang="es-MX"/>
          </a:p>
        </p:txBody>
      </p:sp>
      <p:sp>
        <p:nvSpPr>
          <p:cNvPr id="3" name="Shape 1"/>
          <p:cNvSpPr/>
          <p:nvPr/>
        </p:nvSpPr>
        <p:spPr>
          <a:xfrm>
            <a:off x="-1691640" y="4617720"/>
            <a:ext cx="4114800" cy="4114800"/>
          </a:xfrm>
          <a:prstGeom prst="ellipse">
            <a:avLst/>
          </a:prstGeom>
          <a:solidFill>
            <a:srgbClr val="0E7490"/>
          </a:solidFill>
          <a:ln/>
        </p:spPr>
        <p:txBody>
          <a:bodyPr/>
          <a:lstStyle/>
          <a:p>
            <a:endParaRPr lang="es-MX"/>
          </a:p>
        </p:txBody>
      </p:sp>
      <p:sp>
        <p:nvSpPr>
          <p:cNvPr id="4" name="Shape 2"/>
          <p:cNvSpPr/>
          <p:nvPr/>
        </p:nvSpPr>
        <p:spPr>
          <a:xfrm>
            <a:off x="3977640" y="1051560"/>
            <a:ext cx="4206240" cy="384048"/>
          </a:xfrm>
          <a:prstGeom prst="roundRect">
            <a:avLst>
              <a:gd name="adj" fmla="val 50000"/>
            </a:avLst>
          </a:prstGeom>
          <a:solidFill>
            <a:srgbClr val="D1FAE5"/>
          </a:solidFill>
          <a:ln/>
        </p:spPr>
        <p:txBody>
          <a:bodyPr/>
          <a:lstStyle/>
          <a:p>
            <a:endParaRPr lang="es-MX"/>
          </a:p>
        </p:txBody>
      </p:sp>
      <p:sp>
        <p:nvSpPr>
          <p:cNvPr id="5" name="Text 3"/>
          <p:cNvSpPr/>
          <p:nvPr/>
        </p:nvSpPr>
        <p:spPr>
          <a:xfrm>
            <a:off x="3977640" y="1051560"/>
            <a:ext cx="4206240" cy="384048"/>
          </a:xfrm>
          <a:prstGeom prst="rect">
            <a:avLst/>
          </a:prstGeom>
          <a:noFill/>
          <a:ln/>
        </p:spPr>
        <p:txBody>
          <a:bodyPr wrap="square" rtlCol="0" anchor="ctr"/>
          <a:lstStyle/>
          <a:p>
            <a:pPr marL="0" indent="0" algn="ctr">
              <a:buNone/>
            </a:pPr>
            <a:r>
              <a:rPr lang="en-US" sz="1300" b="1" kern="0" spc="100" dirty="0">
                <a:solidFill>
                  <a:srgbClr val="047857"/>
                </a:solidFill>
                <a:latin typeface="Calibri" pitchFamily="34" charset="0"/>
                <a:ea typeface="Calibri" pitchFamily="34" charset="-122"/>
                <a:cs typeface="Calibri" pitchFamily="34" charset="-120"/>
              </a:rPr>
              <a:t>CÁLCULO III  •  SESIÓN 4</a:t>
            </a:r>
            <a:endParaRPr lang="en-US" sz="1300" dirty="0"/>
          </a:p>
        </p:txBody>
      </p:sp>
      <p:sp>
        <p:nvSpPr>
          <p:cNvPr id="6" name="Text 4"/>
          <p:cNvSpPr/>
          <p:nvPr/>
        </p:nvSpPr>
        <p:spPr>
          <a:xfrm>
            <a:off x="731520" y="1691640"/>
            <a:ext cx="10725912" cy="1051560"/>
          </a:xfrm>
          <a:prstGeom prst="rect">
            <a:avLst/>
          </a:prstGeom>
          <a:noFill/>
          <a:ln/>
        </p:spPr>
        <p:txBody>
          <a:bodyPr wrap="square" rtlCol="0" anchor="t"/>
          <a:lstStyle/>
          <a:p>
            <a:pPr marL="0" indent="0" algn="ctr">
              <a:buNone/>
            </a:pPr>
            <a:r>
              <a:rPr lang="en-US" sz="3800" b="1" dirty="0">
                <a:solidFill>
                  <a:srgbClr val="0F172A"/>
                </a:solidFill>
                <a:latin typeface="Calibri" pitchFamily="34" charset="0"/>
                <a:ea typeface="Calibri" pitchFamily="34" charset="-122"/>
                <a:cs typeface="Calibri" pitchFamily="34" charset="-120"/>
              </a:rPr>
              <a:t>Ecuaciones Lineales de Primer Orden</a:t>
            </a:r>
            <a:endParaRPr lang="en-US" sz="3800" dirty="0"/>
          </a:p>
        </p:txBody>
      </p:sp>
      <p:sp>
        <p:nvSpPr>
          <p:cNvPr id="7" name="Text 5"/>
          <p:cNvSpPr/>
          <p:nvPr/>
        </p:nvSpPr>
        <p:spPr>
          <a:xfrm>
            <a:off x="731520" y="2697480"/>
            <a:ext cx="10725912" cy="502920"/>
          </a:xfrm>
          <a:prstGeom prst="rect">
            <a:avLst/>
          </a:prstGeom>
          <a:noFill/>
          <a:ln/>
        </p:spPr>
        <p:txBody>
          <a:bodyPr wrap="square" rtlCol="0" anchor="t"/>
          <a:lstStyle/>
          <a:p>
            <a:pPr marL="0" indent="0" algn="ctr">
              <a:buNone/>
            </a:pPr>
            <a:r>
              <a:rPr lang="en-US" sz="1900" dirty="0">
                <a:solidFill>
                  <a:srgbClr val="047857"/>
                </a:solidFill>
                <a:latin typeface="Calibri" pitchFamily="34" charset="0"/>
                <a:ea typeface="Calibri" pitchFamily="34" charset="-122"/>
                <a:cs typeface="Calibri" pitchFamily="34" charset="-120"/>
              </a:rPr>
              <a:t>El factor que convierte cualquier ecuación en una derivada exacta</a:t>
            </a:r>
            <a:endParaRPr lang="en-US" sz="1900" dirty="0"/>
          </a:p>
        </p:txBody>
      </p:sp>
      <p:sp>
        <p:nvSpPr>
          <p:cNvPr id="8" name="Shape 6"/>
          <p:cNvSpPr/>
          <p:nvPr/>
        </p:nvSpPr>
        <p:spPr>
          <a:xfrm>
            <a:off x="1435608" y="3429000"/>
            <a:ext cx="9326880" cy="2926080"/>
          </a:xfrm>
          <a:prstGeom prst="roundRect">
            <a:avLst>
              <a:gd name="adj" fmla="val 3125"/>
            </a:avLst>
          </a:prstGeom>
          <a:solidFill>
            <a:srgbClr val="F1F5F9"/>
          </a:solidFill>
          <a:ln w="12700">
            <a:solidFill>
              <a:srgbClr val="E2E8F0"/>
            </a:solidFill>
            <a:prstDash val="solid"/>
          </a:ln>
        </p:spPr>
        <p:txBody>
          <a:bodyPr/>
          <a:lstStyle/>
          <a:p>
            <a:endParaRPr lang="es-MX"/>
          </a:p>
        </p:txBody>
      </p:sp>
      <p:sp>
        <p:nvSpPr>
          <p:cNvPr id="9" name="Text 7"/>
          <p:cNvSpPr/>
          <p:nvPr/>
        </p:nvSpPr>
        <p:spPr>
          <a:xfrm>
            <a:off x="1892808" y="3657600"/>
            <a:ext cx="8412480" cy="1005840"/>
          </a:xfrm>
          <a:prstGeom prst="rect">
            <a:avLst/>
          </a:prstGeom>
          <a:noFill/>
          <a:ln/>
        </p:spPr>
        <p:txBody>
          <a:bodyPr wrap="square" rtlCol="0" anchor="t"/>
          <a:lstStyle/>
          <a:p>
            <a:pPr marL="0" indent="0" algn="ctr">
              <a:lnSpc>
                <a:spcPct val="125000"/>
              </a:lnSpc>
              <a:buNone/>
            </a:pPr>
            <a:r>
              <a:rPr lang="en-US" sz="1500" dirty="0">
                <a:solidFill>
                  <a:srgbClr val="334155"/>
                </a:solidFill>
                <a:latin typeface="Calibri" pitchFamily="34" charset="0"/>
                <a:ea typeface="Calibri" pitchFamily="34" charset="-122"/>
                <a:cs typeface="Calibri" pitchFamily="34" charset="-120"/>
              </a:rPr>
              <a:t>En la Sesión 3 preguntamos: ¿qué hacemos cuando la ecuación ya no se deja separar? Hoy respondemos con una segunda técnica: el factor integrante, que convierte el lado izquierdo de cualquier ecuación lineal en la derivada de un producto.</a:t>
            </a:r>
            <a:endParaRPr lang="en-US" sz="1500" dirty="0"/>
          </a:p>
        </p:txBody>
      </p:sp>
      <p:sp>
        <p:nvSpPr>
          <p:cNvPr id="10" name="Shape 8"/>
          <p:cNvSpPr/>
          <p:nvPr/>
        </p:nvSpPr>
        <p:spPr>
          <a:xfrm>
            <a:off x="2651760" y="4754880"/>
            <a:ext cx="6858000" cy="1371600"/>
          </a:xfrm>
          <a:prstGeom prst="roundRect">
            <a:avLst>
              <a:gd name="adj" fmla="val 4667"/>
            </a:avLst>
          </a:prstGeom>
          <a:solidFill>
            <a:srgbClr val="FFFFFF"/>
          </a:solidFill>
          <a:ln w="12700">
            <a:solidFill>
              <a:srgbClr val="CBD5E1"/>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1" name="Text 9"/>
              <p:cNvSpPr/>
              <p:nvPr/>
            </p:nvSpPr>
            <p:spPr>
              <a:xfrm>
                <a:off x="2651760" y="4754880"/>
                <a:ext cx="6858000" cy="1371600"/>
              </a:xfrm>
              <a:prstGeom prst="rect">
                <a:avLst/>
              </a:prstGeom>
              <a:noFill/>
              <a:ln/>
            </p:spPr>
            <p:txBody>
              <a:bodyPr wrap="square" rtlCol="0" anchor="ctr"/>
              <a:lstStyle/>
              <a:p>
                <a:pPr marL="0" indent="0" algn="ctr">
                  <a:buNone/>
                  <a:defRPr sz="3600">
                    <a:solidFill>
                      <a:srgbClr val="047857"/>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m:oMathPara>
                </a14:m>
                <a:endParaRPr lang="en-US" sz="3600" dirty="0"/>
              </a:p>
            </p:txBody>
          </p:sp>
        </mc:Choice>
        <mc:Fallback>
          <p:sp>
            <p:nvSpPr>
              <p:cNvPr id="11" name="Text 9"/>
              <p:cNvSpPr>
                <a:spLocks noRot="1" noChangeAspect="1" noMove="1" noResize="1" noEditPoints="1" noAdjustHandles="1" noChangeArrowheads="1" noChangeShapeType="1" noTextEdit="1"/>
              </p:cNvSpPr>
              <p:nvPr/>
            </p:nvSpPr>
            <p:spPr>
              <a:xfrm>
                <a:off x="2651760" y="4754880"/>
                <a:ext cx="6858000" cy="1371600"/>
              </a:xfrm>
              <a:prstGeom prst="rect">
                <a:avLst/>
              </a:prstGeom>
              <a:blipFill>
                <a:blip r:embed="rId3"/>
                <a:stretch>
                  <a:fillRect/>
                </a:stretch>
              </a:blipFill>
              <a:ln/>
            </p:spPr>
            <p:txBody>
              <a:bodyPr/>
              <a:lstStyle/>
              <a:p>
                <a:r>
                  <a:rPr lang="es-MX">
                    <a:noFill/>
                  </a:rPr>
                  <a:t> </a:t>
                </a:r>
              </a:p>
            </p:txBody>
          </p:sp>
        </mc:Fallback>
      </mc:AlternateContent>
      <p:sp>
        <p:nvSpPr>
          <p:cNvPr id="12" name="Text 10"/>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2971800" cy="384048"/>
          </a:xfrm>
          <a:prstGeom prst="roundRect">
            <a:avLst>
              <a:gd name="adj" fmla="val 50000"/>
            </a:avLst>
          </a:prstGeom>
          <a:solidFill>
            <a:srgbClr val="CFFAFE"/>
          </a:solidFill>
          <a:ln/>
        </p:spPr>
        <p:txBody>
          <a:bodyPr/>
          <a:lstStyle/>
          <a:p>
            <a:endParaRPr lang="es-MX"/>
          </a:p>
        </p:txBody>
      </p:sp>
      <p:sp>
        <p:nvSpPr>
          <p:cNvPr id="3" name="Text 1"/>
          <p:cNvSpPr/>
          <p:nvPr/>
        </p:nvSpPr>
        <p:spPr>
          <a:xfrm>
            <a:off x="548640" y="365760"/>
            <a:ext cx="2971800" cy="384048"/>
          </a:xfrm>
          <a:prstGeom prst="rect">
            <a:avLst/>
          </a:prstGeom>
          <a:noFill/>
          <a:ln/>
        </p:spPr>
        <p:txBody>
          <a:bodyPr wrap="square" rtlCol="0" anchor="ctr"/>
          <a:lstStyle/>
          <a:p>
            <a:pPr marL="0" indent="0" algn="ctr">
              <a:buNone/>
            </a:pPr>
            <a:r>
              <a:rPr lang="en-US" sz="1300" b="1" kern="0" spc="100" dirty="0">
                <a:solidFill>
                  <a:srgbClr val="0E7490"/>
                </a:solidFill>
                <a:latin typeface="Calibri" pitchFamily="34" charset="0"/>
                <a:ea typeface="Calibri" pitchFamily="34" charset="-122"/>
                <a:cs typeface="Calibri" pitchFamily="34" charset="-120"/>
              </a:rPr>
              <a:t>1.4 TÉCNICAS DE 1ER ORDEN</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¿Qué es una Ecuación Lineal?</a:t>
            </a:r>
            <a:endParaRPr lang="en-US" sz="3200" dirty="0"/>
          </a:p>
        </p:txBody>
      </p:sp>
      <p:sp>
        <p:nvSpPr>
          <p:cNvPr id="5" name="Text 3"/>
          <p:cNvSpPr/>
          <p:nvPr/>
        </p:nvSpPr>
        <p:spPr>
          <a:xfrm>
            <a:off x="548640" y="1554480"/>
            <a:ext cx="11091672" cy="457200"/>
          </a:xfrm>
          <a:prstGeom prst="rect">
            <a:avLst/>
          </a:prstGeom>
          <a:noFill/>
          <a:ln/>
        </p:spPr>
        <p:txBody>
          <a:bodyPr wrap="square" rtlCol="0" anchor="t"/>
          <a:lstStyle/>
          <a:p>
            <a:pPr marL="0" indent="0" algn="l">
              <a:buNone/>
            </a:pPr>
            <a:r>
              <a:rPr lang="en-US" sz="1700" dirty="0">
                <a:solidFill>
                  <a:srgbClr val="0E7490"/>
                </a:solidFill>
                <a:latin typeface="Calibri" pitchFamily="34" charset="0"/>
                <a:ea typeface="Calibri" pitchFamily="34" charset="-122"/>
                <a:cs typeface="Calibri" pitchFamily="34" charset="-120"/>
              </a:rPr>
              <a:t>Cuando y y sus derivadas aparecen solo a la primera potencia</a:t>
            </a:r>
            <a:endParaRPr lang="en-US" sz="1700" dirty="0"/>
          </a:p>
        </p:txBody>
      </p:sp>
      <p:sp>
        <p:nvSpPr>
          <p:cNvPr id="6" name="Shape 4"/>
          <p:cNvSpPr/>
          <p:nvPr/>
        </p:nvSpPr>
        <p:spPr>
          <a:xfrm>
            <a:off x="548640" y="2057400"/>
            <a:ext cx="11091672" cy="1965960"/>
          </a:xfrm>
          <a:prstGeom prst="roundRect">
            <a:avLst>
              <a:gd name="adj" fmla="val 4651"/>
            </a:avLst>
          </a:prstGeom>
          <a:solidFill>
            <a:srgbClr val="F1F5F9"/>
          </a:solidFill>
          <a:ln w="12700">
            <a:solidFill>
              <a:srgbClr val="E2E8F0"/>
            </a:solidFill>
            <a:prstDash val="solid"/>
          </a:ln>
        </p:spPr>
        <p:txBody>
          <a:bodyPr/>
          <a:lstStyle/>
          <a:p>
            <a:endParaRPr lang="es-MX"/>
          </a:p>
        </p:txBody>
      </p:sp>
      <p:sp>
        <p:nvSpPr>
          <p:cNvPr id="7" name="Text 5"/>
          <p:cNvSpPr/>
          <p:nvPr/>
        </p:nvSpPr>
        <p:spPr>
          <a:xfrm>
            <a:off x="868680" y="2240280"/>
            <a:ext cx="10424160" cy="365760"/>
          </a:xfrm>
          <a:prstGeom prst="rect">
            <a:avLst/>
          </a:prstGeom>
          <a:noFill/>
          <a:ln/>
        </p:spPr>
        <p:txBody>
          <a:bodyPr wrap="square" rtlCol="0" anchor="t"/>
          <a:lstStyle/>
          <a:p>
            <a:pPr marL="0" indent="0">
              <a:buNone/>
            </a:pPr>
            <a:r>
              <a:rPr lang="en-US" sz="1450" dirty="0">
                <a:solidFill>
                  <a:srgbClr val="334155"/>
                </a:solidFill>
                <a:latin typeface="Calibri" pitchFamily="34" charset="0"/>
                <a:ea typeface="Calibri" pitchFamily="34" charset="-122"/>
                <a:cs typeface="Calibri" pitchFamily="34" charset="-120"/>
              </a:rPr>
              <a:t>Una ED de primer orden es </a:t>
            </a:r>
            <a:r>
              <a:rPr lang="en-US" sz="1450" b="1" dirty="0">
                <a:solidFill>
                  <a:srgbClr val="0E7490"/>
                </a:solidFill>
                <a:latin typeface="Calibri" pitchFamily="34" charset="0"/>
                <a:ea typeface="Calibri" pitchFamily="34" charset="-122"/>
                <a:cs typeface="Calibri" pitchFamily="34" charset="-120"/>
              </a:rPr>
              <a:t>lineal</a:t>
            </a:r>
            <a:r>
              <a:rPr lang="en-US" sz="1450" dirty="0">
                <a:solidFill>
                  <a:srgbClr val="334155"/>
                </a:solidFill>
                <a:latin typeface="Calibri" pitchFamily="34" charset="0"/>
                <a:ea typeface="Calibri" pitchFamily="34" charset="-122"/>
                <a:cs typeface="Calibri" pitchFamily="34" charset="-120"/>
              </a:rPr>
              <a:t> si tiene la forma general</a:t>
            </a:r>
            <a:endParaRPr lang="en-US" sz="1450" dirty="0"/>
          </a:p>
        </p:txBody>
      </p:sp>
      <p:sp>
        <p:nvSpPr>
          <p:cNvPr id="8" name="Shape 6"/>
          <p:cNvSpPr/>
          <p:nvPr/>
        </p:nvSpPr>
        <p:spPr>
          <a:xfrm>
            <a:off x="914400" y="2651760"/>
            <a:ext cx="4572000" cy="685800"/>
          </a:xfrm>
          <a:prstGeom prst="roundRect">
            <a:avLst>
              <a:gd name="adj" fmla="val 9333"/>
            </a:avLst>
          </a:prstGeom>
          <a:solidFill>
            <a:srgbClr val="FFFFFF"/>
          </a:solidFill>
          <a:ln w="12700">
            <a:solidFill>
              <a:srgbClr val="CBD5E1"/>
            </a:solidFill>
            <a:prstDash val="solid"/>
          </a:ln>
        </p:spPr>
        <p:txBody>
          <a:bodyPr/>
          <a:lstStyle/>
          <a:p>
            <a:endParaRPr lang="es-MX"/>
          </a:p>
        </p:txBody>
      </p:sp>
      <mc:AlternateContent xmlns:mc="http://schemas.openxmlformats.org/markup-compatibility/2006">
        <mc:Choice xmlns:a14="http://schemas.microsoft.com/office/drawing/2010/main" Requires="a14">
          <p:sp>
            <p:nvSpPr>
              <p:cNvPr id="9" name="Text 7"/>
              <p:cNvSpPr/>
              <p:nvPr/>
            </p:nvSpPr>
            <p:spPr>
              <a:xfrm>
                <a:off x="914400" y="2651760"/>
                <a:ext cx="4572000" cy="685800"/>
              </a:xfrm>
              <a:prstGeom prst="rect">
                <a:avLst/>
              </a:prstGeom>
              <a:noFill/>
              <a:ln/>
            </p:spPr>
            <p:txBody>
              <a:bodyPr wrap="square" rtlCol="0" anchor="ctr"/>
              <a:lstStyle/>
              <a:p>
                <a:pPr marL="0" indent="0" algn="ctr">
                  <a:buNone/>
                  <a:defRPr sz="2000">
                    <a:solidFill>
                      <a:srgbClr val="0F172A"/>
                    </a:solidFill>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1</m:t>
                          </m:r>
                        </m:sub>
                      </m:sSub>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0</m:t>
                          </m:r>
                        </m:sub>
                      </m:sSub>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𝑔</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m:oMathPara>
                </a14:m>
                <a:endParaRPr lang="en-US" sz="2000" dirty="0"/>
              </a:p>
            </p:txBody>
          </p:sp>
        </mc:Choice>
        <mc:Fallback>
          <p:sp>
            <p:nvSpPr>
              <p:cNvPr id="9" name="Text 7"/>
              <p:cNvSpPr>
                <a:spLocks noRot="1" noChangeAspect="1" noMove="1" noResize="1" noEditPoints="1" noAdjustHandles="1" noChangeArrowheads="1" noChangeShapeType="1" noTextEdit="1"/>
              </p:cNvSpPr>
              <p:nvPr/>
            </p:nvSpPr>
            <p:spPr>
              <a:xfrm>
                <a:off x="914400" y="2651760"/>
                <a:ext cx="4572000" cy="685800"/>
              </a:xfrm>
              <a:prstGeom prst="rect">
                <a:avLst/>
              </a:prstGeom>
              <a:blipFill>
                <a:blip r:embed="rId3"/>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0" name="Text 8"/>
              <p:cNvSpPr/>
              <p:nvPr/>
            </p:nvSpPr>
            <p:spPr>
              <a:xfrm>
                <a:off x="5760720" y="2651760"/>
                <a:ext cx="5303520" cy="365760"/>
              </a:xfrm>
              <a:prstGeom prst="rect">
                <a:avLst/>
              </a:prstGeom>
              <a:noFill/>
              <a:ln/>
            </p:spPr>
            <p:txBody>
              <a:bodyPr wrap="square" rtlCol="0" anchor="t"/>
              <a:lstStyle/>
              <a:p>
                <a:pPr marL="0" indent="0">
                  <a:buNone/>
                  <a:defRPr sz="1350">
                    <a:solidFill>
                      <a:srgbClr val="334155"/>
                    </a:solidFill>
                  </a:defRPr>
                </a:pPr>
                <a:r>
                  <a:rPr lang="en-US" sz="1350" dirty="0">
                    <a:solidFill>
                      <a:srgbClr val="334155"/>
                    </a:solidFill>
                    <a:latin typeface="Calibri" pitchFamily="34" charset="0"/>
                    <a:ea typeface="Calibri" pitchFamily="34" charset="-122"/>
                    <a:cs typeface="Calibri" pitchFamily="34" charset="-120"/>
                  </a:rPr>
                  <a:t>Dividiendo entre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𝑎</m:t>
                        </m:r>
                      </m:e>
                      <m:sub>
                        <m:r>
                          <a:rPr>
                            <a:latin typeface="Cambria Math" panose="02040503050406030204" pitchFamily="18" charset="0"/>
                          </a:rPr>
                          <m:t>1</m:t>
                        </m:r>
                      </m:sub>
                    </m:sSub>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a14:m>
                <a:r>
                  <a:rPr lang="en-US" sz="1350" dirty="0">
                    <a:solidFill>
                      <a:srgbClr val="334155"/>
                    </a:solidFill>
                    <a:latin typeface="Calibri" pitchFamily="34" charset="0"/>
                    <a:ea typeface="Calibri" pitchFamily="34" charset="-122"/>
                    <a:cs typeface="Calibri" pitchFamily="34" charset="-120"/>
                  </a:rPr>
                  <a:t> obtenemos la </a:t>
                </a:r>
                <a:r>
                  <a:rPr lang="en-US" sz="1350" b="1" dirty="0">
                    <a:solidFill>
                      <a:srgbClr val="334155"/>
                    </a:solidFill>
                    <a:latin typeface="Calibri" pitchFamily="34" charset="0"/>
                    <a:ea typeface="Calibri" pitchFamily="34" charset="-122"/>
                    <a:cs typeface="Calibri" pitchFamily="34" charset="-120"/>
                  </a:rPr>
                  <a:t>forma estándar:</a:t>
                </a:r>
                <a:endParaRPr lang="en-US" sz="1350" dirty="0"/>
              </a:p>
            </p:txBody>
          </p:sp>
        </mc:Choice>
        <mc:Fallback>
          <p:sp>
            <p:nvSpPr>
              <p:cNvPr id="10" name="Text 8"/>
              <p:cNvSpPr>
                <a:spLocks noRot="1" noChangeAspect="1" noMove="1" noResize="1" noEditPoints="1" noAdjustHandles="1" noChangeArrowheads="1" noChangeShapeType="1" noTextEdit="1"/>
              </p:cNvSpPr>
              <p:nvPr/>
            </p:nvSpPr>
            <p:spPr>
              <a:xfrm>
                <a:off x="5760720" y="2651760"/>
                <a:ext cx="5303520" cy="365760"/>
              </a:xfrm>
              <a:prstGeom prst="rect">
                <a:avLst/>
              </a:prstGeom>
              <a:blipFill>
                <a:blip r:embed="rId4"/>
                <a:stretch>
                  <a:fillRect l="-230" t="-1667"/>
                </a:stretch>
              </a:blipFill>
              <a:ln/>
            </p:spPr>
            <p:txBody>
              <a:bodyPr/>
              <a:lstStyle/>
              <a:p>
                <a:r>
                  <a:rPr lang="es-MX">
                    <a:noFill/>
                  </a:rPr>
                  <a:t> </a:t>
                </a:r>
              </a:p>
            </p:txBody>
          </p:sp>
        </mc:Fallback>
      </mc:AlternateContent>
      <p:sp>
        <p:nvSpPr>
          <p:cNvPr id="11" name="Shape 9"/>
          <p:cNvSpPr/>
          <p:nvPr/>
        </p:nvSpPr>
        <p:spPr>
          <a:xfrm>
            <a:off x="6126480" y="3017520"/>
            <a:ext cx="4599432" cy="640080"/>
          </a:xfrm>
          <a:prstGeom prst="roundRect">
            <a:avLst>
              <a:gd name="adj" fmla="val 10000"/>
            </a:avLst>
          </a:prstGeom>
          <a:solidFill>
            <a:srgbClr val="FFFFFF"/>
          </a:solidFill>
          <a:ln w="12700">
            <a:solidFill>
              <a:srgbClr val="CBD5E1"/>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2" name="Text 10"/>
              <p:cNvSpPr/>
              <p:nvPr/>
            </p:nvSpPr>
            <p:spPr>
              <a:xfrm>
                <a:off x="6126480" y="3017520"/>
                <a:ext cx="4599432" cy="640080"/>
              </a:xfrm>
              <a:prstGeom prst="rect">
                <a:avLst/>
              </a:prstGeom>
              <a:noFill/>
              <a:ln/>
            </p:spPr>
            <p:txBody>
              <a:bodyPr wrap="square" rtlCol="0" anchor="ctr"/>
              <a:lstStyle/>
              <a:p>
                <a:pPr marL="0" indent="0" algn="ctr">
                  <a:buNone/>
                  <a:defRPr sz="2000">
                    <a:solidFill>
                      <a:srgbClr val="0E7490"/>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m:oMathPara>
                </a14:m>
                <a:endParaRPr lang="en-US" sz="2000" dirty="0"/>
              </a:p>
            </p:txBody>
          </p:sp>
        </mc:Choice>
        <mc:Fallback>
          <p:sp>
            <p:nvSpPr>
              <p:cNvPr id="12" name="Text 10"/>
              <p:cNvSpPr>
                <a:spLocks noRot="1" noChangeAspect="1" noMove="1" noResize="1" noEditPoints="1" noAdjustHandles="1" noChangeArrowheads="1" noChangeShapeType="1" noTextEdit="1"/>
              </p:cNvSpPr>
              <p:nvPr/>
            </p:nvSpPr>
            <p:spPr>
              <a:xfrm>
                <a:off x="6126480" y="3017520"/>
                <a:ext cx="4599432" cy="640080"/>
              </a:xfrm>
              <a:prstGeom prst="rect">
                <a:avLst/>
              </a:prstGeom>
              <a:blipFill>
                <a:blip r:embed="rId5"/>
                <a:stretch>
                  <a:fillRect/>
                </a:stretch>
              </a:blipFill>
              <a:ln/>
            </p:spPr>
            <p:txBody>
              <a:bodyPr/>
              <a:lstStyle/>
              <a:p>
                <a:r>
                  <a:rPr lang="es-MX">
                    <a:noFill/>
                  </a:rPr>
                  <a:t> </a:t>
                </a:r>
              </a:p>
            </p:txBody>
          </p:sp>
        </mc:Fallback>
      </mc:AlternateContent>
      <p:sp>
        <p:nvSpPr>
          <p:cNvPr id="13" name="Shape 11"/>
          <p:cNvSpPr/>
          <p:nvPr/>
        </p:nvSpPr>
        <p:spPr>
          <a:xfrm>
            <a:off x="548640" y="4343400"/>
            <a:ext cx="5349240" cy="1965960"/>
          </a:xfrm>
          <a:prstGeom prst="roundRect">
            <a:avLst>
              <a:gd name="adj" fmla="val 4651"/>
            </a:avLst>
          </a:prstGeom>
          <a:solidFill>
            <a:srgbClr val="D1FAE5"/>
          </a:solidFill>
          <a:ln w="12700">
            <a:solidFill>
              <a:srgbClr val="A7F3D0"/>
            </a:solidFill>
            <a:prstDash val="solid"/>
          </a:ln>
        </p:spPr>
        <p:txBody>
          <a:bodyPr/>
          <a:lstStyle/>
          <a:p>
            <a:endParaRPr lang="es-MX"/>
          </a:p>
        </p:txBody>
      </p:sp>
      <p:sp>
        <p:nvSpPr>
          <p:cNvPr id="14" name="Shape 12"/>
          <p:cNvSpPr/>
          <p:nvPr/>
        </p:nvSpPr>
        <p:spPr>
          <a:xfrm>
            <a:off x="777240" y="4544568"/>
            <a:ext cx="457200" cy="457200"/>
          </a:xfrm>
          <a:prstGeom prst="ellipse">
            <a:avLst/>
          </a:prstGeom>
          <a:solidFill>
            <a:srgbClr val="FFFFFF"/>
          </a:solidFill>
          <a:ln/>
        </p:spPr>
        <p:txBody>
          <a:bodyPr/>
          <a:lstStyle/>
          <a:p>
            <a:endParaRPr lang="es-MX"/>
          </a:p>
        </p:txBody>
      </p:sp>
      <p:sp>
        <p:nvSpPr>
          <p:cNvPr id="15" name="Text 13"/>
          <p:cNvSpPr/>
          <p:nvPr/>
        </p:nvSpPr>
        <p:spPr>
          <a:xfrm>
            <a:off x="777240" y="4544568"/>
            <a:ext cx="457200" cy="457200"/>
          </a:xfrm>
          <a:prstGeom prst="rect">
            <a:avLst/>
          </a:prstGeom>
          <a:noFill/>
          <a:ln/>
        </p:spPr>
        <p:txBody>
          <a:bodyPr wrap="square" rtlCol="0" anchor="ctr"/>
          <a:lstStyle/>
          <a:p>
            <a:pPr marL="0" indent="0" algn="ctr">
              <a:buNone/>
            </a:pPr>
            <a:r>
              <a:rPr lang="en-US" sz="1600" b="1" dirty="0">
                <a:solidFill>
                  <a:srgbClr val="047857"/>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1371600" y="4544568"/>
            <a:ext cx="4114800" cy="457200"/>
          </a:xfrm>
          <a:prstGeom prst="rect">
            <a:avLst/>
          </a:prstGeom>
          <a:noFill/>
          <a:ln/>
        </p:spPr>
        <p:txBody>
          <a:bodyPr wrap="square" rtlCol="0" anchor="ctr"/>
          <a:lstStyle/>
          <a:p>
            <a:pPr marL="0" indent="0">
              <a:buNone/>
            </a:pPr>
            <a:r>
              <a:rPr lang="en-US" sz="1800" b="1" dirty="0">
                <a:solidFill>
                  <a:srgbClr val="047857"/>
                </a:solidFill>
                <a:latin typeface="Calibri" pitchFamily="34" charset="0"/>
                <a:ea typeface="Calibri" pitchFamily="34" charset="-122"/>
                <a:cs typeface="Calibri" pitchFamily="34" charset="-120"/>
              </a:rPr>
              <a:t>SÍ es lineal</a:t>
            </a:r>
            <a:endParaRPr lang="en-US" sz="1800" dirty="0"/>
          </a:p>
        </p:txBody>
      </p:sp>
      <mc:AlternateContent xmlns:mc="http://schemas.openxmlformats.org/markup-compatibility/2006">
        <mc:Choice xmlns:a14="http://schemas.microsoft.com/office/drawing/2010/main" Requires="a14">
          <p:sp>
            <p:nvSpPr>
              <p:cNvPr id="17" name="Text 15"/>
              <p:cNvSpPr/>
              <p:nvPr/>
            </p:nvSpPr>
            <p:spPr>
              <a:xfrm>
                <a:off x="777240" y="5120640"/>
                <a:ext cx="4892040" cy="1051560"/>
              </a:xfrm>
              <a:prstGeom prst="rect">
                <a:avLst/>
              </a:prstGeom>
              <a:noFill/>
              <a:ln/>
            </p:spPr>
            <p:txBody>
              <a:bodyPr wrap="square" rtlCol="0" anchor="t"/>
              <a:lstStyle/>
              <a:p>
                <a:pPr marL="0" indent="0">
                  <a:lnSpc>
                    <a:spcPct val="160000"/>
                  </a:lnSpc>
                  <a:buNone/>
                  <a:defRPr sz="1250">
                    <a:solidFill>
                      <a:srgbClr val="065F46"/>
                    </a:solidFill>
                  </a:defRPr>
                </a:pPr>
                <a14:m>
                  <m:oMath xmlns:m="http://schemas.openxmlformats.org/officeDocument/2006/math">
                    <m:r>
                      <a:rPr>
                        <a:latin typeface="Cambria Math" panose="02040503050406030204" pitchFamily="18" charset="0"/>
                      </a:rPr>
                      <m:t>𝑥</m:t>
                    </m:r>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oMath>
                </a14:m>
                <a:r>
                  <a:rPr lang="en-US" sz="1250" dirty="0">
                    <a:solidFill>
                      <a:srgbClr val="065F46"/>
                    </a:solidFill>
                    <a:latin typeface="Calibri" pitchFamily="34" charset="0"/>
                    <a:ea typeface="Calibri" pitchFamily="34" charset="-122"/>
                    <a:cs typeface="Calibri" pitchFamily="34" charset="-120"/>
                  </a:rPr>
                  <a:t>   →   coef. variable, pero y y y' a la 1ª potencia</a:t>
                </a:r>
                <a:endParaRPr lang="en-US" sz="1250" dirty="0"/>
              </a:p>
              <a:p>
                <a:pPr marL="0" indent="0">
                  <a:lnSpc>
                    <a:spcPct val="160000"/>
                  </a:lnSpc>
                  <a:buNone/>
                  <a:defRPr sz="1250">
                    <a:solidFill>
                      <a:srgbClr val="065F46"/>
                    </a:solidFill>
                  </a:defRPr>
                </a:pP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−3</m:t>
                    </m:r>
                    <m:r>
                      <a:rPr>
                        <a:latin typeface="Cambria Math" panose="02040503050406030204" pitchFamily="18" charset="0"/>
                      </a:rPr>
                      <m:t>𝑦</m:t>
                    </m:r>
                    <m:r>
                      <a:rPr>
                        <a:latin typeface="Cambria Math" panose="02040503050406030204" pitchFamily="18" charset="0"/>
                      </a:rPr>
                      <m:t>=6</m:t>
                    </m:r>
                  </m:oMath>
                </a14:m>
                <a:r>
                  <a:rPr lang="en-US" sz="1250" dirty="0">
                    <a:solidFill>
                      <a:srgbClr val="065F46"/>
                    </a:solidFill>
                    <a:latin typeface="Calibri" pitchFamily="34" charset="0"/>
                    <a:ea typeface="Calibri" pitchFamily="34" charset="-122"/>
                    <a:cs typeface="Calibri" pitchFamily="34" charset="-120"/>
                  </a:rPr>
                  <a:t>   →   coeficientes constantes</a:t>
                </a:r>
                <a:endParaRPr lang="en-US" sz="1250" dirty="0"/>
              </a:p>
              <a:p>
                <a:pPr marL="0" indent="0">
                  <a:lnSpc>
                    <a:spcPct val="160000"/>
                  </a:lnSpc>
                  <a:buNone/>
                  <a:defRPr sz="1250">
                    <a:solidFill>
                      <a:srgbClr val="065F46"/>
                    </a:solidFill>
                  </a:defRPr>
                </a:pP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m:t>
                    </m:r>
                    <m:r>
                      <a:rPr>
                        <a:latin typeface="Cambria Math" panose="02040503050406030204" pitchFamily="18" charset="0"/>
                      </a:rPr>
                      <m:t>𝑥𝑦</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𝑥</m:t>
                        </m:r>
                      </m:sup>
                    </m:sSup>
                  </m:oMath>
                </a14:m>
                <a:r>
                  <a:rPr lang="en-US" sz="1250" dirty="0">
                    <a:solidFill>
                      <a:srgbClr val="065F46"/>
                    </a:solidFill>
                    <a:latin typeface="Calibri" pitchFamily="34" charset="0"/>
                    <a:ea typeface="Calibri" pitchFamily="34" charset="-122"/>
                    <a:cs typeface="Calibri" pitchFamily="34" charset="-120"/>
                  </a:rPr>
                  <a:t>   →   forma estándar directa</a:t>
                </a:r>
                <a:endParaRPr lang="en-US" sz="1250" dirty="0"/>
              </a:p>
            </p:txBody>
          </p:sp>
        </mc:Choice>
        <mc:Fallback>
          <p:sp>
            <p:nvSpPr>
              <p:cNvPr id="17" name="Text 15"/>
              <p:cNvSpPr>
                <a:spLocks noRot="1" noChangeAspect="1" noMove="1" noResize="1" noEditPoints="1" noAdjustHandles="1" noChangeArrowheads="1" noChangeShapeType="1" noTextEdit="1"/>
              </p:cNvSpPr>
              <p:nvPr/>
            </p:nvSpPr>
            <p:spPr>
              <a:xfrm>
                <a:off x="777240" y="5120640"/>
                <a:ext cx="4892040" cy="1051560"/>
              </a:xfrm>
              <a:prstGeom prst="rect">
                <a:avLst/>
              </a:prstGeom>
              <a:blipFill>
                <a:blip r:embed="rId6"/>
                <a:stretch>
                  <a:fillRect/>
                </a:stretch>
              </a:blipFill>
              <a:ln/>
            </p:spPr>
            <p:txBody>
              <a:bodyPr/>
              <a:lstStyle/>
              <a:p>
                <a:r>
                  <a:rPr lang="es-MX">
                    <a:noFill/>
                  </a:rPr>
                  <a:t> </a:t>
                </a:r>
              </a:p>
            </p:txBody>
          </p:sp>
        </mc:Fallback>
      </mc:AlternateContent>
      <p:sp>
        <p:nvSpPr>
          <p:cNvPr id="18" name="Shape 16"/>
          <p:cNvSpPr/>
          <p:nvPr/>
        </p:nvSpPr>
        <p:spPr>
          <a:xfrm>
            <a:off x="6291072" y="4343400"/>
            <a:ext cx="5349240" cy="1965960"/>
          </a:xfrm>
          <a:prstGeom prst="roundRect">
            <a:avLst>
              <a:gd name="adj" fmla="val 4651"/>
            </a:avLst>
          </a:prstGeom>
          <a:solidFill>
            <a:srgbClr val="FFE4E6"/>
          </a:solidFill>
          <a:ln w="12700">
            <a:solidFill>
              <a:srgbClr val="FECDD3"/>
            </a:solidFill>
            <a:prstDash val="solid"/>
          </a:ln>
        </p:spPr>
        <p:txBody>
          <a:bodyPr/>
          <a:lstStyle/>
          <a:p>
            <a:endParaRPr lang="es-MX"/>
          </a:p>
        </p:txBody>
      </p:sp>
      <p:sp>
        <p:nvSpPr>
          <p:cNvPr id="19" name="Shape 17"/>
          <p:cNvSpPr/>
          <p:nvPr/>
        </p:nvSpPr>
        <p:spPr>
          <a:xfrm>
            <a:off x="6519672" y="4544568"/>
            <a:ext cx="457200" cy="457200"/>
          </a:xfrm>
          <a:prstGeom prst="ellipse">
            <a:avLst/>
          </a:prstGeom>
          <a:solidFill>
            <a:srgbClr val="FFFFFF"/>
          </a:solidFill>
          <a:ln/>
        </p:spPr>
        <p:txBody>
          <a:bodyPr/>
          <a:lstStyle/>
          <a:p>
            <a:endParaRPr lang="es-MX"/>
          </a:p>
        </p:txBody>
      </p:sp>
      <p:sp>
        <p:nvSpPr>
          <p:cNvPr id="20" name="Text 18"/>
          <p:cNvSpPr/>
          <p:nvPr/>
        </p:nvSpPr>
        <p:spPr>
          <a:xfrm>
            <a:off x="6519672" y="4544568"/>
            <a:ext cx="457200" cy="457200"/>
          </a:xfrm>
          <a:prstGeom prst="rect">
            <a:avLst/>
          </a:prstGeom>
          <a:noFill/>
          <a:ln/>
        </p:spPr>
        <p:txBody>
          <a:bodyPr wrap="square" rtlCol="0" anchor="ctr"/>
          <a:lstStyle/>
          <a:p>
            <a:pPr marL="0" indent="0" algn="ctr">
              <a:buNone/>
            </a:pPr>
            <a:r>
              <a:rPr lang="en-US" sz="1600" b="1" dirty="0">
                <a:solidFill>
                  <a:srgbClr val="BE123C"/>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7114032" y="4544568"/>
            <a:ext cx="4114800" cy="457200"/>
          </a:xfrm>
          <a:prstGeom prst="rect">
            <a:avLst/>
          </a:prstGeom>
          <a:noFill/>
          <a:ln/>
        </p:spPr>
        <p:txBody>
          <a:bodyPr wrap="square" rtlCol="0" anchor="ctr"/>
          <a:lstStyle/>
          <a:p>
            <a:pPr marL="0" indent="0">
              <a:buNone/>
            </a:pPr>
            <a:r>
              <a:rPr lang="en-US" sz="1800" b="1" dirty="0">
                <a:solidFill>
                  <a:srgbClr val="BE123C"/>
                </a:solidFill>
                <a:latin typeface="Calibri" pitchFamily="34" charset="0"/>
                <a:ea typeface="Calibri" pitchFamily="34" charset="-122"/>
                <a:cs typeface="Calibri" pitchFamily="34" charset="-120"/>
              </a:rPr>
              <a:t>NO es lineal</a:t>
            </a:r>
            <a:endParaRPr lang="en-US" sz="1800" dirty="0"/>
          </a:p>
        </p:txBody>
      </p:sp>
      <mc:AlternateContent xmlns:mc="http://schemas.openxmlformats.org/markup-compatibility/2006">
        <mc:Choice xmlns:a14="http://schemas.microsoft.com/office/drawing/2010/main" Requires="a14">
          <p:sp>
            <p:nvSpPr>
              <p:cNvPr id="22" name="Text 20"/>
              <p:cNvSpPr/>
              <p:nvPr/>
            </p:nvSpPr>
            <p:spPr>
              <a:xfrm>
                <a:off x="6519672" y="5120640"/>
                <a:ext cx="4892040" cy="1051560"/>
              </a:xfrm>
              <a:prstGeom prst="rect">
                <a:avLst/>
              </a:prstGeom>
              <a:noFill/>
              <a:ln/>
            </p:spPr>
            <p:txBody>
              <a:bodyPr wrap="square" rtlCol="0" anchor="t"/>
              <a:lstStyle/>
              <a:p>
                <a:pPr marL="0" indent="0">
                  <a:lnSpc>
                    <a:spcPct val="160000"/>
                  </a:lnSpc>
                  <a:buNone/>
                  <a:defRPr sz="1250">
                    <a:solidFill>
                      <a:srgbClr val="9F1239"/>
                    </a:solidFill>
                  </a:defRPr>
                </a:pP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2</m:t>
                        </m:r>
                      </m:sup>
                    </m:sSup>
                    <m:r>
                      <a:rPr>
                        <a:latin typeface="Cambria Math" panose="02040503050406030204" pitchFamily="18" charset="0"/>
                      </a:rPr>
                      <m:t>=0</m:t>
                    </m:r>
                  </m:oMath>
                </a14:m>
                <a:r>
                  <a:rPr lang="en-US" sz="1250" dirty="0">
                    <a:solidFill>
                      <a:srgbClr val="9F1239"/>
                    </a:solidFill>
                    <a:latin typeface="Calibri" pitchFamily="34" charset="0"/>
                    <a:ea typeface="Calibri" pitchFamily="34" charset="-122"/>
                    <a:cs typeface="Calibri" pitchFamily="34" charset="-120"/>
                  </a:rPr>
                  <a:t>   →   y aparece al cuadrado</a:t>
                </a:r>
                <a:endParaRPr lang="en-US" sz="1250" dirty="0"/>
              </a:p>
              <a:p>
                <a:pPr marL="0" indent="0">
                  <a:lnSpc>
                    <a:spcPct val="160000"/>
                  </a:lnSpc>
                  <a:buNone/>
                  <a:defRPr sz="1250">
                    <a:solidFill>
                      <a:srgbClr val="9F1239"/>
                    </a:solidFill>
                  </a:defRPr>
                </a:pPr>
                <a14:m>
                  <m:oMath xmlns:m="http://schemas.openxmlformats.org/officeDocument/2006/math">
                    <m:r>
                      <a:rPr>
                        <a:latin typeface="Cambria Math" panose="02040503050406030204" pitchFamily="18" charset="0"/>
                      </a:rPr>
                      <m:t>𝑦</m:t>
                    </m:r>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m:t>
                    </m:r>
                    <m:r>
                      <a:rPr>
                        <a:latin typeface="Cambria Math" panose="02040503050406030204" pitchFamily="18" charset="0"/>
                      </a:rPr>
                      <m:t>𝑥</m:t>
                    </m:r>
                  </m:oMath>
                </a14:m>
                <a:r>
                  <a:rPr lang="en-US" sz="1250" dirty="0">
                    <a:solidFill>
                      <a:srgbClr val="9F1239"/>
                    </a:solidFill>
                    <a:latin typeface="Calibri" pitchFamily="34" charset="0"/>
                    <a:ea typeface="Calibri" pitchFamily="34" charset="-122"/>
                    <a:cs typeface="Calibri" pitchFamily="34" charset="-120"/>
                  </a:rPr>
                  <a:t>   →   producto de y con y'</a:t>
                </a:r>
                <a:endParaRPr lang="en-US" sz="1250" dirty="0"/>
              </a:p>
              <a:p>
                <a:pPr marL="0" indent="0">
                  <a:lnSpc>
                    <a:spcPct val="160000"/>
                  </a:lnSpc>
                  <a:buNone/>
                  <a:defRPr sz="1250">
                    <a:solidFill>
                      <a:srgbClr val="9F1239"/>
                    </a:solidFill>
                  </a:defRPr>
                </a:pP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m:t>
                    </m:r>
                    <m:r>
                      <m:rPr>
                        <m:sty m:val="p"/>
                      </m:rPr>
                      <a:rPr>
                        <a:latin typeface="Cambria Math" panose="02040503050406030204" pitchFamily="18" charset="0"/>
                      </a:rPr>
                      <m:t>sin</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oMath>
                </a14:m>
                <a:r>
                  <a:rPr lang="en-US" sz="1250" dirty="0">
                    <a:solidFill>
                      <a:srgbClr val="9F1239"/>
                    </a:solidFill>
                    <a:latin typeface="Calibri" pitchFamily="34" charset="0"/>
                    <a:ea typeface="Calibri" pitchFamily="34" charset="-122"/>
                    <a:cs typeface="Calibri" pitchFamily="34" charset="-120"/>
                  </a:rPr>
                  <a:t>   →   y dentro de una función no lineal</a:t>
                </a:r>
                <a:endParaRPr lang="en-US" sz="1250" dirty="0"/>
              </a:p>
            </p:txBody>
          </p:sp>
        </mc:Choice>
        <mc:Fallback>
          <p:sp>
            <p:nvSpPr>
              <p:cNvPr id="22" name="Text 20"/>
              <p:cNvSpPr>
                <a:spLocks noRot="1" noChangeAspect="1" noMove="1" noResize="1" noEditPoints="1" noAdjustHandles="1" noChangeArrowheads="1" noChangeShapeType="1" noTextEdit="1"/>
              </p:cNvSpPr>
              <p:nvPr/>
            </p:nvSpPr>
            <p:spPr>
              <a:xfrm>
                <a:off x="6519672" y="5120640"/>
                <a:ext cx="4892040" cy="1051560"/>
              </a:xfrm>
              <a:prstGeom prst="rect">
                <a:avLst/>
              </a:prstGeom>
              <a:blipFill>
                <a:blip r:embed="rId7"/>
                <a:stretch>
                  <a:fillRect/>
                </a:stretch>
              </a:blipFill>
              <a:ln/>
            </p:spPr>
            <p:txBody>
              <a:bodyPr/>
              <a:lstStyle/>
              <a:p>
                <a:r>
                  <a:rPr lang="es-MX">
                    <a:noFill/>
                  </a:rPr>
                  <a:t> </a:t>
                </a:r>
              </a:p>
            </p:txBody>
          </p:sp>
        </mc:Fallback>
      </mc:AlternateContent>
      <p:sp>
        <p:nvSpPr>
          <p:cNvPr id="23" name="Text 21"/>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2468880" cy="384048"/>
          </a:xfrm>
          <a:prstGeom prst="roundRect">
            <a:avLst>
              <a:gd name="adj" fmla="val 50000"/>
            </a:avLst>
          </a:prstGeom>
          <a:solidFill>
            <a:srgbClr val="D1FAE5"/>
          </a:solidFill>
          <a:ln/>
        </p:spPr>
        <p:txBody>
          <a:bodyPr/>
          <a:lstStyle/>
          <a:p>
            <a:endParaRPr lang="es-MX"/>
          </a:p>
        </p:txBody>
      </p:sp>
      <p:sp>
        <p:nvSpPr>
          <p:cNvPr id="3" name="Text 1"/>
          <p:cNvSpPr/>
          <p:nvPr/>
        </p:nvSpPr>
        <p:spPr>
          <a:xfrm>
            <a:off x="548640" y="365760"/>
            <a:ext cx="2468880" cy="384048"/>
          </a:xfrm>
          <a:prstGeom prst="rect">
            <a:avLst/>
          </a:prstGeom>
          <a:noFill/>
          <a:ln/>
        </p:spPr>
        <p:txBody>
          <a:bodyPr wrap="square" rtlCol="0" anchor="ctr"/>
          <a:lstStyle/>
          <a:p>
            <a:pPr marL="0" indent="0" algn="ctr">
              <a:buNone/>
            </a:pPr>
            <a:r>
              <a:rPr lang="en-US" sz="1300" b="1" kern="0" spc="100" dirty="0">
                <a:solidFill>
                  <a:srgbClr val="047857"/>
                </a:solidFill>
                <a:latin typeface="Calibri" pitchFamily="34" charset="0"/>
                <a:ea typeface="Calibri" pitchFamily="34" charset="-122"/>
                <a:cs typeface="Calibri" pitchFamily="34" charset="-120"/>
              </a:rPr>
              <a:t>TÉCNICA DE SOLUCIÓN</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Método General: Factor Integrante</a:t>
            </a:r>
            <a:endParaRPr lang="en-US" sz="3200" dirty="0"/>
          </a:p>
        </p:txBody>
      </p:sp>
      <p:sp>
        <p:nvSpPr>
          <p:cNvPr id="5" name="Text 3"/>
          <p:cNvSpPr/>
          <p:nvPr/>
        </p:nvSpPr>
        <p:spPr>
          <a:xfrm>
            <a:off x="548640" y="1554480"/>
            <a:ext cx="11091672" cy="457200"/>
          </a:xfrm>
          <a:prstGeom prst="rect">
            <a:avLst/>
          </a:prstGeom>
          <a:noFill/>
          <a:ln/>
        </p:spPr>
        <p:txBody>
          <a:bodyPr wrap="square" rtlCol="0" anchor="t"/>
          <a:lstStyle/>
          <a:p>
            <a:pPr marL="0" indent="0" algn="l">
              <a:buNone/>
            </a:pPr>
            <a:r>
              <a:rPr lang="en-US" sz="1700" dirty="0">
                <a:solidFill>
                  <a:srgbClr val="047857"/>
                </a:solidFill>
                <a:latin typeface="Calibri" pitchFamily="34" charset="0"/>
                <a:ea typeface="Calibri" pitchFamily="34" charset="-122"/>
                <a:cs typeface="Calibri" pitchFamily="34" charset="-120"/>
              </a:rPr>
              <a:t>Un multiplicador que convierte el lado izquierdo en una derivada exacta</a:t>
            </a:r>
            <a:endParaRPr lang="en-US" sz="1700" dirty="0"/>
          </a:p>
        </p:txBody>
      </p:sp>
      <p:sp>
        <p:nvSpPr>
          <p:cNvPr id="6" name="Shape 4"/>
          <p:cNvSpPr/>
          <p:nvPr/>
        </p:nvSpPr>
        <p:spPr>
          <a:xfrm>
            <a:off x="548640" y="2103120"/>
            <a:ext cx="2606040" cy="1417320"/>
          </a:xfrm>
          <a:prstGeom prst="roundRect">
            <a:avLst>
              <a:gd name="adj" fmla="val 6452"/>
            </a:avLst>
          </a:prstGeom>
          <a:solidFill>
            <a:srgbClr val="F1F5F9"/>
          </a:solidFill>
          <a:ln w="12700">
            <a:solidFill>
              <a:srgbClr val="E2E8F0"/>
            </a:solidFill>
            <a:prstDash val="solid"/>
          </a:ln>
        </p:spPr>
        <p:txBody>
          <a:bodyPr/>
          <a:lstStyle/>
          <a:p>
            <a:endParaRPr lang="es-MX"/>
          </a:p>
        </p:txBody>
      </p:sp>
      <p:sp>
        <p:nvSpPr>
          <p:cNvPr id="7" name="Shape 5"/>
          <p:cNvSpPr/>
          <p:nvPr/>
        </p:nvSpPr>
        <p:spPr>
          <a:xfrm>
            <a:off x="749808" y="2286000"/>
            <a:ext cx="457200" cy="457200"/>
          </a:xfrm>
          <a:prstGeom prst="ellipse">
            <a:avLst/>
          </a:prstGeom>
          <a:solidFill>
            <a:srgbClr val="CFFAFE"/>
          </a:solidFill>
          <a:ln/>
        </p:spPr>
        <p:txBody>
          <a:bodyPr/>
          <a:lstStyle/>
          <a:p>
            <a:endParaRPr lang="es-MX"/>
          </a:p>
        </p:txBody>
      </p:sp>
      <p:sp>
        <p:nvSpPr>
          <p:cNvPr id="8" name="Text 6"/>
          <p:cNvSpPr/>
          <p:nvPr/>
        </p:nvSpPr>
        <p:spPr>
          <a:xfrm>
            <a:off x="749808" y="2286000"/>
            <a:ext cx="457200" cy="457200"/>
          </a:xfrm>
          <a:prstGeom prst="rect">
            <a:avLst/>
          </a:prstGeom>
          <a:noFill/>
          <a:ln/>
        </p:spPr>
        <p:txBody>
          <a:bodyPr wrap="square" rtlCol="0" anchor="ctr"/>
          <a:lstStyle/>
          <a:p>
            <a:pPr marL="0" indent="0" algn="ctr">
              <a:buNone/>
            </a:pPr>
            <a:r>
              <a:rPr lang="en-US" sz="1600" b="1" dirty="0">
                <a:solidFill>
                  <a:srgbClr val="0E7490"/>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280160" y="2286000"/>
            <a:ext cx="1691640" cy="457200"/>
          </a:xfrm>
          <a:prstGeom prst="rect">
            <a:avLst/>
          </a:prstGeom>
          <a:noFill/>
          <a:ln/>
        </p:spPr>
        <p:txBody>
          <a:bodyPr wrap="square"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Forma estándar</a:t>
            </a:r>
            <a:endParaRPr lang="en-US" sz="1350" dirty="0"/>
          </a:p>
        </p:txBody>
      </p:sp>
      <p:sp>
        <p:nvSpPr>
          <p:cNvPr id="10" name="Shape 8"/>
          <p:cNvSpPr/>
          <p:nvPr/>
        </p:nvSpPr>
        <p:spPr>
          <a:xfrm>
            <a:off x="3328416" y="2103120"/>
            <a:ext cx="2606040" cy="1417320"/>
          </a:xfrm>
          <a:prstGeom prst="roundRect">
            <a:avLst>
              <a:gd name="adj" fmla="val 6452"/>
            </a:avLst>
          </a:prstGeom>
          <a:solidFill>
            <a:srgbClr val="F1F5F9"/>
          </a:solidFill>
          <a:ln w="12700">
            <a:solidFill>
              <a:srgbClr val="E2E8F0"/>
            </a:solidFill>
            <a:prstDash val="solid"/>
          </a:ln>
        </p:spPr>
        <p:txBody>
          <a:bodyPr/>
          <a:lstStyle/>
          <a:p>
            <a:endParaRPr lang="es-MX"/>
          </a:p>
        </p:txBody>
      </p:sp>
      <p:sp>
        <p:nvSpPr>
          <p:cNvPr id="11" name="Shape 9"/>
          <p:cNvSpPr/>
          <p:nvPr/>
        </p:nvSpPr>
        <p:spPr>
          <a:xfrm>
            <a:off x="3529584" y="2286000"/>
            <a:ext cx="457200" cy="457200"/>
          </a:xfrm>
          <a:prstGeom prst="ellipse">
            <a:avLst/>
          </a:prstGeom>
          <a:solidFill>
            <a:srgbClr val="D1FAE5"/>
          </a:solidFill>
          <a:ln/>
        </p:spPr>
        <p:txBody>
          <a:bodyPr/>
          <a:lstStyle/>
          <a:p>
            <a:endParaRPr lang="es-MX"/>
          </a:p>
        </p:txBody>
      </p:sp>
      <p:sp>
        <p:nvSpPr>
          <p:cNvPr id="12" name="Text 10"/>
          <p:cNvSpPr/>
          <p:nvPr/>
        </p:nvSpPr>
        <p:spPr>
          <a:xfrm>
            <a:off x="3529584" y="2286000"/>
            <a:ext cx="457200" cy="457200"/>
          </a:xfrm>
          <a:prstGeom prst="rect">
            <a:avLst/>
          </a:prstGeom>
          <a:noFill/>
          <a:ln/>
        </p:spPr>
        <p:txBody>
          <a:bodyPr wrap="square" rtlCol="0" anchor="ctr"/>
          <a:lstStyle/>
          <a:p>
            <a:pPr marL="0" indent="0" algn="ctr">
              <a:buNone/>
            </a:pPr>
            <a:r>
              <a:rPr lang="en-US" sz="1600" b="1" dirty="0">
                <a:solidFill>
                  <a:srgbClr val="047857"/>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059936" y="2286000"/>
            <a:ext cx="1691640" cy="457200"/>
          </a:xfrm>
          <a:prstGeom prst="rect">
            <a:avLst/>
          </a:prstGeom>
          <a:noFill/>
          <a:ln/>
        </p:spPr>
        <p:txBody>
          <a:bodyPr wrap="square"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Factor integrante</a:t>
            </a:r>
            <a:endParaRPr lang="en-US" sz="1350" dirty="0"/>
          </a:p>
        </p:txBody>
      </p:sp>
      <p:sp>
        <p:nvSpPr>
          <p:cNvPr id="14" name="Shape 12"/>
          <p:cNvSpPr/>
          <p:nvPr/>
        </p:nvSpPr>
        <p:spPr>
          <a:xfrm>
            <a:off x="6108192" y="2103120"/>
            <a:ext cx="2606040" cy="1417320"/>
          </a:xfrm>
          <a:prstGeom prst="roundRect">
            <a:avLst>
              <a:gd name="adj" fmla="val 6452"/>
            </a:avLst>
          </a:prstGeom>
          <a:solidFill>
            <a:srgbClr val="F1F5F9"/>
          </a:solidFill>
          <a:ln w="12700">
            <a:solidFill>
              <a:srgbClr val="E2E8F0"/>
            </a:solidFill>
            <a:prstDash val="solid"/>
          </a:ln>
        </p:spPr>
        <p:txBody>
          <a:bodyPr/>
          <a:lstStyle/>
          <a:p>
            <a:endParaRPr lang="es-MX"/>
          </a:p>
        </p:txBody>
      </p:sp>
      <p:sp>
        <p:nvSpPr>
          <p:cNvPr id="15" name="Shape 13"/>
          <p:cNvSpPr/>
          <p:nvPr/>
        </p:nvSpPr>
        <p:spPr>
          <a:xfrm>
            <a:off x="6309360" y="2286000"/>
            <a:ext cx="457200" cy="457200"/>
          </a:xfrm>
          <a:prstGeom prst="ellipse">
            <a:avLst/>
          </a:prstGeom>
          <a:solidFill>
            <a:srgbClr val="FEF3C7"/>
          </a:solidFill>
          <a:ln/>
        </p:spPr>
        <p:txBody>
          <a:bodyPr/>
          <a:lstStyle/>
          <a:p>
            <a:endParaRPr lang="es-MX"/>
          </a:p>
        </p:txBody>
      </p:sp>
      <p:sp>
        <p:nvSpPr>
          <p:cNvPr id="16" name="Text 14"/>
          <p:cNvSpPr/>
          <p:nvPr/>
        </p:nvSpPr>
        <p:spPr>
          <a:xfrm>
            <a:off x="6309360" y="2286000"/>
            <a:ext cx="457200" cy="457200"/>
          </a:xfrm>
          <a:prstGeom prst="rect">
            <a:avLst/>
          </a:prstGeom>
          <a:noFill/>
          <a:ln/>
        </p:spPr>
        <p:txBody>
          <a:bodyPr wrap="square" rtlCol="0" anchor="ctr"/>
          <a:lstStyle/>
          <a:p>
            <a:pPr marL="0" indent="0" algn="ctr">
              <a:buNone/>
            </a:pPr>
            <a:r>
              <a:rPr lang="en-US" sz="1600" b="1" dirty="0">
                <a:solidFill>
                  <a:srgbClr val="B45309"/>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6839712" y="2286000"/>
            <a:ext cx="1691640" cy="457200"/>
          </a:xfrm>
          <a:prstGeom prst="rect">
            <a:avLst/>
          </a:prstGeom>
          <a:noFill/>
          <a:ln/>
        </p:spPr>
        <p:txBody>
          <a:bodyPr wrap="square"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Reconocer la derivada</a:t>
            </a:r>
            <a:endParaRPr lang="en-US" sz="1350" dirty="0"/>
          </a:p>
        </p:txBody>
      </p:sp>
      <p:sp>
        <p:nvSpPr>
          <p:cNvPr id="18" name="Shape 16"/>
          <p:cNvSpPr/>
          <p:nvPr/>
        </p:nvSpPr>
        <p:spPr>
          <a:xfrm>
            <a:off x="8887968" y="2103120"/>
            <a:ext cx="2606040" cy="1417320"/>
          </a:xfrm>
          <a:prstGeom prst="roundRect">
            <a:avLst>
              <a:gd name="adj" fmla="val 6452"/>
            </a:avLst>
          </a:prstGeom>
          <a:solidFill>
            <a:srgbClr val="F1F5F9"/>
          </a:solidFill>
          <a:ln w="12700">
            <a:solidFill>
              <a:srgbClr val="E2E8F0"/>
            </a:solidFill>
            <a:prstDash val="solid"/>
          </a:ln>
        </p:spPr>
        <p:txBody>
          <a:bodyPr/>
          <a:lstStyle/>
          <a:p>
            <a:endParaRPr lang="es-MX"/>
          </a:p>
        </p:txBody>
      </p:sp>
      <p:sp>
        <p:nvSpPr>
          <p:cNvPr id="19" name="Shape 17"/>
          <p:cNvSpPr/>
          <p:nvPr/>
        </p:nvSpPr>
        <p:spPr>
          <a:xfrm>
            <a:off x="9089136" y="2286000"/>
            <a:ext cx="457200" cy="457200"/>
          </a:xfrm>
          <a:prstGeom prst="ellipse">
            <a:avLst/>
          </a:prstGeom>
          <a:solidFill>
            <a:srgbClr val="FFE4E6"/>
          </a:solidFill>
          <a:ln/>
        </p:spPr>
        <p:txBody>
          <a:bodyPr/>
          <a:lstStyle/>
          <a:p>
            <a:endParaRPr lang="es-MX"/>
          </a:p>
        </p:txBody>
      </p:sp>
      <p:sp>
        <p:nvSpPr>
          <p:cNvPr id="20" name="Text 18"/>
          <p:cNvSpPr/>
          <p:nvPr/>
        </p:nvSpPr>
        <p:spPr>
          <a:xfrm>
            <a:off x="9089136" y="2286000"/>
            <a:ext cx="457200" cy="457200"/>
          </a:xfrm>
          <a:prstGeom prst="rect">
            <a:avLst/>
          </a:prstGeom>
          <a:noFill/>
          <a:ln/>
        </p:spPr>
        <p:txBody>
          <a:bodyPr wrap="square" rtlCol="0" anchor="ctr"/>
          <a:lstStyle/>
          <a:p>
            <a:pPr marL="0" indent="0" algn="ctr">
              <a:buNone/>
            </a:pPr>
            <a:r>
              <a:rPr lang="en-US" sz="1600" b="1" dirty="0">
                <a:solidFill>
                  <a:srgbClr val="BE123C"/>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9619488" y="2286000"/>
            <a:ext cx="1691640" cy="457200"/>
          </a:xfrm>
          <a:prstGeom prst="rect">
            <a:avLst/>
          </a:prstGeom>
          <a:noFill/>
          <a:ln/>
        </p:spPr>
        <p:txBody>
          <a:bodyPr wrap="square"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Integrar y despejar</a:t>
            </a:r>
            <a:endParaRPr lang="en-US" sz="1350" dirty="0"/>
          </a:p>
        </p:txBody>
      </p:sp>
      <mc:AlternateContent xmlns:mc="http://schemas.openxmlformats.org/markup-compatibility/2006">
        <mc:Choice xmlns:a14="http://schemas.microsoft.com/office/drawing/2010/main" Requires="a14">
          <p:sp>
            <p:nvSpPr>
              <p:cNvPr id="22" name="Text 20"/>
              <p:cNvSpPr/>
              <p:nvPr/>
            </p:nvSpPr>
            <p:spPr>
              <a:xfrm>
                <a:off x="777240" y="2880360"/>
                <a:ext cx="2240280" cy="548640"/>
              </a:xfrm>
              <a:prstGeom prst="rect">
                <a:avLst/>
              </a:prstGeom>
              <a:noFill/>
              <a:ln/>
            </p:spPr>
            <p:txBody>
              <a:bodyPr wrap="square" rtlCol="0" anchor="t"/>
              <a:lstStyle/>
              <a:p>
                <a:pPr marL="0" indent="0" algn="l">
                  <a:buNone/>
                  <a:defRPr sz="1500">
                    <a:solidFill>
                      <a:srgbClr val="0E7490"/>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m:oMathPara>
                </a14:m>
                <a:endParaRPr lang="en-US" sz="1500" dirty="0"/>
              </a:p>
            </p:txBody>
          </p:sp>
        </mc:Choice>
        <mc:Fallback>
          <p:sp>
            <p:nvSpPr>
              <p:cNvPr id="22" name="Text 20"/>
              <p:cNvSpPr>
                <a:spLocks noRot="1" noChangeAspect="1" noMove="1" noResize="1" noEditPoints="1" noAdjustHandles="1" noChangeArrowheads="1" noChangeShapeType="1" noTextEdit="1"/>
              </p:cNvSpPr>
              <p:nvPr/>
            </p:nvSpPr>
            <p:spPr>
              <a:xfrm>
                <a:off x="777240" y="2880360"/>
                <a:ext cx="2240280" cy="548640"/>
              </a:xfrm>
              <a:prstGeom prst="rect">
                <a:avLst/>
              </a:prstGeom>
              <a:blipFill>
                <a:blip r:embed="rId3"/>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23" name="Text 21"/>
              <p:cNvSpPr/>
              <p:nvPr/>
            </p:nvSpPr>
            <p:spPr>
              <a:xfrm>
                <a:off x="3557016" y="2880360"/>
                <a:ext cx="2240280" cy="548640"/>
              </a:xfrm>
              <a:prstGeom prst="rect">
                <a:avLst/>
              </a:prstGeom>
              <a:noFill/>
              <a:ln/>
            </p:spPr>
            <p:txBody>
              <a:bodyPr wrap="square" rtlCol="0" anchor="t"/>
              <a:lstStyle/>
              <a:p>
                <a:pPr marL="0" indent="0" algn="l">
                  <a:buNone/>
                  <a:defRPr sz="1400">
                    <a:solidFill>
                      <a:srgbClr val="047857"/>
                    </a:solidFill>
                  </a:defRPr>
                </a:pPr>
                <a14:m>
                  <m:oMathPara xmlns:m="http://schemas.openxmlformats.org/officeDocument/2006/math">
                    <m:oMath>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𝑑𝑥</m:t>
                          </m:r>
                        </m:sup>
                      </m:sSup>
                    </m:oMath>
                  </m:oMathPara>
                </a14:m>
                <a:endParaRPr lang="en-US" sz="1400" dirty="0"/>
              </a:p>
            </p:txBody>
          </p:sp>
        </mc:Choice>
        <mc:Fallback>
          <p:sp>
            <p:nvSpPr>
              <p:cNvPr id="23" name="Text 21"/>
              <p:cNvSpPr>
                <a:spLocks noRot="1" noChangeAspect="1" noMove="1" noResize="1" noEditPoints="1" noAdjustHandles="1" noChangeArrowheads="1" noChangeShapeType="1" noTextEdit="1"/>
              </p:cNvSpPr>
              <p:nvPr/>
            </p:nvSpPr>
            <p:spPr>
              <a:xfrm>
                <a:off x="3557016" y="2880360"/>
                <a:ext cx="2240280" cy="548640"/>
              </a:xfrm>
              <a:prstGeom prst="rect">
                <a:avLst/>
              </a:prstGeom>
              <a:blipFill>
                <a:blip r:embed="rId4"/>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24" name="Text 22"/>
              <p:cNvSpPr/>
              <p:nvPr/>
            </p:nvSpPr>
            <p:spPr>
              <a:xfrm>
                <a:off x="6336792" y="2880360"/>
                <a:ext cx="2240280" cy="548640"/>
              </a:xfrm>
              <a:prstGeom prst="rect">
                <a:avLst/>
              </a:prstGeom>
              <a:noFill/>
              <a:ln/>
            </p:spPr>
            <p:txBody>
              <a:bodyPr wrap="square" rtlCol="0" anchor="t"/>
              <a:lstStyle/>
              <a:p>
                <a:pPr marL="0" indent="0" algn="l">
                  <a:buNone/>
                  <a:defRPr sz="1400">
                    <a:solidFill>
                      <a:srgbClr val="B45309"/>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𝜇</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𝜇</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m:oMathPara>
                </a14:m>
                <a:endParaRPr lang="en-US" sz="1400" dirty="0"/>
              </a:p>
            </p:txBody>
          </p:sp>
        </mc:Choice>
        <mc:Fallback>
          <p:sp>
            <p:nvSpPr>
              <p:cNvPr id="24" name="Text 22"/>
              <p:cNvSpPr>
                <a:spLocks noRot="1" noChangeAspect="1" noMove="1" noResize="1" noEditPoints="1" noAdjustHandles="1" noChangeArrowheads="1" noChangeShapeType="1" noTextEdit="1"/>
              </p:cNvSpPr>
              <p:nvPr/>
            </p:nvSpPr>
            <p:spPr>
              <a:xfrm>
                <a:off x="6336792" y="2880360"/>
                <a:ext cx="2240280" cy="548640"/>
              </a:xfrm>
              <a:prstGeom prst="rect">
                <a:avLst/>
              </a:prstGeom>
              <a:blipFill>
                <a:blip r:embed="rId5"/>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25" name="Text 23"/>
              <p:cNvSpPr/>
              <p:nvPr/>
            </p:nvSpPr>
            <p:spPr>
              <a:xfrm>
                <a:off x="9116568" y="2880360"/>
                <a:ext cx="2240280" cy="548640"/>
              </a:xfrm>
              <a:prstGeom prst="rect">
                <a:avLst/>
              </a:prstGeom>
              <a:noFill/>
              <a:ln/>
            </p:spPr>
            <p:txBody>
              <a:bodyPr wrap="square" rtlCol="0" anchor="t"/>
              <a:lstStyle/>
              <a:p>
                <a:pPr marL="0" indent="0" algn="l">
                  <a:buNone/>
                  <a:defRPr sz="1300">
                    <a:solidFill>
                      <a:srgbClr val="BE123C"/>
                    </a:solidFill>
                  </a:defRPr>
                </a:pPr>
                <a14:m>
                  <m:oMathPara xmlns:m="http://schemas.openxmlformats.org/officeDocument/2006/math">
                    <m:oMath>
                      <m:r>
                        <a:rPr>
                          <a:latin typeface="Cambria Math" panose="02040503050406030204" pitchFamily="18" charset="0"/>
                        </a:rPr>
                        <m:t>𝜇</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𝜇</m:t>
                      </m:r>
                      <m:r>
                        <a:rPr>
                          <a:latin typeface="Cambria Math" panose="02040503050406030204" pitchFamily="18" charset="0"/>
                        </a:rPr>
                        <m:t>𝑓𝑑𝑥</m:t>
                      </m:r>
                      <m:r>
                        <a:rPr>
                          <a:latin typeface="Cambria Math" panose="02040503050406030204" pitchFamily="18" charset="0"/>
                        </a:rPr>
                        <m:t>+</m:t>
                      </m:r>
                      <m:r>
                        <a:rPr>
                          <a:latin typeface="Cambria Math" panose="02040503050406030204" pitchFamily="18" charset="0"/>
                        </a:rPr>
                        <m:t>𝐶</m:t>
                      </m:r>
                    </m:oMath>
                  </m:oMathPara>
                </a14:m>
                <a:endParaRPr lang="en-US" sz="1300" dirty="0"/>
              </a:p>
            </p:txBody>
          </p:sp>
        </mc:Choice>
        <mc:Fallback>
          <p:sp>
            <p:nvSpPr>
              <p:cNvPr id="25" name="Text 23"/>
              <p:cNvSpPr>
                <a:spLocks noRot="1" noChangeAspect="1" noMove="1" noResize="1" noEditPoints="1" noAdjustHandles="1" noChangeArrowheads="1" noChangeShapeType="1" noTextEdit="1"/>
              </p:cNvSpPr>
              <p:nvPr/>
            </p:nvSpPr>
            <p:spPr>
              <a:xfrm>
                <a:off x="9116568" y="2880360"/>
                <a:ext cx="2240280" cy="548640"/>
              </a:xfrm>
              <a:prstGeom prst="rect">
                <a:avLst/>
              </a:prstGeom>
              <a:blipFill>
                <a:blip r:embed="rId6"/>
                <a:stretch>
                  <a:fillRect/>
                </a:stretch>
              </a:blipFill>
              <a:ln/>
            </p:spPr>
            <p:txBody>
              <a:bodyPr/>
              <a:lstStyle/>
              <a:p>
                <a:r>
                  <a:rPr lang="es-MX">
                    <a:noFill/>
                  </a:rPr>
                  <a:t> </a:t>
                </a:r>
              </a:p>
            </p:txBody>
          </p:sp>
        </mc:Fallback>
      </mc:AlternateContent>
      <p:sp>
        <p:nvSpPr>
          <p:cNvPr id="26" name="Shape 24"/>
          <p:cNvSpPr/>
          <p:nvPr/>
        </p:nvSpPr>
        <p:spPr>
          <a:xfrm>
            <a:off x="548640" y="3794760"/>
            <a:ext cx="11091672" cy="2606040"/>
          </a:xfrm>
          <a:prstGeom prst="roundRect">
            <a:avLst>
              <a:gd name="adj" fmla="val 3158"/>
            </a:avLst>
          </a:prstGeom>
          <a:solidFill>
            <a:srgbClr val="D1FAE5"/>
          </a:solidFill>
          <a:ln/>
        </p:spPr>
        <p:txBody>
          <a:bodyPr/>
          <a:lstStyle/>
          <a:p>
            <a:endParaRPr lang="es-MX"/>
          </a:p>
        </p:txBody>
      </p:sp>
      <p:sp>
        <p:nvSpPr>
          <p:cNvPr id="27" name="Text 25"/>
          <p:cNvSpPr/>
          <p:nvPr/>
        </p:nvSpPr>
        <p:spPr>
          <a:xfrm>
            <a:off x="868680" y="3977640"/>
            <a:ext cx="5486400" cy="365760"/>
          </a:xfrm>
          <a:prstGeom prst="rect">
            <a:avLst/>
          </a:prstGeom>
          <a:noFill/>
          <a:ln/>
        </p:spPr>
        <p:txBody>
          <a:bodyPr wrap="square" rtlCol="0" anchor="ctr"/>
          <a:lstStyle/>
          <a:p>
            <a:pPr marL="0" indent="0">
              <a:buNone/>
            </a:pPr>
            <a:r>
              <a:rPr lang="en-US" sz="1600" b="1" dirty="0">
                <a:solidFill>
                  <a:srgbClr val="065F46"/>
                </a:solidFill>
                <a:latin typeface="Calibri" pitchFamily="34" charset="0"/>
                <a:ea typeface="Calibri" pitchFamily="34" charset="-122"/>
                <a:cs typeface="Calibri" pitchFamily="34" charset="-120"/>
              </a:rPr>
              <a:t>💡 ¿Por qué funciona?</a:t>
            </a:r>
            <a:endParaRPr lang="en-US" sz="1600" dirty="0"/>
          </a:p>
        </p:txBody>
      </p:sp>
      <mc:AlternateContent xmlns:mc="http://schemas.openxmlformats.org/markup-compatibility/2006">
        <mc:Choice xmlns:a14="http://schemas.microsoft.com/office/drawing/2010/main" Requires="a14">
          <p:sp>
            <p:nvSpPr>
              <p:cNvPr id="28" name="Text 26"/>
              <p:cNvSpPr/>
              <p:nvPr/>
            </p:nvSpPr>
            <p:spPr>
              <a:xfrm>
                <a:off x="868680" y="4389120"/>
                <a:ext cx="10424160" cy="640080"/>
              </a:xfrm>
              <a:prstGeom prst="rect">
                <a:avLst/>
              </a:prstGeom>
              <a:noFill/>
              <a:ln/>
            </p:spPr>
            <p:txBody>
              <a:bodyPr wrap="square" rtlCol="0" anchor="t"/>
              <a:lstStyle/>
              <a:p>
                <a:pPr marL="0" indent="0">
                  <a:lnSpc>
                    <a:spcPct val="130000"/>
                  </a:lnSpc>
                  <a:buNone/>
                  <a:defRPr sz="1350">
                    <a:solidFill>
                      <a:srgbClr val="065F46"/>
                    </a:solidFill>
                  </a:defRPr>
                </a:pPr>
                <a:r>
                  <a:rPr lang="en-US" sz="1350" dirty="0">
                    <a:solidFill>
                      <a:srgbClr val="065F46"/>
                    </a:solidFill>
                    <a:latin typeface="Calibri" pitchFamily="34" charset="0"/>
                    <a:ea typeface="Calibri" pitchFamily="34" charset="-122"/>
                    <a:cs typeface="Calibri" pitchFamily="34" charset="-120"/>
                  </a:rPr>
                  <a:t>Si </a:t>
                </a:r>
                <a14:m>
                  <m:oMath xmlns:m="http://schemas.openxmlformats.org/officeDocument/2006/math">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𝑃𝑑𝑥</m:t>
                        </m:r>
                      </m:sup>
                    </m:sSup>
                  </m:oMath>
                </a14:m>
                <a:r>
                  <a:rPr lang="en-US" sz="1350" dirty="0">
                    <a:solidFill>
                      <a:srgbClr val="065F46"/>
                    </a:solidFill>
                    <a:latin typeface="Calibri" pitchFamily="34" charset="0"/>
                    <a:ea typeface="Calibri" pitchFamily="34" charset="-122"/>
                    <a:cs typeface="Calibri" pitchFamily="34" charset="-120"/>
                  </a:rPr>
                  <a:t>, entonces por la regla de la cadena </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𝜇</m:t>
                        </m:r>
                      </m:e>
                      <m:sup>
                        <m:r>
                          <a:rPr>
                            <a:latin typeface="Cambria Math" panose="02040503050406030204" pitchFamily="18" charset="0"/>
                          </a:rPr>
                          <m:t>′</m:t>
                        </m:r>
                      </m:sup>
                    </m:sSup>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a14:m>
                <a:r>
                  <a:rPr lang="en-US" sz="1350" dirty="0">
                    <a:solidFill>
                      <a:srgbClr val="065F46"/>
                    </a:solidFill>
                    <a:latin typeface="Calibri" pitchFamily="34" charset="0"/>
                    <a:ea typeface="Calibri" pitchFamily="34" charset="-122"/>
                    <a:cs typeface="Calibri" pitchFamily="34" charset="-120"/>
                  </a:rPr>
                  <a:t>. Aplicando la regla del producto:</a:t>
                </a:r>
                <a:endParaRPr lang="en-US" sz="1350" dirty="0"/>
              </a:p>
            </p:txBody>
          </p:sp>
        </mc:Choice>
        <mc:Fallback>
          <p:sp>
            <p:nvSpPr>
              <p:cNvPr id="28" name="Text 26"/>
              <p:cNvSpPr>
                <a:spLocks noRot="1" noChangeAspect="1" noMove="1" noResize="1" noEditPoints="1" noAdjustHandles="1" noChangeArrowheads="1" noChangeShapeType="1" noTextEdit="1"/>
              </p:cNvSpPr>
              <p:nvPr/>
            </p:nvSpPr>
            <p:spPr>
              <a:xfrm>
                <a:off x="868680" y="4389120"/>
                <a:ext cx="10424160" cy="640080"/>
              </a:xfrm>
              <a:prstGeom prst="rect">
                <a:avLst/>
              </a:prstGeom>
              <a:blipFill>
                <a:blip r:embed="rId7"/>
                <a:stretch>
                  <a:fillRect l="-175"/>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29" name="Text 27"/>
              <p:cNvSpPr/>
              <p:nvPr/>
            </p:nvSpPr>
            <p:spPr>
              <a:xfrm>
                <a:off x="868680" y="5074920"/>
                <a:ext cx="10424160" cy="548640"/>
              </a:xfrm>
              <a:prstGeom prst="rect">
                <a:avLst/>
              </a:prstGeom>
              <a:noFill/>
              <a:ln/>
            </p:spPr>
            <p:txBody>
              <a:bodyPr wrap="square" rtlCol="0" anchor="t"/>
              <a:lstStyle/>
              <a:p>
                <a:pPr marL="0" indent="0" algn="ctr">
                  <a:buNone/>
                  <a:defRPr sz="2000">
                    <a:solidFill>
                      <a:srgbClr val="065F46"/>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𝜇</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𝜇</m:t>
                      </m:r>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𝜇</m:t>
                          </m:r>
                        </m:e>
                        <m:sup>
                          <m:r>
                            <a:rPr>
                              <a:latin typeface="Cambria Math" panose="02040503050406030204" pitchFamily="18" charset="0"/>
                            </a:rPr>
                            <m:t>′</m:t>
                          </m:r>
                        </m:sup>
                      </m:sSup>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𝜇</m:t>
                      </m:r>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m:t>
                      </m:r>
                      <m:r>
                        <a:rPr>
                          <a:latin typeface="Cambria Math" panose="02040503050406030204" pitchFamily="18" charset="0"/>
                        </a:rPr>
                        <m:t>𝑃</m:t>
                      </m:r>
                      <m:r>
                        <a:rPr>
                          <a:latin typeface="Cambria Math" panose="02040503050406030204" pitchFamily="18" charset="0"/>
                        </a:rPr>
                        <m:t>𝜇</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𝜇</m:t>
                      </m:r>
                      <m:d>
                        <m:dPr>
                          <m:sepChr m:val="+"/>
                          <m:ctrlPr>
                            <a:rPr i="1">
                              <a:latin typeface="Cambria Math" panose="02040503050406030204" pitchFamily="18" charset="0"/>
                            </a:rPr>
                          </m:ctrlPr>
                        </m:dPr>
                        <m:e>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e>
                        <m:e>
                          <m:r>
                            <a:rPr>
                              <a:latin typeface="Cambria Math" panose="02040503050406030204" pitchFamily="18" charset="0"/>
                            </a:rPr>
                            <m:t>𝑃𝑦</m:t>
                          </m:r>
                        </m:e>
                      </m:d>
                    </m:oMath>
                  </m:oMathPara>
                </a14:m>
                <a:endParaRPr lang="en-US" sz="2000" dirty="0"/>
              </a:p>
            </p:txBody>
          </p:sp>
        </mc:Choice>
        <mc:Fallback>
          <p:sp>
            <p:nvSpPr>
              <p:cNvPr id="29" name="Text 27"/>
              <p:cNvSpPr>
                <a:spLocks noRot="1" noChangeAspect="1" noMove="1" noResize="1" noEditPoints="1" noAdjustHandles="1" noChangeArrowheads="1" noChangeShapeType="1" noTextEdit="1"/>
              </p:cNvSpPr>
              <p:nvPr/>
            </p:nvSpPr>
            <p:spPr>
              <a:xfrm>
                <a:off x="868680" y="5074920"/>
                <a:ext cx="10424160" cy="548640"/>
              </a:xfrm>
              <a:prstGeom prst="rect">
                <a:avLst/>
              </a:prstGeom>
              <a:blipFill>
                <a:blip r:embed="rId8"/>
                <a:stretch>
                  <a:fillRect b="-14444"/>
                </a:stretch>
              </a:blipFill>
              <a:ln/>
            </p:spPr>
            <p:txBody>
              <a:bodyPr/>
              <a:lstStyle/>
              <a:p>
                <a:r>
                  <a:rPr lang="es-MX">
                    <a:noFill/>
                  </a:rPr>
                  <a:t> </a:t>
                </a:r>
              </a:p>
            </p:txBody>
          </p:sp>
        </mc:Fallback>
      </mc:AlternateContent>
      <p:sp>
        <p:nvSpPr>
          <p:cNvPr id="30" name="Text 28"/>
          <p:cNvSpPr/>
          <p:nvPr/>
        </p:nvSpPr>
        <p:spPr>
          <a:xfrm>
            <a:off x="868680" y="5669280"/>
            <a:ext cx="10424160" cy="640080"/>
          </a:xfrm>
          <a:prstGeom prst="rect">
            <a:avLst/>
          </a:prstGeom>
          <a:noFill/>
          <a:ln/>
        </p:spPr>
        <p:txBody>
          <a:bodyPr wrap="square" rtlCol="0" anchor="t"/>
          <a:lstStyle/>
          <a:p>
            <a:pPr marL="0" indent="0">
              <a:lnSpc>
                <a:spcPct val="125000"/>
              </a:lnSpc>
              <a:buNone/>
            </a:pPr>
            <a:r>
              <a:rPr lang="en-US" sz="1300" i="1" dirty="0">
                <a:solidFill>
                  <a:srgbClr val="065F46"/>
                </a:solidFill>
                <a:latin typeface="Calibri" pitchFamily="34" charset="0"/>
                <a:ea typeface="Calibri" pitchFamily="34" charset="-122"/>
                <a:cs typeface="Calibri" pitchFamily="34" charset="-120"/>
              </a:rPr>
              <a:t>¡Exactamente el lado izquierdo de la forma estándar, multiplicado por μ! Por eso al multiplicar toda la ecuación por μ(x), el lado izquierdo colapsa en una sola derivada fácil de integrar.</a:t>
            </a:r>
            <a:endParaRPr lang="en-US" sz="1300" dirty="0"/>
          </a:p>
        </p:txBody>
      </p:sp>
      <p:sp>
        <p:nvSpPr>
          <p:cNvPr id="31" name="Text 29"/>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2606040" cy="384048"/>
          </a:xfrm>
          <a:prstGeom prst="roundRect">
            <a:avLst>
              <a:gd name="adj" fmla="val 50000"/>
            </a:avLst>
          </a:prstGeom>
          <a:solidFill>
            <a:srgbClr val="CFFAFE"/>
          </a:solidFill>
          <a:ln/>
        </p:spPr>
        <p:txBody>
          <a:bodyPr/>
          <a:lstStyle/>
          <a:p>
            <a:endParaRPr lang="es-MX"/>
          </a:p>
        </p:txBody>
      </p:sp>
      <p:sp>
        <p:nvSpPr>
          <p:cNvPr id="3" name="Text 1"/>
          <p:cNvSpPr/>
          <p:nvPr/>
        </p:nvSpPr>
        <p:spPr>
          <a:xfrm>
            <a:off x="548640" y="365760"/>
            <a:ext cx="2606040" cy="384048"/>
          </a:xfrm>
          <a:prstGeom prst="rect">
            <a:avLst/>
          </a:prstGeom>
          <a:noFill/>
          <a:ln/>
        </p:spPr>
        <p:txBody>
          <a:bodyPr wrap="square" rtlCol="0" anchor="ctr"/>
          <a:lstStyle/>
          <a:p>
            <a:pPr marL="0" indent="0" algn="ctr">
              <a:buNone/>
            </a:pPr>
            <a:r>
              <a:rPr lang="en-US" sz="1300" b="1" kern="0" spc="100" dirty="0">
                <a:solidFill>
                  <a:srgbClr val="0E7490"/>
                </a:solidFill>
                <a:latin typeface="Calibri" pitchFamily="34" charset="0"/>
                <a:ea typeface="Calibri" pitchFamily="34" charset="-122"/>
                <a:cs typeface="Calibri" pitchFamily="34" charset="-120"/>
              </a:rPr>
              <a:t>GARANTÍA DE SOLUCIÓN</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000" b="1" dirty="0">
                <a:solidFill>
                  <a:srgbClr val="0F172A"/>
                </a:solidFill>
                <a:latin typeface="Calibri" pitchFamily="34" charset="0"/>
                <a:ea typeface="Calibri" pitchFamily="34" charset="-122"/>
                <a:cs typeface="Calibri" pitchFamily="34" charset="-120"/>
              </a:rPr>
              <a:t>Existencia y Unicidad: El Caso Lineal</a:t>
            </a:r>
            <a:endParaRPr lang="en-US" sz="3000" dirty="0"/>
          </a:p>
        </p:txBody>
      </p:sp>
      <p:sp>
        <p:nvSpPr>
          <p:cNvPr id="5" name="Shape 3"/>
          <p:cNvSpPr/>
          <p:nvPr/>
        </p:nvSpPr>
        <p:spPr>
          <a:xfrm>
            <a:off x="548640" y="1691640"/>
            <a:ext cx="11091672" cy="1828800"/>
          </a:xfrm>
          <a:prstGeom prst="roundRect">
            <a:avLst>
              <a:gd name="adj" fmla="val 5000"/>
            </a:avLst>
          </a:prstGeom>
          <a:solidFill>
            <a:srgbClr val="CFFAFE"/>
          </a:solidFill>
          <a:ln w="12700">
            <a:solidFill>
              <a:srgbClr val="A5F3FC"/>
            </a:solidFill>
            <a:prstDash val="solid"/>
          </a:ln>
        </p:spPr>
        <p:txBody>
          <a:bodyPr/>
          <a:lstStyle/>
          <a:p>
            <a:endParaRPr lang="es-MX"/>
          </a:p>
        </p:txBody>
      </p:sp>
      <mc:AlternateContent xmlns:mc="http://schemas.openxmlformats.org/markup-compatibility/2006">
        <mc:Choice xmlns:a14="http://schemas.microsoft.com/office/drawing/2010/main" Requires="a14">
          <p:sp>
            <p:nvSpPr>
              <p:cNvPr id="6" name="Text 4"/>
              <p:cNvSpPr/>
              <p:nvPr/>
            </p:nvSpPr>
            <p:spPr>
              <a:xfrm>
                <a:off x="868680" y="1920240"/>
                <a:ext cx="10424160" cy="457200"/>
              </a:xfrm>
              <a:prstGeom prst="rect">
                <a:avLst/>
              </a:prstGeom>
              <a:noFill/>
              <a:ln/>
            </p:spPr>
            <p:txBody>
              <a:bodyPr wrap="square" rtlCol="0" anchor="t"/>
              <a:lstStyle/>
              <a:p>
                <a:pPr marL="0" indent="0" algn="ctr">
                  <a:buNone/>
                  <a:defRPr sz="1600">
                    <a:solidFill>
                      <a:srgbClr val="155E63"/>
                    </a:solidFill>
                  </a:defRPr>
                </a:pPr>
                <a:r>
                  <a:rPr lang="en-US" sz="1600" dirty="0">
                    <a:solidFill>
                      <a:srgbClr val="155E63"/>
                    </a:solidFill>
                    <a:latin typeface="Calibri" pitchFamily="34" charset="0"/>
                    <a:ea typeface="Calibri" pitchFamily="34" charset="-122"/>
                    <a:cs typeface="Calibri" pitchFamily="34" charset="-120"/>
                  </a:rPr>
                  <a:t>Sea el PVI  </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m:t>
                    </m:r>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  </m:t>
                    </m:r>
                    <m:r>
                      <a:rPr>
                        <a:latin typeface="Cambria Math" panose="02040503050406030204" pitchFamily="18" charset="0"/>
                      </a:rPr>
                      <m:t>𝑦</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0</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𝑦</m:t>
                        </m:r>
                      </m:e>
                      <m:sub>
                        <m:r>
                          <a:rPr>
                            <a:latin typeface="Cambria Math" panose="02040503050406030204" pitchFamily="18" charset="0"/>
                          </a:rPr>
                          <m:t>0</m:t>
                        </m:r>
                      </m:sub>
                    </m:sSub>
                  </m:oMath>
                </a14:m>
                <a:r>
                  <a:rPr lang="en-US" sz="1600" dirty="0">
                    <a:solidFill>
                      <a:srgbClr val="155E63"/>
                    </a:solidFill>
                    <a:latin typeface="Calibri" pitchFamily="34" charset="0"/>
                    <a:ea typeface="Calibri" pitchFamily="34" charset="-122"/>
                    <a:cs typeface="Calibri" pitchFamily="34" charset="-120"/>
                  </a:rPr>
                  <a:t>.</a:t>
                </a:r>
                <a:endParaRPr lang="en-US" sz="1600" dirty="0"/>
              </a:p>
            </p:txBody>
          </p:sp>
        </mc:Choice>
        <mc:Fallback>
          <p:sp>
            <p:nvSpPr>
              <p:cNvPr id="6" name="Text 4"/>
              <p:cNvSpPr>
                <a:spLocks noRot="1" noChangeAspect="1" noMove="1" noResize="1" noEditPoints="1" noAdjustHandles="1" noChangeArrowheads="1" noChangeShapeType="1" noTextEdit="1"/>
              </p:cNvSpPr>
              <p:nvPr/>
            </p:nvSpPr>
            <p:spPr>
              <a:xfrm>
                <a:off x="868680" y="1920240"/>
                <a:ext cx="10424160" cy="457200"/>
              </a:xfrm>
              <a:prstGeom prst="rect">
                <a:avLst/>
              </a:prstGeom>
              <a:blipFill>
                <a:blip r:embed="rId3"/>
                <a:stretch>
                  <a:fillRect t="-4000"/>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7" name="Text 5"/>
              <p:cNvSpPr/>
              <p:nvPr/>
            </p:nvSpPr>
            <p:spPr>
              <a:xfrm>
                <a:off x="868680" y="2423160"/>
                <a:ext cx="10424160" cy="960120"/>
              </a:xfrm>
              <a:prstGeom prst="rect">
                <a:avLst/>
              </a:prstGeom>
              <a:noFill/>
              <a:ln/>
            </p:spPr>
            <p:txBody>
              <a:bodyPr wrap="square" rtlCol="0" anchor="t"/>
              <a:lstStyle/>
              <a:p>
                <a:pPr marL="0" indent="0" algn="ctr">
                  <a:lnSpc>
                    <a:spcPct val="130000"/>
                  </a:lnSpc>
                  <a:buNone/>
                  <a:defRPr sz="1500">
                    <a:solidFill>
                      <a:srgbClr val="155E63"/>
                    </a:solidFill>
                  </a:defRPr>
                </a:pPr>
                <a:r>
                  <a:rPr lang="en-US" sz="1500" b="1" dirty="0">
                    <a:solidFill>
                      <a:srgbClr val="155E63"/>
                    </a:solidFill>
                    <a:latin typeface="Calibri" pitchFamily="34" charset="0"/>
                    <a:ea typeface="Calibri" pitchFamily="34" charset="-122"/>
                    <a:cs typeface="Calibri" pitchFamily="34" charset="-120"/>
                  </a:rPr>
                  <a:t>Si </a:t>
                </a:r>
                <a14:m>
                  <m:oMath xmlns:m="http://schemas.openxmlformats.org/officeDocument/2006/math">
                    <m:r>
                      <a:rPr>
                        <a:latin typeface="Cambria Math" panose="02040503050406030204" pitchFamily="18" charset="0"/>
                      </a:rPr>
                      <m:t>𝑃</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a14:m>
                <a:r>
                  <a:rPr lang="en-US" sz="1500" b="1" dirty="0">
                    <a:solidFill>
                      <a:srgbClr val="155E63"/>
                    </a:solidFill>
                    <a:latin typeface="Calibri" pitchFamily="34" charset="0"/>
                    <a:ea typeface="Calibri" pitchFamily="34" charset="-122"/>
                    <a:cs typeface="Calibri" pitchFamily="34" charset="-120"/>
                  </a:rPr>
                  <a:t> y </a:t>
                </a:r>
                <a14:m>
                  <m:oMath xmlns:m="http://schemas.openxmlformats.org/officeDocument/2006/math">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a14:m>
                <a:r>
                  <a:rPr lang="en-US" sz="1500" dirty="0">
                    <a:solidFill>
                      <a:srgbClr val="155E63"/>
                    </a:solidFill>
                    <a:latin typeface="Calibri" pitchFamily="34" charset="0"/>
                    <a:ea typeface="Calibri" pitchFamily="34" charset="-122"/>
                    <a:cs typeface="Calibri" pitchFamily="34" charset="-120"/>
                  </a:rPr>
                  <a:t> son continuas en un intervalo abierto I que contiene a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𝑥</m:t>
                        </m:r>
                      </m:e>
                      <m:sub>
                        <m:r>
                          <a:rPr>
                            <a:latin typeface="Cambria Math" panose="02040503050406030204" pitchFamily="18" charset="0"/>
                          </a:rPr>
                          <m:t>0</m:t>
                        </m:r>
                      </m:sub>
                    </m:sSub>
                  </m:oMath>
                </a14:m>
                <a:r>
                  <a:rPr lang="en-US" sz="1500" dirty="0">
                    <a:solidFill>
                      <a:srgbClr val="155E63"/>
                    </a:solidFill>
                    <a:latin typeface="Calibri" pitchFamily="34" charset="0"/>
                    <a:ea typeface="Calibri" pitchFamily="34" charset="-122"/>
                    <a:cs typeface="Calibri" pitchFamily="34" charset="-120"/>
                  </a:rPr>
                  <a:t>, entonces el PVI tiene una única solución definida en TODO el intervalo I.</a:t>
                </a:r>
                <a:endParaRPr lang="en-US" sz="1500" dirty="0"/>
              </a:p>
            </p:txBody>
          </p:sp>
        </mc:Choice>
        <mc:Fallback>
          <p:sp>
            <p:nvSpPr>
              <p:cNvPr id="7" name="Text 5"/>
              <p:cNvSpPr>
                <a:spLocks noRot="1" noChangeAspect="1" noMove="1" noResize="1" noEditPoints="1" noAdjustHandles="1" noChangeArrowheads="1" noChangeShapeType="1" noTextEdit="1"/>
              </p:cNvSpPr>
              <p:nvPr/>
            </p:nvSpPr>
            <p:spPr>
              <a:xfrm>
                <a:off x="868680" y="2423160"/>
                <a:ext cx="10424160" cy="960120"/>
              </a:xfrm>
              <a:prstGeom prst="rect">
                <a:avLst/>
              </a:prstGeom>
              <a:blipFill>
                <a:blip r:embed="rId4"/>
                <a:stretch>
                  <a:fillRect r="-409"/>
                </a:stretch>
              </a:blipFill>
              <a:ln/>
            </p:spPr>
            <p:txBody>
              <a:bodyPr/>
              <a:lstStyle/>
              <a:p>
                <a:r>
                  <a:rPr lang="es-MX">
                    <a:noFill/>
                  </a:rPr>
                  <a:t> </a:t>
                </a:r>
              </a:p>
            </p:txBody>
          </p:sp>
        </mc:Fallback>
      </mc:AlternateContent>
      <p:sp>
        <p:nvSpPr>
          <p:cNvPr id="8" name="Shape 6"/>
          <p:cNvSpPr/>
          <p:nvPr/>
        </p:nvSpPr>
        <p:spPr>
          <a:xfrm>
            <a:off x="548640" y="3749040"/>
            <a:ext cx="11091672" cy="2651760"/>
          </a:xfrm>
          <a:prstGeom prst="roundRect">
            <a:avLst>
              <a:gd name="adj" fmla="val 3103"/>
            </a:avLst>
          </a:prstGeom>
          <a:solidFill>
            <a:srgbClr val="F1F5F9"/>
          </a:solidFill>
          <a:ln w="12700">
            <a:solidFill>
              <a:srgbClr val="E2E8F0"/>
            </a:solidFill>
            <a:prstDash val="solid"/>
          </a:ln>
        </p:spPr>
        <p:txBody>
          <a:bodyPr/>
          <a:lstStyle/>
          <a:p>
            <a:endParaRPr lang="es-MX"/>
          </a:p>
        </p:txBody>
      </p:sp>
      <p:sp>
        <p:nvSpPr>
          <p:cNvPr id="9" name="Text 7"/>
          <p:cNvSpPr/>
          <p:nvPr/>
        </p:nvSpPr>
        <p:spPr>
          <a:xfrm>
            <a:off x="868680" y="3931920"/>
            <a:ext cx="7315200" cy="365760"/>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 Contraste con la Sesión 3</a:t>
            </a:r>
            <a:endParaRPr lang="en-US" sz="1500" dirty="0"/>
          </a:p>
        </p:txBody>
      </p:sp>
      <mc:AlternateContent xmlns:mc="http://schemas.openxmlformats.org/markup-compatibility/2006">
        <mc:Choice xmlns:a14="http://schemas.microsoft.com/office/drawing/2010/main" Requires="a14">
          <p:sp>
            <p:nvSpPr>
              <p:cNvPr id="10" name="Text 8"/>
              <p:cNvSpPr/>
              <p:nvPr/>
            </p:nvSpPr>
            <p:spPr>
              <a:xfrm>
                <a:off x="868680" y="4389120"/>
                <a:ext cx="10424160" cy="1051560"/>
              </a:xfrm>
              <a:prstGeom prst="rect">
                <a:avLst/>
              </a:prstGeom>
              <a:noFill/>
              <a:ln/>
            </p:spPr>
            <p:txBody>
              <a:bodyPr wrap="square" rtlCol="0" anchor="t"/>
              <a:lstStyle/>
              <a:p>
                <a:pPr marL="0" indent="0">
                  <a:lnSpc>
                    <a:spcPct val="130000"/>
                  </a:lnSpc>
                  <a:buNone/>
                  <a:defRPr sz="1350">
                    <a:solidFill>
                      <a:srgbClr val="334155"/>
                    </a:solidFill>
                  </a:defRPr>
                </a:pPr>
                <a:r>
                  <a:rPr lang="en-US" sz="1350" dirty="0">
                    <a:solidFill>
                      <a:srgbClr val="334155"/>
                    </a:solidFill>
                    <a:latin typeface="Calibri" pitchFamily="34" charset="0"/>
                    <a:ea typeface="Calibri" pitchFamily="34" charset="-122"/>
                    <a:cs typeface="Calibri" pitchFamily="34" charset="-120"/>
                  </a:rPr>
                  <a:t>En el caso </a:t>
                </a:r>
                <a:r>
                  <a:rPr lang="en-US" sz="1350" b="1" dirty="0">
                    <a:solidFill>
                      <a:srgbClr val="334155"/>
                    </a:solidFill>
                    <a:latin typeface="Calibri" pitchFamily="34" charset="0"/>
                    <a:ea typeface="Calibri" pitchFamily="34" charset="-122"/>
                    <a:cs typeface="Calibri" pitchFamily="34" charset="-120"/>
                  </a:rPr>
                  <a:t>no lineal</a:t>
                </a:r>
                <a:r>
                  <a:rPr lang="en-US" sz="1350" dirty="0">
                    <a:solidFill>
                      <a:srgbClr val="334155"/>
                    </a:solidFill>
                    <a:latin typeface="Calibri" pitchFamily="34" charset="0"/>
                    <a:ea typeface="Calibri" pitchFamily="34" charset="-122"/>
                    <a:cs typeface="Calibri" pitchFamily="34" charset="-120"/>
                  </a:rPr>
                  <a:t>, el intervalo de la solución podía ser más pequeño que donde la ecuación estaba definida: recuerda </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=1+</m:t>
                    </m:r>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2</m:t>
                        </m:r>
                      </m:sup>
                    </m:sSup>
                    <m:r>
                      <a:rPr>
                        <a:latin typeface="Cambria Math" panose="02040503050406030204" pitchFamily="18" charset="0"/>
                      </a:rPr>
                      <m:t>, </m:t>
                    </m:r>
                    <m:r>
                      <a:rPr>
                        <a:latin typeface="Cambria Math" panose="02040503050406030204" pitchFamily="18" charset="0"/>
                      </a:rPr>
                      <m:t>𝑦</m:t>
                    </m:r>
                    <m:r>
                      <a:rPr>
                        <a:latin typeface="Cambria Math" panose="02040503050406030204" pitchFamily="18" charset="0"/>
                      </a:rPr>
                      <m:t>(0)=0</m:t>
                    </m:r>
                  </m:oMath>
                </a14:m>
                <a:r>
                  <a:rPr lang="en-US" sz="1350" dirty="0">
                    <a:solidFill>
                      <a:srgbClr val="334155"/>
                    </a:solidFill>
                    <a:latin typeface="Calibri" pitchFamily="34" charset="0"/>
                    <a:ea typeface="Calibri" pitchFamily="34" charset="-122"/>
                    <a:cs typeface="Calibri" pitchFamily="34" charset="-120"/>
                  </a:rPr>
                  <a:t>, con solución sólo en </a:t>
                </a:r>
                <a14:m>
                  <m:oMath xmlns:m="http://schemas.openxmlformats.org/officeDocument/2006/math">
                    <m:d>
                      <m:dPr>
                        <m:ctrlPr>
                          <a:rPr>
                            <a:latin typeface="Cambria Math" panose="02040503050406030204" pitchFamily="18" charset="0"/>
                          </a:rPr>
                        </m:ctrlPr>
                      </m:dPr>
                      <m:e>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𝜋</m:t>
                            </m:r>
                          </m:num>
                          <m:den>
                            <m:r>
                              <a:rPr>
                                <a:latin typeface="Cambria Math" panose="02040503050406030204" pitchFamily="18" charset="0"/>
                              </a:rPr>
                              <m:t>2</m:t>
                            </m:r>
                          </m:den>
                        </m:f>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𝜋</m:t>
                            </m:r>
                          </m:num>
                          <m:den>
                            <m:r>
                              <a:rPr>
                                <a:latin typeface="Cambria Math" panose="02040503050406030204" pitchFamily="18" charset="0"/>
                              </a:rPr>
                              <m:t>2</m:t>
                            </m:r>
                          </m:den>
                        </m:f>
                      </m:e>
                    </m:d>
                  </m:oMath>
                </a14:m>
                <a:r>
                  <a:rPr lang="en-US" sz="1350" dirty="0">
                    <a:solidFill>
                      <a:srgbClr val="334155"/>
                    </a:solidFill>
                    <a:latin typeface="Calibri" pitchFamily="34" charset="0"/>
                    <a:ea typeface="Calibri" pitchFamily="34" charset="-122"/>
                    <a:cs typeface="Calibri" pitchFamily="34" charset="-120"/>
                  </a:rPr>
                  <a:t> aunque </a:t>
                </a:r>
                <a14:m>
                  <m:oMath xmlns:m="http://schemas.openxmlformats.org/officeDocument/2006/math">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)=1+</m:t>
                    </m:r>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2</m:t>
                        </m:r>
                      </m:sup>
                    </m:sSup>
                  </m:oMath>
                </a14:m>
                <a:r>
                  <a:rPr lang="en-US" sz="1350" dirty="0">
                    <a:solidFill>
                      <a:srgbClr val="334155"/>
                    </a:solidFill>
                    <a:latin typeface="Calibri" pitchFamily="34" charset="0"/>
                    <a:ea typeface="Calibri" pitchFamily="34" charset="-122"/>
                    <a:cs typeface="Calibri" pitchFamily="34" charset="-120"/>
                  </a:rPr>
                  <a:t> fuera continua en todo ℝ².</a:t>
                </a:r>
                <a:endParaRPr lang="en-US" sz="1350" dirty="0"/>
              </a:p>
            </p:txBody>
          </p:sp>
        </mc:Choice>
        <mc:Fallback>
          <p:sp>
            <p:nvSpPr>
              <p:cNvPr id="10" name="Text 8"/>
              <p:cNvSpPr>
                <a:spLocks noRot="1" noChangeAspect="1" noMove="1" noResize="1" noEditPoints="1" noAdjustHandles="1" noChangeArrowheads="1" noChangeShapeType="1" noTextEdit="1"/>
              </p:cNvSpPr>
              <p:nvPr/>
            </p:nvSpPr>
            <p:spPr>
              <a:xfrm>
                <a:off x="868680" y="4389120"/>
                <a:ext cx="10424160" cy="1051560"/>
              </a:xfrm>
              <a:prstGeom prst="rect">
                <a:avLst/>
              </a:prstGeom>
              <a:blipFill>
                <a:blip r:embed="rId5"/>
                <a:stretch>
                  <a:fillRect l="-175"/>
                </a:stretch>
              </a:blipFill>
              <a:ln/>
            </p:spPr>
            <p:txBody>
              <a:bodyPr/>
              <a:lstStyle/>
              <a:p>
                <a:r>
                  <a:rPr lang="es-MX">
                    <a:noFill/>
                  </a:rPr>
                  <a:t> </a:t>
                </a:r>
              </a:p>
            </p:txBody>
          </p:sp>
        </mc:Fallback>
      </mc:AlternateContent>
      <p:sp>
        <p:nvSpPr>
          <p:cNvPr id="11" name="Text 9"/>
          <p:cNvSpPr/>
          <p:nvPr/>
        </p:nvSpPr>
        <p:spPr>
          <a:xfrm>
            <a:off x="868680" y="5440680"/>
            <a:ext cx="10424160" cy="822960"/>
          </a:xfrm>
          <a:prstGeom prst="rect">
            <a:avLst/>
          </a:prstGeom>
          <a:noFill/>
          <a:ln/>
        </p:spPr>
        <p:txBody>
          <a:bodyPr wrap="square" rtlCol="0" anchor="t"/>
          <a:lstStyle/>
          <a:p>
            <a:pPr marL="0" indent="0">
              <a:lnSpc>
                <a:spcPct val="130000"/>
              </a:lnSpc>
              <a:buNone/>
            </a:pPr>
            <a:r>
              <a:rPr lang="en-US" sz="1350" b="1" dirty="0">
                <a:solidFill>
                  <a:srgbClr val="0E7490"/>
                </a:solidFill>
                <a:latin typeface="Calibri" pitchFamily="34" charset="0"/>
                <a:ea typeface="Calibri" pitchFamily="34" charset="-122"/>
                <a:cs typeface="Calibri" pitchFamily="34" charset="-120"/>
              </a:rPr>
              <a:t>En el caso lineal no hay sorpresas: el intervalo de la solución coincide exactamente con el intervalo de continuidad de P y f. Ese es el precio (y el premio) de la linealidad.</a:t>
            </a:r>
            <a:endParaRPr lang="en-US" sz="1350" dirty="0"/>
          </a:p>
        </p:txBody>
      </p:sp>
      <p:sp>
        <p:nvSpPr>
          <p:cNvPr id="12" name="Text 10"/>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235440" y="-2651760"/>
            <a:ext cx="4937760" cy="4937760"/>
          </a:xfrm>
          <a:prstGeom prst="ellipse">
            <a:avLst/>
          </a:prstGeom>
          <a:solidFill>
            <a:srgbClr val="FEF3C7"/>
          </a:solidFill>
          <a:ln/>
        </p:spPr>
        <p:txBody>
          <a:bodyPr/>
          <a:lstStyle/>
          <a:p>
            <a:endParaRPr lang="es-MX"/>
          </a:p>
        </p:txBody>
      </p:sp>
      <p:sp>
        <p:nvSpPr>
          <p:cNvPr id="3" name="Shape 1"/>
          <p:cNvSpPr/>
          <p:nvPr/>
        </p:nvSpPr>
        <p:spPr>
          <a:xfrm>
            <a:off x="548640" y="365760"/>
            <a:ext cx="1737360" cy="384048"/>
          </a:xfrm>
          <a:prstGeom prst="roundRect">
            <a:avLst>
              <a:gd name="adj" fmla="val 50000"/>
            </a:avLst>
          </a:prstGeom>
          <a:solidFill>
            <a:srgbClr val="FEF3C7"/>
          </a:solidFill>
          <a:ln/>
        </p:spPr>
        <p:txBody>
          <a:bodyPr/>
          <a:lstStyle/>
          <a:p>
            <a:endParaRPr lang="es-MX"/>
          </a:p>
        </p:txBody>
      </p:sp>
      <p:sp>
        <p:nvSpPr>
          <p:cNvPr id="4" name="Text 2"/>
          <p:cNvSpPr/>
          <p:nvPr/>
        </p:nvSpPr>
        <p:spPr>
          <a:xfrm>
            <a:off x="548640" y="365760"/>
            <a:ext cx="1737360" cy="384048"/>
          </a:xfrm>
          <a:prstGeom prst="rect">
            <a:avLst/>
          </a:prstGeom>
          <a:noFill/>
          <a:ln/>
        </p:spPr>
        <p:txBody>
          <a:bodyPr wrap="square" rtlCol="0" anchor="ctr"/>
          <a:lstStyle/>
          <a:p>
            <a:pPr marL="0" indent="0" algn="ctr">
              <a:buNone/>
            </a:pPr>
            <a:r>
              <a:rPr lang="en-US" sz="1300" b="1" kern="0" spc="100" dirty="0">
                <a:solidFill>
                  <a:srgbClr val="B45309"/>
                </a:solidFill>
                <a:latin typeface="Calibri" pitchFamily="34" charset="0"/>
                <a:ea typeface="Calibri" pitchFamily="34" charset="-122"/>
                <a:cs typeface="Calibri" pitchFamily="34" charset="-120"/>
              </a:rPr>
              <a:t>EJEMPLO 1</a:t>
            </a:r>
            <a:endParaRPr lang="en-US" sz="1300" dirty="0"/>
          </a:p>
        </p:txBody>
      </p:sp>
      <p:sp>
        <p:nvSpPr>
          <p:cNvPr id="6" name="Shape 4"/>
          <p:cNvSpPr/>
          <p:nvPr/>
        </p:nvSpPr>
        <p:spPr>
          <a:xfrm>
            <a:off x="1280160" y="2743200"/>
            <a:ext cx="9628632" cy="1737360"/>
          </a:xfrm>
          <a:prstGeom prst="roundRect">
            <a:avLst>
              <a:gd name="adj" fmla="val 3684"/>
            </a:avLst>
          </a:prstGeom>
          <a:solidFill>
            <a:srgbClr val="FFFFFF"/>
          </a:solidFill>
          <a:ln w="12700">
            <a:solidFill>
              <a:srgbClr val="E2E8F0"/>
            </a:solidFill>
            <a:prstDash val="solid"/>
          </a:ln>
        </p:spPr>
        <p:txBody>
          <a:bodyPr/>
          <a:lstStyle/>
          <a:p>
            <a:endParaRPr lang="es-MX"/>
          </a:p>
        </p:txBody>
      </p:sp>
      <mc:AlternateContent xmlns:mc="http://schemas.openxmlformats.org/markup-compatibility/2006">
        <mc:Choice xmlns:a14="http://schemas.microsoft.com/office/drawing/2010/main" Requires="a14">
          <p:sp>
            <p:nvSpPr>
              <p:cNvPr id="7" name="Text 5"/>
              <p:cNvSpPr/>
              <p:nvPr/>
            </p:nvSpPr>
            <p:spPr>
              <a:xfrm>
                <a:off x="1280160" y="2743200"/>
                <a:ext cx="9628632" cy="1737360"/>
              </a:xfrm>
              <a:prstGeom prst="rect">
                <a:avLst/>
              </a:prstGeom>
              <a:noFill/>
              <a:ln/>
            </p:spPr>
            <p:txBody>
              <a:bodyPr wrap="square" rtlCol="0" anchor="ctr"/>
              <a:lstStyle/>
              <a:p>
                <a:pPr marL="0" indent="0" algn="ctr">
                  <a:buNone/>
                  <a:defRPr sz="4000">
                    <a:solidFill>
                      <a:srgbClr val="B45309"/>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−3</m:t>
                      </m:r>
                      <m:r>
                        <a:rPr>
                          <a:latin typeface="Cambria Math" panose="02040503050406030204" pitchFamily="18" charset="0"/>
                        </a:rPr>
                        <m:t>𝑦</m:t>
                      </m:r>
                      <m:r>
                        <a:rPr>
                          <a:latin typeface="Cambria Math" panose="02040503050406030204" pitchFamily="18" charset="0"/>
                        </a:rPr>
                        <m:t>=6</m:t>
                      </m:r>
                    </m:oMath>
                  </m:oMathPara>
                </a14:m>
                <a:endParaRPr lang="en-US" sz="4000" dirty="0"/>
              </a:p>
            </p:txBody>
          </p:sp>
        </mc:Choice>
        <mc:Fallback>
          <p:sp>
            <p:nvSpPr>
              <p:cNvPr id="7" name="Text 5"/>
              <p:cNvSpPr>
                <a:spLocks noRot="1" noChangeAspect="1" noMove="1" noResize="1" noEditPoints="1" noAdjustHandles="1" noChangeArrowheads="1" noChangeShapeType="1" noTextEdit="1"/>
              </p:cNvSpPr>
              <p:nvPr/>
            </p:nvSpPr>
            <p:spPr>
              <a:xfrm>
                <a:off x="1280160" y="2743200"/>
                <a:ext cx="9628632" cy="1737360"/>
              </a:xfrm>
              <a:prstGeom prst="rect">
                <a:avLst/>
              </a:prstGeom>
              <a:blipFill>
                <a:blip r:embed="rId3"/>
                <a:stretch>
                  <a:fillRect/>
                </a:stretch>
              </a:blipFill>
              <a:ln/>
            </p:spPr>
            <p:txBody>
              <a:bodyPr/>
              <a:lstStyle/>
              <a:p>
                <a:r>
                  <a:rPr lang="es-MX">
                    <a:noFill/>
                  </a:rPr>
                  <a:t> </a:t>
                </a:r>
              </a:p>
            </p:txBody>
          </p:sp>
        </mc:Fallback>
      </mc:AlternateContent>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Encuentra la solución general.</a:t>
            </a:r>
            <a:endParaRPr lang="en-US" sz="1600" dirty="0"/>
          </a:p>
        </p:txBody>
      </p:sp>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737360" cy="384048"/>
          </a:xfrm>
          <a:prstGeom prst="roundRect">
            <a:avLst>
              <a:gd name="adj" fmla="val 50000"/>
            </a:avLst>
          </a:prstGeom>
          <a:solidFill>
            <a:srgbClr val="FEF3C7"/>
          </a:solidFill>
          <a:ln/>
        </p:spPr>
        <p:txBody>
          <a:bodyPr/>
          <a:lstStyle/>
          <a:p>
            <a:endParaRPr lang="es-MX"/>
          </a:p>
        </p:txBody>
      </p:sp>
      <p:sp>
        <p:nvSpPr>
          <p:cNvPr id="3" name="Text 1"/>
          <p:cNvSpPr/>
          <p:nvPr/>
        </p:nvSpPr>
        <p:spPr>
          <a:xfrm>
            <a:off x="548640" y="365760"/>
            <a:ext cx="1737360" cy="384048"/>
          </a:xfrm>
          <a:prstGeom prst="rect">
            <a:avLst/>
          </a:prstGeom>
          <a:noFill/>
          <a:ln/>
        </p:spPr>
        <p:txBody>
          <a:bodyPr wrap="square" rtlCol="0" anchor="ctr"/>
          <a:lstStyle/>
          <a:p>
            <a:pPr marL="0" indent="0" algn="ctr">
              <a:buNone/>
            </a:pPr>
            <a:r>
              <a:rPr lang="en-US" sz="1300" b="1" kern="0" spc="100" dirty="0">
                <a:solidFill>
                  <a:srgbClr val="B45309"/>
                </a:solidFill>
                <a:latin typeface="Calibri" pitchFamily="34" charset="0"/>
                <a:ea typeface="Calibri" pitchFamily="34" charset="-122"/>
                <a:cs typeface="Calibri" pitchFamily="34" charset="-120"/>
              </a:rPr>
              <a:t>EJEMPLO 1</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Coeficientes Constantes</a:t>
            </a:r>
            <a:endParaRPr lang="en-US" sz="3200" dirty="0"/>
          </a:p>
        </p:txBody>
      </p:sp>
      <mc:AlternateContent xmlns:mc="http://schemas.openxmlformats.org/markup-compatibility/2006">
        <mc:Choice xmlns:a14="http://schemas.microsoft.com/office/drawing/2010/main" Requires="a14">
          <p:sp>
            <p:nvSpPr>
              <p:cNvPr id="5" name="Text 3"/>
              <p:cNvSpPr/>
              <p:nvPr/>
            </p:nvSpPr>
            <p:spPr>
              <a:xfrm>
                <a:off x="548640" y="1508760"/>
                <a:ext cx="11091672" cy="365760"/>
              </a:xfrm>
              <a:prstGeom prst="rect">
                <a:avLst/>
              </a:prstGeom>
              <a:noFill/>
              <a:ln/>
            </p:spPr>
            <p:txBody>
              <a:bodyPr wrap="square" rtlCol="0" anchor="t"/>
              <a:lstStyle/>
              <a:p>
                <a:pPr marL="0" indent="0" algn="l">
                  <a:buNone/>
                  <a:defRPr sz="1700">
                    <a:solidFill>
                      <a:srgbClr val="B45309"/>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−3</m:t>
                      </m:r>
                      <m:r>
                        <a:rPr>
                          <a:latin typeface="Cambria Math" panose="02040503050406030204" pitchFamily="18" charset="0"/>
                        </a:rPr>
                        <m:t>𝑦</m:t>
                      </m:r>
                      <m:r>
                        <a:rPr>
                          <a:latin typeface="Cambria Math" panose="02040503050406030204" pitchFamily="18" charset="0"/>
                        </a:rPr>
                        <m:t>=6</m:t>
                      </m:r>
                    </m:oMath>
                  </m:oMathPara>
                </a14:m>
                <a:endParaRPr lang="en-US" sz="1700" dirty="0"/>
              </a:p>
            </p:txBody>
          </p:sp>
        </mc:Choice>
        <mc:Fallback>
          <p:sp>
            <p:nvSpPr>
              <p:cNvPr id="5" name="Text 3"/>
              <p:cNvSpPr>
                <a:spLocks noRot="1" noChangeAspect="1" noMove="1" noResize="1" noEditPoints="1" noAdjustHandles="1" noChangeArrowheads="1" noChangeShapeType="1" noTextEdit="1"/>
              </p:cNvSpPr>
              <p:nvPr/>
            </p:nvSpPr>
            <p:spPr>
              <a:xfrm>
                <a:off x="548640" y="1508760"/>
                <a:ext cx="11091672" cy="365760"/>
              </a:xfrm>
              <a:prstGeom prst="rect">
                <a:avLst/>
              </a:prstGeom>
              <a:blipFill>
                <a:blip r:embed="rId3"/>
                <a:stretch>
                  <a:fillRect b="-46667"/>
                </a:stretch>
              </a:blipFill>
              <a:ln/>
            </p:spPr>
            <p:txBody>
              <a:bodyPr/>
              <a:lstStyle/>
              <a:p>
                <a:r>
                  <a:rPr lang="es-MX">
                    <a:noFill/>
                  </a:rPr>
                  <a:t> </a:t>
                </a:r>
              </a:p>
            </p:txBody>
          </p:sp>
        </mc:Fallback>
      </mc:AlternateContent>
      <p:sp>
        <p:nvSpPr>
          <p:cNvPr id="6" name="Shape 4"/>
          <p:cNvSpPr/>
          <p:nvPr/>
        </p:nvSpPr>
        <p:spPr>
          <a:xfrm>
            <a:off x="548640" y="2194560"/>
            <a:ext cx="5349240" cy="3749040"/>
          </a:xfrm>
          <a:prstGeom prst="roundRect">
            <a:avLst>
              <a:gd name="adj" fmla="val 2439"/>
            </a:avLst>
          </a:prstGeom>
          <a:solidFill>
            <a:srgbClr val="F1F5F9"/>
          </a:solidFill>
          <a:ln w="12700">
            <a:solidFill>
              <a:srgbClr val="E2E8F0"/>
            </a:solidFill>
            <a:prstDash val="solid"/>
          </a:ln>
        </p:spPr>
        <p:txBody>
          <a:bodyPr/>
          <a:lstStyle/>
          <a:p>
            <a:endParaRPr lang="es-MX"/>
          </a:p>
        </p:txBody>
      </p:sp>
      <p:sp>
        <p:nvSpPr>
          <p:cNvPr id="7" name="Text 5"/>
          <p:cNvSpPr/>
          <p:nvPr/>
        </p:nvSpPr>
        <p:spPr>
          <a:xfrm>
            <a:off x="868680" y="2468880"/>
            <a:ext cx="4754880" cy="54864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Ya está en forma estándar. Factor integrante:</a:t>
            </a:r>
            <a:endParaRPr lang="en-US" sz="1400" dirty="0"/>
          </a:p>
        </p:txBody>
      </p:sp>
      <p:sp>
        <p:nvSpPr>
          <p:cNvPr id="8" name="Shape 6"/>
          <p:cNvSpPr/>
          <p:nvPr/>
        </p:nvSpPr>
        <p:spPr>
          <a:xfrm>
            <a:off x="868680" y="3108960"/>
            <a:ext cx="4206240" cy="777240"/>
          </a:xfrm>
          <a:prstGeom prst="roundRect">
            <a:avLst>
              <a:gd name="adj" fmla="val 8235"/>
            </a:avLst>
          </a:prstGeom>
          <a:solidFill>
            <a:srgbClr val="FFFFFF"/>
          </a:solidFill>
          <a:ln w="12700">
            <a:solidFill>
              <a:srgbClr val="CBD5E1"/>
            </a:solidFill>
            <a:prstDash val="solid"/>
          </a:ln>
        </p:spPr>
        <p:txBody>
          <a:bodyPr/>
          <a:lstStyle/>
          <a:p>
            <a:endParaRPr lang="es-MX"/>
          </a:p>
        </p:txBody>
      </p:sp>
      <mc:AlternateContent xmlns:mc="http://schemas.openxmlformats.org/markup-compatibility/2006">
        <mc:Choice xmlns:a14="http://schemas.microsoft.com/office/drawing/2010/main" Requires="a14">
          <p:sp>
            <p:nvSpPr>
              <p:cNvPr id="9" name="Text 7"/>
              <p:cNvSpPr/>
              <p:nvPr/>
            </p:nvSpPr>
            <p:spPr>
              <a:xfrm>
                <a:off x="868680" y="3108960"/>
                <a:ext cx="4206240" cy="777240"/>
              </a:xfrm>
              <a:prstGeom prst="rect">
                <a:avLst/>
              </a:prstGeom>
              <a:noFill/>
              <a:ln/>
            </p:spPr>
            <p:txBody>
              <a:bodyPr wrap="square" rtlCol="0" anchor="ctr"/>
              <a:lstStyle/>
              <a:p>
                <a:pPr marL="0" indent="0" algn="ctr">
                  <a:buNone/>
                  <a:defRPr sz="2000">
                    <a:solidFill>
                      <a:srgbClr val="B45309"/>
                    </a:solidFill>
                  </a:defRPr>
                </a:pPr>
                <a14:m>
                  <m:oMathPara xmlns:m="http://schemas.openxmlformats.org/officeDocument/2006/math">
                    <m:oMath>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∫−3</m:t>
                          </m:r>
                          <m:r>
                            <a:rPr>
                              <a:latin typeface="Cambria Math" panose="02040503050406030204" pitchFamily="18" charset="0"/>
                            </a:rPr>
                            <m:t>𝑑𝑥</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−3</m:t>
                          </m:r>
                          <m:r>
                            <a:rPr>
                              <a:latin typeface="Cambria Math" panose="02040503050406030204" pitchFamily="18" charset="0"/>
                            </a:rPr>
                            <m:t>𝑥</m:t>
                          </m:r>
                        </m:sup>
                      </m:sSup>
                    </m:oMath>
                  </m:oMathPara>
                </a14:m>
                <a:endParaRPr lang="en-US" sz="2000" dirty="0"/>
              </a:p>
            </p:txBody>
          </p:sp>
        </mc:Choice>
        <mc:Fallback>
          <p:sp>
            <p:nvSpPr>
              <p:cNvPr id="9" name="Text 7"/>
              <p:cNvSpPr>
                <a:spLocks noRot="1" noChangeAspect="1" noMove="1" noResize="1" noEditPoints="1" noAdjustHandles="1" noChangeArrowheads="1" noChangeShapeType="1" noTextEdit="1"/>
              </p:cNvSpPr>
              <p:nvPr/>
            </p:nvSpPr>
            <p:spPr>
              <a:xfrm>
                <a:off x="868680" y="3108960"/>
                <a:ext cx="4206240" cy="777240"/>
              </a:xfrm>
              <a:prstGeom prst="rect">
                <a:avLst/>
              </a:prstGeom>
              <a:blipFill>
                <a:blip r:embed="rId4"/>
                <a:stretch>
                  <a:fillRect/>
                </a:stretch>
              </a:blipFill>
              <a:ln/>
            </p:spPr>
            <p:txBody>
              <a:bodyPr/>
              <a:lstStyle/>
              <a:p>
                <a:r>
                  <a:rPr lang="es-MX">
                    <a:noFill/>
                  </a:rPr>
                  <a:t> </a:t>
                </a:r>
              </a:p>
            </p:txBody>
          </p:sp>
        </mc:Fallback>
      </mc:AlternateContent>
      <p:sp>
        <p:nvSpPr>
          <p:cNvPr id="10" name="Text 8"/>
          <p:cNvSpPr/>
          <p:nvPr/>
        </p:nvSpPr>
        <p:spPr>
          <a:xfrm>
            <a:off x="868680" y="4069080"/>
            <a:ext cx="4754880" cy="36576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Multiplicar y reconocer la derivada:</a:t>
            </a:r>
            <a:endParaRPr lang="en-US" sz="1400" dirty="0"/>
          </a:p>
        </p:txBody>
      </p:sp>
      <mc:AlternateContent xmlns:mc="http://schemas.openxmlformats.org/markup-compatibility/2006">
        <mc:Choice xmlns:a14="http://schemas.microsoft.com/office/drawing/2010/main" Requires="a14">
          <p:sp>
            <p:nvSpPr>
              <p:cNvPr id="11" name="Text 9"/>
              <p:cNvSpPr/>
              <p:nvPr/>
            </p:nvSpPr>
            <p:spPr>
              <a:xfrm>
                <a:off x="868680" y="4480560"/>
                <a:ext cx="4754880" cy="411480"/>
              </a:xfrm>
              <a:prstGeom prst="rect">
                <a:avLst/>
              </a:prstGeom>
              <a:noFill/>
              <a:ln/>
            </p:spPr>
            <p:txBody>
              <a:bodyPr wrap="square" rtlCol="0" anchor="t"/>
              <a:lstStyle/>
              <a:p>
                <a:pPr marL="0" indent="0" algn="l">
                  <a:buNone/>
                  <a:defRPr sz="1600">
                    <a:solidFill>
                      <a:srgbClr val="334155"/>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m:t>
                          </m:r>
                        </m:num>
                        <m:den>
                          <m:r>
                            <a:rPr>
                              <a:latin typeface="Cambria Math" panose="02040503050406030204" pitchFamily="18" charset="0"/>
                            </a:rPr>
                            <m:t>𝑑𝑥</m:t>
                          </m:r>
                        </m:den>
                      </m:f>
                      <m:d>
                        <m:dPr>
                          <m:begChr m:val="["/>
                          <m:endChr m:val="]"/>
                          <m:ctrlPr>
                            <a:rPr i="1">
                              <a:latin typeface="Cambria Math" panose="02040503050406030204" pitchFamily="18" charset="0"/>
                            </a:rPr>
                          </m:ctrlPr>
                        </m:dPr>
                        <m:e>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−3</m:t>
                              </m:r>
                              <m:r>
                                <a:rPr>
                                  <a:latin typeface="Cambria Math" panose="02040503050406030204" pitchFamily="18" charset="0"/>
                                </a:rPr>
                                <m:t>𝑥</m:t>
                              </m:r>
                            </m:sup>
                          </m:sSup>
                          <m:r>
                            <a:rPr>
                              <a:latin typeface="Cambria Math" panose="02040503050406030204" pitchFamily="18" charset="0"/>
                            </a:rPr>
                            <m:t>𝑦</m:t>
                          </m:r>
                        </m:e>
                      </m:d>
                      <m:r>
                        <a:rPr>
                          <a:latin typeface="Cambria Math" panose="02040503050406030204" pitchFamily="18" charset="0"/>
                        </a:rPr>
                        <m:t>=6</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−3</m:t>
                          </m:r>
                          <m:r>
                            <a:rPr>
                              <a:latin typeface="Cambria Math" panose="02040503050406030204" pitchFamily="18" charset="0"/>
                            </a:rPr>
                            <m:t>𝑥</m:t>
                          </m:r>
                        </m:sup>
                      </m:sSup>
                    </m:oMath>
                  </m:oMathPara>
                </a14:m>
                <a:endParaRPr lang="en-US" sz="1600" dirty="0"/>
              </a:p>
            </p:txBody>
          </p:sp>
        </mc:Choice>
        <mc:Fallback>
          <p:sp>
            <p:nvSpPr>
              <p:cNvPr id="11" name="Text 9"/>
              <p:cNvSpPr>
                <a:spLocks noRot="1" noChangeAspect="1" noMove="1" noResize="1" noEditPoints="1" noAdjustHandles="1" noChangeArrowheads="1" noChangeShapeType="1" noTextEdit="1"/>
              </p:cNvSpPr>
              <p:nvPr/>
            </p:nvSpPr>
            <p:spPr>
              <a:xfrm>
                <a:off x="868680" y="4480560"/>
                <a:ext cx="4754880" cy="411480"/>
              </a:xfrm>
              <a:prstGeom prst="rect">
                <a:avLst/>
              </a:prstGeom>
              <a:blipFill>
                <a:blip r:embed="rId5"/>
                <a:stretch>
                  <a:fillRect b="-22059"/>
                </a:stretch>
              </a:blipFill>
              <a:ln/>
            </p:spPr>
            <p:txBody>
              <a:bodyPr/>
              <a:lstStyle/>
              <a:p>
                <a:r>
                  <a:rPr lang="es-MX">
                    <a:noFill/>
                  </a:rPr>
                  <a:t> </a:t>
                </a:r>
              </a:p>
            </p:txBody>
          </p:sp>
        </mc:Fallback>
      </mc:AlternateContent>
      <p:sp>
        <p:nvSpPr>
          <p:cNvPr id="12" name="Text 10"/>
          <p:cNvSpPr/>
          <p:nvPr/>
        </p:nvSpPr>
        <p:spPr>
          <a:xfrm>
            <a:off x="868680" y="5029200"/>
            <a:ext cx="4754880" cy="36576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Integrar:</a:t>
            </a:r>
            <a:endParaRPr lang="en-US" sz="1400" dirty="0"/>
          </a:p>
        </p:txBody>
      </p:sp>
      <mc:AlternateContent xmlns:mc="http://schemas.openxmlformats.org/markup-compatibility/2006">
        <mc:Choice xmlns:a14="http://schemas.microsoft.com/office/drawing/2010/main" Requires="a14">
          <p:sp>
            <p:nvSpPr>
              <p:cNvPr id="13" name="Text 11"/>
              <p:cNvSpPr/>
              <p:nvPr/>
            </p:nvSpPr>
            <p:spPr>
              <a:xfrm>
                <a:off x="868680" y="5394960"/>
                <a:ext cx="4754880" cy="457200"/>
              </a:xfrm>
              <a:prstGeom prst="rect">
                <a:avLst/>
              </a:prstGeom>
              <a:noFill/>
              <a:ln/>
            </p:spPr>
            <p:txBody>
              <a:bodyPr wrap="square" rtlCol="0" anchor="t"/>
              <a:lstStyle/>
              <a:p>
                <a:pPr marL="0" indent="0" algn="l">
                  <a:buNone/>
                  <a:defRPr sz="1600">
                    <a:solidFill>
                      <a:srgbClr val="334155"/>
                    </a:solidFill>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−3</m:t>
                          </m:r>
                          <m:r>
                            <a:rPr>
                              <a:latin typeface="Cambria Math" panose="02040503050406030204" pitchFamily="18" charset="0"/>
                            </a:rPr>
                            <m:t>𝑥</m:t>
                          </m:r>
                        </m:sup>
                      </m:sSup>
                      <m:r>
                        <a:rPr>
                          <a:latin typeface="Cambria Math" panose="02040503050406030204" pitchFamily="18" charset="0"/>
                        </a:rPr>
                        <m:t>𝑦</m:t>
                      </m:r>
                      <m:r>
                        <a:rPr>
                          <a:latin typeface="Cambria Math" panose="02040503050406030204" pitchFamily="18" charset="0"/>
                        </a:rPr>
                        <m:t>=−2</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−3</m:t>
                          </m:r>
                          <m:r>
                            <a:rPr>
                              <a:latin typeface="Cambria Math" panose="02040503050406030204" pitchFamily="18" charset="0"/>
                            </a:rPr>
                            <m:t>𝑥</m:t>
                          </m:r>
                        </m:sup>
                      </m:sSup>
                      <m:r>
                        <a:rPr>
                          <a:latin typeface="Cambria Math" panose="02040503050406030204" pitchFamily="18" charset="0"/>
                        </a:rPr>
                        <m:t>+</m:t>
                      </m:r>
                      <m:r>
                        <a:rPr>
                          <a:latin typeface="Cambria Math" panose="02040503050406030204" pitchFamily="18" charset="0"/>
                        </a:rPr>
                        <m:t>𝐶</m:t>
                      </m:r>
                    </m:oMath>
                  </m:oMathPara>
                </a14:m>
                <a:endParaRPr lang="en-US" sz="1600" dirty="0"/>
              </a:p>
            </p:txBody>
          </p:sp>
        </mc:Choice>
        <mc:Fallback>
          <p:sp>
            <p:nvSpPr>
              <p:cNvPr id="13" name="Text 11"/>
              <p:cNvSpPr>
                <a:spLocks noRot="1" noChangeAspect="1" noMove="1" noResize="1" noEditPoints="1" noAdjustHandles="1" noChangeArrowheads="1" noChangeShapeType="1" noTextEdit="1"/>
              </p:cNvSpPr>
              <p:nvPr/>
            </p:nvSpPr>
            <p:spPr>
              <a:xfrm>
                <a:off x="868680" y="5394960"/>
                <a:ext cx="4754880" cy="457200"/>
              </a:xfrm>
              <a:prstGeom prst="rect">
                <a:avLst/>
              </a:prstGeom>
              <a:blipFill>
                <a:blip r:embed="rId6"/>
                <a:stretch>
                  <a:fillRect/>
                </a:stretch>
              </a:blipFill>
              <a:ln/>
            </p:spPr>
            <p:txBody>
              <a:bodyPr/>
              <a:lstStyle/>
              <a:p>
                <a:r>
                  <a:rPr lang="es-MX">
                    <a:noFill/>
                  </a:rPr>
                  <a:t> </a:t>
                </a:r>
              </a:p>
            </p:txBody>
          </p:sp>
        </mc:Fallback>
      </mc:AlternateContent>
      <p:sp>
        <p:nvSpPr>
          <p:cNvPr id="14" name="Shape 12"/>
          <p:cNvSpPr/>
          <p:nvPr/>
        </p:nvSpPr>
        <p:spPr>
          <a:xfrm>
            <a:off x="6291072" y="2194560"/>
            <a:ext cx="5349240" cy="3749040"/>
          </a:xfrm>
          <a:prstGeom prst="roundRect">
            <a:avLst>
              <a:gd name="adj" fmla="val 2439"/>
            </a:avLst>
          </a:prstGeom>
          <a:solidFill>
            <a:srgbClr val="FEF3C7"/>
          </a:solidFill>
          <a:ln w="12700">
            <a:solidFill>
              <a:srgbClr val="FDE68A"/>
            </a:solidFill>
            <a:prstDash val="solid"/>
          </a:ln>
        </p:spPr>
        <p:txBody>
          <a:bodyPr/>
          <a:lstStyle/>
          <a:p>
            <a:endParaRPr lang="es-MX"/>
          </a:p>
        </p:txBody>
      </p:sp>
      <p:sp>
        <p:nvSpPr>
          <p:cNvPr id="15" name="Text 13"/>
          <p:cNvSpPr/>
          <p:nvPr/>
        </p:nvSpPr>
        <p:spPr>
          <a:xfrm>
            <a:off x="6611112" y="2468880"/>
            <a:ext cx="4754880" cy="365760"/>
          </a:xfrm>
          <a:prstGeom prst="rect">
            <a:avLst/>
          </a:prstGeom>
          <a:noFill/>
          <a:ln/>
        </p:spPr>
        <p:txBody>
          <a:bodyPr wrap="square" rtlCol="0" anchor="ctr"/>
          <a:lstStyle/>
          <a:p>
            <a:pPr marL="0" indent="0">
              <a:buNone/>
            </a:pPr>
            <a:r>
              <a:rPr lang="en-US" sz="1500" b="1" dirty="0">
                <a:solidFill>
                  <a:srgbClr val="92400E"/>
                </a:solidFill>
                <a:latin typeface="Calibri" pitchFamily="34" charset="0"/>
                <a:ea typeface="Calibri" pitchFamily="34" charset="-122"/>
                <a:cs typeface="Calibri" pitchFamily="34" charset="-120"/>
              </a:rPr>
              <a:t>Despejando y:</a:t>
            </a:r>
            <a:endParaRPr lang="en-US" sz="1500" dirty="0"/>
          </a:p>
        </p:txBody>
      </p:sp>
      <p:sp>
        <p:nvSpPr>
          <p:cNvPr id="16" name="Shape 14"/>
          <p:cNvSpPr/>
          <p:nvPr/>
        </p:nvSpPr>
        <p:spPr>
          <a:xfrm>
            <a:off x="6611112" y="2971800"/>
            <a:ext cx="4709160" cy="1097280"/>
          </a:xfrm>
          <a:prstGeom prst="roundRect">
            <a:avLst>
              <a:gd name="adj" fmla="val 5833"/>
            </a:avLst>
          </a:prstGeom>
          <a:solidFill>
            <a:srgbClr val="FFFFFF"/>
          </a:solidFill>
          <a:ln w="12700">
            <a:solidFill>
              <a:srgbClr val="FDE68A"/>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7" name="Text 15"/>
              <p:cNvSpPr/>
              <p:nvPr/>
            </p:nvSpPr>
            <p:spPr>
              <a:xfrm>
                <a:off x="6611112" y="2971800"/>
                <a:ext cx="4709160" cy="1097280"/>
              </a:xfrm>
              <a:prstGeom prst="rect">
                <a:avLst/>
              </a:prstGeom>
              <a:noFill/>
              <a:ln/>
            </p:spPr>
            <p:txBody>
              <a:bodyPr wrap="square" rtlCol="0" anchor="ctr"/>
              <a:lstStyle/>
              <a:p>
                <a:pPr marL="0" indent="0" algn="ctr">
                  <a:buNone/>
                  <a:defRPr sz="3200">
                    <a:solidFill>
                      <a:srgbClr val="B45309"/>
                    </a:solidFill>
                  </a:defRPr>
                </a:pPr>
                <a14:m>
                  <m:oMathPara xmlns:m="http://schemas.openxmlformats.org/officeDocument/2006/math">
                    <m:oMath>
                      <m:r>
                        <a:rPr>
                          <a:latin typeface="Cambria Math" panose="02040503050406030204" pitchFamily="18" charset="0"/>
                        </a:rPr>
                        <m:t>𝑦</m:t>
                      </m:r>
                      <m:r>
                        <a:rPr>
                          <a:latin typeface="Cambria Math" panose="02040503050406030204" pitchFamily="18" charset="0"/>
                        </a:rPr>
                        <m:t>=−2+</m:t>
                      </m:r>
                      <m:r>
                        <a:rPr>
                          <a:latin typeface="Cambria Math" panose="02040503050406030204" pitchFamily="18" charset="0"/>
                        </a:rPr>
                        <m:t>𝐶</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3</m:t>
                          </m:r>
                          <m:r>
                            <a:rPr>
                              <a:latin typeface="Cambria Math" panose="02040503050406030204" pitchFamily="18" charset="0"/>
                            </a:rPr>
                            <m:t>𝑥</m:t>
                          </m:r>
                        </m:sup>
                      </m:sSup>
                    </m:oMath>
                  </m:oMathPara>
                </a14:m>
                <a:endParaRPr lang="en-US" sz="3200" dirty="0"/>
              </a:p>
            </p:txBody>
          </p:sp>
        </mc:Choice>
        <mc:Fallback>
          <p:sp>
            <p:nvSpPr>
              <p:cNvPr id="17" name="Text 15"/>
              <p:cNvSpPr>
                <a:spLocks noRot="1" noChangeAspect="1" noMove="1" noResize="1" noEditPoints="1" noAdjustHandles="1" noChangeArrowheads="1" noChangeShapeType="1" noTextEdit="1"/>
              </p:cNvSpPr>
              <p:nvPr/>
            </p:nvSpPr>
            <p:spPr>
              <a:xfrm>
                <a:off x="6611112" y="2971800"/>
                <a:ext cx="4709160" cy="1097280"/>
              </a:xfrm>
              <a:prstGeom prst="rect">
                <a:avLst/>
              </a:prstGeom>
              <a:blipFill>
                <a:blip r:embed="rId7"/>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8" name="Text 16"/>
              <p:cNvSpPr/>
              <p:nvPr/>
            </p:nvSpPr>
            <p:spPr>
              <a:xfrm>
                <a:off x="6611112" y="4251960"/>
                <a:ext cx="4709160" cy="1554480"/>
              </a:xfrm>
              <a:prstGeom prst="rect">
                <a:avLst/>
              </a:prstGeom>
              <a:noFill/>
              <a:ln/>
            </p:spPr>
            <p:txBody>
              <a:bodyPr wrap="square" rtlCol="0" anchor="t"/>
              <a:lstStyle/>
              <a:p>
                <a:pPr marL="0" indent="0">
                  <a:lnSpc>
                    <a:spcPct val="130000"/>
                  </a:lnSpc>
                  <a:buNone/>
                  <a:defRPr sz="1300">
                    <a:solidFill>
                      <a:srgbClr val="78350F"/>
                    </a:solidFill>
                  </a:defRPr>
                </a:pPr>
                <a:r>
                  <a:rPr lang="en-US" sz="1300" b="1" dirty="0">
                    <a:solidFill>
                      <a:srgbClr val="78350F"/>
                    </a:solidFill>
                    <a:latin typeface="Calibri" pitchFamily="34" charset="0"/>
                    <a:ea typeface="Calibri" pitchFamily="34" charset="-122"/>
                    <a:cs typeface="Calibri" pitchFamily="34" charset="-120"/>
                  </a:rPr>
                  <a:t>Verificación rápida: </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=3</m:t>
                    </m:r>
                    <m:r>
                      <a:rPr>
                        <a:latin typeface="Cambria Math" panose="02040503050406030204" pitchFamily="18" charset="0"/>
                      </a:rPr>
                      <m:t>𝐶</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3</m:t>
                        </m:r>
                        <m:r>
                          <a:rPr>
                            <a:latin typeface="Cambria Math" panose="02040503050406030204" pitchFamily="18" charset="0"/>
                          </a:rPr>
                          <m:t>𝑥</m:t>
                        </m:r>
                      </m:sup>
                    </m:sSup>
                  </m:oMath>
                </a14:m>
                <a:r>
                  <a:rPr lang="en-US" sz="1300" dirty="0">
                    <a:solidFill>
                      <a:srgbClr val="78350F"/>
                    </a:solidFill>
                    <a:latin typeface="Calibri" pitchFamily="34" charset="0"/>
                    <a:ea typeface="Calibri" pitchFamily="34" charset="-122"/>
                    <a:cs typeface="Calibri" pitchFamily="34" charset="-120"/>
                  </a:rPr>
                  <a:t>, </a:t>
                </a:r>
                <a14:m>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𝑦</m:t>
                        </m:r>
                      </m:e>
                      <m:sup>
                        <m:r>
                          <a:rPr>
                            <a:latin typeface="Cambria Math" panose="02040503050406030204" pitchFamily="18" charset="0"/>
                          </a:rPr>
                          <m:t>′</m:t>
                        </m:r>
                      </m:sup>
                    </m:sSup>
                    <m:r>
                      <a:rPr>
                        <a:latin typeface="Cambria Math" panose="02040503050406030204" pitchFamily="18" charset="0"/>
                      </a:rPr>
                      <m:t>−3</m:t>
                    </m:r>
                    <m:r>
                      <a:rPr>
                        <a:latin typeface="Cambria Math" panose="02040503050406030204" pitchFamily="18" charset="0"/>
                      </a:rPr>
                      <m:t>𝑦</m:t>
                    </m:r>
                    <m:r>
                      <a:rPr>
                        <a:latin typeface="Cambria Math" panose="02040503050406030204" pitchFamily="18" charset="0"/>
                      </a:rPr>
                      <m:t>=3</m:t>
                    </m:r>
                    <m:r>
                      <a:rPr>
                        <a:latin typeface="Cambria Math" panose="02040503050406030204" pitchFamily="18" charset="0"/>
                      </a:rPr>
                      <m:t>𝐶</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3</m:t>
                        </m:r>
                        <m:r>
                          <a:rPr>
                            <a:latin typeface="Cambria Math" panose="02040503050406030204" pitchFamily="18" charset="0"/>
                          </a:rPr>
                          <m:t>𝑥</m:t>
                        </m:r>
                      </m:sup>
                    </m:sSup>
                    <m:r>
                      <a:rPr>
                        <a:latin typeface="Cambria Math" panose="02040503050406030204" pitchFamily="18" charset="0"/>
                      </a:rPr>
                      <m:t>−3(−2+</m:t>
                    </m:r>
                    <m:r>
                      <a:rPr>
                        <a:latin typeface="Cambria Math" panose="02040503050406030204" pitchFamily="18" charset="0"/>
                      </a:rPr>
                      <m:t>𝐶</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3</m:t>
                        </m:r>
                        <m:r>
                          <a:rPr>
                            <a:latin typeface="Cambria Math" panose="02040503050406030204" pitchFamily="18" charset="0"/>
                          </a:rPr>
                          <m:t>𝑥</m:t>
                        </m:r>
                      </m:sup>
                    </m:sSup>
                    <m:r>
                      <a:rPr>
                        <a:latin typeface="Cambria Math" panose="02040503050406030204" pitchFamily="18" charset="0"/>
                      </a:rPr>
                      <m:t>)=6</m:t>
                    </m:r>
                  </m:oMath>
                </a14:m>
                <a:r>
                  <a:rPr lang="en-US" sz="1300" dirty="0">
                    <a:solidFill>
                      <a:srgbClr val="78350F"/>
                    </a:solidFill>
                    <a:latin typeface="Calibri" pitchFamily="34" charset="0"/>
                    <a:ea typeface="Calibri" pitchFamily="34" charset="-122"/>
                    <a:cs typeface="Calibri" pitchFamily="34" charset="-120"/>
                  </a:rPr>
                  <a:t> ✓. Válida en todo ℝ, tal como garantiza el teorema (P=-3 es continua en todo ℝ).</a:t>
                </a:r>
                <a:endParaRPr lang="en-US" sz="1300" dirty="0"/>
              </a:p>
            </p:txBody>
          </p:sp>
        </mc:Choice>
        <mc:Fallback>
          <p:sp>
            <p:nvSpPr>
              <p:cNvPr id="18" name="Text 16"/>
              <p:cNvSpPr>
                <a:spLocks noRot="1" noChangeAspect="1" noMove="1" noResize="1" noEditPoints="1" noAdjustHandles="1" noChangeArrowheads="1" noChangeShapeType="1" noTextEdit="1"/>
              </p:cNvSpPr>
              <p:nvPr/>
            </p:nvSpPr>
            <p:spPr>
              <a:xfrm>
                <a:off x="6611112" y="4251960"/>
                <a:ext cx="4709160" cy="1554480"/>
              </a:xfrm>
              <a:prstGeom prst="rect">
                <a:avLst/>
              </a:prstGeom>
              <a:blipFill>
                <a:blip r:embed="rId8"/>
                <a:stretch>
                  <a:fillRect l="-259"/>
                </a:stretch>
              </a:blipFill>
              <a:ln/>
            </p:spPr>
            <p:txBody>
              <a:bodyPr/>
              <a:lstStyle/>
              <a:p>
                <a:r>
                  <a:rPr lang="es-MX">
                    <a:noFill/>
                  </a:rPr>
                  <a:t> </a:t>
                </a:r>
              </a:p>
            </p:txBody>
          </p:sp>
        </mc:Fallback>
      </mc:AlternateContent>
      <p:sp>
        <p:nvSpPr>
          <p:cNvPr id="19" name="Text 1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235440" y="-2651760"/>
            <a:ext cx="4937760" cy="4937760"/>
          </a:xfrm>
          <a:prstGeom prst="ellipse">
            <a:avLst/>
          </a:prstGeom>
          <a:solidFill>
            <a:srgbClr val="EDE9FE"/>
          </a:solidFill>
          <a:ln/>
        </p:spPr>
        <p:txBody>
          <a:bodyPr/>
          <a:lstStyle/>
          <a:p>
            <a:endParaRPr lang="es-MX"/>
          </a:p>
        </p:txBody>
      </p:sp>
      <p:sp>
        <p:nvSpPr>
          <p:cNvPr id="3" name="Shape 1"/>
          <p:cNvSpPr/>
          <p:nvPr/>
        </p:nvSpPr>
        <p:spPr>
          <a:xfrm>
            <a:off x="548640" y="365760"/>
            <a:ext cx="1874520" cy="384048"/>
          </a:xfrm>
          <a:prstGeom prst="roundRect">
            <a:avLst>
              <a:gd name="adj" fmla="val 50000"/>
            </a:avLst>
          </a:prstGeom>
          <a:solidFill>
            <a:srgbClr val="EDE9FE"/>
          </a:solidFill>
          <a:ln/>
        </p:spPr>
        <p:txBody>
          <a:bodyPr/>
          <a:lstStyle/>
          <a:p>
            <a:endParaRPr lang="es-MX"/>
          </a:p>
        </p:txBody>
      </p:sp>
      <p:sp>
        <p:nvSpPr>
          <p:cNvPr id="4" name="Text 2"/>
          <p:cNvSpPr/>
          <p:nvPr/>
        </p:nvSpPr>
        <p:spPr>
          <a:xfrm>
            <a:off x="548640" y="365760"/>
            <a:ext cx="1874520" cy="384048"/>
          </a:xfrm>
          <a:prstGeom prst="rect">
            <a:avLst/>
          </a:prstGeom>
          <a:noFill/>
          <a:ln/>
        </p:spPr>
        <p:txBody>
          <a:bodyPr wrap="square" rtlCol="0" anchor="ctr"/>
          <a:lstStyle/>
          <a:p>
            <a:pPr marL="0" indent="0" algn="ctr">
              <a:buNone/>
            </a:pPr>
            <a:r>
              <a:rPr lang="en-US" sz="1300" b="1" kern="0" spc="100" dirty="0">
                <a:solidFill>
                  <a:srgbClr val="6D28D9"/>
                </a:solidFill>
                <a:latin typeface="Calibri" pitchFamily="34" charset="0"/>
                <a:ea typeface="Calibri" pitchFamily="34" charset="-122"/>
                <a:cs typeface="Calibri" pitchFamily="34" charset="-120"/>
              </a:rPr>
              <a:t>EJEMPLO 2</a:t>
            </a:r>
            <a:endParaRPr lang="en-US" sz="1300" dirty="0"/>
          </a:p>
        </p:txBody>
      </p:sp>
      <p:sp>
        <p:nvSpPr>
          <p:cNvPr id="6" name="Shape 4"/>
          <p:cNvSpPr/>
          <p:nvPr/>
        </p:nvSpPr>
        <p:spPr>
          <a:xfrm>
            <a:off x="1280160" y="2743200"/>
            <a:ext cx="9628632" cy="1737360"/>
          </a:xfrm>
          <a:prstGeom prst="roundRect">
            <a:avLst>
              <a:gd name="adj" fmla="val 3684"/>
            </a:avLst>
          </a:prstGeom>
          <a:solidFill>
            <a:srgbClr val="FFFFFF"/>
          </a:solidFill>
          <a:ln w="12700">
            <a:solidFill>
              <a:srgbClr val="E2E8F0"/>
            </a:solidFill>
            <a:prstDash val="solid"/>
          </a:ln>
        </p:spPr>
        <p:txBody>
          <a:bodyPr/>
          <a:lstStyle/>
          <a:p>
            <a:endParaRPr lang="es-MX"/>
          </a:p>
        </p:txBody>
      </p:sp>
      <mc:AlternateContent xmlns:mc="http://schemas.openxmlformats.org/markup-compatibility/2006">
        <mc:Choice xmlns:a14="http://schemas.microsoft.com/office/drawing/2010/main" Requires="a14">
          <p:sp>
            <p:nvSpPr>
              <p:cNvPr id="7" name="Text 5"/>
              <p:cNvSpPr/>
              <p:nvPr/>
            </p:nvSpPr>
            <p:spPr>
              <a:xfrm>
                <a:off x="1280160" y="2743200"/>
                <a:ext cx="9628632" cy="1737360"/>
              </a:xfrm>
              <a:prstGeom prst="rect">
                <a:avLst/>
              </a:prstGeom>
              <a:noFill/>
              <a:ln/>
            </p:spPr>
            <p:txBody>
              <a:bodyPr wrap="square" rtlCol="0" anchor="ctr"/>
              <a:lstStyle/>
              <a:p>
                <a:pPr marL="0" indent="0" algn="ctr">
                  <a:buNone/>
                  <a:defRPr sz="3600">
                    <a:solidFill>
                      <a:srgbClr val="6D28D9"/>
                    </a:solidFill>
                  </a:defRPr>
                </a:pPr>
                <a14:m>
                  <m:oMathPara xmlns:m="http://schemas.openxmlformats.org/officeDocument/2006/math">
                    <m:oMath>
                      <m:r>
                        <a:rPr>
                          <a:latin typeface="Cambria Math" panose="02040503050406030204" pitchFamily="18" charset="0"/>
                        </a:rPr>
                        <m:t>𝑥</m:t>
                      </m:r>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+2</m:t>
                      </m:r>
                      <m:r>
                        <a:rPr>
                          <a:latin typeface="Cambria Math" panose="02040503050406030204" pitchFamily="18" charset="0"/>
                        </a:rPr>
                        <m:t>𝑦</m:t>
                      </m:r>
                      <m:r>
                        <a:rPr>
                          <a:latin typeface="Cambria Math" panose="02040503050406030204" pitchFamily="18" charset="0"/>
                        </a:rPr>
                        <m:t>=3</m:t>
                      </m:r>
                      <m:r>
                        <a:rPr>
                          <a:latin typeface="Cambria Math" panose="02040503050406030204" pitchFamily="18" charset="0"/>
                        </a:rPr>
                        <m:t>𝑥</m:t>
                      </m:r>
                    </m:oMath>
                  </m:oMathPara>
                </a14:m>
                <a:endParaRPr lang="en-US" sz="3600" dirty="0"/>
              </a:p>
            </p:txBody>
          </p:sp>
        </mc:Choice>
        <mc:Fallback>
          <p:sp>
            <p:nvSpPr>
              <p:cNvPr id="7" name="Text 5"/>
              <p:cNvSpPr>
                <a:spLocks noRot="1" noChangeAspect="1" noMove="1" noResize="1" noEditPoints="1" noAdjustHandles="1" noChangeArrowheads="1" noChangeShapeType="1" noTextEdit="1"/>
              </p:cNvSpPr>
              <p:nvPr/>
            </p:nvSpPr>
            <p:spPr>
              <a:xfrm>
                <a:off x="1280160" y="2743200"/>
                <a:ext cx="9628632" cy="1737360"/>
              </a:xfrm>
              <a:prstGeom prst="rect">
                <a:avLst/>
              </a:prstGeom>
              <a:blipFill>
                <a:blip r:embed="rId3"/>
                <a:stretch>
                  <a:fillRect/>
                </a:stretch>
              </a:blipFill>
              <a:ln/>
            </p:spPr>
            <p:txBody>
              <a:bodyPr/>
              <a:lstStyle/>
              <a:p>
                <a:r>
                  <a:rPr lang="es-MX">
                    <a:noFill/>
                  </a:rPr>
                  <a:t> </a:t>
                </a:r>
              </a:p>
            </p:txBody>
          </p:sp>
        </mc:Fallback>
      </mc:AlternateContent>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Encuentra la solución general para x &gt; 0.</a:t>
            </a:r>
            <a:endParaRPr lang="en-US" sz="1600" dirty="0"/>
          </a:p>
        </p:txBody>
      </p:sp>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874520" cy="384048"/>
          </a:xfrm>
          <a:prstGeom prst="roundRect">
            <a:avLst>
              <a:gd name="adj" fmla="val 50000"/>
            </a:avLst>
          </a:prstGeom>
          <a:solidFill>
            <a:srgbClr val="EDE9FE"/>
          </a:solidFill>
          <a:ln/>
        </p:spPr>
        <p:txBody>
          <a:bodyPr/>
          <a:lstStyle/>
          <a:p>
            <a:endParaRPr lang="es-MX"/>
          </a:p>
        </p:txBody>
      </p:sp>
      <p:sp>
        <p:nvSpPr>
          <p:cNvPr id="3" name="Text 1"/>
          <p:cNvSpPr/>
          <p:nvPr/>
        </p:nvSpPr>
        <p:spPr>
          <a:xfrm>
            <a:off x="548640" y="365760"/>
            <a:ext cx="1874520" cy="384048"/>
          </a:xfrm>
          <a:prstGeom prst="rect">
            <a:avLst/>
          </a:prstGeom>
          <a:noFill/>
          <a:ln/>
        </p:spPr>
        <p:txBody>
          <a:bodyPr wrap="square" rtlCol="0" anchor="ctr"/>
          <a:lstStyle/>
          <a:p>
            <a:pPr marL="0" indent="0" algn="ctr">
              <a:buNone/>
            </a:pPr>
            <a:r>
              <a:rPr lang="en-US" sz="1300" b="1" kern="0" spc="100" dirty="0">
                <a:solidFill>
                  <a:srgbClr val="6D28D9"/>
                </a:solidFill>
                <a:latin typeface="Calibri" pitchFamily="34" charset="0"/>
                <a:ea typeface="Calibri" pitchFamily="34" charset="-122"/>
                <a:cs typeface="Calibri" pitchFamily="34" charset="-120"/>
              </a:rPr>
              <a:t>EJEMPLO 2</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Coeficiente Variable</a:t>
            </a:r>
            <a:endParaRPr lang="en-US" sz="3200" dirty="0"/>
          </a:p>
        </p:txBody>
      </p:sp>
      <mc:AlternateContent xmlns:mc="http://schemas.openxmlformats.org/markup-compatibility/2006">
        <mc:Choice xmlns:a14="http://schemas.microsoft.com/office/drawing/2010/main" Requires="a14">
          <p:sp>
            <p:nvSpPr>
              <p:cNvPr id="5" name="Text 3"/>
              <p:cNvSpPr/>
              <p:nvPr/>
            </p:nvSpPr>
            <p:spPr>
              <a:xfrm>
                <a:off x="548640" y="1508760"/>
                <a:ext cx="11091672" cy="365760"/>
              </a:xfrm>
              <a:prstGeom prst="rect">
                <a:avLst/>
              </a:prstGeom>
              <a:noFill/>
              <a:ln/>
            </p:spPr>
            <p:txBody>
              <a:bodyPr wrap="square" rtlCol="0" anchor="t"/>
              <a:lstStyle/>
              <a:p>
                <a:pPr marL="0" indent="0" algn="l">
                  <a:buNone/>
                  <a:defRPr sz="1700">
                    <a:solidFill>
                      <a:srgbClr val="6D28D9"/>
                    </a:solidFill>
                  </a:defRPr>
                </a:pPr>
                <a14:m>
                  <m:oMathPara xmlns:m="http://schemas.openxmlformats.org/officeDocument/2006/math">
                    <m:oMath>
                      <m:r>
                        <a:rPr>
                          <a:latin typeface="Cambria Math" panose="02040503050406030204" pitchFamily="18" charset="0"/>
                        </a:rPr>
                        <m:t>𝑥</m:t>
                      </m:r>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+2</m:t>
                      </m:r>
                      <m:r>
                        <a:rPr>
                          <a:latin typeface="Cambria Math" panose="02040503050406030204" pitchFamily="18" charset="0"/>
                        </a:rPr>
                        <m:t>𝑦</m:t>
                      </m:r>
                      <m:r>
                        <a:rPr>
                          <a:latin typeface="Cambria Math" panose="02040503050406030204" pitchFamily="18" charset="0"/>
                        </a:rPr>
                        <m:t>=3</m:t>
                      </m:r>
                      <m:r>
                        <a:rPr>
                          <a:latin typeface="Cambria Math" panose="02040503050406030204" pitchFamily="18" charset="0"/>
                        </a:rPr>
                        <m:t>𝑥</m:t>
                      </m:r>
                    </m:oMath>
                  </m:oMathPara>
                </a14:m>
                <a:endParaRPr lang="en-US" sz="1700" dirty="0"/>
              </a:p>
            </p:txBody>
          </p:sp>
        </mc:Choice>
        <mc:Fallback>
          <p:sp>
            <p:nvSpPr>
              <p:cNvPr id="5" name="Text 3"/>
              <p:cNvSpPr>
                <a:spLocks noRot="1" noChangeAspect="1" noMove="1" noResize="1" noEditPoints="1" noAdjustHandles="1" noChangeArrowheads="1" noChangeShapeType="1" noTextEdit="1"/>
              </p:cNvSpPr>
              <p:nvPr/>
            </p:nvSpPr>
            <p:spPr>
              <a:xfrm>
                <a:off x="548640" y="1508760"/>
                <a:ext cx="11091672" cy="365760"/>
              </a:xfrm>
              <a:prstGeom prst="rect">
                <a:avLst/>
              </a:prstGeom>
              <a:blipFill>
                <a:blip r:embed="rId3"/>
                <a:stretch>
                  <a:fillRect b="-46667"/>
                </a:stretch>
              </a:blipFill>
              <a:ln/>
            </p:spPr>
            <p:txBody>
              <a:bodyPr/>
              <a:lstStyle/>
              <a:p>
                <a:r>
                  <a:rPr lang="es-MX">
                    <a:noFill/>
                  </a:rPr>
                  <a:t> </a:t>
                </a:r>
              </a:p>
            </p:txBody>
          </p:sp>
        </mc:Fallback>
      </mc:AlternateContent>
      <p:sp>
        <p:nvSpPr>
          <p:cNvPr id="6" name="Shape 4"/>
          <p:cNvSpPr/>
          <p:nvPr/>
        </p:nvSpPr>
        <p:spPr>
          <a:xfrm>
            <a:off x="548640" y="2194560"/>
            <a:ext cx="5349240" cy="3749040"/>
          </a:xfrm>
          <a:prstGeom prst="roundRect">
            <a:avLst>
              <a:gd name="adj" fmla="val 2439"/>
            </a:avLst>
          </a:prstGeom>
          <a:solidFill>
            <a:srgbClr val="F1F5F9"/>
          </a:solidFill>
          <a:ln w="12700">
            <a:solidFill>
              <a:srgbClr val="E2E8F0"/>
            </a:solidFill>
            <a:prstDash val="solid"/>
          </a:ln>
        </p:spPr>
        <p:txBody>
          <a:bodyPr/>
          <a:lstStyle/>
          <a:p>
            <a:endParaRPr lang="es-MX"/>
          </a:p>
        </p:txBody>
      </p:sp>
      <p:sp>
        <p:nvSpPr>
          <p:cNvPr id="7" name="Text 5"/>
          <p:cNvSpPr/>
          <p:nvPr/>
        </p:nvSpPr>
        <p:spPr>
          <a:xfrm>
            <a:off x="868680" y="2468880"/>
            <a:ext cx="4754880" cy="36576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Forma estándar (dividir entre x):</a:t>
            </a:r>
            <a:endParaRPr lang="en-US" sz="1400" dirty="0"/>
          </a:p>
        </p:txBody>
      </p:sp>
      <mc:AlternateContent xmlns:mc="http://schemas.openxmlformats.org/markup-compatibility/2006">
        <mc:Choice xmlns:a14="http://schemas.microsoft.com/office/drawing/2010/main" Requires="a14">
          <p:sp>
            <p:nvSpPr>
              <p:cNvPr id="8" name="Text 6"/>
              <p:cNvSpPr/>
              <p:nvPr/>
            </p:nvSpPr>
            <p:spPr>
              <a:xfrm>
                <a:off x="868680" y="2880360"/>
                <a:ext cx="4754880" cy="457200"/>
              </a:xfrm>
              <a:prstGeom prst="rect">
                <a:avLst/>
              </a:prstGeom>
              <a:noFill/>
              <a:ln/>
            </p:spPr>
            <p:txBody>
              <a:bodyPr wrap="square" rtlCol="0" anchor="t"/>
              <a:lstStyle/>
              <a:p>
                <a:pPr marL="0" indent="0" algn="l">
                  <a:buNone/>
                  <a:defRPr sz="1700">
                    <a:solidFill>
                      <a:srgbClr val="334155"/>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2</m:t>
                          </m:r>
                        </m:num>
                        <m:den>
                          <m:r>
                            <a:rPr>
                              <a:latin typeface="Cambria Math" panose="02040503050406030204" pitchFamily="18" charset="0"/>
                            </a:rPr>
                            <m:t>𝑥</m:t>
                          </m:r>
                        </m:den>
                      </m:f>
                      <m:r>
                        <a:rPr>
                          <a:latin typeface="Cambria Math" panose="02040503050406030204" pitchFamily="18" charset="0"/>
                        </a:rPr>
                        <m:t>𝑦</m:t>
                      </m:r>
                      <m:r>
                        <a:rPr>
                          <a:latin typeface="Cambria Math" panose="02040503050406030204" pitchFamily="18" charset="0"/>
                        </a:rPr>
                        <m:t>=3</m:t>
                      </m:r>
                    </m:oMath>
                  </m:oMathPara>
                </a14:m>
                <a:endParaRPr lang="en-US" sz="1700" dirty="0"/>
              </a:p>
            </p:txBody>
          </p:sp>
        </mc:Choice>
        <mc:Fallback>
          <p:sp>
            <p:nvSpPr>
              <p:cNvPr id="8" name="Text 6"/>
              <p:cNvSpPr>
                <a:spLocks noRot="1" noChangeAspect="1" noMove="1" noResize="1" noEditPoints="1" noAdjustHandles="1" noChangeArrowheads="1" noChangeShapeType="1" noTextEdit="1"/>
              </p:cNvSpPr>
              <p:nvPr/>
            </p:nvSpPr>
            <p:spPr>
              <a:xfrm>
                <a:off x="868680" y="2880360"/>
                <a:ext cx="4754880" cy="457200"/>
              </a:xfrm>
              <a:prstGeom prst="rect">
                <a:avLst/>
              </a:prstGeom>
              <a:blipFill>
                <a:blip r:embed="rId4"/>
                <a:stretch>
                  <a:fillRect b="-17333"/>
                </a:stretch>
              </a:blipFill>
              <a:ln/>
            </p:spPr>
            <p:txBody>
              <a:bodyPr/>
              <a:lstStyle/>
              <a:p>
                <a:r>
                  <a:rPr lang="es-MX">
                    <a:noFill/>
                  </a:rPr>
                  <a:t> </a:t>
                </a:r>
              </a:p>
            </p:txBody>
          </p:sp>
        </mc:Fallback>
      </mc:AlternateContent>
      <p:sp>
        <p:nvSpPr>
          <p:cNvPr id="9" name="Text 7"/>
          <p:cNvSpPr/>
          <p:nvPr/>
        </p:nvSpPr>
        <p:spPr>
          <a:xfrm>
            <a:off x="868680" y="3474720"/>
            <a:ext cx="4754880" cy="36576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Factor integrante:</a:t>
            </a:r>
            <a:endParaRPr lang="en-US" sz="1400" dirty="0"/>
          </a:p>
        </p:txBody>
      </p:sp>
      <mc:AlternateContent xmlns:mc="http://schemas.openxmlformats.org/markup-compatibility/2006">
        <mc:Choice xmlns:a14="http://schemas.microsoft.com/office/drawing/2010/main" Requires="a14">
          <p:sp>
            <p:nvSpPr>
              <p:cNvPr id="10" name="Text 8"/>
              <p:cNvSpPr/>
              <p:nvPr/>
            </p:nvSpPr>
            <p:spPr>
              <a:xfrm>
                <a:off x="868680" y="3886200"/>
                <a:ext cx="4846320" cy="411480"/>
              </a:xfrm>
              <a:prstGeom prst="rect">
                <a:avLst/>
              </a:prstGeom>
              <a:noFill/>
              <a:ln/>
            </p:spPr>
            <p:txBody>
              <a:bodyPr wrap="square" rtlCol="0" anchor="t"/>
              <a:lstStyle/>
              <a:p>
                <a:pPr marL="0" indent="0" algn="l">
                  <a:buNone/>
                  <a:defRPr sz="1300">
                    <a:solidFill>
                      <a:srgbClr val="94A3B8"/>
                    </a:solidFill>
                  </a:defRPr>
                </a:pPr>
                <a14:m>
                  <m:oMathPara xmlns:m="http://schemas.openxmlformats.org/officeDocument/2006/math">
                    <m:oMath>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2</m:t>
                          </m:r>
                        </m:num>
                        <m:den>
                          <m:r>
                            <a:rPr>
                              <a:latin typeface="Cambria Math" panose="02040503050406030204" pitchFamily="18" charset="0"/>
                            </a:rPr>
                            <m:t>𝑥</m:t>
                          </m:r>
                        </m:den>
                      </m:f>
                      <m:r>
                        <a:rPr>
                          <a:latin typeface="Cambria Math" panose="02040503050406030204" pitchFamily="18" charset="0"/>
                        </a:rPr>
                        <m:t>𝑑𝑥</m:t>
                      </m:r>
                      <m:r>
                        <a:rPr>
                          <a:latin typeface="Cambria Math" panose="02040503050406030204" pitchFamily="18" charset="0"/>
                        </a:rPr>
                        <m:t>=2</m:t>
                      </m:r>
                      <m:r>
                        <m:rPr>
                          <m:sty m:val="p"/>
                        </m:rPr>
                        <a:rPr>
                          <a:latin typeface="Cambria Math" panose="02040503050406030204" pitchFamily="18" charset="0"/>
                        </a:rPr>
                        <m:t>ln</m:t>
                      </m:r>
                      <m:r>
                        <a:rPr>
                          <a:latin typeface="Cambria Math" panose="02040503050406030204" pitchFamily="18" charset="0"/>
                        </a:rPr>
                        <m:t>𝑥</m:t>
                      </m:r>
                      <m:r>
                        <a:rPr>
                          <a:latin typeface="Cambria Math" panose="02040503050406030204" pitchFamily="18" charset="0"/>
                        </a:rPr>
                        <m:t>=</m:t>
                      </m:r>
                      <m:r>
                        <m:rPr>
                          <m:sty m:val="p"/>
                        </m:rPr>
                        <a:rPr>
                          <a:latin typeface="Cambria Math" panose="02040503050406030204" pitchFamily="18" charset="0"/>
                        </a:rPr>
                        <m:t>ln</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m:t>
                      </m:r>
                    </m:oMath>
                  </m:oMathPara>
                </a14:m>
                <a:endParaRPr lang="en-US" sz="1300" dirty="0"/>
              </a:p>
            </p:txBody>
          </p:sp>
        </mc:Choice>
        <mc:Fallback>
          <p:sp>
            <p:nvSpPr>
              <p:cNvPr id="10" name="Text 8"/>
              <p:cNvSpPr>
                <a:spLocks noRot="1" noChangeAspect="1" noMove="1" noResize="1" noEditPoints="1" noAdjustHandles="1" noChangeArrowheads="1" noChangeShapeType="1" noTextEdit="1"/>
              </p:cNvSpPr>
              <p:nvPr/>
            </p:nvSpPr>
            <p:spPr>
              <a:xfrm>
                <a:off x="868680" y="3886200"/>
                <a:ext cx="4846320" cy="411480"/>
              </a:xfrm>
              <a:prstGeom prst="rect">
                <a:avLst/>
              </a:prstGeom>
              <a:blipFill>
                <a:blip r:embed="rId5"/>
                <a:stretch>
                  <a:fillRect b="-11940"/>
                </a:stretch>
              </a:blipFill>
              <a:ln/>
            </p:spPr>
            <p:txBody>
              <a:bodyPr/>
              <a:lstStyle/>
              <a:p>
                <a:r>
                  <a:rPr lang="es-MX">
                    <a:noFill/>
                  </a:rPr>
                  <a:t> </a:t>
                </a:r>
              </a:p>
            </p:txBody>
          </p:sp>
        </mc:Fallback>
      </mc:AlternateContent>
      <p:sp>
        <p:nvSpPr>
          <p:cNvPr id="11" name="Shape 9"/>
          <p:cNvSpPr/>
          <p:nvPr/>
        </p:nvSpPr>
        <p:spPr>
          <a:xfrm>
            <a:off x="868680" y="4343400"/>
            <a:ext cx="4206240" cy="777240"/>
          </a:xfrm>
          <a:prstGeom prst="roundRect">
            <a:avLst>
              <a:gd name="adj" fmla="val 8235"/>
            </a:avLst>
          </a:prstGeom>
          <a:solidFill>
            <a:srgbClr val="FFFFFF"/>
          </a:solidFill>
          <a:ln w="12700">
            <a:solidFill>
              <a:srgbClr val="CBD5E1"/>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2" name="Text 10"/>
              <p:cNvSpPr/>
              <p:nvPr/>
            </p:nvSpPr>
            <p:spPr>
              <a:xfrm>
                <a:off x="868680" y="4343400"/>
                <a:ext cx="4206240" cy="777240"/>
              </a:xfrm>
              <a:prstGeom prst="rect">
                <a:avLst/>
              </a:prstGeom>
              <a:noFill/>
              <a:ln/>
            </p:spPr>
            <p:txBody>
              <a:bodyPr wrap="square" rtlCol="0" anchor="ctr"/>
              <a:lstStyle/>
              <a:p>
                <a:pPr marL="0" indent="0" algn="ctr">
                  <a:buNone/>
                  <a:defRPr sz="2000">
                    <a:solidFill>
                      <a:srgbClr val="6D28D9"/>
                    </a:solidFill>
                  </a:defRPr>
                </a:pPr>
                <a14:m>
                  <m:oMathPara xmlns:m="http://schemas.openxmlformats.org/officeDocument/2006/math">
                    <m:oMath>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m:rPr>
                              <m:sty m:val="p"/>
                            </m:rPr>
                            <a:rPr>
                              <a:latin typeface="Cambria Math" panose="02040503050406030204" pitchFamily="18" charset="0"/>
                            </a:rPr>
                            <m:t>ln</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oMath>
                  </m:oMathPara>
                </a14:m>
                <a:endParaRPr lang="en-US" sz="2000" dirty="0"/>
              </a:p>
            </p:txBody>
          </p:sp>
        </mc:Choice>
        <mc:Fallback>
          <p:sp>
            <p:nvSpPr>
              <p:cNvPr id="12" name="Text 10"/>
              <p:cNvSpPr>
                <a:spLocks noRot="1" noChangeAspect="1" noMove="1" noResize="1" noEditPoints="1" noAdjustHandles="1" noChangeArrowheads="1" noChangeShapeType="1" noTextEdit="1"/>
              </p:cNvSpPr>
              <p:nvPr/>
            </p:nvSpPr>
            <p:spPr>
              <a:xfrm>
                <a:off x="868680" y="4343400"/>
                <a:ext cx="4206240" cy="777240"/>
              </a:xfrm>
              <a:prstGeom prst="rect">
                <a:avLst/>
              </a:prstGeom>
              <a:blipFill>
                <a:blip r:embed="rId6"/>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3" name="Text 11"/>
              <p:cNvSpPr/>
              <p:nvPr/>
            </p:nvSpPr>
            <p:spPr>
              <a:xfrm>
                <a:off x="868680" y="5257800"/>
                <a:ext cx="4754880" cy="411480"/>
              </a:xfrm>
              <a:prstGeom prst="rect">
                <a:avLst/>
              </a:prstGeom>
              <a:noFill/>
              <a:ln/>
            </p:spPr>
            <p:txBody>
              <a:bodyPr wrap="square" rtlCol="0" anchor="t"/>
              <a:lstStyle/>
              <a:p>
                <a:pPr marL="0" indent="0" algn="l">
                  <a:buNone/>
                  <a:defRPr sz="1600">
                    <a:solidFill>
                      <a:srgbClr val="334155"/>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m:t>
                          </m:r>
                        </m:num>
                        <m:den>
                          <m:r>
                            <a:rPr>
                              <a:latin typeface="Cambria Math" panose="02040503050406030204" pitchFamily="18" charset="0"/>
                            </a:rPr>
                            <m:t>𝑑𝑥</m:t>
                          </m:r>
                        </m:den>
                      </m:f>
                      <m:d>
                        <m:dPr>
                          <m:begChr m:val="["/>
                          <m:endChr m:val="]"/>
                          <m:ctrlPr>
                            <a:rPr i="1">
                              <a:latin typeface="Cambria Math" panose="02040503050406030204" pitchFamily="18" charset="0"/>
                            </a:rPr>
                          </m:ctrlPr>
                        </m:dPr>
                        <m:e>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𝑦</m:t>
                          </m:r>
                        </m:e>
                      </m:d>
                      <m:r>
                        <a:rPr>
                          <a:latin typeface="Cambria Math" panose="02040503050406030204" pitchFamily="18" charset="0"/>
                        </a:rPr>
                        <m:t>=3</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oMath>
                  </m:oMathPara>
                </a14:m>
                <a:endParaRPr lang="en-US" sz="1600" dirty="0"/>
              </a:p>
            </p:txBody>
          </p:sp>
        </mc:Choice>
        <mc:Fallback>
          <p:sp>
            <p:nvSpPr>
              <p:cNvPr id="13" name="Text 11"/>
              <p:cNvSpPr>
                <a:spLocks noRot="1" noChangeAspect="1" noMove="1" noResize="1" noEditPoints="1" noAdjustHandles="1" noChangeArrowheads="1" noChangeShapeType="1" noTextEdit="1"/>
              </p:cNvSpPr>
              <p:nvPr/>
            </p:nvSpPr>
            <p:spPr>
              <a:xfrm>
                <a:off x="868680" y="5257800"/>
                <a:ext cx="4754880" cy="411480"/>
              </a:xfrm>
              <a:prstGeom prst="rect">
                <a:avLst/>
              </a:prstGeom>
              <a:blipFill>
                <a:blip r:embed="rId7"/>
                <a:stretch>
                  <a:fillRect b="-23881"/>
                </a:stretch>
              </a:blipFill>
              <a:ln/>
            </p:spPr>
            <p:txBody>
              <a:bodyPr/>
              <a:lstStyle/>
              <a:p>
                <a:r>
                  <a:rPr lang="es-MX">
                    <a:noFill/>
                  </a:rPr>
                  <a:t> </a:t>
                </a:r>
              </a:p>
            </p:txBody>
          </p:sp>
        </mc:Fallback>
      </mc:AlternateContent>
      <p:sp>
        <p:nvSpPr>
          <p:cNvPr id="14" name="Shape 12"/>
          <p:cNvSpPr/>
          <p:nvPr/>
        </p:nvSpPr>
        <p:spPr>
          <a:xfrm>
            <a:off x="6291072" y="2194560"/>
            <a:ext cx="5349240" cy="3749040"/>
          </a:xfrm>
          <a:prstGeom prst="roundRect">
            <a:avLst>
              <a:gd name="adj" fmla="val 2439"/>
            </a:avLst>
          </a:prstGeom>
          <a:solidFill>
            <a:srgbClr val="EDE9FE"/>
          </a:solidFill>
          <a:ln w="12700">
            <a:solidFill>
              <a:srgbClr val="DDD6FE"/>
            </a:solidFill>
            <a:prstDash val="solid"/>
          </a:ln>
        </p:spPr>
        <p:txBody>
          <a:bodyPr/>
          <a:lstStyle/>
          <a:p>
            <a:endParaRPr lang="es-MX"/>
          </a:p>
        </p:txBody>
      </p:sp>
      <p:sp>
        <p:nvSpPr>
          <p:cNvPr id="15" name="Text 13"/>
          <p:cNvSpPr/>
          <p:nvPr/>
        </p:nvSpPr>
        <p:spPr>
          <a:xfrm>
            <a:off x="6611112" y="2468880"/>
            <a:ext cx="4754880" cy="365760"/>
          </a:xfrm>
          <a:prstGeom prst="rect">
            <a:avLst/>
          </a:prstGeom>
          <a:noFill/>
          <a:ln/>
        </p:spPr>
        <p:txBody>
          <a:bodyPr wrap="square" rtlCol="0" anchor="ctr"/>
          <a:lstStyle/>
          <a:p>
            <a:pPr marL="0" indent="0">
              <a:buNone/>
            </a:pPr>
            <a:r>
              <a:rPr lang="en-US" sz="1500" b="1" dirty="0">
                <a:solidFill>
                  <a:srgbClr val="5B21B6"/>
                </a:solidFill>
                <a:latin typeface="Calibri" pitchFamily="34" charset="0"/>
                <a:ea typeface="Calibri" pitchFamily="34" charset="-122"/>
                <a:cs typeface="Calibri" pitchFamily="34" charset="-120"/>
              </a:rPr>
              <a:t>Integrando y despejando:</a:t>
            </a:r>
            <a:endParaRPr lang="en-US" sz="1500" dirty="0"/>
          </a:p>
        </p:txBody>
      </p:sp>
      <mc:AlternateContent xmlns:mc="http://schemas.openxmlformats.org/markup-compatibility/2006">
        <mc:Choice xmlns:a14="http://schemas.microsoft.com/office/drawing/2010/main" Requires="a14">
          <p:sp>
            <p:nvSpPr>
              <p:cNvPr id="16" name="Text 14"/>
              <p:cNvSpPr/>
              <p:nvPr/>
            </p:nvSpPr>
            <p:spPr>
              <a:xfrm>
                <a:off x="6611112" y="2926080"/>
                <a:ext cx="4754880" cy="411480"/>
              </a:xfrm>
              <a:prstGeom prst="rect">
                <a:avLst/>
              </a:prstGeom>
              <a:noFill/>
              <a:ln/>
            </p:spPr>
            <p:txBody>
              <a:bodyPr wrap="square" rtlCol="0" anchor="t"/>
              <a:lstStyle/>
              <a:p>
                <a:pPr marL="0" indent="0" algn="l">
                  <a:buNone/>
                  <a:defRPr sz="1700">
                    <a:solidFill>
                      <a:srgbClr val="5B21B6"/>
                    </a:solidFill>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r>
                        <a:rPr>
                          <a:latin typeface="Cambria Math" panose="02040503050406030204" pitchFamily="18" charset="0"/>
                        </a:rPr>
                        <m:t>𝑦</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3</m:t>
                          </m:r>
                        </m:sup>
                      </m:sSup>
                      <m:r>
                        <a:rPr>
                          <a:latin typeface="Cambria Math" panose="02040503050406030204" pitchFamily="18" charset="0"/>
                        </a:rPr>
                        <m:t>+</m:t>
                      </m:r>
                      <m:r>
                        <a:rPr>
                          <a:latin typeface="Cambria Math" panose="02040503050406030204" pitchFamily="18" charset="0"/>
                        </a:rPr>
                        <m:t>𝐶</m:t>
                      </m:r>
                    </m:oMath>
                  </m:oMathPara>
                </a14:m>
                <a:endParaRPr lang="en-US" sz="1700" dirty="0"/>
              </a:p>
            </p:txBody>
          </p:sp>
        </mc:Choice>
        <mc:Fallback>
          <p:sp>
            <p:nvSpPr>
              <p:cNvPr id="16" name="Text 14"/>
              <p:cNvSpPr>
                <a:spLocks noRot="1" noChangeAspect="1" noMove="1" noResize="1" noEditPoints="1" noAdjustHandles="1" noChangeArrowheads="1" noChangeShapeType="1" noTextEdit="1"/>
              </p:cNvSpPr>
              <p:nvPr/>
            </p:nvSpPr>
            <p:spPr>
              <a:xfrm>
                <a:off x="6611112" y="2926080"/>
                <a:ext cx="4754880" cy="411480"/>
              </a:xfrm>
              <a:prstGeom prst="rect">
                <a:avLst/>
              </a:prstGeom>
              <a:blipFill>
                <a:blip r:embed="rId8"/>
                <a:stretch>
                  <a:fillRect/>
                </a:stretch>
              </a:blipFill>
              <a:ln/>
            </p:spPr>
            <p:txBody>
              <a:bodyPr/>
              <a:lstStyle/>
              <a:p>
                <a:r>
                  <a:rPr lang="es-MX">
                    <a:noFill/>
                  </a:rPr>
                  <a:t> </a:t>
                </a:r>
              </a:p>
            </p:txBody>
          </p:sp>
        </mc:Fallback>
      </mc:AlternateContent>
      <p:sp>
        <p:nvSpPr>
          <p:cNvPr id="17" name="Shape 15"/>
          <p:cNvSpPr/>
          <p:nvPr/>
        </p:nvSpPr>
        <p:spPr>
          <a:xfrm>
            <a:off x="6611112" y="3474720"/>
            <a:ext cx="4709160" cy="1097280"/>
          </a:xfrm>
          <a:prstGeom prst="roundRect">
            <a:avLst>
              <a:gd name="adj" fmla="val 5833"/>
            </a:avLst>
          </a:prstGeom>
          <a:solidFill>
            <a:srgbClr val="FFFFFF"/>
          </a:solidFill>
          <a:ln w="12700">
            <a:solidFill>
              <a:srgbClr val="DDD6FE"/>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8" name="Text 16"/>
              <p:cNvSpPr/>
              <p:nvPr/>
            </p:nvSpPr>
            <p:spPr>
              <a:xfrm>
                <a:off x="6611112" y="3474720"/>
                <a:ext cx="4709160" cy="1097280"/>
              </a:xfrm>
              <a:prstGeom prst="rect">
                <a:avLst/>
              </a:prstGeom>
              <a:noFill/>
              <a:ln/>
            </p:spPr>
            <p:txBody>
              <a:bodyPr wrap="square" rtlCol="0" anchor="ctr"/>
              <a:lstStyle/>
              <a:p>
                <a:pPr marL="0" indent="0" algn="ctr">
                  <a:buNone/>
                  <a:defRPr sz="3000">
                    <a:solidFill>
                      <a:srgbClr val="6D28D9"/>
                    </a:solidFill>
                  </a:defRPr>
                </a:pPr>
                <a14:m>
                  <m:oMathPara xmlns:m="http://schemas.openxmlformats.org/officeDocument/2006/math">
                    <m:oMath>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𝐶</m:t>
                          </m:r>
                        </m:num>
                        <m:den>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den>
                      </m:f>
                    </m:oMath>
                  </m:oMathPara>
                </a14:m>
                <a:endParaRPr lang="en-US" sz="3000" dirty="0"/>
              </a:p>
            </p:txBody>
          </p:sp>
        </mc:Choice>
        <mc:Fallback>
          <p:sp>
            <p:nvSpPr>
              <p:cNvPr id="18" name="Text 16"/>
              <p:cNvSpPr>
                <a:spLocks noRot="1" noChangeAspect="1" noMove="1" noResize="1" noEditPoints="1" noAdjustHandles="1" noChangeArrowheads="1" noChangeShapeType="1" noTextEdit="1"/>
              </p:cNvSpPr>
              <p:nvPr/>
            </p:nvSpPr>
            <p:spPr>
              <a:xfrm>
                <a:off x="6611112" y="3474720"/>
                <a:ext cx="4709160" cy="1097280"/>
              </a:xfrm>
              <a:prstGeom prst="rect">
                <a:avLst/>
              </a:prstGeom>
              <a:blipFill>
                <a:blip r:embed="rId9"/>
                <a:stretch>
                  <a:fillRect/>
                </a:stretch>
              </a:blipFill>
              <a:ln/>
            </p:spPr>
            <p:txBody>
              <a:bodyPr/>
              <a:lstStyle/>
              <a:p>
                <a:r>
                  <a:rPr lang="es-MX">
                    <a:noFill/>
                  </a:rPr>
                  <a:t> </a:t>
                </a:r>
              </a:p>
            </p:txBody>
          </p:sp>
        </mc:Fallback>
      </mc:AlternateContent>
      <p:sp>
        <p:nvSpPr>
          <p:cNvPr id="19" name="Text 17"/>
          <p:cNvSpPr/>
          <p:nvPr/>
        </p:nvSpPr>
        <p:spPr>
          <a:xfrm>
            <a:off x="6611112" y="4800600"/>
            <a:ext cx="4709160" cy="1005840"/>
          </a:xfrm>
          <a:prstGeom prst="rect">
            <a:avLst/>
          </a:prstGeom>
          <a:noFill/>
          <a:ln/>
        </p:spPr>
        <p:txBody>
          <a:bodyPr wrap="square" rtlCol="0" anchor="t"/>
          <a:lstStyle/>
          <a:p>
            <a:pPr marL="0" indent="0">
              <a:lnSpc>
                <a:spcPct val="130000"/>
              </a:lnSpc>
              <a:buNone/>
            </a:pPr>
            <a:r>
              <a:rPr lang="en-US" sz="1300" dirty="0">
                <a:solidFill>
                  <a:srgbClr val="5B21B6"/>
                </a:solidFill>
                <a:latin typeface="Calibri" pitchFamily="34" charset="0"/>
                <a:ea typeface="Calibri" pitchFamily="34" charset="-122"/>
                <a:cs typeface="Calibri" pitchFamily="34" charset="-120"/>
              </a:rPr>
              <a:t>El intervalo de validez es (0, ∞): tanto la ecuación original como P(x)=2/x dejan de ser continuas en x=0.</a:t>
            </a:r>
            <a:endParaRPr lang="en-US" sz="1300" dirty="0"/>
          </a:p>
        </p:txBody>
      </p:sp>
      <p:sp>
        <p:nvSpPr>
          <p:cNvPr id="20" name="Text 18"/>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235440" y="-2651760"/>
            <a:ext cx="4937760" cy="4937760"/>
          </a:xfrm>
          <a:prstGeom prst="ellipse">
            <a:avLst/>
          </a:prstGeom>
          <a:solidFill>
            <a:srgbClr val="CFFAFE"/>
          </a:solidFill>
          <a:ln/>
        </p:spPr>
        <p:txBody>
          <a:bodyPr/>
          <a:lstStyle/>
          <a:p>
            <a:endParaRPr lang="es-MX"/>
          </a:p>
        </p:txBody>
      </p:sp>
      <p:sp>
        <p:nvSpPr>
          <p:cNvPr id="3" name="Shape 1"/>
          <p:cNvSpPr/>
          <p:nvPr/>
        </p:nvSpPr>
        <p:spPr>
          <a:xfrm>
            <a:off x="548640" y="365760"/>
            <a:ext cx="1783080" cy="384048"/>
          </a:xfrm>
          <a:prstGeom prst="roundRect">
            <a:avLst>
              <a:gd name="adj" fmla="val 50000"/>
            </a:avLst>
          </a:prstGeom>
          <a:solidFill>
            <a:srgbClr val="CFFAFE"/>
          </a:solidFill>
          <a:ln/>
        </p:spPr>
        <p:txBody>
          <a:bodyPr/>
          <a:lstStyle/>
          <a:p>
            <a:endParaRPr lang="es-MX"/>
          </a:p>
        </p:txBody>
      </p:sp>
      <p:sp>
        <p:nvSpPr>
          <p:cNvPr id="4" name="Text 2"/>
          <p:cNvSpPr/>
          <p:nvPr/>
        </p:nvSpPr>
        <p:spPr>
          <a:xfrm>
            <a:off x="548640" y="365760"/>
            <a:ext cx="1783080" cy="384048"/>
          </a:xfrm>
          <a:prstGeom prst="rect">
            <a:avLst/>
          </a:prstGeom>
          <a:noFill/>
          <a:ln/>
        </p:spPr>
        <p:txBody>
          <a:bodyPr wrap="square" rtlCol="0" anchor="ctr"/>
          <a:lstStyle/>
          <a:p>
            <a:pPr marL="0" indent="0" algn="ctr">
              <a:buNone/>
            </a:pPr>
            <a:r>
              <a:rPr lang="en-US" sz="1300" b="1" kern="0" spc="100" dirty="0">
                <a:solidFill>
                  <a:srgbClr val="0E7490"/>
                </a:solidFill>
                <a:latin typeface="Calibri" pitchFamily="34" charset="0"/>
                <a:ea typeface="Calibri" pitchFamily="34" charset="-122"/>
                <a:cs typeface="Calibri" pitchFamily="34" charset="-120"/>
              </a:rPr>
              <a:t>EJEMPLO 3</a:t>
            </a:r>
            <a:endParaRPr lang="en-US" sz="1300" dirty="0"/>
          </a:p>
        </p:txBody>
      </p:sp>
      <p:sp>
        <p:nvSpPr>
          <p:cNvPr id="6" name="Shape 4"/>
          <p:cNvSpPr/>
          <p:nvPr/>
        </p:nvSpPr>
        <p:spPr>
          <a:xfrm>
            <a:off x="1280160" y="2743200"/>
            <a:ext cx="9628632" cy="1737360"/>
          </a:xfrm>
          <a:prstGeom prst="roundRect">
            <a:avLst>
              <a:gd name="adj" fmla="val 3684"/>
            </a:avLst>
          </a:prstGeom>
          <a:solidFill>
            <a:srgbClr val="FFFFFF"/>
          </a:solidFill>
          <a:ln w="12700">
            <a:solidFill>
              <a:srgbClr val="E2E8F0"/>
            </a:solidFill>
            <a:prstDash val="solid"/>
          </a:ln>
        </p:spPr>
        <p:txBody>
          <a:bodyPr/>
          <a:lstStyle/>
          <a:p>
            <a:endParaRPr lang="es-MX"/>
          </a:p>
        </p:txBody>
      </p:sp>
      <mc:AlternateContent xmlns:mc="http://schemas.openxmlformats.org/markup-compatibility/2006">
        <mc:Choice xmlns:a14="http://schemas.microsoft.com/office/drawing/2010/main" Requires="a14">
          <p:sp>
            <p:nvSpPr>
              <p:cNvPr id="7" name="Text 5"/>
              <p:cNvSpPr/>
              <p:nvPr/>
            </p:nvSpPr>
            <p:spPr>
              <a:xfrm>
                <a:off x="1280160" y="2743200"/>
                <a:ext cx="9628632" cy="1737360"/>
              </a:xfrm>
              <a:prstGeom prst="rect">
                <a:avLst/>
              </a:prstGeom>
              <a:noFill/>
              <a:ln/>
            </p:spPr>
            <p:txBody>
              <a:bodyPr wrap="square" rtlCol="0" anchor="ctr"/>
              <a:lstStyle/>
              <a:p>
                <a:pPr marL="0" indent="0" algn="ctr">
                  <a:buNone/>
                  <a:defRPr sz="3200">
                    <a:solidFill>
                      <a:srgbClr val="0E7490"/>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(0)=1</m:t>
                      </m:r>
                    </m:oMath>
                  </m:oMathPara>
                </a14:m>
                <a:endParaRPr lang="en-US" sz="3200" dirty="0"/>
              </a:p>
            </p:txBody>
          </p:sp>
        </mc:Choice>
        <mc:Fallback>
          <p:sp>
            <p:nvSpPr>
              <p:cNvPr id="7" name="Text 5"/>
              <p:cNvSpPr>
                <a:spLocks noRot="1" noChangeAspect="1" noMove="1" noResize="1" noEditPoints="1" noAdjustHandles="1" noChangeArrowheads="1" noChangeShapeType="1" noTextEdit="1"/>
              </p:cNvSpPr>
              <p:nvPr/>
            </p:nvSpPr>
            <p:spPr>
              <a:xfrm>
                <a:off x="1280160" y="2743200"/>
                <a:ext cx="9628632" cy="1737360"/>
              </a:xfrm>
              <a:prstGeom prst="rect">
                <a:avLst/>
              </a:prstGeom>
              <a:blipFill>
                <a:blip r:embed="rId3"/>
                <a:stretch>
                  <a:fillRect/>
                </a:stretch>
              </a:blipFill>
              <a:ln/>
            </p:spPr>
            <p:txBody>
              <a:bodyPr/>
              <a:lstStyle/>
              <a:p>
                <a:r>
                  <a:rPr lang="es-MX">
                    <a:noFill/>
                  </a:rPr>
                  <a:t> </a:t>
                </a:r>
              </a:p>
            </p:txBody>
          </p:sp>
        </mc:Fallback>
      </mc:AlternateContent>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Encuentra la solución del PVI y su intervalo de definición.</a:t>
            </a:r>
            <a:endParaRPr lang="en-US" sz="1600" dirty="0"/>
          </a:p>
        </p:txBody>
      </p:sp>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783080" cy="384048"/>
          </a:xfrm>
          <a:prstGeom prst="roundRect">
            <a:avLst>
              <a:gd name="adj" fmla="val 50000"/>
            </a:avLst>
          </a:prstGeom>
          <a:solidFill>
            <a:srgbClr val="CFFAFE"/>
          </a:solidFill>
          <a:ln/>
        </p:spPr>
        <p:txBody>
          <a:bodyPr/>
          <a:lstStyle/>
          <a:p>
            <a:endParaRPr lang="es-MX"/>
          </a:p>
        </p:txBody>
      </p:sp>
      <p:sp>
        <p:nvSpPr>
          <p:cNvPr id="3" name="Text 1"/>
          <p:cNvSpPr/>
          <p:nvPr/>
        </p:nvSpPr>
        <p:spPr>
          <a:xfrm>
            <a:off x="548640" y="365760"/>
            <a:ext cx="1783080" cy="384048"/>
          </a:xfrm>
          <a:prstGeom prst="rect">
            <a:avLst/>
          </a:prstGeom>
          <a:noFill/>
          <a:ln/>
        </p:spPr>
        <p:txBody>
          <a:bodyPr wrap="square" rtlCol="0" anchor="ctr"/>
          <a:lstStyle/>
          <a:p>
            <a:pPr marL="0" indent="0" algn="ctr">
              <a:buNone/>
            </a:pPr>
            <a:r>
              <a:rPr lang="en-US" sz="1300" b="1" kern="0" spc="100" dirty="0">
                <a:solidFill>
                  <a:srgbClr val="0E7490"/>
                </a:solidFill>
                <a:latin typeface="Calibri" pitchFamily="34" charset="0"/>
                <a:ea typeface="Calibri" pitchFamily="34" charset="-122"/>
                <a:cs typeface="Calibri" pitchFamily="34" charset="-120"/>
              </a:rPr>
              <a:t>EJEMPLO 3</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200" b="1" dirty="0">
                <a:solidFill>
                  <a:srgbClr val="0F172A"/>
                </a:solidFill>
                <a:latin typeface="Calibri" pitchFamily="34" charset="0"/>
                <a:ea typeface="Calibri" pitchFamily="34" charset="-122"/>
                <a:cs typeface="Calibri" pitchFamily="34" charset="-120"/>
              </a:rPr>
              <a:t>Un PVI Lineal</a:t>
            </a:r>
            <a:endParaRPr lang="en-US" sz="3200" dirty="0"/>
          </a:p>
        </p:txBody>
      </p:sp>
      <mc:AlternateContent xmlns:mc="http://schemas.openxmlformats.org/markup-compatibility/2006">
        <mc:Choice xmlns:a14="http://schemas.microsoft.com/office/drawing/2010/main" Requires="a14">
          <p:sp>
            <p:nvSpPr>
              <p:cNvPr id="5" name="Text 3"/>
              <p:cNvSpPr/>
              <p:nvPr/>
            </p:nvSpPr>
            <p:spPr>
              <a:xfrm>
                <a:off x="548640" y="1508760"/>
                <a:ext cx="11091672" cy="365760"/>
              </a:xfrm>
              <a:prstGeom prst="rect">
                <a:avLst/>
              </a:prstGeom>
              <a:noFill/>
              <a:ln/>
            </p:spPr>
            <p:txBody>
              <a:bodyPr wrap="square" rtlCol="0" anchor="t"/>
              <a:lstStyle/>
              <a:p>
                <a:pPr marL="0" indent="0" algn="l">
                  <a:buNone/>
                  <a:defRPr sz="1700">
                    <a:solidFill>
                      <a:srgbClr val="0E7490"/>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(0)=1</m:t>
                      </m:r>
                    </m:oMath>
                  </m:oMathPara>
                </a14:m>
                <a:endParaRPr lang="en-US" sz="1700" dirty="0"/>
              </a:p>
            </p:txBody>
          </p:sp>
        </mc:Choice>
        <mc:Fallback>
          <p:sp>
            <p:nvSpPr>
              <p:cNvPr id="5" name="Text 3"/>
              <p:cNvSpPr>
                <a:spLocks noRot="1" noChangeAspect="1" noMove="1" noResize="1" noEditPoints="1" noAdjustHandles="1" noChangeArrowheads="1" noChangeShapeType="1" noTextEdit="1"/>
              </p:cNvSpPr>
              <p:nvPr/>
            </p:nvSpPr>
            <p:spPr>
              <a:xfrm>
                <a:off x="548640" y="1508760"/>
                <a:ext cx="11091672" cy="365760"/>
              </a:xfrm>
              <a:prstGeom prst="rect">
                <a:avLst/>
              </a:prstGeom>
              <a:blipFill>
                <a:blip r:embed="rId3"/>
                <a:stretch>
                  <a:fillRect b="-46667"/>
                </a:stretch>
              </a:blipFill>
              <a:ln/>
            </p:spPr>
            <p:txBody>
              <a:bodyPr/>
              <a:lstStyle/>
              <a:p>
                <a:r>
                  <a:rPr lang="es-MX">
                    <a:noFill/>
                  </a:rPr>
                  <a:t> </a:t>
                </a:r>
              </a:p>
            </p:txBody>
          </p:sp>
        </mc:Fallback>
      </mc:AlternateContent>
      <p:sp>
        <p:nvSpPr>
          <p:cNvPr id="6" name="Shape 4"/>
          <p:cNvSpPr/>
          <p:nvPr/>
        </p:nvSpPr>
        <p:spPr>
          <a:xfrm>
            <a:off x="548640" y="2194560"/>
            <a:ext cx="5349240" cy="3749040"/>
          </a:xfrm>
          <a:prstGeom prst="roundRect">
            <a:avLst>
              <a:gd name="adj" fmla="val 2439"/>
            </a:avLst>
          </a:prstGeom>
          <a:solidFill>
            <a:srgbClr val="F1F5F9"/>
          </a:solidFill>
          <a:ln w="12700">
            <a:solidFill>
              <a:srgbClr val="E2E8F0"/>
            </a:solidFill>
            <a:prstDash val="solid"/>
          </a:ln>
        </p:spPr>
        <p:txBody>
          <a:bodyPr/>
          <a:lstStyle/>
          <a:p>
            <a:endParaRPr lang="es-MX"/>
          </a:p>
        </p:txBody>
      </p:sp>
      <p:sp>
        <p:nvSpPr>
          <p:cNvPr id="7" name="Text 5"/>
          <p:cNvSpPr/>
          <p:nvPr/>
        </p:nvSpPr>
        <p:spPr>
          <a:xfrm>
            <a:off x="868680" y="2468880"/>
            <a:ext cx="4754880" cy="36576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Ya en forma estándar. Factor integrante:</a:t>
            </a:r>
            <a:endParaRPr lang="en-US" sz="1400" dirty="0"/>
          </a:p>
        </p:txBody>
      </p:sp>
      <p:sp>
        <p:nvSpPr>
          <p:cNvPr id="8" name="Shape 6"/>
          <p:cNvSpPr/>
          <p:nvPr/>
        </p:nvSpPr>
        <p:spPr>
          <a:xfrm>
            <a:off x="868680" y="2926080"/>
            <a:ext cx="4206240" cy="777240"/>
          </a:xfrm>
          <a:prstGeom prst="roundRect">
            <a:avLst>
              <a:gd name="adj" fmla="val 8235"/>
            </a:avLst>
          </a:prstGeom>
          <a:solidFill>
            <a:srgbClr val="FFFFFF"/>
          </a:solidFill>
          <a:ln w="12700">
            <a:solidFill>
              <a:srgbClr val="CBD5E1"/>
            </a:solidFill>
            <a:prstDash val="solid"/>
          </a:ln>
        </p:spPr>
        <p:txBody>
          <a:bodyPr/>
          <a:lstStyle/>
          <a:p>
            <a:endParaRPr lang="es-MX"/>
          </a:p>
        </p:txBody>
      </p:sp>
      <mc:AlternateContent xmlns:mc="http://schemas.openxmlformats.org/markup-compatibility/2006">
        <mc:Choice xmlns:a14="http://schemas.microsoft.com/office/drawing/2010/main" Requires="a14">
          <p:sp>
            <p:nvSpPr>
              <p:cNvPr id="9" name="Text 7"/>
              <p:cNvSpPr/>
              <p:nvPr/>
            </p:nvSpPr>
            <p:spPr>
              <a:xfrm>
                <a:off x="868680" y="2926080"/>
                <a:ext cx="4206240" cy="777240"/>
              </a:xfrm>
              <a:prstGeom prst="rect">
                <a:avLst/>
              </a:prstGeom>
              <a:noFill/>
              <a:ln/>
            </p:spPr>
            <p:txBody>
              <a:bodyPr wrap="square" rtlCol="0" anchor="ctr"/>
              <a:lstStyle/>
              <a:p>
                <a:pPr marL="0" indent="0" algn="ctr">
                  <a:buNone/>
                  <a:defRPr sz="2000">
                    <a:solidFill>
                      <a:srgbClr val="0E7490"/>
                    </a:solidFill>
                  </a:defRPr>
                </a:pPr>
                <a14:m>
                  <m:oMathPara xmlns:m="http://schemas.openxmlformats.org/officeDocument/2006/math">
                    <m:oMath>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∫1</m:t>
                          </m:r>
                          <m:r>
                            <a:rPr>
                              <a:latin typeface="Cambria Math" panose="02040503050406030204" pitchFamily="18" charset="0"/>
                            </a:rPr>
                            <m:t>𝑑𝑥</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oMath>
                  </m:oMathPara>
                </a14:m>
                <a:endParaRPr lang="en-US" sz="2000" dirty="0"/>
              </a:p>
            </p:txBody>
          </p:sp>
        </mc:Choice>
        <mc:Fallback>
          <p:sp>
            <p:nvSpPr>
              <p:cNvPr id="9" name="Text 7"/>
              <p:cNvSpPr>
                <a:spLocks noRot="1" noChangeAspect="1" noMove="1" noResize="1" noEditPoints="1" noAdjustHandles="1" noChangeArrowheads="1" noChangeShapeType="1" noTextEdit="1"/>
              </p:cNvSpPr>
              <p:nvPr/>
            </p:nvSpPr>
            <p:spPr>
              <a:xfrm>
                <a:off x="868680" y="2926080"/>
                <a:ext cx="4206240" cy="777240"/>
              </a:xfrm>
              <a:prstGeom prst="rect">
                <a:avLst/>
              </a:prstGeom>
              <a:blipFill>
                <a:blip r:embed="rId4"/>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0" name="Text 8"/>
              <p:cNvSpPr/>
              <p:nvPr/>
            </p:nvSpPr>
            <p:spPr>
              <a:xfrm>
                <a:off x="868680" y="3931920"/>
                <a:ext cx="4754880" cy="411480"/>
              </a:xfrm>
              <a:prstGeom prst="rect">
                <a:avLst/>
              </a:prstGeom>
              <a:noFill/>
              <a:ln/>
            </p:spPr>
            <p:txBody>
              <a:bodyPr wrap="square" rtlCol="0" anchor="t"/>
              <a:lstStyle/>
              <a:p>
                <a:pPr marL="0" indent="0" algn="l">
                  <a:buNone/>
                  <a:defRPr sz="1600">
                    <a:solidFill>
                      <a:srgbClr val="334155"/>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m:t>
                          </m:r>
                        </m:num>
                        <m:den>
                          <m:r>
                            <a:rPr>
                              <a:latin typeface="Cambria Math" panose="02040503050406030204" pitchFamily="18" charset="0"/>
                            </a:rPr>
                            <m:t>𝑑𝑥</m:t>
                          </m:r>
                        </m:den>
                      </m:f>
                      <m:d>
                        <m:dPr>
                          <m:begChr m:val="["/>
                          <m:endChr m:val="]"/>
                          <m:ctrlPr>
                            <a:rPr i="1">
                              <a:latin typeface="Cambria Math" panose="02040503050406030204" pitchFamily="18" charset="0"/>
                            </a:rPr>
                          </m:ctrlPr>
                        </m:dPr>
                        <m:e>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r>
                            <a:rPr>
                              <a:latin typeface="Cambria Math" panose="02040503050406030204" pitchFamily="18" charset="0"/>
                            </a:rPr>
                            <m:t>𝑦</m:t>
                          </m:r>
                        </m:e>
                      </m:d>
                      <m:r>
                        <a:rPr>
                          <a:latin typeface="Cambria Math" panose="02040503050406030204" pitchFamily="18" charset="0"/>
                        </a:rPr>
                        <m:t>=</m:t>
                      </m:r>
                      <m:r>
                        <a:rPr>
                          <a:latin typeface="Cambria Math" panose="02040503050406030204" pitchFamily="18" charset="0"/>
                        </a:rPr>
                        <m:t>𝑥</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oMath>
                  </m:oMathPara>
                </a14:m>
                <a:endParaRPr lang="en-US" sz="1600" dirty="0"/>
              </a:p>
            </p:txBody>
          </p:sp>
        </mc:Choice>
        <mc:Fallback>
          <p:sp>
            <p:nvSpPr>
              <p:cNvPr id="10" name="Text 8"/>
              <p:cNvSpPr>
                <a:spLocks noRot="1" noChangeAspect="1" noMove="1" noResize="1" noEditPoints="1" noAdjustHandles="1" noChangeArrowheads="1" noChangeShapeType="1" noTextEdit="1"/>
              </p:cNvSpPr>
              <p:nvPr/>
            </p:nvSpPr>
            <p:spPr>
              <a:xfrm>
                <a:off x="868680" y="3931920"/>
                <a:ext cx="4754880" cy="411480"/>
              </a:xfrm>
              <a:prstGeom prst="rect">
                <a:avLst/>
              </a:prstGeom>
              <a:blipFill>
                <a:blip r:embed="rId5"/>
                <a:stretch>
                  <a:fillRect b="-22059"/>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1" name="Text 9"/>
              <p:cNvSpPr/>
              <p:nvPr/>
            </p:nvSpPr>
            <p:spPr>
              <a:xfrm>
                <a:off x="868680" y="4480560"/>
                <a:ext cx="4846320" cy="411480"/>
              </a:xfrm>
              <a:prstGeom prst="rect">
                <a:avLst/>
              </a:prstGeom>
              <a:noFill/>
              <a:ln/>
            </p:spPr>
            <p:txBody>
              <a:bodyPr wrap="square" rtlCol="0" anchor="t"/>
              <a:lstStyle/>
              <a:p>
                <a:pPr marL="0" indent="0">
                  <a:buNone/>
                  <a:defRPr sz="1250">
                    <a:solidFill>
                      <a:srgbClr val="94A3B8"/>
                    </a:solidFill>
                  </a:defRPr>
                </a:pPr>
                <a:r>
                  <a:rPr lang="en-US" sz="1250" i="1" dirty="0">
                    <a:solidFill>
                      <a:srgbClr val="94A3B8"/>
                    </a:solidFill>
                    <a:latin typeface="Calibri" pitchFamily="34" charset="0"/>
                    <a:ea typeface="Calibri" pitchFamily="34" charset="-122"/>
                    <a:cs typeface="Calibri" pitchFamily="34" charset="-120"/>
                  </a:rPr>
                  <a:t>Por partes: </a:t>
                </a:r>
                <a14:m>
                  <m:oMath xmlns:m="http://schemas.openxmlformats.org/officeDocument/2006/math">
                    <m:r>
                      <a:rPr>
                        <a:latin typeface="Cambria Math" panose="02040503050406030204" pitchFamily="18" charset="0"/>
                      </a:rPr>
                      <m:t>∫</m:t>
                    </m:r>
                    <m:r>
                      <a:rPr>
                        <a:latin typeface="Cambria Math" panose="02040503050406030204" pitchFamily="18" charset="0"/>
                      </a:rPr>
                      <m:t>𝑥</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r>
                      <a:rPr>
                        <a:latin typeface="Cambria Math" panose="02040503050406030204" pitchFamily="18" charset="0"/>
                      </a:rPr>
                      <m:t>𝑑𝑥</m:t>
                    </m:r>
                    <m:r>
                      <a:rPr>
                        <a:latin typeface="Cambria Math" panose="02040503050406030204" pitchFamily="18" charset="0"/>
                      </a:rPr>
                      <m:t>=</m:t>
                    </m:r>
                    <m:r>
                      <a:rPr>
                        <a:latin typeface="Cambria Math" panose="02040503050406030204" pitchFamily="18" charset="0"/>
                      </a:rPr>
                      <m:t>𝑥</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r>
                      <a:rPr>
                        <a:latin typeface="Cambria Math" panose="02040503050406030204" pitchFamily="18" charset="0"/>
                      </a:rPr>
                      <m:t>+</m:t>
                    </m:r>
                    <m:r>
                      <a:rPr>
                        <a:latin typeface="Cambria Math" panose="02040503050406030204" pitchFamily="18" charset="0"/>
                      </a:rPr>
                      <m:t>𝐶</m:t>
                    </m:r>
                  </m:oMath>
                </a14:m>
                <a:endParaRPr lang="en-US" sz="1250" dirty="0"/>
              </a:p>
            </p:txBody>
          </p:sp>
        </mc:Choice>
        <mc:Fallback>
          <p:sp>
            <p:nvSpPr>
              <p:cNvPr id="11" name="Text 9"/>
              <p:cNvSpPr>
                <a:spLocks noRot="1" noChangeAspect="1" noMove="1" noResize="1" noEditPoints="1" noAdjustHandles="1" noChangeArrowheads="1" noChangeShapeType="1" noTextEdit="1"/>
              </p:cNvSpPr>
              <p:nvPr/>
            </p:nvSpPr>
            <p:spPr>
              <a:xfrm>
                <a:off x="868680" y="4480560"/>
                <a:ext cx="4846320" cy="411480"/>
              </a:xfrm>
              <a:prstGeom prst="rect">
                <a:avLst/>
              </a:prstGeom>
              <a:blipFill>
                <a:blip r:embed="rId6"/>
                <a:stretch>
                  <a:fillRect l="-126"/>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2" name="Text 10"/>
              <p:cNvSpPr/>
              <p:nvPr/>
            </p:nvSpPr>
            <p:spPr>
              <a:xfrm>
                <a:off x="868680" y="4983480"/>
                <a:ext cx="4846320" cy="411480"/>
              </a:xfrm>
              <a:prstGeom prst="rect">
                <a:avLst/>
              </a:prstGeom>
              <a:noFill/>
              <a:ln/>
            </p:spPr>
            <p:txBody>
              <a:bodyPr wrap="square" rtlCol="0" anchor="t"/>
              <a:lstStyle/>
              <a:p>
                <a:pPr marL="0" indent="0" algn="l">
                  <a:buNone/>
                  <a:defRPr sz="1600">
                    <a:solidFill>
                      <a:srgbClr val="334155"/>
                    </a:solidFill>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𝑥</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r>
                        <a:rPr>
                          <a:latin typeface="Cambria Math" panose="02040503050406030204" pitchFamily="18" charset="0"/>
                        </a:rPr>
                        <m:t>+</m:t>
                      </m:r>
                      <m:r>
                        <a:rPr>
                          <a:latin typeface="Cambria Math" panose="02040503050406030204" pitchFamily="18" charset="0"/>
                        </a:rPr>
                        <m:t>𝐶</m:t>
                      </m:r>
                    </m:oMath>
                  </m:oMathPara>
                </a14:m>
                <a:endParaRPr lang="en-US" sz="1600" dirty="0"/>
              </a:p>
            </p:txBody>
          </p:sp>
        </mc:Choice>
        <mc:Fallback>
          <p:sp>
            <p:nvSpPr>
              <p:cNvPr id="12" name="Text 10"/>
              <p:cNvSpPr>
                <a:spLocks noRot="1" noChangeAspect="1" noMove="1" noResize="1" noEditPoints="1" noAdjustHandles="1" noChangeArrowheads="1" noChangeShapeType="1" noTextEdit="1"/>
              </p:cNvSpPr>
              <p:nvPr/>
            </p:nvSpPr>
            <p:spPr>
              <a:xfrm>
                <a:off x="868680" y="4983480"/>
                <a:ext cx="4846320" cy="411480"/>
              </a:xfrm>
              <a:prstGeom prst="rect">
                <a:avLst/>
              </a:prstGeom>
              <a:blipFill>
                <a:blip r:embed="rId7"/>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3" name="Text 11"/>
              <p:cNvSpPr/>
              <p:nvPr/>
            </p:nvSpPr>
            <p:spPr>
              <a:xfrm>
                <a:off x="868680" y="5486400"/>
                <a:ext cx="4846320" cy="457200"/>
              </a:xfrm>
              <a:prstGeom prst="rect">
                <a:avLst/>
              </a:prstGeom>
              <a:noFill/>
              <a:ln/>
            </p:spPr>
            <p:txBody>
              <a:bodyPr wrap="square" rtlCol="0" anchor="t"/>
              <a:lstStyle/>
              <a:p>
                <a:pPr marL="0" indent="0" algn="l">
                  <a:buNone/>
                  <a:defRPr sz="1700">
                    <a:solidFill>
                      <a:srgbClr val="334155"/>
                    </a:solidFill>
                  </a:defRPr>
                </a:pPr>
                <a14:m>
                  <m:oMathPara xmlns:m="http://schemas.openxmlformats.org/officeDocument/2006/math">
                    <m:oMath>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m:t>
                      </m:r>
                      <m:r>
                        <a:rPr>
                          <a:latin typeface="Cambria Math" panose="02040503050406030204" pitchFamily="18" charset="0"/>
                        </a:rPr>
                        <m:t>𝐶</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𝑥</m:t>
                          </m:r>
                        </m:sup>
                      </m:sSup>
                    </m:oMath>
                  </m:oMathPara>
                </a14:m>
                <a:endParaRPr lang="en-US" sz="1700" dirty="0"/>
              </a:p>
            </p:txBody>
          </p:sp>
        </mc:Choice>
        <mc:Fallback>
          <p:sp>
            <p:nvSpPr>
              <p:cNvPr id="13" name="Text 11"/>
              <p:cNvSpPr>
                <a:spLocks noRot="1" noChangeAspect="1" noMove="1" noResize="1" noEditPoints="1" noAdjustHandles="1" noChangeArrowheads="1" noChangeShapeType="1" noTextEdit="1"/>
              </p:cNvSpPr>
              <p:nvPr/>
            </p:nvSpPr>
            <p:spPr>
              <a:xfrm>
                <a:off x="868680" y="5486400"/>
                <a:ext cx="4846320" cy="457200"/>
              </a:xfrm>
              <a:prstGeom prst="rect">
                <a:avLst/>
              </a:prstGeom>
              <a:blipFill>
                <a:blip r:embed="rId8"/>
                <a:stretch>
                  <a:fillRect/>
                </a:stretch>
              </a:blipFill>
              <a:ln/>
            </p:spPr>
            <p:txBody>
              <a:bodyPr/>
              <a:lstStyle/>
              <a:p>
                <a:r>
                  <a:rPr lang="es-MX">
                    <a:noFill/>
                  </a:rPr>
                  <a:t> </a:t>
                </a:r>
              </a:p>
            </p:txBody>
          </p:sp>
        </mc:Fallback>
      </mc:AlternateContent>
      <p:sp>
        <p:nvSpPr>
          <p:cNvPr id="14" name="Shape 12"/>
          <p:cNvSpPr/>
          <p:nvPr/>
        </p:nvSpPr>
        <p:spPr>
          <a:xfrm>
            <a:off x="6291072" y="2194560"/>
            <a:ext cx="5349240" cy="3749040"/>
          </a:xfrm>
          <a:prstGeom prst="roundRect">
            <a:avLst>
              <a:gd name="adj" fmla="val 2439"/>
            </a:avLst>
          </a:prstGeom>
          <a:solidFill>
            <a:srgbClr val="CFFAFE"/>
          </a:solidFill>
          <a:ln w="12700">
            <a:solidFill>
              <a:srgbClr val="A5F3FC"/>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5" name="Text 13"/>
              <p:cNvSpPr/>
              <p:nvPr/>
            </p:nvSpPr>
            <p:spPr>
              <a:xfrm>
                <a:off x="6611112" y="2468880"/>
                <a:ext cx="4754880" cy="457200"/>
              </a:xfrm>
              <a:prstGeom prst="rect">
                <a:avLst/>
              </a:prstGeom>
              <a:noFill/>
              <a:ln/>
            </p:spPr>
            <p:txBody>
              <a:bodyPr wrap="square" rtlCol="0" anchor="t"/>
              <a:lstStyle/>
              <a:p>
                <a:pPr marL="0" indent="0">
                  <a:buNone/>
                  <a:defRPr sz="1400">
                    <a:solidFill>
                      <a:srgbClr val="155E63"/>
                    </a:solidFill>
                  </a:defRPr>
                </a:pPr>
                <a:r>
                  <a:rPr lang="en-US" sz="1400" b="1" dirty="0">
                    <a:solidFill>
                      <a:srgbClr val="155E63"/>
                    </a:solidFill>
                    <a:latin typeface="Calibri" pitchFamily="34" charset="0"/>
                    <a:ea typeface="Calibri" pitchFamily="34" charset="-122"/>
                    <a:cs typeface="Calibri" pitchFamily="34" charset="-120"/>
                  </a:rPr>
                  <a:t>PVI (0, 1):  </a:t>
                </a:r>
                <a14:m>
                  <m:oMath xmlns:m="http://schemas.openxmlformats.org/officeDocument/2006/math">
                    <m:r>
                      <a:rPr>
                        <a:latin typeface="Cambria Math" panose="02040503050406030204" pitchFamily="18" charset="0"/>
                      </a:rPr>
                      <m:t>0−1+</m:t>
                    </m:r>
                    <m:r>
                      <a:rPr>
                        <a:latin typeface="Cambria Math" panose="02040503050406030204" pitchFamily="18" charset="0"/>
                      </a:rPr>
                      <m:t>𝐶</m:t>
                    </m:r>
                    <m:r>
                      <a:rPr>
                        <a:latin typeface="Cambria Math" panose="02040503050406030204" pitchFamily="18" charset="0"/>
                      </a:rPr>
                      <m:t>=1⇒</m:t>
                    </m:r>
                    <m:r>
                      <a:rPr>
                        <a:latin typeface="Cambria Math" panose="02040503050406030204" pitchFamily="18" charset="0"/>
                      </a:rPr>
                      <m:t>𝐶</m:t>
                    </m:r>
                    <m:r>
                      <a:rPr>
                        <a:latin typeface="Cambria Math" panose="02040503050406030204" pitchFamily="18" charset="0"/>
                      </a:rPr>
                      <m:t>=2</m:t>
                    </m:r>
                  </m:oMath>
                </a14:m>
                <a:endParaRPr lang="en-US" sz="1400" dirty="0"/>
              </a:p>
            </p:txBody>
          </p:sp>
        </mc:Choice>
        <mc:Fallback>
          <p:sp>
            <p:nvSpPr>
              <p:cNvPr id="15" name="Text 13"/>
              <p:cNvSpPr>
                <a:spLocks noRot="1" noChangeAspect="1" noMove="1" noResize="1" noEditPoints="1" noAdjustHandles="1" noChangeArrowheads="1" noChangeShapeType="1" noTextEdit="1"/>
              </p:cNvSpPr>
              <p:nvPr/>
            </p:nvSpPr>
            <p:spPr>
              <a:xfrm>
                <a:off x="6611112" y="2468880"/>
                <a:ext cx="4754880" cy="457200"/>
              </a:xfrm>
              <a:prstGeom prst="rect">
                <a:avLst/>
              </a:prstGeom>
              <a:blipFill>
                <a:blip r:embed="rId9"/>
                <a:stretch>
                  <a:fillRect l="-385" t="-2667"/>
                </a:stretch>
              </a:blipFill>
              <a:ln/>
            </p:spPr>
            <p:txBody>
              <a:bodyPr/>
              <a:lstStyle/>
              <a:p>
                <a:r>
                  <a:rPr lang="es-MX">
                    <a:noFill/>
                  </a:rPr>
                  <a:t> </a:t>
                </a:r>
              </a:p>
            </p:txBody>
          </p:sp>
        </mc:Fallback>
      </mc:AlternateContent>
      <p:sp>
        <p:nvSpPr>
          <p:cNvPr id="16" name="Shape 14"/>
          <p:cNvSpPr/>
          <p:nvPr/>
        </p:nvSpPr>
        <p:spPr>
          <a:xfrm>
            <a:off x="6611112" y="3063240"/>
            <a:ext cx="4709160" cy="1051560"/>
          </a:xfrm>
          <a:prstGeom prst="roundRect">
            <a:avLst>
              <a:gd name="adj" fmla="val 6087"/>
            </a:avLst>
          </a:prstGeom>
          <a:solidFill>
            <a:srgbClr val="FFFFFF"/>
          </a:solidFill>
          <a:ln w="12700">
            <a:solidFill>
              <a:srgbClr val="A5F3FC"/>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7" name="Text 15"/>
              <p:cNvSpPr/>
              <p:nvPr/>
            </p:nvSpPr>
            <p:spPr>
              <a:xfrm>
                <a:off x="6611112" y="3063240"/>
                <a:ext cx="4709160" cy="1051560"/>
              </a:xfrm>
              <a:prstGeom prst="rect">
                <a:avLst/>
              </a:prstGeom>
              <a:noFill/>
              <a:ln/>
            </p:spPr>
            <p:txBody>
              <a:bodyPr wrap="square" rtlCol="0" anchor="ctr"/>
              <a:lstStyle/>
              <a:p>
                <a:pPr marL="0" indent="0" algn="ctr">
                  <a:buNone/>
                  <a:defRPr sz="2800">
                    <a:solidFill>
                      <a:srgbClr val="0E7490"/>
                    </a:solidFill>
                  </a:defRPr>
                </a:pPr>
                <a14:m>
                  <m:oMathPara xmlns:m="http://schemas.openxmlformats.org/officeDocument/2006/math">
                    <m:oMath>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−1+2</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𝑥</m:t>
                          </m:r>
                        </m:sup>
                      </m:sSup>
                    </m:oMath>
                  </m:oMathPara>
                </a14:m>
                <a:endParaRPr lang="en-US" sz="2800" dirty="0"/>
              </a:p>
            </p:txBody>
          </p:sp>
        </mc:Choice>
        <mc:Fallback>
          <p:sp>
            <p:nvSpPr>
              <p:cNvPr id="17" name="Text 15"/>
              <p:cNvSpPr>
                <a:spLocks noRot="1" noChangeAspect="1" noMove="1" noResize="1" noEditPoints="1" noAdjustHandles="1" noChangeArrowheads="1" noChangeShapeType="1" noTextEdit="1"/>
              </p:cNvSpPr>
              <p:nvPr/>
            </p:nvSpPr>
            <p:spPr>
              <a:xfrm>
                <a:off x="6611112" y="3063240"/>
                <a:ext cx="4709160" cy="1051560"/>
              </a:xfrm>
              <a:prstGeom prst="rect">
                <a:avLst/>
              </a:prstGeom>
              <a:blipFill>
                <a:blip r:embed="rId10"/>
                <a:stretch>
                  <a:fillRect/>
                </a:stretch>
              </a:blipFill>
              <a:ln/>
            </p:spPr>
            <p:txBody>
              <a:bodyPr/>
              <a:lstStyle/>
              <a:p>
                <a:r>
                  <a:rPr lang="es-MX">
                    <a:noFill/>
                  </a:rPr>
                  <a:t> </a:t>
                </a:r>
              </a:p>
            </p:txBody>
          </p:sp>
        </mc:Fallback>
      </mc:AlternateContent>
      <p:sp>
        <p:nvSpPr>
          <p:cNvPr id="18" name="Text 16"/>
          <p:cNvSpPr/>
          <p:nvPr/>
        </p:nvSpPr>
        <p:spPr>
          <a:xfrm>
            <a:off x="6611112" y="4343400"/>
            <a:ext cx="4709160" cy="1463040"/>
          </a:xfrm>
          <a:prstGeom prst="rect">
            <a:avLst/>
          </a:prstGeom>
          <a:noFill/>
          <a:ln/>
        </p:spPr>
        <p:txBody>
          <a:bodyPr wrap="square" rtlCol="0" anchor="t"/>
          <a:lstStyle/>
          <a:p>
            <a:pPr marL="0" indent="0">
              <a:lnSpc>
                <a:spcPct val="130000"/>
              </a:lnSpc>
              <a:buNone/>
            </a:pPr>
            <a:r>
              <a:rPr lang="en-US" sz="1300" dirty="0">
                <a:solidFill>
                  <a:srgbClr val="155E63"/>
                </a:solidFill>
                <a:latin typeface="Calibri" pitchFamily="34" charset="0"/>
                <a:ea typeface="Calibri" pitchFamily="34" charset="-122"/>
                <a:cs typeface="Calibri" pitchFamily="34" charset="-120"/>
              </a:rPr>
              <a:t>Por el teorema de la diapositiva anterior: P(x)=1 y f(x)=x son continuas en </a:t>
            </a:r>
            <a:r>
              <a:rPr lang="en-US" sz="1300" b="1" dirty="0">
                <a:solidFill>
                  <a:srgbClr val="155E63"/>
                </a:solidFill>
                <a:latin typeface="Calibri" pitchFamily="34" charset="0"/>
                <a:ea typeface="Calibri" pitchFamily="34" charset="-122"/>
                <a:cs typeface="Calibri" pitchFamily="34" charset="-120"/>
              </a:rPr>
              <a:t>todo ℝ</a:t>
            </a:r>
            <a:r>
              <a:rPr lang="en-US" sz="1300" dirty="0">
                <a:solidFill>
                  <a:srgbClr val="155E63"/>
                </a:solidFill>
                <a:latin typeface="Calibri" pitchFamily="34" charset="0"/>
                <a:ea typeface="Calibri" pitchFamily="34" charset="-122"/>
                <a:cs typeface="Calibri" pitchFamily="34" charset="-120"/>
              </a:rPr>
              <a:t>, así que la solución también es válida en todo ℝ. Nada de intervalos sorpresa como en la Sesión 3.</a:t>
            </a:r>
            <a:endParaRPr lang="en-US" sz="1300" dirty="0"/>
          </a:p>
        </p:txBody>
      </p:sp>
      <p:sp>
        <p:nvSpPr>
          <p:cNvPr id="19" name="Text 1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235440" y="-2651760"/>
            <a:ext cx="4937760" cy="4937760"/>
          </a:xfrm>
          <a:prstGeom prst="ellipse">
            <a:avLst/>
          </a:prstGeom>
          <a:solidFill>
            <a:srgbClr val="FFE4E6"/>
          </a:solidFill>
          <a:ln/>
        </p:spPr>
        <p:txBody>
          <a:bodyPr/>
          <a:lstStyle/>
          <a:p>
            <a:endParaRPr lang="es-MX"/>
          </a:p>
        </p:txBody>
      </p:sp>
      <p:sp>
        <p:nvSpPr>
          <p:cNvPr id="3" name="Shape 1"/>
          <p:cNvSpPr/>
          <p:nvPr/>
        </p:nvSpPr>
        <p:spPr>
          <a:xfrm>
            <a:off x="548640" y="365760"/>
            <a:ext cx="1783080" cy="384048"/>
          </a:xfrm>
          <a:prstGeom prst="roundRect">
            <a:avLst>
              <a:gd name="adj" fmla="val 50000"/>
            </a:avLst>
          </a:prstGeom>
          <a:solidFill>
            <a:srgbClr val="FFE4E6"/>
          </a:solidFill>
          <a:ln/>
        </p:spPr>
        <p:txBody>
          <a:bodyPr/>
          <a:lstStyle/>
          <a:p>
            <a:endParaRPr lang="es-MX"/>
          </a:p>
        </p:txBody>
      </p:sp>
      <p:sp>
        <p:nvSpPr>
          <p:cNvPr id="4" name="Text 2"/>
          <p:cNvSpPr/>
          <p:nvPr/>
        </p:nvSpPr>
        <p:spPr>
          <a:xfrm>
            <a:off x="548640" y="365760"/>
            <a:ext cx="1783080" cy="384048"/>
          </a:xfrm>
          <a:prstGeom prst="rect">
            <a:avLst/>
          </a:prstGeom>
          <a:noFill/>
          <a:ln/>
        </p:spPr>
        <p:txBody>
          <a:bodyPr wrap="square" rtlCol="0" anchor="ctr"/>
          <a:lstStyle/>
          <a:p>
            <a:pPr marL="0" indent="0" algn="ctr">
              <a:buNone/>
            </a:pPr>
            <a:r>
              <a:rPr lang="en-US" sz="1300" b="1" kern="0" spc="100" dirty="0">
                <a:solidFill>
                  <a:srgbClr val="BE123C"/>
                </a:solidFill>
                <a:latin typeface="Calibri" pitchFamily="34" charset="0"/>
                <a:ea typeface="Calibri" pitchFamily="34" charset="-122"/>
                <a:cs typeface="Calibri" pitchFamily="34" charset="-120"/>
              </a:rPr>
              <a:t>EJEMPLO 4</a:t>
            </a:r>
            <a:endParaRPr lang="en-US" sz="1300" dirty="0"/>
          </a:p>
        </p:txBody>
      </p:sp>
      <p:sp>
        <p:nvSpPr>
          <p:cNvPr id="6" name="Shape 4"/>
          <p:cNvSpPr/>
          <p:nvPr/>
        </p:nvSpPr>
        <p:spPr>
          <a:xfrm>
            <a:off x="1280160" y="2743200"/>
            <a:ext cx="9628632" cy="1737360"/>
          </a:xfrm>
          <a:prstGeom prst="roundRect">
            <a:avLst>
              <a:gd name="adj" fmla="val 3684"/>
            </a:avLst>
          </a:prstGeom>
          <a:solidFill>
            <a:srgbClr val="FFFFFF"/>
          </a:solidFill>
          <a:ln w="12700">
            <a:solidFill>
              <a:srgbClr val="E2E8F0"/>
            </a:solidFill>
            <a:prstDash val="solid"/>
          </a:ln>
        </p:spPr>
        <p:txBody>
          <a:bodyPr/>
          <a:lstStyle/>
          <a:p>
            <a:endParaRPr lang="es-MX"/>
          </a:p>
        </p:txBody>
      </p:sp>
      <mc:AlternateContent xmlns:mc="http://schemas.openxmlformats.org/markup-compatibility/2006">
        <mc:Choice xmlns:a14="http://schemas.microsoft.com/office/drawing/2010/main" Requires="a14">
          <p:sp>
            <p:nvSpPr>
              <p:cNvPr id="7" name="Text 5"/>
              <p:cNvSpPr/>
              <p:nvPr/>
            </p:nvSpPr>
            <p:spPr>
              <a:xfrm>
                <a:off x="1280160" y="2743200"/>
                <a:ext cx="9628632" cy="1737360"/>
              </a:xfrm>
              <a:prstGeom prst="rect">
                <a:avLst/>
              </a:prstGeom>
              <a:noFill/>
              <a:ln/>
            </p:spPr>
            <p:txBody>
              <a:bodyPr wrap="square" rtlCol="0" anchor="ctr"/>
              <a:lstStyle/>
              <a:p>
                <a:pPr marL="0" indent="0" algn="ctr">
                  <a:buNone/>
                  <a:defRPr sz="2600">
                    <a:solidFill>
                      <a:srgbClr val="BE123C"/>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(0)=0</m:t>
                      </m:r>
                    </m:oMath>
                  </m:oMathPara>
                </a14:m>
                <a:endParaRPr lang="en-US" sz="2600" dirty="0"/>
              </a:p>
            </p:txBody>
          </p:sp>
        </mc:Choice>
        <mc:Fallback>
          <p:sp>
            <p:nvSpPr>
              <p:cNvPr id="7" name="Text 5"/>
              <p:cNvSpPr>
                <a:spLocks noRot="1" noChangeAspect="1" noMove="1" noResize="1" noEditPoints="1" noAdjustHandles="1" noChangeArrowheads="1" noChangeShapeType="1" noTextEdit="1"/>
              </p:cNvSpPr>
              <p:nvPr/>
            </p:nvSpPr>
            <p:spPr>
              <a:xfrm>
                <a:off x="1280160" y="2743200"/>
                <a:ext cx="9628632" cy="1737360"/>
              </a:xfrm>
              <a:prstGeom prst="rect">
                <a:avLst/>
              </a:prstGeom>
              <a:blipFill>
                <a:blip r:embed="rId3"/>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donde f(x) = 1 para </a:t>
                </a:r>
                <a14:m>
                  <m:oMath xmlns:m="http://schemas.openxmlformats.org/officeDocument/2006/math">
                    <m:r>
                      <a:rPr lang="en-US" sz="1600" i="1" dirty="0" smtClean="0">
                        <a:solidFill>
                          <a:srgbClr val="475569"/>
                        </a:solidFill>
                        <a:latin typeface="Cambria Math" panose="02040503050406030204" pitchFamily="18" charset="0"/>
                        <a:ea typeface="Calibri" pitchFamily="34" charset="-122"/>
                        <a:cs typeface="Calibri" pitchFamily="34" charset="-120"/>
                      </a:rPr>
                      <m:t>0≤</m:t>
                    </m:r>
                    <m:r>
                      <a:rPr lang="en-US" sz="1600" i="1" dirty="0" smtClean="0">
                        <a:solidFill>
                          <a:srgbClr val="475569"/>
                        </a:solidFill>
                        <a:latin typeface="Cambria Math" panose="02040503050406030204" pitchFamily="18" charset="0"/>
                        <a:ea typeface="Calibri" pitchFamily="34" charset="-122"/>
                        <a:cs typeface="Calibri" pitchFamily="34" charset="-120"/>
                      </a:rPr>
                      <m:t>𝑥</m:t>
                    </m:r>
                    <m:r>
                      <a:rPr lang="en-US" sz="1600" i="1" dirty="0" smtClean="0">
                        <a:solidFill>
                          <a:srgbClr val="475569"/>
                        </a:solidFill>
                        <a:latin typeface="Cambria Math" panose="02040503050406030204" pitchFamily="18" charset="0"/>
                        <a:ea typeface="Calibri" pitchFamily="34" charset="-122"/>
                        <a:cs typeface="Calibri" pitchFamily="34" charset="-120"/>
                      </a:rPr>
                      <m:t>≤1</m:t>
                    </m:r>
                  </m:oMath>
                </a14:m>
                <a:r>
                  <a:rPr lang="en-US" sz="1600" i="1" dirty="0">
                    <a:solidFill>
                      <a:srgbClr val="475569"/>
                    </a:solidFill>
                    <a:latin typeface="Calibri" pitchFamily="34" charset="0"/>
                    <a:ea typeface="Calibri" pitchFamily="34" charset="-122"/>
                    <a:cs typeface="Calibri" pitchFamily="34" charset="-120"/>
                  </a:rPr>
                  <a:t>, y f(x) = 0 para x &gt; 1. Resuelve cada tramo y verifica la continuidad de la </a:t>
                </a:r>
                <a:r>
                  <a:rPr lang="en-US" sz="1600" i="1" dirty="0" err="1">
                    <a:solidFill>
                      <a:srgbClr val="475569"/>
                    </a:solidFill>
                    <a:latin typeface="Calibri" pitchFamily="34" charset="0"/>
                    <a:ea typeface="Calibri" pitchFamily="34" charset="-122"/>
                    <a:cs typeface="Calibri" pitchFamily="34" charset="-120"/>
                  </a:rPr>
                  <a:t>solución</a:t>
                </a:r>
                <a:r>
                  <a:rPr lang="en-US" sz="1600" i="1" dirty="0">
                    <a:solidFill>
                      <a:srgbClr val="475569"/>
                    </a:solidFill>
                    <a:latin typeface="Calibri" pitchFamily="34" charset="0"/>
                    <a:ea typeface="Calibri" pitchFamily="34" charset="-122"/>
                    <a:cs typeface="Calibri" pitchFamily="34" charset="-120"/>
                  </a:rPr>
                  <a:t>.</a:t>
                </a:r>
                <a:endParaRPr lang="en-US" sz="1600" dirty="0"/>
              </a:p>
            </p:txBody>
          </p:sp>
        </mc:Choice>
        <mc:Fallback>
          <p:sp>
            <p:nvSpPr>
              <p:cNvPr id="8" name="Text 6"/>
              <p:cNvSpPr>
                <a:spLocks noRot="1" noChangeAspect="1" noMove="1" noResize="1" noEditPoints="1" noAdjustHandles="1" noChangeArrowheads="1" noChangeShapeType="1" noTextEdit="1"/>
              </p:cNvSpPr>
              <p:nvPr/>
            </p:nvSpPr>
            <p:spPr>
              <a:xfrm>
                <a:off x="1737360" y="4709160"/>
                <a:ext cx="8714232" cy="822960"/>
              </a:xfrm>
              <a:prstGeom prst="rect">
                <a:avLst/>
              </a:prstGeom>
              <a:blipFill>
                <a:blip r:embed="rId4"/>
                <a:stretch>
                  <a:fillRect r="-140"/>
                </a:stretch>
              </a:blipFill>
              <a:ln/>
            </p:spPr>
            <p:txBody>
              <a:bodyPr/>
              <a:lstStyle/>
              <a:p>
                <a:r>
                  <a:rPr lang="es-MX">
                    <a:noFill/>
                  </a:rPr>
                  <a:t> </a:t>
                </a:r>
              </a:p>
            </p:txBody>
          </p:sp>
        </mc:Fallback>
      </mc:AlternateContent>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783080" cy="384048"/>
          </a:xfrm>
          <a:prstGeom prst="roundRect">
            <a:avLst>
              <a:gd name="adj" fmla="val 50000"/>
            </a:avLst>
          </a:prstGeom>
          <a:solidFill>
            <a:srgbClr val="FFE4E6"/>
          </a:solidFill>
          <a:ln/>
        </p:spPr>
        <p:txBody>
          <a:bodyPr/>
          <a:lstStyle/>
          <a:p>
            <a:endParaRPr lang="es-MX"/>
          </a:p>
        </p:txBody>
      </p:sp>
      <p:sp>
        <p:nvSpPr>
          <p:cNvPr id="3" name="Text 1"/>
          <p:cNvSpPr/>
          <p:nvPr/>
        </p:nvSpPr>
        <p:spPr>
          <a:xfrm>
            <a:off x="548640" y="365760"/>
            <a:ext cx="1783080" cy="384048"/>
          </a:xfrm>
          <a:prstGeom prst="rect">
            <a:avLst/>
          </a:prstGeom>
          <a:noFill/>
          <a:ln/>
        </p:spPr>
        <p:txBody>
          <a:bodyPr wrap="square" rtlCol="0" anchor="ctr"/>
          <a:lstStyle/>
          <a:p>
            <a:pPr marL="0" indent="0" algn="ctr">
              <a:buNone/>
            </a:pPr>
            <a:r>
              <a:rPr lang="en-US" sz="1300" b="1" kern="0" spc="100" dirty="0">
                <a:solidFill>
                  <a:srgbClr val="BE123C"/>
                </a:solidFill>
                <a:latin typeface="Calibri" pitchFamily="34" charset="0"/>
                <a:ea typeface="Calibri" pitchFamily="34" charset="-122"/>
                <a:cs typeface="Calibri" pitchFamily="34" charset="-120"/>
              </a:rPr>
              <a:t>EJEMPLO 4</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2800" b="1" dirty="0">
                <a:solidFill>
                  <a:srgbClr val="0F172A"/>
                </a:solidFill>
                <a:latin typeface="Calibri" pitchFamily="34" charset="0"/>
                <a:ea typeface="Calibri" pitchFamily="34" charset="-122"/>
                <a:cs typeface="Calibri" pitchFamily="34" charset="-120"/>
              </a:rPr>
              <a:t>Una Ecuación con Entrada a Trozos</a:t>
            </a:r>
            <a:endParaRPr lang="en-US" sz="2800" dirty="0"/>
          </a:p>
        </p:txBody>
      </p:sp>
      <mc:AlternateContent xmlns:mc="http://schemas.openxmlformats.org/markup-compatibility/2006">
        <mc:Choice xmlns:a14="http://schemas.microsoft.com/office/drawing/2010/main" Requires="a14">
          <p:sp>
            <p:nvSpPr>
              <p:cNvPr id="5" name="Text 3"/>
              <p:cNvSpPr/>
              <p:nvPr/>
            </p:nvSpPr>
            <p:spPr>
              <a:xfrm>
                <a:off x="548640" y="1508760"/>
                <a:ext cx="11091672" cy="548640"/>
              </a:xfrm>
              <a:prstGeom prst="rect">
                <a:avLst/>
              </a:prstGeom>
              <a:noFill/>
              <a:ln/>
            </p:spPr>
            <p:txBody>
              <a:bodyPr wrap="square" rtlCol="0" anchor="t"/>
              <a:lstStyle/>
              <a:p>
                <a:pPr marL="0" indent="0" algn="l">
                  <a:buNone/>
                  <a:defRPr sz="2000">
                    <a:solidFill>
                      <a:srgbClr val="BE123C"/>
                    </a:solidFill>
                  </a:defRPr>
                </a:pPr>
                <a14:m>
                  <m:oMathPara xmlns:m="http://schemas.openxmlformats.org/officeDocument/2006/math">
                    <m:oMath>
                      <m:r>
                        <a:rPr>
                          <a:latin typeface="Cambria Math" panose="02040503050406030204" pitchFamily="18" charset="0"/>
                        </a:rPr>
                        <m:t>𝑓</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d>
                        <m:dPr>
                          <m:begChr m:val="{"/>
                          <m:endChr m:val=""/>
                          <m:ctrlPr>
                            <a:rPr i="1">
                              <a:latin typeface="Cambria Math" panose="02040503050406030204" pitchFamily="18" charset="0"/>
                            </a:rPr>
                          </m:ctrlPr>
                        </m:dPr>
                        <m:e>
                          <m:m>
                            <m:mPr>
                              <m:plcHide m:val="on"/>
                              <m:mcs>
                                <m:mc>
                                  <m:mcPr>
                                    <m:count m:val="2"/>
                                    <m:mcJc m:val="center"/>
                                  </m:mcPr>
                                </m:mc>
                              </m:mcs>
                              <m:ctrlPr>
                                <a:rPr i="1">
                                  <a:latin typeface="Cambria Math" panose="02040503050406030204" pitchFamily="18" charset="0"/>
                                </a:rPr>
                              </m:ctrlPr>
                            </m:mPr>
                            <m:mr>
                              <m:e>
                                <m:r>
                                  <a:rPr>
                                    <a:latin typeface="Cambria Math" panose="02040503050406030204" pitchFamily="18" charset="0"/>
                                  </a:rPr>
                                  <m:t>1</m:t>
                                </m:r>
                              </m:e>
                              <m:e>
                                <m:r>
                                  <a:rPr>
                                    <a:latin typeface="Cambria Math" panose="02040503050406030204" pitchFamily="18" charset="0"/>
                                  </a:rPr>
                                  <m:t>0≤</m:t>
                                </m:r>
                                <m:r>
                                  <a:rPr>
                                    <a:latin typeface="Cambria Math" panose="02040503050406030204" pitchFamily="18" charset="0"/>
                                  </a:rPr>
                                  <m:t>𝑥</m:t>
                                </m:r>
                                <m:r>
                                  <a:rPr>
                                    <a:latin typeface="Cambria Math" panose="02040503050406030204" pitchFamily="18" charset="0"/>
                                  </a:rPr>
                                  <m:t>≤1</m:t>
                                </m:r>
                              </m:e>
                            </m:mr>
                            <m:mr>
                              <m:e>
                                <m:r>
                                  <a:rPr>
                                    <a:latin typeface="Cambria Math" panose="02040503050406030204" pitchFamily="18" charset="0"/>
                                  </a:rPr>
                                  <m:t>0</m:t>
                                </m:r>
                              </m:e>
                              <m:e>
                                <m:r>
                                  <a:rPr>
                                    <a:latin typeface="Cambria Math" panose="02040503050406030204" pitchFamily="18" charset="0"/>
                                  </a:rPr>
                                  <m:t>𝑥</m:t>
                                </m:r>
                                <m:r>
                                  <a:rPr>
                                    <a:latin typeface="Cambria Math" panose="02040503050406030204" pitchFamily="18" charset="0"/>
                                  </a:rPr>
                                  <m:t>&gt;1</m:t>
                                </m:r>
                              </m:e>
                            </m:mr>
                          </m:m>
                        </m:e>
                      </m:d>
                    </m:oMath>
                  </m:oMathPara>
                </a14:m>
                <a:endParaRPr lang="en-US" sz="2000" dirty="0"/>
              </a:p>
            </p:txBody>
          </p:sp>
        </mc:Choice>
        <mc:Fallback>
          <p:sp>
            <p:nvSpPr>
              <p:cNvPr id="5" name="Text 3"/>
              <p:cNvSpPr>
                <a:spLocks noRot="1" noChangeAspect="1" noMove="1" noResize="1" noEditPoints="1" noAdjustHandles="1" noChangeArrowheads="1" noChangeShapeType="1" noTextEdit="1"/>
              </p:cNvSpPr>
              <p:nvPr/>
            </p:nvSpPr>
            <p:spPr>
              <a:xfrm>
                <a:off x="548640" y="1508760"/>
                <a:ext cx="11091672" cy="548640"/>
              </a:xfrm>
              <a:prstGeom prst="rect">
                <a:avLst/>
              </a:prstGeom>
              <a:blipFill>
                <a:blip r:embed="rId3"/>
                <a:stretch>
                  <a:fillRect b="-32222"/>
                </a:stretch>
              </a:blipFill>
              <a:ln/>
            </p:spPr>
            <p:txBody>
              <a:bodyPr/>
              <a:lstStyle/>
              <a:p>
                <a:r>
                  <a:rPr lang="es-MX">
                    <a:noFill/>
                  </a:rPr>
                  <a:t> </a:t>
                </a:r>
              </a:p>
            </p:txBody>
          </p:sp>
        </mc:Fallback>
      </mc:AlternateContent>
      <p:sp>
        <p:nvSpPr>
          <p:cNvPr id="6" name="Shape 4"/>
          <p:cNvSpPr/>
          <p:nvPr/>
        </p:nvSpPr>
        <p:spPr>
          <a:xfrm>
            <a:off x="548640" y="2331720"/>
            <a:ext cx="5349240" cy="3657600"/>
          </a:xfrm>
          <a:prstGeom prst="roundRect">
            <a:avLst>
              <a:gd name="adj" fmla="val 2500"/>
            </a:avLst>
          </a:prstGeom>
          <a:solidFill>
            <a:srgbClr val="F1F5F9"/>
          </a:solidFill>
          <a:ln w="12700">
            <a:solidFill>
              <a:srgbClr val="E2E8F0"/>
            </a:solidFill>
            <a:prstDash val="solid"/>
          </a:ln>
        </p:spPr>
        <p:txBody>
          <a:bodyPr/>
          <a:lstStyle/>
          <a:p>
            <a:endParaRPr lang="es-MX"/>
          </a:p>
        </p:txBody>
      </p:sp>
      <p:sp>
        <p:nvSpPr>
          <p:cNvPr id="7" name="Shape 5"/>
          <p:cNvSpPr/>
          <p:nvPr/>
        </p:nvSpPr>
        <p:spPr>
          <a:xfrm>
            <a:off x="822960" y="2560320"/>
            <a:ext cx="457200" cy="457200"/>
          </a:xfrm>
          <a:prstGeom prst="ellipse">
            <a:avLst/>
          </a:prstGeom>
          <a:solidFill>
            <a:srgbClr val="FFE4E6"/>
          </a:solidFill>
          <a:ln/>
        </p:spPr>
        <p:txBody>
          <a:bodyPr/>
          <a:lstStyle/>
          <a:p>
            <a:endParaRPr lang="es-MX"/>
          </a:p>
        </p:txBody>
      </p:sp>
      <p:sp>
        <p:nvSpPr>
          <p:cNvPr id="8" name="Text 6"/>
          <p:cNvSpPr/>
          <p:nvPr/>
        </p:nvSpPr>
        <p:spPr>
          <a:xfrm>
            <a:off x="822960" y="2560320"/>
            <a:ext cx="457200" cy="457200"/>
          </a:xfrm>
          <a:prstGeom prst="rect">
            <a:avLst/>
          </a:prstGeom>
          <a:noFill/>
          <a:ln/>
        </p:spPr>
        <p:txBody>
          <a:bodyPr wrap="square" rtlCol="0" anchor="ctr"/>
          <a:lstStyle/>
          <a:p>
            <a:pPr marL="0" indent="0" algn="ctr">
              <a:buNone/>
            </a:pPr>
            <a:r>
              <a:rPr lang="en-US" sz="1600" b="1" dirty="0">
                <a:solidFill>
                  <a:srgbClr val="BE123C"/>
                </a:solidFill>
                <a:latin typeface="Calibri" pitchFamily="34" charset="0"/>
                <a:ea typeface="Calibri" pitchFamily="34" charset="-122"/>
                <a:cs typeface="Calibri" pitchFamily="34" charset="-120"/>
              </a:rPr>
              <a:t>1</a:t>
            </a:r>
            <a:endParaRPr lang="en-US" sz="1600" dirty="0"/>
          </a:p>
        </p:txBody>
      </p:sp>
      <mc:AlternateContent xmlns:mc="http://schemas.openxmlformats.org/markup-compatibility/2006">
        <mc:Choice xmlns:a14="http://schemas.microsoft.com/office/drawing/2010/main" Requires="a14">
          <p:sp>
            <p:nvSpPr>
              <p:cNvPr id="9" name="Text 7"/>
              <p:cNvSpPr/>
              <p:nvPr/>
            </p:nvSpPr>
            <p:spPr>
              <a:xfrm>
                <a:off x="1417320" y="2560320"/>
                <a:ext cx="4114800" cy="457200"/>
              </a:xfrm>
              <a:prstGeom prst="rect">
                <a:avLst/>
              </a:prstGeom>
              <a:noFill/>
              <a:ln/>
            </p:spPr>
            <p:txBody>
              <a:bodyPr wrap="square" rtlCol="0" anchor="ctr"/>
              <a:lstStyle/>
              <a:p>
                <a:pPr marL="0" indent="0">
                  <a:buNone/>
                  <a:defRPr sz="1600">
                    <a:solidFill>
                      <a:srgbClr val="0F172A"/>
                    </a:solidFill>
                  </a:defRPr>
                </a:pPr>
                <a:r>
                  <a:rPr lang="en-US" sz="1600" b="1" dirty="0">
                    <a:solidFill>
                      <a:srgbClr val="0F172A"/>
                    </a:solidFill>
                    <a:latin typeface="Calibri" pitchFamily="34" charset="0"/>
                    <a:ea typeface="Calibri" pitchFamily="34" charset="-122"/>
                    <a:cs typeface="Calibri" pitchFamily="34" charset="-120"/>
                  </a:rPr>
                  <a:t>Tramo </a:t>
                </a:r>
                <a14:m>
                  <m:oMath xmlns:m="http://schemas.openxmlformats.org/officeDocument/2006/math">
                    <m:r>
                      <a:rPr>
                        <a:latin typeface="Cambria Math" panose="02040503050406030204" pitchFamily="18" charset="0"/>
                      </a:rPr>
                      <m:t>0≤</m:t>
                    </m:r>
                    <m:r>
                      <a:rPr>
                        <a:latin typeface="Cambria Math" panose="02040503050406030204" pitchFamily="18" charset="0"/>
                      </a:rPr>
                      <m:t>𝑥</m:t>
                    </m:r>
                    <m:r>
                      <a:rPr>
                        <a:latin typeface="Cambria Math" panose="02040503050406030204" pitchFamily="18" charset="0"/>
                      </a:rPr>
                      <m:t>≤1</m:t>
                    </m:r>
                  </m:oMath>
                </a14:m>
                <a:endParaRPr lang="en-US" sz="1600" dirty="0"/>
              </a:p>
            </p:txBody>
          </p:sp>
        </mc:Choice>
        <mc:Fallback>
          <p:sp>
            <p:nvSpPr>
              <p:cNvPr id="9" name="Text 7"/>
              <p:cNvSpPr>
                <a:spLocks noRot="1" noChangeAspect="1" noMove="1" noResize="1" noEditPoints="1" noAdjustHandles="1" noChangeArrowheads="1" noChangeShapeType="1" noTextEdit="1"/>
              </p:cNvSpPr>
              <p:nvPr/>
            </p:nvSpPr>
            <p:spPr>
              <a:xfrm>
                <a:off x="1417320" y="2560320"/>
                <a:ext cx="4114800" cy="457200"/>
              </a:xfrm>
              <a:prstGeom prst="rect">
                <a:avLst/>
              </a:prstGeom>
              <a:blipFill>
                <a:blip r:embed="rId4"/>
                <a:stretch>
                  <a:fillRect l="-889" b="-4000"/>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0" name="Text 8"/>
              <p:cNvSpPr/>
              <p:nvPr/>
            </p:nvSpPr>
            <p:spPr>
              <a:xfrm>
                <a:off x="822960" y="3200400"/>
                <a:ext cx="4846320" cy="365760"/>
              </a:xfrm>
              <a:prstGeom prst="rect">
                <a:avLst/>
              </a:prstGeom>
              <a:noFill/>
              <a:ln/>
            </p:spPr>
            <p:txBody>
              <a:bodyPr wrap="square" rtlCol="0" anchor="t"/>
              <a:lstStyle/>
              <a:p>
                <a:pPr marL="0" indent="0" algn="l">
                  <a:buNone/>
                  <a:defRPr sz="1500">
                    <a:solidFill>
                      <a:srgbClr val="334155"/>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=1</m:t>
                      </m:r>
                    </m:oMath>
                  </m:oMathPara>
                </a14:m>
                <a:endParaRPr lang="en-US" sz="1500" dirty="0"/>
              </a:p>
            </p:txBody>
          </p:sp>
        </mc:Choice>
        <mc:Fallback>
          <p:sp>
            <p:nvSpPr>
              <p:cNvPr id="10" name="Text 8"/>
              <p:cNvSpPr>
                <a:spLocks noRot="1" noChangeAspect="1" noMove="1" noResize="1" noEditPoints="1" noAdjustHandles="1" noChangeArrowheads="1" noChangeShapeType="1" noTextEdit="1"/>
              </p:cNvSpPr>
              <p:nvPr/>
            </p:nvSpPr>
            <p:spPr>
              <a:xfrm>
                <a:off x="822960" y="3200400"/>
                <a:ext cx="4846320" cy="365760"/>
              </a:xfrm>
              <a:prstGeom prst="rect">
                <a:avLst/>
              </a:prstGeom>
              <a:blipFill>
                <a:blip r:embed="rId5"/>
                <a:stretch>
                  <a:fillRect b="-31667"/>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1" name="Text 9"/>
              <p:cNvSpPr/>
              <p:nvPr/>
            </p:nvSpPr>
            <p:spPr>
              <a:xfrm>
                <a:off x="822960" y="3611880"/>
                <a:ext cx="5029200" cy="411480"/>
              </a:xfrm>
              <a:prstGeom prst="rect">
                <a:avLst/>
              </a:prstGeom>
              <a:noFill/>
              <a:ln/>
            </p:spPr>
            <p:txBody>
              <a:bodyPr wrap="square" rtlCol="0" anchor="t"/>
              <a:lstStyle/>
              <a:p>
                <a:pPr marL="0" indent="0" algn="l">
                  <a:buNone/>
                  <a:defRPr sz="1400">
                    <a:solidFill>
                      <a:srgbClr val="334155"/>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m:t>
                          </m:r>
                        </m:num>
                        <m:den>
                          <m:r>
                            <a:rPr>
                              <a:latin typeface="Cambria Math" panose="02040503050406030204" pitchFamily="18" charset="0"/>
                            </a:rPr>
                            <m:t>𝑑𝑥</m:t>
                          </m:r>
                        </m:den>
                      </m:f>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r>
                        <a:rPr>
                          <a:latin typeface="Cambria Math" panose="02040503050406030204" pitchFamily="18" charset="0"/>
                        </a:rPr>
                        <m:t>𝑦</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𝑥</m:t>
                          </m:r>
                        </m:sup>
                      </m:sSup>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=1+</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1</m:t>
                          </m:r>
                        </m:sub>
                      </m:sSub>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𝑥</m:t>
                          </m:r>
                        </m:sup>
                      </m:sSup>
                    </m:oMath>
                  </m:oMathPara>
                </a14:m>
                <a:endParaRPr lang="en-US" sz="1400" dirty="0"/>
              </a:p>
            </p:txBody>
          </p:sp>
        </mc:Choice>
        <mc:Fallback>
          <p:sp>
            <p:nvSpPr>
              <p:cNvPr id="11" name="Text 9"/>
              <p:cNvSpPr>
                <a:spLocks noRot="1" noChangeAspect="1" noMove="1" noResize="1" noEditPoints="1" noAdjustHandles="1" noChangeArrowheads="1" noChangeShapeType="1" noTextEdit="1"/>
              </p:cNvSpPr>
              <p:nvPr/>
            </p:nvSpPr>
            <p:spPr>
              <a:xfrm>
                <a:off x="822960" y="3611880"/>
                <a:ext cx="5029200" cy="411480"/>
              </a:xfrm>
              <a:prstGeom prst="rect">
                <a:avLst/>
              </a:prstGeom>
              <a:blipFill>
                <a:blip r:embed="rId6"/>
                <a:stretch>
                  <a:fillRect b="-23881"/>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2" name="Text 10"/>
              <p:cNvSpPr/>
              <p:nvPr/>
            </p:nvSpPr>
            <p:spPr>
              <a:xfrm>
                <a:off x="822960" y="4114800"/>
                <a:ext cx="4846320" cy="365760"/>
              </a:xfrm>
              <a:prstGeom prst="rect">
                <a:avLst/>
              </a:prstGeom>
              <a:noFill/>
              <a:ln/>
            </p:spPr>
            <p:txBody>
              <a:bodyPr wrap="square" rtlCol="0" anchor="t"/>
              <a:lstStyle/>
              <a:p>
                <a:pPr marL="0" indent="0">
                  <a:buNone/>
                  <a:defRPr sz="1300">
                    <a:solidFill>
                      <a:srgbClr val="0F172A"/>
                    </a:solidFill>
                  </a:defRPr>
                </a:pPr>
                <a:r>
                  <a:rPr lang="en-US" sz="1300" b="1" dirty="0">
                    <a:solidFill>
                      <a:srgbClr val="0F172A"/>
                    </a:solidFill>
                    <a:latin typeface="Calibri" pitchFamily="34" charset="0"/>
                    <a:ea typeface="Calibri" pitchFamily="34" charset="-122"/>
                    <a:cs typeface="Calibri" pitchFamily="34" charset="-120"/>
                  </a:rPr>
                  <a:t>PVI y(0)=0:  </a:t>
                </a:r>
                <a14:m>
                  <m:oMath xmlns:m="http://schemas.openxmlformats.org/officeDocument/2006/math">
                    <m:r>
                      <a:rPr>
                        <a:latin typeface="Cambria Math" panose="02040503050406030204" pitchFamily="18" charset="0"/>
                      </a:rPr>
                      <m:t>0=1+</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1</m:t>
                        </m:r>
                      </m:sub>
                    </m:sSub>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1</m:t>
                        </m:r>
                      </m:sub>
                    </m:sSub>
                    <m:r>
                      <a:rPr>
                        <a:latin typeface="Cambria Math" panose="02040503050406030204" pitchFamily="18" charset="0"/>
                      </a:rPr>
                      <m:t>=−1</m:t>
                    </m:r>
                  </m:oMath>
                </a14:m>
                <a:endParaRPr lang="en-US" sz="1300" dirty="0"/>
              </a:p>
            </p:txBody>
          </p:sp>
        </mc:Choice>
        <mc:Fallback>
          <p:sp>
            <p:nvSpPr>
              <p:cNvPr id="12" name="Text 10"/>
              <p:cNvSpPr>
                <a:spLocks noRot="1" noChangeAspect="1" noMove="1" noResize="1" noEditPoints="1" noAdjustHandles="1" noChangeArrowheads="1" noChangeShapeType="1" noTextEdit="1"/>
              </p:cNvSpPr>
              <p:nvPr/>
            </p:nvSpPr>
            <p:spPr>
              <a:xfrm>
                <a:off x="822960" y="4114800"/>
                <a:ext cx="4846320" cy="365760"/>
              </a:xfrm>
              <a:prstGeom prst="rect">
                <a:avLst/>
              </a:prstGeom>
              <a:blipFill>
                <a:blip r:embed="rId7"/>
                <a:stretch>
                  <a:fillRect l="-126" t="-1667"/>
                </a:stretch>
              </a:blipFill>
              <a:ln/>
            </p:spPr>
            <p:txBody>
              <a:bodyPr/>
              <a:lstStyle/>
              <a:p>
                <a:r>
                  <a:rPr lang="es-MX">
                    <a:noFill/>
                  </a:rPr>
                  <a:t> </a:t>
                </a:r>
              </a:p>
            </p:txBody>
          </p:sp>
        </mc:Fallback>
      </mc:AlternateContent>
      <p:sp>
        <p:nvSpPr>
          <p:cNvPr id="13" name="Shape 11"/>
          <p:cNvSpPr/>
          <p:nvPr/>
        </p:nvSpPr>
        <p:spPr>
          <a:xfrm>
            <a:off x="822960" y="4572000"/>
            <a:ext cx="4297680" cy="914400"/>
          </a:xfrm>
          <a:prstGeom prst="roundRect">
            <a:avLst>
              <a:gd name="adj" fmla="val 7000"/>
            </a:avLst>
          </a:prstGeom>
          <a:solidFill>
            <a:srgbClr val="FFFFFF"/>
          </a:solidFill>
          <a:ln w="12700">
            <a:solidFill>
              <a:srgbClr val="FECDD3"/>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4" name="Text 12"/>
              <p:cNvSpPr/>
              <p:nvPr/>
            </p:nvSpPr>
            <p:spPr>
              <a:xfrm>
                <a:off x="822960" y="4572000"/>
                <a:ext cx="4297680" cy="914400"/>
              </a:xfrm>
              <a:prstGeom prst="rect">
                <a:avLst/>
              </a:prstGeom>
              <a:noFill/>
              <a:ln/>
            </p:spPr>
            <p:txBody>
              <a:bodyPr wrap="square" rtlCol="0" anchor="ctr"/>
              <a:lstStyle/>
              <a:p>
                <a:pPr marL="0" indent="0" algn="ctr">
                  <a:buNone/>
                  <a:defRPr sz="2600">
                    <a:solidFill>
                      <a:srgbClr val="BE123C"/>
                    </a:solidFill>
                  </a:defRPr>
                </a:pPr>
                <a14:m>
                  <m:oMathPara xmlns:m="http://schemas.openxmlformats.org/officeDocument/2006/math">
                    <m:oMath>
                      <m:r>
                        <a:rPr>
                          <a:latin typeface="Cambria Math" panose="02040503050406030204" pitchFamily="18" charset="0"/>
                        </a:rPr>
                        <m:t>𝑦</m:t>
                      </m:r>
                      <m:r>
                        <a:rPr>
                          <a:latin typeface="Cambria Math" panose="02040503050406030204" pitchFamily="18" charset="0"/>
                        </a:rPr>
                        <m:t>=1−</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𝑥</m:t>
                          </m:r>
                        </m:sup>
                      </m:sSup>
                    </m:oMath>
                  </m:oMathPara>
                </a14:m>
                <a:endParaRPr lang="en-US" sz="2600" dirty="0"/>
              </a:p>
            </p:txBody>
          </p:sp>
        </mc:Choice>
        <mc:Fallback>
          <p:sp>
            <p:nvSpPr>
              <p:cNvPr id="14" name="Text 12"/>
              <p:cNvSpPr>
                <a:spLocks noRot="1" noChangeAspect="1" noMove="1" noResize="1" noEditPoints="1" noAdjustHandles="1" noChangeArrowheads="1" noChangeShapeType="1" noTextEdit="1"/>
              </p:cNvSpPr>
              <p:nvPr/>
            </p:nvSpPr>
            <p:spPr>
              <a:xfrm>
                <a:off x="822960" y="4572000"/>
                <a:ext cx="4297680" cy="914400"/>
              </a:xfrm>
              <a:prstGeom prst="rect">
                <a:avLst/>
              </a:prstGeom>
              <a:blipFill>
                <a:blip r:embed="rId8"/>
                <a:stretch>
                  <a:fillRect/>
                </a:stretch>
              </a:blipFill>
              <a:ln/>
            </p:spPr>
            <p:txBody>
              <a:bodyPr/>
              <a:lstStyle/>
              <a:p>
                <a:r>
                  <a:rPr lang="es-MX">
                    <a:noFill/>
                  </a:rPr>
                  <a:t> </a:t>
                </a:r>
              </a:p>
            </p:txBody>
          </p:sp>
        </mc:Fallback>
      </mc:AlternateContent>
      <p:sp>
        <p:nvSpPr>
          <p:cNvPr id="15" name="Shape 13"/>
          <p:cNvSpPr/>
          <p:nvPr/>
        </p:nvSpPr>
        <p:spPr>
          <a:xfrm>
            <a:off x="6291072" y="2331720"/>
            <a:ext cx="5349240" cy="3657600"/>
          </a:xfrm>
          <a:prstGeom prst="roundRect">
            <a:avLst>
              <a:gd name="adj" fmla="val 2500"/>
            </a:avLst>
          </a:prstGeom>
          <a:solidFill>
            <a:srgbClr val="FFE4E6"/>
          </a:solidFill>
          <a:ln w="12700">
            <a:solidFill>
              <a:srgbClr val="FECDD3"/>
            </a:solidFill>
            <a:prstDash val="solid"/>
          </a:ln>
        </p:spPr>
        <p:txBody>
          <a:bodyPr/>
          <a:lstStyle/>
          <a:p>
            <a:endParaRPr lang="es-MX"/>
          </a:p>
        </p:txBody>
      </p:sp>
      <p:sp>
        <p:nvSpPr>
          <p:cNvPr id="16" name="Shape 14"/>
          <p:cNvSpPr/>
          <p:nvPr/>
        </p:nvSpPr>
        <p:spPr>
          <a:xfrm>
            <a:off x="6565392" y="2560320"/>
            <a:ext cx="457200" cy="457200"/>
          </a:xfrm>
          <a:prstGeom prst="ellipse">
            <a:avLst/>
          </a:prstGeom>
          <a:solidFill>
            <a:srgbClr val="FFFFFF"/>
          </a:solidFill>
          <a:ln/>
        </p:spPr>
        <p:txBody>
          <a:bodyPr/>
          <a:lstStyle/>
          <a:p>
            <a:endParaRPr lang="es-MX"/>
          </a:p>
        </p:txBody>
      </p:sp>
      <p:sp>
        <p:nvSpPr>
          <p:cNvPr id="17" name="Text 15"/>
          <p:cNvSpPr/>
          <p:nvPr/>
        </p:nvSpPr>
        <p:spPr>
          <a:xfrm>
            <a:off x="6565392" y="2560320"/>
            <a:ext cx="457200" cy="457200"/>
          </a:xfrm>
          <a:prstGeom prst="rect">
            <a:avLst/>
          </a:prstGeom>
          <a:noFill/>
          <a:ln/>
        </p:spPr>
        <p:txBody>
          <a:bodyPr wrap="square" rtlCol="0" anchor="ctr"/>
          <a:lstStyle/>
          <a:p>
            <a:pPr marL="0" indent="0" algn="ctr">
              <a:buNone/>
            </a:pPr>
            <a:r>
              <a:rPr lang="en-US" sz="1600" b="1" dirty="0">
                <a:solidFill>
                  <a:srgbClr val="BE123C"/>
                </a:solidFill>
                <a:latin typeface="Calibri" pitchFamily="34" charset="0"/>
                <a:ea typeface="Calibri" pitchFamily="34" charset="-122"/>
                <a:cs typeface="Calibri" pitchFamily="34" charset="-120"/>
              </a:rPr>
              <a:t>2</a:t>
            </a:r>
            <a:endParaRPr lang="en-US" sz="1600" dirty="0"/>
          </a:p>
        </p:txBody>
      </p:sp>
      <mc:AlternateContent xmlns:mc="http://schemas.openxmlformats.org/markup-compatibility/2006">
        <mc:Choice xmlns:a14="http://schemas.microsoft.com/office/drawing/2010/main" Requires="a14">
          <p:sp>
            <p:nvSpPr>
              <p:cNvPr id="18" name="Text 16"/>
              <p:cNvSpPr/>
              <p:nvPr/>
            </p:nvSpPr>
            <p:spPr>
              <a:xfrm>
                <a:off x="7159752" y="2560320"/>
                <a:ext cx="4114800" cy="457200"/>
              </a:xfrm>
              <a:prstGeom prst="rect">
                <a:avLst/>
              </a:prstGeom>
              <a:noFill/>
              <a:ln/>
            </p:spPr>
            <p:txBody>
              <a:bodyPr wrap="square" rtlCol="0" anchor="ctr"/>
              <a:lstStyle/>
              <a:p>
                <a:pPr marL="0" indent="0">
                  <a:buNone/>
                  <a:defRPr sz="1600">
                    <a:solidFill>
                      <a:srgbClr val="9F1239"/>
                    </a:solidFill>
                  </a:defRPr>
                </a:pPr>
                <a:r>
                  <a:rPr lang="en-US" sz="1600" b="1" dirty="0">
                    <a:solidFill>
                      <a:srgbClr val="9F1239"/>
                    </a:solidFill>
                    <a:latin typeface="Calibri" pitchFamily="34" charset="0"/>
                    <a:ea typeface="Calibri" pitchFamily="34" charset="-122"/>
                    <a:cs typeface="Calibri" pitchFamily="34" charset="-120"/>
                  </a:rPr>
                  <a:t>Tramo </a:t>
                </a:r>
                <a14:m>
                  <m:oMath xmlns:m="http://schemas.openxmlformats.org/officeDocument/2006/math">
                    <m:r>
                      <a:rPr>
                        <a:latin typeface="Cambria Math" panose="02040503050406030204" pitchFamily="18" charset="0"/>
                      </a:rPr>
                      <m:t>𝑥</m:t>
                    </m:r>
                    <m:r>
                      <a:rPr>
                        <a:latin typeface="Cambria Math" panose="02040503050406030204" pitchFamily="18" charset="0"/>
                      </a:rPr>
                      <m:t>&gt;1</m:t>
                    </m:r>
                  </m:oMath>
                </a14:m>
                <a:endParaRPr lang="en-US" sz="1600" dirty="0"/>
              </a:p>
            </p:txBody>
          </p:sp>
        </mc:Choice>
        <mc:Fallback>
          <p:sp>
            <p:nvSpPr>
              <p:cNvPr id="18" name="Text 16"/>
              <p:cNvSpPr>
                <a:spLocks noRot="1" noChangeAspect="1" noMove="1" noResize="1" noEditPoints="1" noAdjustHandles="1" noChangeArrowheads="1" noChangeShapeType="1" noTextEdit="1"/>
              </p:cNvSpPr>
              <p:nvPr/>
            </p:nvSpPr>
            <p:spPr>
              <a:xfrm>
                <a:off x="7159752" y="2560320"/>
                <a:ext cx="4114800" cy="457200"/>
              </a:xfrm>
              <a:prstGeom prst="rect">
                <a:avLst/>
              </a:prstGeom>
              <a:blipFill>
                <a:blip r:embed="rId9"/>
                <a:stretch>
                  <a:fillRect l="-889" b="-4000"/>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9" name="Text 17"/>
              <p:cNvSpPr/>
              <p:nvPr/>
            </p:nvSpPr>
            <p:spPr>
              <a:xfrm>
                <a:off x="6565392" y="3200400"/>
                <a:ext cx="4846320" cy="365760"/>
              </a:xfrm>
              <a:prstGeom prst="rect">
                <a:avLst/>
              </a:prstGeom>
              <a:noFill/>
              <a:ln/>
            </p:spPr>
            <p:txBody>
              <a:bodyPr wrap="square" rtlCol="0" anchor="t"/>
              <a:lstStyle/>
              <a:p>
                <a:pPr marL="0" indent="0" algn="l">
                  <a:buNone/>
                  <a:defRPr sz="1500">
                    <a:solidFill>
                      <a:srgbClr val="9F1239"/>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m:t>
                      </m:r>
                      <m:r>
                        <a:rPr>
                          <a:latin typeface="Cambria Math" panose="02040503050406030204" pitchFamily="18" charset="0"/>
                        </a:rPr>
                        <m:t>𝑦</m:t>
                      </m:r>
                      <m:r>
                        <a:rPr>
                          <a:latin typeface="Cambria Math" panose="02040503050406030204" pitchFamily="18" charset="0"/>
                        </a:rPr>
                        <m:t>=0</m:t>
                      </m:r>
                    </m:oMath>
                  </m:oMathPara>
                </a14:m>
                <a:endParaRPr lang="en-US" sz="1500" dirty="0"/>
              </a:p>
            </p:txBody>
          </p:sp>
        </mc:Choice>
        <mc:Fallback>
          <p:sp>
            <p:nvSpPr>
              <p:cNvPr id="19" name="Text 17"/>
              <p:cNvSpPr>
                <a:spLocks noRot="1" noChangeAspect="1" noMove="1" noResize="1" noEditPoints="1" noAdjustHandles="1" noChangeArrowheads="1" noChangeShapeType="1" noTextEdit="1"/>
              </p:cNvSpPr>
              <p:nvPr/>
            </p:nvSpPr>
            <p:spPr>
              <a:xfrm>
                <a:off x="6565392" y="3200400"/>
                <a:ext cx="4846320" cy="365760"/>
              </a:xfrm>
              <a:prstGeom prst="rect">
                <a:avLst/>
              </a:prstGeom>
              <a:blipFill>
                <a:blip r:embed="rId10"/>
                <a:stretch>
                  <a:fillRect b="-31667"/>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20" name="Text 18"/>
              <p:cNvSpPr/>
              <p:nvPr/>
            </p:nvSpPr>
            <p:spPr>
              <a:xfrm>
                <a:off x="6565392" y="3611880"/>
                <a:ext cx="4846320" cy="411480"/>
              </a:xfrm>
              <a:prstGeom prst="rect">
                <a:avLst/>
              </a:prstGeom>
              <a:noFill/>
              <a:ln/>
            </p:spPr>
            <p:txBody>
              <a:bodyPr wrap="square" rtlCol="0" anchor="t"/>
              <a:lstStyle/>
              <a:p>
                <a:pPr marL="0" indent="0" algn="l">
                  <a:buNone/>
                  <a:defRPr sz="1600">
                    <a:solidFill>
                      <a:srgbClr val="9F1239"/>
                    </a:solidFill>
                  </a:defRPr>
                </a:pPr>
                <a14:m>
                  <m:oMathPara xmlns:m="http://schemas.openxmlformats.org/officeDocument/2006/math">
                    <m:oMath>
                      <m:r>
                        <a:rPr>
                          <a:latin typeface="Cambria Math" panose="02040503050406030204" pitchFamily="18" charset="0"/>
                        </a:rPr>
                        <m:t>𝑦</m:t>
                      </m:r>
                      <m:r>
                        <a:rPr>
                          <a:latin typeface="Cambria Math" panose="02040503050406030204" pitchFamily="18" charset="0"/>
                        </a:rPr>
                        <m:t>=</m:t>
                      </m:r>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2</m:t>
                          </m:r>
                        </m:sub>
                      </m:sSub>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𝑥</m:t>
                          </m:r>
                        </m:sup>
                      </m:sSup>
                    </m:oMath>
                  </m:oMathPara>
                </a14:m>
                <a:endParaRPr lang="en-US" sz="1600" dirty="0"/>
              </a:p>
            </p:txBody>
          </p:sp>
        </mc:Choice>
        <mc:Fallback>
          <p:sp>
            <p:nvSpPr>
              <p:cNvPr id="20" name="Text 18"/>
              <p:cNvSpPr>
                <a:spLocks noRot="1" noChangeAspect="1" noMove="1" noResize="1" noEditPoints="1" noAdjustHandles="1" noChangeArrowheads="1" noChangeShapeType="1" noTextEdit="1"/>
              </p:cNvSpPr>
              <p:nvPr/>
            </p:nvSpPr>
            <p:spPr>
              <a:xfrm>
                <a:off x="6565392" y="3611880"/>
                <a:ext cx="4846320" cy="411480"/>
              </a:xfrm>
              <a:prstGeom prst="rect">
                <a:avLst/>
              </a:prstGeom>
              <a:blipFill>
                <a:blip r:embed="rId11"/>
                <a:stretch>
                  <a:fillRect/>
                </a:stretch>
              </a:blipFill>
              <a:ln/>
            </p:spPr>
            <p:txBody>
              <a:bodyPr/>
              <a:lstStyle/>
              <a:p>
                <a:r>
                  <a:rPr lang="es-MX">
                    <a:noFill/>
                  </a:rPr>
                  <a:t> </a:t>
                </a:r>
              </a:p>
            </p:txBody>
          </p:sp>
        </mc:Fallback>
      </mc:AlternateContent>
      <p:sp>
        <p:nvSpPr>
          <p:cNvPr id="21" name="Text 19"/>
          <p:cNvSpPr/>
          <p:nvPr/>
        </p:nvSpPr>
        <p:spPr>
          <a:xfrm>
            <a:off x="6565392" y="4114800"/>
            <a:ext cx="4846320" cy="914400"/>
          </a:xfrm>
          <a:prstGeom prst="rect">
            <a:avLst/>
          </a:prstGeom>
          <a:noFill/>
          <a:ln/>
        </p:spPr>
        <p:txBody>
          <a:bodyPr wrap="square" rtlCol="0" anchor="t"/>
          <a:lstStyle/>
          <a:p>
            <a:pPr marL="0" indent="0">
              <a:lnSpc>
                <a:spcPct val="125000"/>
              </a:lnSpc>
              <a:buNone/>
            </a:pPr>
            <a:r>
              <a:rPr lang="en-US" sz="1250" i="1" dirty="0">
                <a:solidFill>
                  <a:srgbClr val="9F1239"/>
                </a:solidFill>
                <a:latin typeface="Calibri" pitchFamily="34" charset="0"/>
                <a:ea typeface="Calibri" pitchFamily="34" charset="-122"/>
                <a:cs typeface="Calibri" pitchFamily="34" charset="-120"/>
              </a:rPr>
              <a:t>Ecuación homogénea: sin término forzante, la solución es puro decaimiento exponencial. El valor de C₂ dependerá de empatar con el tramo anterior en x=1.</a:t>
            </a:r>
            <a:endParaRPr lang="en-US" sz="1250" dirty="0"/>
          </a:p>
        </p:txBody>
      </p:sp>
      <p:sp>
        <p:nvSpPr>
          <p:cNvPr id="22" name="Text 20"/>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2514600" cy="384048"/>
          </a:xfrm>
          <a:prstGeom prst="roundRect">
            <a:avLst>
              <a:gd name="adj" fmla="val 50000"/>
            </a:avLst>
          </a:prstGeom>
          <a:solidFill>
            <a:srgbClr val="FFE4E6"/>
          </a:solidFill>
          <a:ln/>
        </p:spPr>
        <p:txBody>
          <a:bodyPr/>
          <a:lstStyle/>
          <a:p>
            <a:endParaRPr lang="es-MX"/>
          </a:p>
        </p:txBody>
      </p:sp>
      <p:sp>
        <p:nvSpPr>
          <p:cNvPr id="3" name="Text 1"/>
          <p:cNvSpPr/>
          <p:nvPr/>
        </p:nvSpPr>
        <p:spPr>
          <a:xfrm>
            <a:off x="548640" y="365760"/>
            <a:ext cx="2514600" cy="384048"/>
          </a:xfrm>
          <a:prstGeom prst="rect">
            <a:avLst/>
          </a:prstGeom>
          <a:noFill/>
          <a:ln/>
        </p:spPr>
        <p:txBody>
          <a:bodyPr wrap="square" rtlCol="0" anchor="ctr"/>
          <a:lstStyle/>
          <a:p>
            <a:pPr marL="0" indent="0" algn="ctr">
              <a:buNone/>
            </a:pPr>
            <a:r>
              <a:rPr lang="en-US" sz="1300" b="1" kern="0" spc="100" dirty="0">
                <a:solidFill>
                  <a:srgbClr val="BE123C"/>
                </a:solidFill>
                <a:latin typeface="Calibri" pitchFamily="34" charset="0"/>
                <a:ea typeface="Calibri" pitchFamily="34" charset="-122"/>
                <a:cs typeface="Calibri" pitchFamily="34" charset="-120"/>
              </a:rPr>
              <a:t>EJEMPLO 4 · EMPALME</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2800" b="1" dirty="0">
                <a:solidFill>
                  <a:srgbClr val="0F172A"/>
                </a:solidFill>
                <a:latin typeface="Calibri" pitchFamily="34" charset="0"/>
                <a:ea typeface="Calibri" pitchFamily="34" charset="-122"/>
                <a:cs typeface="Calibri" pitchFamily="34" charset="-120"/>
              </a:rPr>
              <a:t>Continuidad en el Punto de Unión</a:t>
            </a:r>
            <a:endParaRPr lang="en-US" sz="2800" dirty="0"/>
          </a:p>
        </p:txBody>
      </p:sp>
      <p:sp>
        <p:nvSpPr>
          <p:cNvPr id="5" name="Shape 3"/>
          <p:cNvSpPr/>
          <p:nvPr/>
        </p:nvSpPr>
        <p:spPr>
          <a:xfrm>
            <a:off x="548640" y="1645920"/>
            <a:ext cx="5120640" cy="4297680"/>
          </a:xfrm>
          <a:prstGeom prst="roundRect">
            <a:avLst>
              <a:gd name="adj" fmla="val 2128"/>
            </a:avLst>
          </a:prstGeom>
          <a:solidFill>
            <a:srgbClr val="F1F5F9"/>
          </a:solidFill>
          <a:ln w="12700">
            <a:solidFill>
              <a:srgbClr val="E2E8F0"/>
            </a:solidFill>
            <a:prstDash val="solid"/>
          </a:ln>
        </p:spPr>
        <p:txBody>
          <a:bodyPr/>
          <a:lstStyle/>
          <a:p>
            <a:endParaRPr lang="es-MX"/>
          </a:p>
        </p:txBody>
      </p:sp>
      <p:sp>
        <p:nvSpPr>
          <p:cNvPr id="6" name="Text 4"/>
          <p:cNvSpPr/>
          <p:nvPr/>
        </p:nvSpPr>
        <p:spPr>
          <a:xfrm>
            <a:off x="822960" y="1828800"/>
            <a:ext cx="4572000" cy="548640"/>
          </a:xfrm>
          <a:prstGeom prst="rect">
            <a:avLst/>
          </a:prstGeom>
          <a:noFill/>
          <a:ln/>
        </p:spPr>
        <p:txBody>
          <a:bodyPr wrap="square" rtlCol="0" anchor="t"/>
          <a:lstStyle/>
          <a:p>
            <a:pPr marL="0" indent="0">
              <a:lnSpc>
                <a:spcPct val="125000"/>
              </a:lnSpc>
              <a:buNone/>
            </a:pPr>
            <a:r>
              <a:rPr lang="en-US" sz="1350" dirty="0">
                <a:solidFill>
                  <a:srgbClr val="334155"/>
                </a:solidFill>
                <a:latin typeface="Calibri" pitchFamily="34" charset="0"/>
                <a:ea typeface="Calibri" pitchFamily="34" charset="-122"/>
                <a:cs typeface="Calibri" pitchFamily="34" charset="-120"/>
              </a:rPr>
              <a:t>Para que y sea continua en x=1, exigimos que ambos tramos coincidan ahí:</a:t>
            </a:r>
            <a:endParaRPr lang="en-US" sz="1350" dirty="0"/>
          </a:p>
        </p:txBody>
      </p:sp>
      <mc:AlternateContent xmlns:mc="http://schemas.openxmlformats.org/markup-compatibility/2006">
        <mc:Choice xmlns:a14="http://schemas.microsoft.com/office/drawing/2010/main" Requires="a14">
          <p:sp>
            <p:nvSpPr>
              <p:cNvPr id="7" name="Text 5"/>
              <p:cNvSpPr/>
              <p:nvPr/>
            </p:nvSpPr>
            <p:spPr>
              <a:xfrm>
                <a:off x="822960" y="2423160"/>
                <a:ext cx="4572000" cy="411480"/>
              </a:xfrm>
              <a:prstGeom prst="rect">
                <a:avLst/>
              </a:prstGeom>
              <a:noFill/>
              <a:ln/>
            </p:spPr>
            <p:txBody>
              <a:bodyPr wrap="square" rtlCol="0" anchor="t"/>
              <a:lstStyle/>
              <a:p>
                <a:pPr marL="0" indent="0" algn="l">
                  <a:buNone/>
                  <a:defRPr sz="1500">
                    <a:solidFill>
                      <a:srgbClr val="334155"/>
                    </a:solidFill>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2</m:t>
                          </m:r>
                        </m:sub>
                      </m:sSub>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−1</m:t>
                          </m:r>
                        </m:sup>
                      </m:sSup>
                      <m:r>
                        <a:rPr>
                          <a:latin typeface="Cambria Math" panose="02040503050406030204" pitchFamily="18" charset="0"/>
                        </a:rPr>
                        <m:t>=1−</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−1</m:t>
                          </m:r>
                        </m:sup>
                      </m:sSup>
                    </m:oMath>
                  </m:oMathPara>
                </a14:m>
                <a:endParaRPr lang="en-US" sz="1500" dirty="0"/>
              </a:p>
            </p:txBody>
          </p:sp>
        </mc:Choice>
        <mc:Fallback>
          <p:sp>
            <p:nvSpPr>
              <p:cNvPr id="7" name="Text 5"/>
              <p:cNvSpPr>
                <a:spLocks noRot="1" noChangeAspect="1" noMove="1" noResize="1" noEditPoints="1" noAdjustHandles="1" noChangeArrowheads="1" noChangeShapeType="1" noTextEdit="1"/>
              </p:cNvSpPr>
              <p:nvPr/>
            </p:nvSpPr>
            <p:spPr>
              <a:xfrm>
                <a:off x="822960" y="2423160"/>
                <a:ext cx="4572000" cy="411480"/>
              </a:xfrm>
              <a:prstGeom prst="rect">
                <a:avLst/>
              </a:prstGeom>
              <a:blipFill>
                <a:blip r:embed="rId3"/>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8" name="Text 6"/>
              <p:cNvSpPr/>
              <p:nvPr/>
            </p:nvSpPr>
            <p:spPr>
              <a:xfrm>
                <a:off x="822960" y="2880360"/>
                <a:ext cx="4572000" cy="411480"/>
              </a:xfrm>
              <a:prstGeom prst="rect">
                <a:avLst/>
              </a:prstGeom>
              <a:noFill/>
              <a:ln/>
            </p:spPr>
            <p:txBody>
              <a:bodyPr wrap="square" rtlCol="0" anchor="t"/>
              <a:lstStyle/>
              <a:p>
                <a:pPr marL="0" indent="0" algn="l">
                  <a:buNone/>
                  <a:defRPr sz="1500">
                    <a:solidFill>
                      <a:srgbClr val="334155"/>
                    </a:solidFill>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𝐶</m:t>
                          </m:r>
                        </m:e>
                        <m:sub>
                          <m:r>
                            <a:rPr>
                              <a:latin typeface="Cambria Math" panose="02040503050406030204" pitchFamily="18" charset="0"/>
                            </a:rPr>
                            <m:t>2</m:t>
                          </m:r>
                        </m:sub>
                      </m:sSub>
                      <m:r>
                        <a:rPr>
                          <a:latin typeface="Cambria Math" panose="02040503050406030204" pitchFamily="18" charset="0"/>
                        </a:rPr>
                        <m:t>=</m:t>
                      </m:r>
                      <m:r>
                        <a:rPr>
                          <a:latin typeface="Cambria Math" panose="02040503050406030204" pitchFamily="18" charset="0"/>
                        </a:rPr>
                        <m:t>𝑒</m:t>
                      </m:r>
                      <m:r>
                        <a:rPr>
                          <a:latin typeface="Cambria Math" panose="02040503050406030204" pitchFamily="18" charset="0"/>
                        </a:rPr>
                        <m:t>−1</m:t>
                      </m:r>
                    </m:oMath>
                  </m:oMathPara>
                </a14:m>
                <a:endParaRPr lang="en-US" sz="1500" dirty="0"/>
              </a:p>
            </p:txBody>
          </p:sp>
        </mc:Choice>
        <mc:Fallback>
          <p:sp>
            <p:nvSpPr>
              <p:cNvPr id="8" name="Text 6"/>
              <p:cNvSpPr>
                <a:spLocks noRot="1" noChangeAspect="1" noMove="1" noResize="1" noEditPoints="1" noAdjustHandles="1" noChangeArrowheads="1" noChangeShapeType="1" noTextEdit="1"/>
              </p:cNvSpPr>
              <p:nvPr/>
            </p:nvSpPr>
            <p:spPr>
              <a:xfrm>
                <a:off x="822960" y="2880360"/>
                <a:ext cx="4572000" cy="411480"/>
              </a:xfrm>
              <a:prstGeom prst="rect">
                <a:avLst/>
              </a:prstGeom>
              <a:blipFill>
                <a:blip r:embed="rId4"/>
                <a:stretch>
                  <a:fillRect/>
                </a:stretch>
              </a:blipFill>
              <a:ln/>
            </p:spPr>
            <p:txBody>
              <a:bodyPr/>
              <a:lstStyle/>
              <a:p>
                <a:r>
                  <a:rPr lang="es-MX">
                    <a:noFill/>
                  </a:rPr>
                  <a:t> </a:t>
                </a:r>
              </a:p>
            </p:txBody>
          </p:sp>
        </mc:Fallback>
      </mc:AlternateContent>
      <p:sp>
        <p:nvSpPr>
          <p:cNvPr id="9" name="Text 7"/>
          <p:cNvSpPr/>
          <p:nvPr/>
        </p:nvSpPr>
        <p:spPr>
          <a:xfrm>
            <a:off x="822960" y="3429000"/>
            <a:ext cx="4572000" cy="36576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Solución completa:</a:t>
            </a:r>
            <a:endParaRPr lang="en-US" sz="1400" dirty="0"/>
          </a:p>
        </p:txBody>
      </p:sp>
      <mc:AlternateContent xmlns:mc="http://schemas.openxmlformats.org/markup-compatibility/2006">
        <mc:Choice xmlns:a14="http://schemas.microsoft.com/office/drawing/2010/main" Requires="a14">
          <p:sp>
            <p:nvSpPr>
              <p:cNvPr id="10" name="Text 8"/>
              <p:cNvSpPr/>
              <p:nvPr/>
            </p:nvSpPr>
            <p:spPr>
              <a:xfrm>
                <a:off x="822960" y="3840480"/>
                <a:ext cx="4572000" cy="1005840"/>
              </a:xfrm>
              <a:prstGeom prst="rect">
                <a:avLst/>
              </a:prstGeom>
              <a:noFill/>
              <a:ln/>
            </p:spPr>
            <p:txBody>
              <a:bodyPr wrap="square" rtlCol="0" anchor="t"/>
              <a:lstStyle/>
              <a:p>
                <a:pPr marL="0" indent="0" algn="l">
                  <a:buNone/>
                  <a:defRPr sz="2000">
                    <a:solidFill>
                      <a:srgbClr val="BE123C"/>
                    </a:solidFill>
                  </a:defRPr>
                </a:pPr>
                <a14:m>
                  <m:oMathPara xmlns:m="http://schemas.openxmlformats.org/officeDocument/2006/math">
                    <m:oMath>
                      <m:r>
                        <a:rPr>
                          <a:latin typeface="Cambria Math" panose="02040503050406030204" pitchFamily="18" charset="0"/>
                        </a:rPr>
                        <m:t>𝑦</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d>
                        <m:dPr>
                          <m:begChr m:val="{"/>
                          <m:endChr m:val=""/>
                          <m:ctrlPr>
                            <a:rPr i="1">
                              <a:latin typeface="Cambria Math" panose="02040503050406030204" pitchFamily="18" charset="0"/>
                            </a:rPr>
                          </m:ctrlPr>
                        </m:dPr>
                        <m:e>
                          <m:m>
                            <m:mPr>
                              <m:plcHide m:val="on"/>
                              <m:mcs>
                                <m:mc>
                                  <m:mcPr>
                                    <m:count m:val="2"/>
                                    <m:mcJc m:val="center"/>
                                  </m:mcPr>
                                </m:mc>
                              </m:mcs>
                              <m:ctrlPr>
                                <a:rPr i="1">
                                  <a:latin typeface="Cambria Math" panose="02040503050406030204" pitchFamily="18" charset="0"/>
                                </a:rPr>
                              </m:ctrlPr>
                            </m:mPr>
                            <m:mr>
                              <m:e>
                                <m:r>
                                  <a:rPr>
                                    <a:latin typeface="Cambria Math" panose="02040503050406030204" pitchFamily="18" charset="0"/>
                                  </a:rPr>
                                  <m:t>1−</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𝑥</m:t>
                                    </m:r>
                                  </m:sup>
                                </m:sSup>
                              </m:e>
                              <m:e>
                                <m:r>
                                  <a:rPr>
                                    <a:latin typeface="Cambria Math" panose="02040503050406030204" pitchFamily="18" charset="0"/>
                                  </a:rPr>
                                  <m:t>0≤</m:t>
                                </m:r>
                                <m:r>
                                  <a:rPr>
                                    <a:latin typeface="Cambria Math" panose="02040503050406030204" pitchFamily="18" charset="0"/>
                                  </a:rPr>
                                  <m:t>𝑥</m:t>
                                </m:r>
                                <m:r>
                                  <a:rPr>
                                    <a:latin typeface="Cambria Math" panose="02040503050406030204" pitchFamily="18" charset="0"/>
                                  </a:rPr>
                                  <m:t>≤1</m:t>
                                </m:r>
                              </m:e>
                            </m:mr>
                            <m:mr>
                              <m:e>
                                <m:r>
                                  <a:rPr>
                                    <a:latin typeface="Cambria Math" panose="02040503050406030204" pitchFamily="18" charset="0"/>
                                  </a:rPr>
                                  <m:t>(</m:t>
                                </m:r>
                                <m:r>
                                  <a:rPr>
                                    <a:latin typeface="Cambria Math" panose="02040503050406030204" pitchFamily="18" charset="0"/>
                                  </a:rPr>
                                  <m:t>𝑒</m:t>
                                </m:r>
                                <m:r>
                                  <a:rPr>
                                    <a:latin typeface="Cambria Math" panose="02040503050406030204" pitchFamily="18" charset="0"/>
                                  </a:rPr>
                                  <m:t>−1)</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𝑥</m:t>
                                    </m:r>
                                  </m:sup>
                                </m:sSup>
                              </m:e>
                              <m:e>
                                <m:r>
                                  <a:rPr>
                                    <a:latin typeface="Cambria Math" panose="02040503050406030204" pitchFamily="18" charset="0"/>
                                  </a:rPr>
                                  <m:t>𝑥</m:t>
                                </m:r>
                                <m:r>
                                  <a:rPr>
                                    <a:latin typeface="Cambria Math" panose="02040503050406030204" pitchFamily="18" charset="0"/>
                                  </a:rPr>
                                  <m:t>&gt;1</m:t>
                                </m:r>
                              </m:e>
                            </m:mr>
                          </m:m>
                        </m:e>
                      </m:d>
                    </m:oMath>
                  </m:oMathPara>
                </a14:m>
                <a:endParaRPr lang="en-US" sz="2000" dirty="0"/>
              </a:p>
            </p:txBody>
          </p:sp>
        </mc:Choice>
        <mc:Fallback>
          <p:sp>
            <p:nvSpPr>
              <p:cNvPr id="10" name="Text 8"/>
              <p:cNvSpPr>
                <a:spLocks noRot="1" noChangeAspect="1" noMove="1" noResize="1" noEditPoints="1" noAdjustHandles="1" noChangeArrowheads="1" noChangeShapeType="1" noTextEdit="1"/>
              </p:cNvSpPr>
              <p:nvPr/>
            </p:nvSpPr>
            <p:spPr>
              <a:xfrm>
                <a:off x="822960" y="3840480"/>
                <a:ext cx="4572000" cy="1005840"/>
              </a:xfrm>
              <a:prstGeom prst="rect">
                <a:avLst/>
              </a:prstGeom>
              <a:blipFill>
                <a:blip r:embed="rId5"/>
                <a:stretch>
                  <a:fillRect/>
                </a:stretch>
              </a:blipFill>
              <a:ln/>
            </p:spPr>
            <p:txBody>
              <a:bodyPr/>
              <a:lstStyle/>
              <a:p>
                <a:r>
                  <a:rPr lang="es-MX">
                    <a:noFill/>
                  </a:rPr>
                  <a:t> </a:t>
                </a:r>
              </a:p>
            </p:txBody>
          </p:sp>
        </mc:Fallback>
      </mc:AlternateContent>
      <p:sp>
        <p:nvSpPr>
          <p:cNvPr id="11" name="Text 9"/>
          <p:cNvSpPr/>
          <p:nvPr/>
        </p:nvSpPr>
        <p:spPr>
          <a:xfrm>
            <a:off x="822960" y="4937760"/>
            <a:ext cx="4572000" cy="822960"/>
          </a:xfrm>
          <a:prstGeom prst="rect">
            <a:avLst/>
          </a:prstGeom>
          <a:noFill/>
          <a:ln/>
        </p:spPr>
        <p:txBody>
          <a:bodyPr wrap="square" rtlCol="0" anchor="t"/>
          <a:lstStyle/>
          <a:p>
            <a:pPr marL="0" indent="0">
              <a:lnSpc>
                <a:spcPct val="130000"/>
              </a:lnSpc>
              <a:buNone/>
            </a:pPr>
            <a:r>
              <a:rPr lang="en-US" sz="1250" i="1" dirty="0">
                <a:solidFill>
                  <a:srgbClr val="475569"/>
                </a:solidFill>
                <a:latin typeface="Calibri" pitchFamily="34" charset="0"/>
                <a:ea typeface="Calibri" pitchFamily="34" charset="-122"/>
                <a:cs typeface="Calibri" pitchFamily="34" charset="-120"/>
              </a:rPr>
              <a:t>y es continua en x=1, pero no diferenciable ahí: la pendiente cambia bruscamente porque f(x) mismo es discontinua en ese punto.</a:t>
            </a:r>
            <a:endParaRPr lang="en-US" sz="1250" dirty="0"/>
          </a:p>
        </p:txBody>
      </p:sp>
      <p:pic>
        <p:nvPicPr>
          <p:cNvPr id="12" name="Image 0" descr="E:\Teaching\sesion4\img\ejemplo4_piecewise.png"/>
          <p:cNvPicPr>
            <a:picLocks noChangeAspect="1"/>
          </p:cNvPicPr>
          <p:nvPr/>
        </p:nvPicPr>
        <p:blipFill>
          <a:blip r:embed="rId6"/>
          <a:srcRect l="-16277" r="-16277"/>
          <a:stretch/>
        </p:blipFill>
        <p:spPr>
          <a:xfrm>
            <a:off x="5943600" y="1645920"/>
            <a:ext cx="5696712" cy="4297680"/>
          </a:xfrm>
          <a:prstGeom prst="rect">
            <a:avLst/>
          </a:prstGeom>
        </p:spPr>
      </p:pic>
      <p:sp>
        <p:nvSpPr>
          <p:cNvPr id="13" name="Text 10"/>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2606040" cy="384048"/>
          </a:xfrm>
          <a:prstGeom prst="roundRect">
            <a:avLst>
              <a:gd name="adj" fmla="val 50000"/>
            </a:avLst>
          </a:prstGeom>
          <a:solidFill>
            <a:srgbClr val="E0E7FF"/>
          </a:solidFill>
          <a:ln/>
        </p:spPr>
        <p:txBody>
          <a:bodyPr/>
          <a:lstStyle/>
          <a:p>
            <a:endParaRPr lang="es-MX"/>
          </a:p>
        </p:txBody>
      </p:sp>
      <p:sp>
        <p:nvSpPr>
          <p:cNvPr id="3" name="Text 1"/>
          <p:cNvSpPr/>
          <p:nvPr/>
        </p:nvSpPr>
        <p:spPr>
          <a:xfrm>
            <a:off x="548640" y="365760"/>
            <a:ext cx="2606040" cy="384048"/>
          </a:xfrm>
          <a:prstGeom prst="rect">
            <a:avLst/>
          </a:prstGeom>
          <a:noFill/>
          <a:ln/>
        </p:spPr>
        <p:txBody>
          <a:bodyPr wrap="square" rtlCol="0" anchor="ctr"/>
          <a:lstStyle/>
          <a:p>
            <a:pPr marL="0" indent="0" algn="ctr">
              <a:buNone/>
            </a:pPr>
            <a:r>
              <a:rPr lang="en-US" sz="1300" b="1" kern="0" spc="100" dirty="0">
                <a:solidFill>
                  <a:srgbClr val="4338CA"/>
                </a:solidFill>
                <a:latin typeface="Calibri" pitchFamily="34" charset="0"/>
                <a:ea typeface="Calibri" pitchFamily="34" charset="-122"/>
                <a:cs typeface="Calibri" pitchFamily="34" charset="-120"/>
              </a:rPr>
              <a:t>HERRAMIENTA ESPECIAL</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2600" b="1" dirty="0">
                <a:solidFill>
                  <a:srgbClr val="0F172A"/>
                </a:solidFill>
                <a:latin typeface="Calibri" pitchFamily="34" charset="0"/>
                <a:ea typeface="Calibri" pitchFamily="34" charset="-122"/>
                <a:cs typeface="Calibri" pitchFamily="34" charset="-120"/>
              </a:rPr>
              <a:t>Función Error y Función Error Complementaria</a:t>
            </a:r>
            <a:endParaRPr lang="en-US" sz="2600" dirty="0"/>
          </a:p>
        </p:txBody>
      </p:sp>
      <p:sp>
        <p:nvSpPr>
          <p:cNvPr id="5" name="Text 3"/>
          <p:cNvSpPr/>
          <p:nvPr/>
        </p:nvSpPr>
        <p:spPr>
          <a:xfrm>
            <a:off x="548640" y="1554480"/>
            <a:ext cx="11091672" cy="457200"/>
          </a:xfrm>
          <a:prstGeom prst="rect">
            <a:avLst/>
          </a:prstGeom>
          <a:noFill/>
          <a:ln/>
        </p:spPr>
        <p:txBody>
          <a:bodyPr wrap="square" rtlCol="0" anchor="t"/>
          <a:lstStyle/>
          <a:p>
            <a:pPr marL="0" indent="0" algn="l">
              <a:buNone/>
            </a:pPr>
            <a:r>
              <a:rPr lang="en-US" sz="1700" dirty="0">
                <a:solidFill>
                  <a:srgbClr val="4338CA"/>
                </a:solidFill>
                <a:latin typeface="Calibri" pitchFamily="34" charset="0"/>
                <a:ea typeface="Calibri" pitchFamily="34" charset="-122"/>
                <a:cs typeface="Calibri" pitchFamily="34" charset="-120"/>
              </a:rPr>
              <a:t>Cuando la integral del factor integrante no tiene forma elemental</a:t>
            </a:r>
            <a:endParaRPr lang="en-US" sz="1700" dirty="0"/>
          </a:p>
        </p:txBody>
      </p:sp>
      <p:sp>
        <p:nvSpPr>
          <p:cNvPr id="6" name="Shape 4"/>
          <p:cNvSpPr/>
          <p:nvPr/>
        </p:nvSpPr>
        <p:spPr>
          <a:xfrm>
            <a:off x="548640" y="2148840"/>
            <a:ext cx="5349240" cy="3794760"/>
          </a:xfrm>
          <a:prstGeom prst="roundRect">
            <a:avLst>
              <a:gd name="adj" fmla="val 2410"/>
            </a:avLst>
          </a:prstGeom>
          <a:solidFill>
            <a:srgbClr val="F1F5F9"/>
          </a:solidFill>
          <a:ln w="12700">
            <a:solidFill>
              <a:srgbClr val="E2E8F0"/>
            </a:solidFill>
            <a:prstDash val="solid"/>
          </a:ln>
        </p:spPr>
        <p:txBody>
          <a:bodyPr/>
          <a:lstStyle/>
          <a:p>
            <a:endParaRPr lang="es-MX"/>
          </a:p>
        </p:txBody>
      </p:sp>
      <p:sp>
        <p:nvSpPr>
          <p:cNvPr id="7" name="Text 5"/>
          <p:cNvSpPr/>
          <p:nvPr/>
        </p:nvSpPr>
        <p:spPr>
          <a:xfrm>
            <a:off x="868680" y="2331720"/>
            <a:ext cx="4754880" cy="365760"/>
          </a:xfrm>
          <a:prstGeom prst="rect">
            <a:avLst/>
          </a:prstGeom>
          <a:noFill/>
          <a:ln/>
        </p:spPr>
        <p:txBody>
          <a:bodyPr wrap="square" rtlCol="0" anchor="ctr"/>
          <a:lstStyle/>
          <a:p>
            <a:pPr marL="0" indent="0">
              <a:buNone/>
            </a:pPr>
            <a:r>
              <a:rPr lang="en-US" sz="1500" b="1" dirty="0">
                <a:solidFill>
                  <a:srgbClr val="4338CA"/>
                </a:solidFill>
                <a:latin typeface="Calibri" pitchFamily="34" charset="0"/>
                <a:ea typeface="Calibri" pitchFamily="34" charset="-122"/>
                <a:cs typeface="Calibri" pitchFamily="34" charset="-120"/>
              </a:rPr>
              <a:t>Función error:</a:t>
            </a:r>
            <a:endParaRPr lang="en-US" sz="1500" dirty="0"/>
          </a:p>
        </p:txBody>
      </p:sp>
      <p:sp>
        <p:nvSpPr>
          <p:cNvPr id="8" name="Shape 6"/>
          <p:cNvSpPr/>
          <p:nvPr/>
        </p:nvSpPr>
        <p:spPr>
          <a:xfrm>
            <a:off x="868680" y="2743200"/>
            <a:ext cx="4709160" cy="914400"/>
          </a:xfrm>
          <a:prstGeom prst="roundRect">
            <a:avLst>
              <a:gd name="adj" fmla="val 7000"/>
            </a:avLst>
          </a:prstGeom>
          <a:solidFill>
            <a:srgbClr val="FFFFFF"/>
          </a:solidFill>
          <a:ln w="12700">
            <a:solidFill>
              <a:srgbClr val="C7D2FE"/>
            </a:solidFill>
            <a:prstDash val="solid"/>
          </a:ln>
        </p:spPr>
        <p:txBody>
          <a:bodyPr/>
          <a:lstStyle/>
          <a:p>
            <a:endParaRPr lang="es-MX"/>
          </a:p>
        </p:txBody>
      </p:sp>
      <mc:AlternateContent xmlns:mc="http://schemas.openxmlformats.org/markup-compatibility/2006">
        <mc:Choice xmlns:a14="http://schemas.microsoft.com/office/drawing/2010/main" Requires="a14">
          <p:sp>
            <p:nvSpPr>
              <p:cNvPr id="9" name="Text 7"/>
              <p:cNvSpPr/>
              <p:nvPr/>
            </p:nvSpPr>
            <p:spPr>
              <a:xfrm>
                <a:off x="868680" y="2743200"/>
                <a:ext cx="4709160" cy="914400"/>
              </a:xfrm>
              <a:prstGeom prst="rect">
                <a:avLst/>
              </a:prstGeom>
              <a:noFill/>
              <a:ln/>
            </p:spPr>
            <p:txBody>
              <a:bodyPr wrap="square" rtlCol="0" anchor="ctr"/>
              <a:lstStyle/>
              <a:p>
                <a:pPr marL="0" indent="0" algn="ctr">
                  <a:buNone/>
                  <a:defRPr sz="2000">
                    <a:solidFill>
                      <a:srgbClr val="4338CA"/>
                    </a:solidFill>
                  </a:defRPr>
                </a:pPr>
                <a14:m>
                  <m:oMathPara xmlns:m="http://schemas.openxmlformats.org/officeDocument/2006/math">
                    <m:oMath>
                      <m:r>
                        <m:rPr>
                          <m:sty m:val="p"/>
                        </m:rPr>
                        <a:rPr>
                          <a:latin typeface="Cambria Math" panose="02040503050406030204" pitchFamily="18" charset="0"/>
                        </a:rPr>
                        <m:t>erf</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2</m:t>
                          </m:r>
                        </m:num>
                        <m:den>
                          <m:rad>
                            <m:radPr>
                              <m:degHide m:val="on"/>
                              <m:ctrlPr>
                                <a:rPr i="1">
                                  <a:latin typeface="Cambria Math" panose="02040503050406030204" pitchFamily="18" charset="0"/>
                                </a:rPr>
                              </m:ctrlPr>
                            </m:radPr>
                            <m:deg/>
                            <m:e>
                              <m:r>
                                <a:rPr>
                                  <a:latin typeface="Cambria Math" panose="02040503050406030204" pitchFamily="18" charset="0"/>
                                </a:rPr>
                                <m:t>𝜋</m:t>
                              </m:r>
                            </m:e>
                          </m:rad>
                        </m:den>
                      </m:f>
                      <m:nary>
                        <m:naryPr>
                          <m:limLoc m:val="subSup"/>
                          <m:grow m:val="on"/>
                          <m:ctrlPr>
                            <a:rPr>
                              <a:latin typeface="Cambria Math" panose="02040503050406030204" pitchFamily="18" charset="0"/>
                            </a:rPr>
                          </m:ctrlPr>
                        </m:naryPr>
                        <m:sub>
                          <m:r>
                            <a:rPr>
                              <a:latin typeface="Cambria Math" panose="02040503050406030204" pitchFamily="18" charset="0"/>
                            </a:rPr>
                            <m:t>0</m:t>
                          </m:r>
                        </m:sub>
                        <m:sup>
                          <m:r>
                            <a:rPr>
                              <a:latin typeface="Cambria Math" panose="02040503050406030204" pitchFamily="18" charset="0"/>
                            </a:rPr>
                            <m:t>𝑥</m:t>
                          </m:r>
                        </m:sup>
                        <m:e>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𝑡</m:t>
                                  </m:r>
                                </m:e>
                                <m:sup>
                                  <m:r>
                                    <a:rPr>
                                      <a:latin typeface="Cambria Math" panose="02040503050406030204" pitchFamily="18" charset="0"/>
                                    </a:rPr>
                                    <m:t>2</m:t>
                                  </m:r>
                                </m:sup>
                              </m:sSup>
                            </m:sup>
                          </m:sSup>
                        </m:e>
                      </m:nary>
                      <m:r>
                        <a:rPr>
                          <a:latin typeface="Cambria Math" panose="02040503050406030204" pitchFamily="18" charset="0"/>
                        </a:rPr>
                        <m:t>𝑑𝑡</m:t>
                      </m:r>
                    </m:oMath>
                  </m:oMathPara>
                </a14:m>
                <a:endParaRPr lang="en-US" sz="2000" dirty="0"/>
              </a:p>
            </p:txBody>
          </p:sp>
        </mc:Choice>
        <mc:Fallback>
          <p:sp>
            <p:nvSpPr>
              <p:cNvPr id="9" name="Text 7"/>
              <p:cNvSpPr>
                <a:spLocks noRot="1" noChangeAspect="1" noMove="1" noResize="1" noEditPoints="1" noAdjustHandles="1" noChangeArrowheads="1" noChangeShapeType="1" noTextEdit="1"/>
              </p:cNvSpPr>
              <p:nvPr/>
            </p:nvSpPr>
            <p:spPr>
              <a:xfrm>
                <a:off x="868680" y="2743200"/>
                <a:ext cx="4709160" cy="914400"/>
              </a:xfrm>
              <a:prstGeom prst="rect">
                <a:avLst/>
              </a:prstGeom>
              <a:blipFill>
                <a:blip r:embed="rId3"/>
                <a:stretch>
                  <a:fillRect/>
                </a:stretch>
              </a:blipFill>
              <a:ln/>
            </p:spPr>
            <p:txBody>
              <a:bodyPr/>
              <a:lstStyle/>
              <a:p>
                <a:r>
                  <a:rPr lang="es-MX">
                    <a:noFill/>
                  </a:rPr>
                  <a:t> </a:t>
                </a:r>
              </a:p>
            </p:txBody>
          </p:sp>
        </mc:Fallback>
      </mc:AlternateContent>
      <p:sp>
        <p:nvSpPr>
          <p:cNvPr id="10" name="Text 8"/>
          <p:cNvSpPr/>
          <p:nvPr/>
        </p:nvSpPr>
        <p:spPr>
          <a:xfrm>
            <a:off x="868680" y="3794760"/>
            <a:ext cx="4754880" cy="365760"/>
          </a:xfrm>
          <a:prstGeom prst="rect">
            <a:avLst/>
          </a:prstGeom>
          <a:noFill/>
          <a:ln/>
        </p:spPr>
        <p:txBody>
          <a:bodyPr wrap="square" rtlCol="0" anchor="ctr"/>
          <a:lstStyle/>
          <a:p>
            <a:pPr marL="0" indent="0">
              <a:buNone/>
            </a:pPr>
            <a:r>
              <a:rPr lang="en-US" sz="1500" b="1" dirty="0">
                <a:solidFill>
                  <a:srgbClr val="4338CA"/>
                </a:solidFill>
                <a:latin typeface="Calibri" pitchFamily="34" charset="0"/>
                <a:ea typeface="Calibri" pitchFamily="34" charset="-122"/>
                <a:cs typeface="Calibri" pitchFamily="34" charset="-120"/>
              </a:rPr>
              <a:t>Función error complementaria:</a:t>
            </a:r>
            <a:endParaRPr lang="en-US" sz="1500" dirty="0"/>
          </a:p>
        </p:txBody>
      </p:sp>
      <p:sp>
        <p:nvSpPr>
          <p:cNvPr id="11" name="Shape 9"/>
          <p:cNvSpPr/>
          <p:nvPr/>
        </p:nvSpPr>
        <p:spPr>
          <a:xfrm>
            <a:off x="868680" y="4206240"/>
            <a:ext cx="4709160" cy="777240"/>
          </a:xfrm>
          <a:prstGeom prst="roundRect">
            <a:avLst>
              <a:gd name="adj" fmla="val 8235"/>
            </a:avLst>
          </a:prstGeom>
          <a:solidFill>
            <a:srgbClr val="FFFFFF"/>
          </a:solidFill>
          <a:ln w="12700">
            <a:solidFill>
              <a:srgbClr val="C7D2FE"/>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2" name="Text 10"/>
              <p:cNvSpPr/>
              <p:nvPr/>
            </p:nvSpPr>
            <p:spPr>
              <a:xfrm>
                <a:off x="868680" y="4206240"/>
                <a:ext cx="4709160" cy="777240"/>
              </a:xfrm>
              <a:prstGeom prst="rect">
                <a:avLst/>
              </a:prstGeom>
              <a:noFill/>
              <a:ln/>
            </p:spPr>
            <p:txBody>
              <a:bodyPr wrap="square" rtlCol="0" anchor="ctr"/>
              <a:lstStyle/>
              <a:p>
                <a:pPr marL="0" indent="0" algn="ctr">
                  <a:buNone/>
                  <a:defRPr sz="2200">
                    <a:solidFill>
                      <a:srgbClr val="4338CA"/>
                    </a:solidFill>
                  </a:defRPr>
                </a:pPr>
                <a14:m>
                  <m:oMathPara xmlns:m="http://schemas.openxmlformats.org/officeDocument/2006/math">
                    <m:oMath>
                      <m:r>
                        <m:rPr>
                          <m:sty m:val="p"/>
                        </m:rPr>
                        <a:rPr>
                          <a:latin typeface="Cambria Math" panose="02040503050406030204" pitchFamily="18" charset="0"/>
                        </a:rPr>
                        <m:t>erfc</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m:t>
                      </m:r>
                      <m:r>
                        <m:rPr>
                          <m:sty m:val="p"/>
                        </m:rPr>
                        <a:rPr>
                          <a:latin typeface="Cambria Math" panose="02040503050406030204" pitchFamily="18" charset="0"/>
                        </a:rPr>
                        <m:t>erf</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m:oMathPara>
                </a14:m>
                <a:endParaRPr lang="en-US" sz="2200" dirty="0"/>
              </a:p>
            </p:txBody>
          </p:sp>
        </mc:Choice>
        <mc:Fallback>
          <p:sp>
            <p:nvSpPr>
              <p:cNvPr id="12" name="Text 10"/>
              <p:cNvSpPr>
                <a:spLocks noRot="1" noChangeAspect="1" noMove="1" noResize="1" noEditPoints="1" noAdjustHandles="1" noChangeArrowheads="1" noChangeShapeType="1" noTextEdit="1"/>
              </p:cNvSpPr>
              <p:nvPr/>
            </p:nvSpPr>
            <p:spPr>
              <a:xfrm>
                <a:off x="868680" y="4206240"/>
                <a:ext cx="4709160" cy="777240"/>
              </a:xfrm>
              <a:prstGeom prst="rect">
                <a:avLst/>
              </a:prstGeom>
              <a:blipFill>
                <a:blip r:embed="rId4"/>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3" name="Text 11"/>
              <p:cNvSpPr/>
              <p:nvPr/>
            </p:nvSpPr>
            <p:spPr>
              <a:xfrm>
                <a:off x="868680" y="5120640"/>
                <a:ext cx="4709160" cy="731520"/>
              </a:xfrm>
              <a:prstGeom prst="rect">
                <a:avLst/>
              </a:prstGeom>
              <a:noFill/>
              <a:ln/>
            </p:spPr>
            <p:txBody>
              <a:bodyPr wrap="square" rtlCol="0" anchor="t"/>
              <a:lstStyle/>
              <a:p>
                <a:pPr marL="0" indent="0">
                  <a:lnSpc>
                    <a:spcPct val="140000"/>
                  </a:lnSpc>
                  <a:buNone/>
                  <a:defRPr sz="1200">
                    <a:solidFill>
                      <a:srgbClr val="475569"/>
                    </a:solidFill>
                  </a:defRPr>
                </a:pPr>
                <a14:m>
                  <m:oMath xmlns:m="http://schemas.openxmlformats.org/officeDocument/2006/math">
                    <m:r>
                      <m:rPr>
                        <m:sty m:val="p"/>
                      </m:rPr>
                      <a:rPr>
                        <a:latin typeface="Cambria Math" panose="02040503050406030204" pitchFamily="18" charset="0"/>
                      </a:rPr>
                      <m:t>erf</m:t>
                    </m:r>
                    <m:r>
                      <a:rPr>
                        <a:latin typeface="Cambria Math" panose="02040503050406030204" pitchFamily="18" charset="0"/>
                      </a:rPr>
                      <m:t>(0)=0</m:t>
                    </m:r>
                  </m:oMath>
                </a14:m>
                <a:r>
                  <a:rPr lang="en-US" sz="1200" dirty="0">
                    <a:solidFill>
                      <a:srgbClr val="475569"/>
                    </a:solidFill>
                    <a:latin typeface="Calibri" pitchFamily="34" charset="0"/>
                    <a:ea typeface="Calibri" pitchFamily="34" charset="-122"/>
                    <a:cs typeface="Calibri" pitchFamily="34" charset="-120"/>
                  </a:rPr>
                  <a:t>,  </a:t>
                </a:r>
                <a14:m>
                  <m:oMath xmlns:m="http://schemas.openxmlformats.org/officeDocument/2006/math">
                    <m:r>
                      <m:rPr>
                        <m:sty m:val="p"/>
                      </m:rPr>
                      <a:rPr>
                        <a:latin typeface="Cambria Math" panose="02040503050406030204" pitchFamily="18" charset="0"/>
                      </a:rPr>
                      <m:t>erf</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r>
                      <m:rPr>
                        <m:sty m:val="p"/>
                      </m:rPr>
                      <a:rPr>
                        <a:latin typeface="Cambria Math" panose="02040503050406030204" pitchFamily="18" charset="0"/>
                      </a:rPr>
                      <m:t>erf</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a14:m>
                <a:r>
                  <a:rPr lang="en-US" sz="1200" dirty="0">
                    <a:solidFill>
                      <a:srgbClr val="475569"/>
                    </a:solidFill>
                    <a:latin typeface="Calibri" pitchFamily="34" charset="0"/>
                    <a:ea typeface="Calibri" pitchFamily="34" charset="-122"/>
                    <a:cs typeface="Calibri" pitchFamily="34" charset="-120"/>
                  </a:rPr>
                  <a:t> (impar),  </a:t>
                </a:r>
                <a14:m>
                  <m:oMath xmlns:m="http://schemas.openxmlformats.org/officeDocument/2006/math">
                    <m:sSub>
                      <m:sSubPr>
                        <m:ctrlPr>
                          <a:rPr>
                            <a:latin typeface="Cambria Math" panose="02040503050406030204" pitchFamily="18" charset="0"/>
                          </a:rPr>
                        </m:ctrlPr>
                      </m:sSubPr>
                      <m:e>
                        <m:r>
                          <a:rPr>
                            <a:latin typeface="Cambria Math" panose="02040503050406030204" pitchFamily="18" charset="0"/>
                          </a:rPr>
                          <m:t>𝑙𝑖𝑚</m:t>
                        </m:r>
                      </m:e>
                      <m:sub>
                        <m:r>
                          <a:rPr>
                            <a:latin typeface="Cambria Math" panose="02040503050406030204" pitchFamily="18" charset="0"/>
                          </a:rPr>
                          <m:t>𝑥</m:t>
                        </m:r>
                        <m:r>
                          <a:rPr>
                            <a:latin typeface="Cambria Math" panose="02040503050406030204" pitchFamily="18" charset="0"/>
                          </a:rPr>
                          <m:t>→∞</m:t>
                        </m:r>
                      </m:sub>
                    </m:sSub>
                    <m:r>
                      <m:rPr>
                        <m:sty m:val="p"/>
                      </m:rPr>
                      <a:rPr>
                        <a:latin typeface="Cambria Math" panose="02040503050406030204" pitchFamily="18" charset="0"/>
                      </a:rPr>
                      <m:t>erf</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)=1</m:t>
                    </m:r>
                  </m:oMath>
                </a14:m>
                <a:endParaRPr lang="en-US" sz="1200" dirty="0"/>
              </a:p>
            </p:txBody>
          </p:sp>
        </mc:Choice>
        <mc:Fallback>
          <p:sp>
            <p:nvSpPr>
              <p:cNvPr id="13" name="Text 11"/>
              <p:cNvSpPr>
                <a:spLocks noRot="1" noChangeAspect="1" noMove="1" noResize="1" noEditPoints="1" noAdjustHandles="1" noChangeArrowheads="1" noChangeShapeType="1" noTextEdit="1"/>
              </p:cNvSpPr>
              <p:nvPr/>
            </p:nvSpPr>
            <p:spPr>
              <a:xfrm>
                <a:off x="868680" y="5120640"/>
                <a:ext cx="4709160" cy="731520"/>
              </a:xfrm>
              <a:prstGeom prst="rect">
                <a:avLst/>
              </a:prstGeom>
              <a:blipFill>
                <a:blip r:embed="rId5"/>
                <a:stretch>
                  <a:fillRect/>
                </a:stretch>
              </a:blipFill>
              <a:ln/>
            </p:spPr>
            <p:txBody>
              <a:bodyPr/>
              <a:lstStyle/>
              <a:p>
                <a:r>
                  <a:rPr lang="es-MX">
                    <a:noFill/>
                  </a:rPr>
                  <a:t> </a:t>
                </a:r>
              </a:p>
            </p:txBody>
          </p:sp>
        </mc:Fallback>
      </mc:AlternateContent>
      <p:pic>
        <p:nvPicPr>
          <p:cNvPr id="14" name="Image 0" descr="E:\Teaching\sesion4\img\erf_erfc.png"/>
          <p:cNvPicPr>
            <a:picLocks noChangeAspect="1"/>
          </p:cNvPicPr>
          <p:nvPr/>
        </p:nvPicPr>
        <p:blipFill>
          <a:blip r:embed="rId6"/>
          <a:srcRect l="-33056" r="-33056"/>
          <a:stretch/>
        </p:blipFill>
        <p:spPr>
          <a:xfrm>
            <a:off x="6172200" y="2148840"/>
            <a:ext cx="5468112" cy="3291840"/>
          </a:xfrm>
          <a:prstGeom prst="rect">
            <a:avLst/>
          </a:prstGeom>
        </p:spPr>
      </p:pic>
      <p:sp>
        <p:nvSpPr>
          <p:cNvPr id="15" name="Text 12"/>
          <p:cNvSpPr/>
          <p:nvPr/>
        </p:nvSpPr>
        <p:spPr>
          <a:xfrm>
            <a:off x="6172200" y="5486400"/>
            <a:ext cx="5468112" cy="502920"/>
          </a:xfrm>
          <a:prstGeom prst="rect">
            <a:avLst/>
          </a:prstGeom>
          <a:noFill/>
          <a:ln/>
        </p:spPr>
        <p:txBody>
          <a:bodyPr wrap="square" rtlCol="0" anchor="t"/>
          <a:lstStyle/>
          <a:p>
            <a:pPr marL="0" indent="0">
              <a:lnSpc>
                <a:spcPct val="125000"/>
              </a:lnSpc>
              <a:buNone/>
            </a:pPr>
            <a:r>
              <a:rPr lang="en-US" sz="1200" i="1" dirty="0">
                <a:solidFill>
                  <a:srgbClr val="475569"/>
                </a:solidFill>
                <a:latin typeface="Calibri" pitchFamily="34" charset="0"/>
                <a:ea typeface="Calibri" pitchFamily="34" charset="-122"/>
                <a:cs typeface="Calibri" pitchFamily="34" charset="-120"/>
              </a:rPr>
              <a:t>Igual que la integral de la Sesión 3 (Ejemplo 6), erf(x) no tiene antiderivada elemental — pero está tabulada, programada en toda calculadora científica, y es la base de la distribución normal en probabilidad.</a:t>
            </a:r>
            <a:endParaRPr lang="en-US" sz="1200" dirty="0"/>
          </a:p>
        </p:txBody>
      </p:sp>
      <p:sp>
        <p:nvSpPr>
          <p:cNvPr id="16" name="Text 13"/>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235440" y="-2651760"/>
            <a:ext cx="4937760" cy="4937760"/>
          </a:xfrm>
          <a:prstGeom prst="ellipse">
            <a:avLst/>
          </a:prstGeom>
          <a:solidFill>
            <a:srgbClr val="D1FAE5"/>
          </a:solidFill>
          <a:ln/>
        </p:spPr>
        <p:txBody>
          <a:bodyPr/>
          <a:lstStyle/>
          <a:p>
            <a:endParaRPr lang="es-MX"/>
          </a:p>
        </p:txBody>
      </p:sp>
      <p:sp>
        <p:nvSpPr>
          <p:cNvPr id="3" name="Shape 1"/>
          <p:cNvSpPr/>
          <p:nvPr/>
        </p:nvSpPr>
        <p:spPr>
          <a:xfrm>
            <a:off x="548640" y="365760"/>
            <a:ext cx="1783080" cy="384048"/>
          </a:xfrm>
          <a:prstGeom prst="roundRect">
            <a:avLst>
              <a:gd name="adj" fmla="val 50000"/>
            </a:avLst>
          </a:prstGeom>
          <a:solidFill>
            <a:srgbClr val="D1FAE5"/>
          </a:solidFill>
          <a:ln/>
        </p:spPr>
        <p:txBody>
          <a:bodyPr/>
          <a:lstStyle/>
          <a:p>
            <a:endParaRPr lang="es-MX"/>
          </a:p>
        </p:txBody>
      </p:sp>
      <p:sp>
        <p:nvSpPr>
          <p:cNvPr id="4" name="Text 2"/>
          <p:cNvSpPr/>
          <p:nvPr/>
        </p:nvSpPr>
        <p:spPr>
          <a:xfrm>
            <a:off x="548640" y="365760"/>
            <a:ext cx="1783080" cy="384048"/>
          </a:xfrm>
          <a:prstGeom prst="rect">
            <a:avLst/>
          </a:prstGeom>
          <a:noFill/>
          <a:ln/>
        </p:spPr>
        <p:txBody>
          <a:bodyPr wrap="square" rtlCol="0" anchor="ctr"/>
          <a:lstStyle/>
          <a:p>
            <a:pPr marL="0" indent="0" algn="ctr">
              <a:buNone/>
            </a:pPr>
            <a:r>
              <a:rPr lang="en-US" sz="1300" b="1" kern="0" spc="100" dirty="0">
                <a:solidFill>
                  <a:srgbClr val="047857"/>
                </a:solidFill>
                <a:latin typeface="Calibri" pitchFamily="34" charset="0"/>
                <a:ea typeface="Calibri" pitchFamily="34" charset="-122"/>
                <a:cs typeface="Calibri" pitchFamily="34" charset="-120"/>
              </a:rPr>
              <a:t>EJEMPLO 5</a:t>
            </a:r>
            <a:endParaRPr lang="en-US" sz="1300" dirty="0"/>
          </a:p>
        </p:txBody>
      </p:sp>
      <p:sp>
        <p:nvSpPr>
          <p:cNvPr id="6" name="Shape 4"/>
          <p:cNvSpPr/>
          <p:nvPr/>
        </p:nvSpPr>
        <p:spPr>
          <a:xfrm>
            <a:off x="1280160" y="2743200"/>
            <a:ext cx="9628632" cy="1737360"/>
          </a:xfrm>
          <a:prstGeom prst="roundRect">
            <a:avLst>
              <a:gd name="adj" fmla="val 3684"/>
            </a:avLst>
          </a:prstGeom>
          <a:solidFill>
            <a:srgbClr val="FFFFFF"/>
          </a:solidFill>
          <a:ln w="12700">
            <a:solidFill>
              <a:srgbClr val="E2E8F0"/>
            </a:solidFill>
            <a:prstDash val="solid"/>
          </a:ln>
        </p:spPr>
        <p:txBody>
          <a:bodyPr/>
          <a:lstStyle/>
          <a:p>
            <a:endParaRPr lang="es-MX"/>
          </a:p>
        </p:txBody>
      </p:sp>
      <mc:AlternateContent xmlns:mc="http://schemas.openxmlformats.org/markup-compatibility/2006">
        <mc:Choice xmlns:a14="http://schemas.microsoft.com/office/drawing/2010/main" Requires="a14">
          <p:sp>
            <p:nvSpPr>
              <p:cNvPr id="7" name="Text 5"/>
              <p:cNvSpPr/>
              <p:nvPr/>
            </p:nvSpPr>
            <p:spPr>
              <a:xfrm>
                <a:off x="1280160" y="2743200"/>
                <a:ext cx="9628632" cy="1737360"/>
              </a:xfrm>
              <a:prstGeom prst="rect">
                <a:avLst/>
              </a:prstGeom>
              <a:noFill/>
              <a:ln/>
            </p:spPr>
            <p:txBody>
              <a:bodyPr wrap="square" rtlCol="0" anchor="ctr"/>
              <a:lstStyle/>
              <a:p>
                <a:pPr marL="0" indent="0" algn="ctr">
                  <a:buNone/>
                  <a:defRPr sz="3000">
                    <a:solidFill>
                      <a:srgbClr val="047857"/>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−2</m:t>
                      </m:r>
                      <m:r>
                        <a:rPr>
                          <a:latin typeface="Cambria Math" panose="02040503050406030204" pitchFamily="18" charset="0"/>
                        </a:rPr>
                        <m:t>𝑥𝑦</m:t>
                      </m:r>
                      <m:r>
                        <a:rPr>
                          <a:latin typeface="Cambria Math" panose="02040503050406030204" pitchFamily="18" charset="0"/>
                        </a:rPr>
                        <m:t>=2,</m:t>
                      </m:r>
                      <m:r>
                        <a:rPr>
                          <a:latin typeface="Cambria Math" panose="02040503050406030204" pitchFamily="18" charset="0"/>
                        </a:rPr>
                        <m:t>𝑦</m:t>
                      </m:r>
                      <m:r>
                        <a:rPr>
                          <a:latin typeface="Cambria Math" panose="02040503050406030204" pitchFamily="18" charset="0"/>
                        </a:rPr>
                        <m:t>(0)=1</m:t>
                      </m:r>
                    </m:oMath>
                  </m:oMathPara>
                </a14:m>
                <a:endParaRPr lang="en-US" sz="3000" dirty="0"/>
              </a:p>
            </p:txBody>
          </p:sp>
        </mc:Choice>
        <mc:Fallback>
          <p:sp>
            <p:nvSpPr>
              <p:cNvPr id="7" name="Text 5"/>
              <p:cNvSpPr>
                <a:spLocks noRot="1" noChangeAspect="1" noMove="1" noResize="1" noEditPoints="1" noAdjustHandles="1" noChangeArrowheads="1" noChangeShapeType="1" noTextEdit="1"/>
              </p:cNvSpPr>
              <p:nvPr/>
            </p:nvSpPr>
            <p:spPr>
              <a:xfrm>
                <a:off x="1280160" y="2743200"/>
                <a:ext cx="9628632" cy="1737360"/>
              </a:xfrm>
              <a:prstGeom prst="rect">
                <a:avLst/>
              </a:prstGeom>
              <a:blipFill>
                <a:blip r:embed="rId3"/>
                <a:stretch>
                  <a:fillRect/>
                </a:stretch>
              </a:blipFill>
              <a:ln/>
            </p:spPr>
            <p:txBody>
              <a:bodyPr/>
              <a:lstStyle/>
              <a:p>
                <a:r>
                  <a:rPr lang="es-MX">
                    <a:noFill/>
                  </a:rPr>
                  <a:t> </a:t>
                </a:r>
              </a:p>
            </p:txBody>
          </p:sp>
        </mc:Fallback>
      </mc:AlternateContent>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Encuentra la solución del PVI (vas a necesitar la función error).</a:t>
            </a:r>
            <a:endParaRPr lang="en-US" sz="1600" dirty="0"/>
          </a:p>
        </p:txBody>
      </p:sp>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1783080" cy="384048"/>
          </a:xfrm>
          <a:prstGeom prst="roundRect">
            <a:avLst>
              <a:gd name="adj" fmla="val 50000"/>
            </a:avLst>
          </a:prstGeom>
          <a:solidFill>
            <a:srgbClr val="D1FAE5"/>
          </a:solidFill>
          <a:ln/>
        </p:spPr>
        <p:txBody>
          <a:bodyPr/>
          <a:lstStyle/>
          <a:p>
            <a:endParaRPr lang="es-MX"/>
          </a:p>
        </p:txBody>
      </p:sp>
      <p:sp>
        <p:nvSpPr>
          <p:cNvPr id="3" name="Text 1"/>
          <p:cNvSpPr/>
          <p:nvPr/>
        </p:nvSpPr>
        <p:spPr>
          <a:xfrm>
            <a:off x="548640" y="365760"/>
            <a:ext cx="1783080" cy="384048"/>
          </a:xfrm>
          <a:prstGeom prst="rect">
            <a:avLst/>
          </a:prstGeom>
          <a:noFill/>
          <a:ln/>
        </p:spPr>
        <p:txBody>
          <a:bodyPr wrap="square" rtlCol="0" anchor="ctr"/>
          <a:lstStyle/>
          <a:p>
            <a:pPr marL="0" indent="0" algn="ctr">
              <a:buNone/>
            </a:pPr>
            <a:r>
              <a:rPr lang="en-US" sz="1300" b="1" kern="0" spc="100" dirty="0">
                <a:solidFill>
                  <a:srgbClr val="047857"/>
                </a:solidFill>
                <a:latin typeface="Calibri" pitchFamily="34" charset="0"/>
                <a:ea typeface="Calibri" pitchFamily="34" charset="-122"/>
                <a:cs typeface="Calibri" pitchFamily="34" charset="-120"/>
              </a:rPr>
              <a:t>EJEMPLO 5</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2700" b="1" dirty="0">
                <a:solidFill>
                  <a:srgbClr val="0F172A"/>
                </a:solidFill>
                <a:latin typeface="Calibri" pitchFamily="34" charset="0"/>
                <a:ea typeface="Calibri" pitchFamily="34" charset="-122"/>
                <a:cs typeface="Calibri" pitchFamily="34" charset="-120"/>
              </a:rPr>
              <a:t>Un Factor Integrante que Pide Ayuda</a:t>
            </a:r>
            <a:endParaRPr lang="en-US" sz="2700" dirty="0"/>
          </a:p>
        </p:txBody>
      </p:sp>
      <mc:AlternateContent xmlns:mc="http://schemas.openxmlformats.org/markup-compatibility/2006">
        <mc:Choice xmlns:a14="http://schemas.microsoft.com/office/drawing/2010/main" Requires="a14">
          <p:sp>
            <p:nvSpPr>
              <p:cNvPr id="5" name="Text 3"/>
              <p:cNvSpPr/>
              <p:nvPr/>
            </p:nvSpPr>
            <p:spPr>
              <a:xfrm>
                <a:off x="548640" y="1554480"/>
                <a:ext cx="11091672" cy="365760"/>
              </a:xfrm>
              <a:prstGeom prst="rect">
                <a:avLst/>
              </a:prstGeom>
              <a:noFill/>
              <a:ln/>
            </p:spPr>
            <p:txBody>
              <a:bodyPr wrap="square" rtlCol="0" anchor="t"/>
              <a:lstStyle/>
              <a:p>
                <a:pPr marL="0" indent="0" algn="l">
                  <a:buNone/>
                  <a:defRPr sz="1700">
                    <a:solidFill>
                      <a:srgbClr val="047857"/>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𝑑𝑦</m:t>
                          </m:r>
                        </m:num>
                        <m:den>
                          <m:r>
                            <a:rPr>
                              <a:latin typeface="Cambria Math" panose="02040503050406030204" pitchFamily="18" charset="0"/>
                            </a:rPr>
                            <m:t>𝑑𝑥</m:t>
                          </m:r>
                        </m:den>
                      </m:f>
                      <m:r>
                        <a:rPr>
                          <a:latin typeface="Cambria Math" panose="02040503050406030204" pitchFamily="18" charset="0"/>
                        </a:rPr>
                        <m:t>−2</m:t>
                      </m:r>
                      <m:r>
                        <a:rPr>
                          <a:latin typeface="Cambria Math" panose="02040503050406030204" pitchFamily="18" charset="0"/>
                        </a:rPr>
                        <m:t>𝑥𝑦</m:t>
                      </m:r>
                      <m:r>
                        <a:rPr>
                          <a:latin typeface="Cambria Math" panose="02040503050406030204" pitchFamily="18" charset="0"/>
                        </a:rPr>
                        <m:t>=2,</m:t>
                      </m:r>
                      <m:r>
                        <a:rPr>
                          <a:latin typeface="Cambria Math" panose="02040503050406030204" pitchFamily="18" charset="0"/>
                        </a:rPr>
                        <m:t>𝑦</m:t>
                      </m:r>
                      <m:r>
                        <a:rPr>
                          <a:latin typeface="Cambria Math" panose="02040503050406030204" pitchFamily="18" charset="0"/>
                        </a:rPr>
                        <m:t>(0)=1</m:t>
                      </m:r>
                    </m:oMath>
                  </m:oMathPara>
                </a14:m>
                <a:endParaRPr lang="en-US" sz="1700" dirty="0"/>
              </a:p>
            </p:txBody>
          </p:sp>
        </mc:Choice>
        <mc:Fallback>
          <p:sp>
            <p:nvSpPr>
              <p:cNvPr id="5" name="Text 3"/>
              <p:cNvSpPr>
                <a:spLocks noRot="1" noChangeAspect="1" noMove="1" noResize="1" noEditPoints="1" noAdjustHandles="1" noChangeArrowheads="1" noChangeShapeType="1" noTextEdit="1"/>
              </p:cNvSpPr>
              <p:nvPr/>
            </p:nvSpPr>
            <p:spPr>
              <a:xfrm>
                <a:off x="548640" y="1554480"/>
                <a:ext cx="11091672" cy="365760"/>
              </a:xfrm>
              <a:prstGeom prst="rect">
                <a:avLst/>
              </a:prstGeom>
              <a:blipFill>
                <a:blip r:embed="rId3"/>
                <a:stretch>
                  <a:fillRect b="-46667"/>
                </a:stretch>
              </a:blipFill>
              <a:ln/>
            </p:spPr>
            <p:txBody>
              <a:bodyPr/>
              <a:lstStyle/>
              <a:p>
                <a:r>
                  <a:rPr lang="es-MX">
                    <a:noFill/>
                  </a:rPr>
                  <a:t> </a:t>
                </a:r>
              </a:p>
            </p:txBody>
          </p:sp>
        </mc:Fallback>
      </mc:AlternateContent>
      <p:sp>
        <p:nvSpPr>
          <p:cNvPr id="6" name="Shape 4"/>
          <p:cNvSpPr/>
          <p:nvPr/>
        </p:nvSpPr>
        <p:spPr>
          <a:xfrm>
            <a:off x="548640" y="2194560"/>
            <a:ext cx="5349240" cy="3749040"/>
          </a:xfrm>
          <a:prstGeom prst="roundRect">
            <a:avLst>
              <a:gd name="adj" fmla="val 2439"/>
            </a:avLst>
          </a:prstGeom>
          <a:solidFill>
            <a:srgbClr val="F1F5F9"/>
          </a:solidFill>
          <a:ln w="12700">
            <a:solidFill>
              <a:srgbClr val="E2E8F0"/>
            </a:solidFill>
            <a:prstDash val="solid"/>
          </a:ln>
        </p:spPr>
        <p:txBody>
          <a:bodyPr/>
          <a:lstStyle/>
          <a:p>
            <a:endParaRPr lang="es-MX"/>
          </a:p>
        </p:txBody>
      </p:sp>
      <p:sp>
        <p:nvSpPr>
          <p:cNvPr id="7" name="Text 5"/>
          <p:cNvSpPr/>
          <p:nvPr/>
        </p:nvSpPr>
        <p:spPr>
          <a:xfrm>
            <a:off x="868680" y="2468880"/>
            <a:ext cx="4754880" cy="36576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Ya en forma estándar. Factor integrante:</a:t>
            </a:r>
            <a:endParaRPr lang="en-US" sz="1400" dirty="0"/>
          </a:p>
        </p:txBody>
      </p:sp>
      <p:sp>
        <p:nvSpPr>
          <p:cNvPr id="8" name="Shape 6"/>
          <p:cNvSpPr/>
          <p:nvPr/>
        </p:nvSpPr>
        <p:spPr>
          <a:xfrm>
            <a:off x="868680" y="2926080"/>
            <a:ext cx="4297680" cy="777240"/>
          </a:xfrm>
          <a:prstGeom prst="roundRect">
            <a:avLst>
              <a:gd name="adj" fmla="val 8235"/>
            </a:avLst>
          </a:prstGeom>
          <a:solidFill>
            <a:srgbClr val="FFFFFF"/>
          </a:solidFill>
          <a:ln w="12700">
            <a:solidFill>
              <a:srgbClr val="CBD5E1"/>
            </a:solidFill>
            <a:prstDash val="solid"/>
          </a:ln>
        </p:spPr>
        <p:txBody>
          <a:bodyPr/>
          <a:lstStyle/>
          <a:p>
            <a:endParaRPr lang="es-MX"/>
          </a:p>
        </p:txBody>
      </p:sp>
      <mc:AlternateContent xmlns:mc="http://schemas.openxmlformats.org/markup-compatibility/2006">
        <mc:Choice xmlns:a14="http://schemas.microsoft.com/office/drawing/2010/main" Requires="a14">
          <p:sp>
            <p:nvSpPr>
              <p:cNvPr id="9" name="Text 7"/>
              <p:cNvSpPr/>
              <p:nvPr/>
            </p:nvSpPr>
            <p:spPr>
              <a:xfrm>
                <a:off x="868680" y="2926080"/>
                <a:ext cx="4297680" cy="777240"/>
              </a:xfrm>
              <a:prstGeom prst="rect">
                <a:avLst/>
              </a:prstGeom>
              <a:noFill/>
              <a:ln/>
            </p:spPr>
            <p:txBody>
              <a:bodyPr wrap="square" rtlCol="0" anchor="ctr"/>
              <a:lstStyle/>
              <a:p>
                <a:pPr marL="0" indent="0" algn="ctr">
                  <a:buNone/>
                  <a:defRPr sz="1900">
                    <a:solidFill>
                      <a:srgbClr val="047857"/>
                    </a:solidFill>
                  </a:defRPr>
                </a:pPr>
                <a14:m>
                  <m:oMathPara xmlns:m="http://schemas.openxmlformats.org/officeDocument/2006/math">
                    <m:oMath>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∫−2</m:t>
                          </m:r>
                          <m:r>
                            <a:rPr>
                              <a:latin typeface="Cambria Math" panose="02040503050406030204" pitchFamily="18" charset="0"/>
                            </a:rPr>
                            <m:t>𝑥𝑑𝑥</m:t>
                          </m:r>
                        </m:sup>
                      </m:s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sup>
                      </m:sSup>
                    </m:oMath>
                  </m:oMathPara>
                </a14:m>
                <a:endParaRPr lang="en-US" sz="1900" dirty="0"/>
              </a:p>
            </p:txBody>
          </p:sp>
        </mc:Choice>
        <mc:Fallback>
          <p:sp>
            <p:nvSpPr>
              <p:cNvPr id="9" name="Text 7"/>
              <p:cNvSpPr>
                <a:spLocks noRot="1" noChangeAspect="1" noMove="1" noResize="1" noEditPoints="1" noAdjustHandles="1" noChangeArrowheads="1" noChangeShapeType="1" noTextEdit="1"/>
              </p:cNvSpPr>
              <p:nvPr/>
            </p:nvSpPr>
            <p:spPr>
              <a:xfrm>
                <a:off x="868680" y="2926080"/>
                <a:ext cx="4297680" cy="777240"/>
              </a:xfrm>
              <a:prstGeom prst="rect">
                <a:avLst/>
              </a:prstGeom>
              <a:blipFill>
                <a:blip r:embed="rId4"/>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0" name="Text 8"/>
              <p:cNvSpPr/>
              <p:nvPr/>
            </p:nvSpPr>
            <p:spPr>
              <a:xfrm>
                <a:off x="868680" y="3931920"/>
                <a:ext cx="4846320" cy="411480"/>
              </a:xfrm>
              <a:prstGeom prst="rect">
                <a:avLst/>
              </a:prstGeom>
              <a:noFill/>
              <a:ln/>
            </p:spPr>
            <p:txBody>
              <a:bodyPr wrap="square" rtlCol="0" anchor="t"/>
              <a:lstStyle/>
              <a:p>
                <a:pPr marL="0" indent="0" algn="l">
                  <a:buNone/>
                  <a:defRPr sz="1600">
                    <a:solidFill>
                      <a:srgbClr val="334155"/>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m:t>
                          </m:r>
                        </m:num>
                        <m:den>
                          <m:r>
                            <a:rPr>
                              <a:latin typeface="Cambria Math" panose="02040503050406030204" pitchFamily="18" charset="0"/>
                            </a:rPr>
                            <m:t>𝑑𝑥</m:t>
                          </m:r>
                        </m:den>
                      </m:f>
                      <m:d>
                        <m:dPr>
                          <m:begChr m:val="["/>
                          <m:endChr m:val="]"/>
                          <m:ctrlPr>
                            <a:rPr i="1">
                              <a:latin typeface="Cambria Math" panose="02040503050406030204" pitchFamily="18" charset="0"/>
                            </a:rPr>
                          </m:ctrlPr>
                        </m:dPr>
                        <m:e>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sup>
                          </m:sSup>
                          <m:r>
                            <a:rPr>
                              <a:latin typeface="Cambria Math" panose="02040503050406030204" pitchFamily="18" charset="0"/>
                            </a:rPr>
                            <m:t>𝑦</m:t>
                          </m:r>
                        </m:e>
                      </m:d>
                      <m:r>
                        <a:rPr>
                          <a:latin typeface="Cambria Math" panose="02040503050406030204" pitchFamily="18" charset="0"/>
                        </a:rPr>
                        <m:t>=2</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sup>
                      </m:sSup>
                    </m:oMath>
                  </m:oMathPara>
                </a14:m>
                <a:endParaRPr lang="en-US" sz="1600" dirty="0"/>
              </a:p>
            </p:txBody>
          </p:sp>
        </mc:Choice>
        <mc:Fallback>
          <p:sp>
            <p:nvSpPr>
              <p:cNvPr id="10" name="Text 8"/>
              <p:cNvSpPr>
                <a:spLocks noRot="1" noChangeAspect="1" noMove="1" noResize="1" noEditPoints="1" noAdjustHandles="1" noChangeArrowheads="1" noChangeShapeType="1" noTextEdit="1"/>
              </p:cNvSpPr>
              <p:nvPr/>
            </p:nvSpPr>
            <p:spPr>
              <a:xfrm>
                <a:off x="868680" y="3931920"/>
                <a:ext cx="4846320" cy="411480"/>
              </a:xfrm>
              <a:prstGeom prst="rect">
                <a:avLst/>
              </a:prstGeom>
              <a:blipFill>
                <a:blip r:embed="rId5"/>
                <a:stretch>
                  <a:fillRect b="-22059"/>
                </a:stretch>
              </a:blipFill>
              <a:ln/>
            </p:spPr>
            <p:txBody>
              <a:bodyPr/>
              <a:lstStyle/>
              <a:p>
                <a:r>
                  <a:rPr lang="es-MX">
                    <a:noFill/>
                  </a:rPr>
                  <a:t> </a:t>
                </a:r>
              </a:p>
            </p:txBody>
          </p:sp>
        </mc:Fallback>
      </mc:AlternateContent>
      <p:sp>
        <p:nvSpPr>
          <p:cNvPr id="11" name="Text 9"/>
          <p:cNvSpPr/>
          <p:nvPr/>
        </p:nvSpPr>
        <p:spPr>
          <a:xfrm>
            <a:off x="868680" y="4480560"/>
            <a:ext cx="4754880" cy="36576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Integrando de 0 a x (PVI):</a:t>
            </a:r>
            <a:endParaRPr lang="en-US" sz="1400" dirty="0"/>
          </a:p>
        </p:txBody>
      </p:sp>
      <mc:AlternateContent xmlns:mc="http://schemas.openxmlformats.org/markup-compatibility/2006">
        <mc:Choice xmlns:a14="http://schemas.microsoft.com/office/drawing/2010/main" Requires="a14">
          <p:sp>
            <p:nvSpPr>
              <p:cNvPr id="12" name="Text 10"/>
              <p:cNvSpPr/>
              <p:nvPr/>
            </p:nvSpPr>
            <p:spPr>
              <a:xfrm>
                <a:off x="868680" y="4892040"/>
                <a:ext cx="4846320" cy="457200"/>
              </a:xfrm>
              <a:prstGeom prst="rect">
                <a:avLst/>
              </a:prstGeom>
              <a:noFill/>
              <a:ln/>
            </p:spPr>
            <p:txBody>
              <a:bodyPr wrap="square" rtlCol="0" anchor="t"/>
              <a:lstStyle/>
              <a:p>
                <a:pPr marL="0" indent="0" algn="l">
                  <a:buNone/>
                  <a:defRPr sz="1500">
                    <a:solidFill>
                      <a:srgbClr val="334155"/>
                    </a:solidFill>
                  </a:defRPr>
                </a:pPr>
                <a14:m>
                  <m:oMathPara xmlns:m="http://schemas.openxmlformats.org/officeDocument/2006/math">
                    <m:oMath>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sup>
                      </m:sSup>
                      <m:r>
                        <a:rPr>
                          <a:latin typeface="Cambria Math" panose="02040503050406030204" pitchFamily="18" charset="0"/>
                        </a:rPr>
                        <m:t>𝑦</m:t>
                      </m:r>
                      <m:r>
                        <a:rPr>
                          <a:latin typeface="Cambria Math" panose="02040503050406030204" pitchFamily="18" charset="0"/>
                        </a:rPr>
                        <m:t>−1=2</m:t>
                      </m:r>
                      <m:nary>
                        <m:naryPr>
                          <m:limLoc m:val="subSup"/>
                          <m:grow m:val="on"/>
                          <m:ctrlPr>
                            <a:rPr>
                              <a:latin typeface="Cambria Math" panose="02040503050406030204" pitchFamily="18" charset="0"/>
                            </a:rPr>
                          </m:ctrlPr>
                        </m:naryPr>
                        <m:sub>
                          <m:r>
                            <a:rPr>
                              <a:latin typeface="Cambria Math" panose="02040503050406030204" pitchFamily="18" charset="0"/>
                            </a:rPr>
                            <m:t>0</m:t>
                          </m:r>
                        </m:sub>
                        <m:sup>
                          <m:r>
                            <a:rPr>
                              <a:latin typeface="Cambria Math" panose="02040503050406030204" pitchFamily="18" charset="0"/>
                            </a:rPr>
                            <m:t>𝑥</m:t>
                          </m:r>
                        </m:sup>
                        <m:e>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𝑡</m:t>
                                  </m:r>
                                </m:e>
                                <m:sup>
                                  <m:r>
                                    <a:rPr>
                                      <a:latin typeface="Cambria Math" panose="02040503050406030204" pitchFamily="18" charset="0"/>
                                    </a:rPr>
                                    <m:t>2</m:t>
                                  </m:r>
                                </m:sup>
                              </m:sSup>
                            </m:sup>
                          </m:sSup>
                        </m:e>
                      </m:nary>
                      <m:r>
                        <a:rPr>
                          <a:latin typeface="Cambria Math" panose="02040503050406030204" pitchFamily="18" charset="0"/>
                        </a:rPr>
                        <m:t>𝑑𝑡</m:t>
                      </m:r>
                    </m:oMath>
                  </m:oMathPara>
                </a14:m>
                <a:endParaRPr lang="en-US" sz="1500" dirty="0"/>
              </a:p>
            </p:txBody>
          </p:sp>
        </mc:Choice>
        <mc:Fallback>
          <p:sp>
            <p:nvSpPr>
              <p:cNvPr id="12" name="Text 10"/>
              <p:cNvSpPr>
                <a:spLocks noRot="1" noChangeAspect="1" noMove="1" noResize="1" noEditPoints="1" noAdjustHandles="1" noChangeArrowheads="1" noChangeShapeType="1" noTextEdit="1"/>
              </p:cNvSpPr>
              <p:nvPr/>
            </p:nvSpPr>
            <p:spPr>
              <a:xfrm>
                <a:off x="868680" y="4892040"/>
                <a:ext cx="4846320" cy="457200"/>
              </a:xfrm>
              <a:prstGeom prst="rect">
                <a:avLst/>
              </a:prstGeom>
              <a:blipFill>
                <a:blip r:embed="rId6"/>
                <a:stretch>
                  <a:fillRect b="-18667"/>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3" name="Text 11"/>
              <p:cNvSpPr/>
              <p:nvPr/>
            </p:nvSpPr>
            <p:spPr>
              <a:xfrm>
                <a:off x="868680" y="5440680"/>
                <a:ext cx="4846320" cy="411480"/>
              </a:xfrm>
              <a:prstGeom prst="rect">
                <a:avLst/>
              </a:prstGeom>
              <a:noFill/>
              <a:ln/>
            </p:spPr>
            <p:txBody>
              <a:bodyPr wrap="square" rtlCol="0" anchor="t"/>
              <a:lstStyle/>
              <a:p>
                <a:pPr marL="0" indent="0">
                  <a:buNone/>
                  <a:defRPr sz="1300">
                    <a:solidFill>
                      <a:srgbClr val="94A3B8"/>
                    </a:solidFill>
                  </a:defRPr>
                </a:pPr>
                <a:r>
                  <a:rPr lang="en-US" sz="1300" i="1" dirty="0">
                    <a:solidFill>
                      <a:srgbClr val="94A3B8"/>
                    </a:solidFill>
                    <a:latin typeface="Calibri" pitchFamily="34" charset="0"/>
                    <a:ea typeface="Calibri" pitchFamily="34" charset="-122"/>
                    <a:cs typeface="Calibri" pitchFamily="34" charset="-120"/>
                  </a:rPr>
                  <a:t>Como  </a:t>
                </a:r>
                <a14:m>
                  <m:oMath xmlns:m="http://schemas.openxmlformats.org/officeDocument/2006/math">
                    <m:nary>
                      <m:naryPr>
                        <m:limLoc m:val="subSup"/>
                        <m:grow m:val="on"/>
                        <m:ctrlPr>
                          <a:rPr>
                            <a:latin typeface="Cambria Math" panose="02040503050406030204" pitchFamily="18" charset="0"/>
                          </a:rPr>
                        </m:ctrlPr>
                      </m:naryPr>
                      <m:sub>
                        <m:r>
                          <a:rPr>
                            <a:latin typeface="Cambria Math" panose="02040503050406030204" pitchFamily="18" charset="0"/>
                          </a:rPr>
                          <m:t>0</m:t>
                        </m:r>
                      </m:sub>
                      <m:sup>
                        <m:r>
                          <a:rPr>
                            <a:latin typeface="Cambria Math" panose="02040503050406030204" pitchFamily="18" charset="0"/>
                          </a:rPr>
                          <m:t>𝑥</m:t>
                        </m:r>
                      </m:sup>
                      <m:e>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𝑡</m:t>
                                </m:r>
                              </m:e>
                              <m:sup>
                                <m:r>
                                  <a:rPr>
                                    <a:latin typeface="Cambria Math" panose="02040503050406030204" pitchFamily="18" charset="0"/>
                                  </a:rPr>
                                  <m:t>2</m:t>
                                </m:r>
                              </m:sup>
                            </m:sSup>
                          </m:sup>
                        </m:sSup>
                      </m:e>
                    </m:nary>
                    <m:r>
                      <a:rPr>
                        <a:latin typeface="Cambria Math" panose="02040503050406030204" pitchFamily="18" charset="0"/>
                      </a:rPr>
                      <m:t>𝑑𝑡</m:t>
                    </m:r>
                    <m:r>
                      <a:rPr>
                        <a:latin typeface="Cambria Math" panose="02040503050406030204" pitchFamily="18" charset="0"/>
                      </a:rPr>
                      <m:t>=</m:t>
                    </m:r>
                    <m:f>
                      <m:fPr>
                        <m:ctrlPr>
                          <a:rPr i="1">
                            <a:latin typeface="Cambria Math" panose="02040503050406030204" pitchFamily="18" charset="0"/>
                          </a:rPr>
                        </m:ctrlPr>
                      </m:fPr>
                      <m:num>
                        <m:rad>
                          <m:radPr>
                            <m:degHide m:val="on"/>
                            <m:ctrlPr>
                              <a:rPr i="1">
                                <a:latin typeface="Cambria Math" panose="02040503050406030204" pitchFamily="18" charset="0"/>
                              </a:rPr>
                            </m:ctrlPr>
                          </m:radPr>
                          <m:deg/>
                          <m:e>
                            <m:r>
                              <a:rPr>
                                <a:latin typeface="Cambria Math" panose="02040503050406030204" pitchFamily="18" charset="0"/>
                              </a:rPr>
                              <m:t>𝜋</m:t>
                            </m:r>
                          </m:e>
                        </m:rad>
                      </m:num>
                      <m:den>
                        <m:r>
                          <a:rPr>
                            <a:latin typeface="Cambria Math" panose="02040503050406030204" pitchFamily="18" charset="0"/>
                          </a:rPr>
                          <m:t>2</m:t>
                        </m:r>
                      </m:den>
                    </m:f>
                    <m:r>
                      <m:rPr>
                        <m:sty m:val="p"/>
                      </m:rPr>
                      <a:rPr>
                        <a:latin typeface="Cambria Math" panose="02040503050406030204" pitchFamily="18" charset="0"/>
                      </a:rPr>
                      <m:t>erf</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oMath>
                </a14:m>
                <a:endParaRPr lang="en-US" sz="1300" dirty="0"/>
              </a:p>
            </p:txBody>
          </p:sp>
        </mc:Choice>
        <mc:Fallback>
          <p:sp>
            <p:nvSpPr>
              <p:cNvPr id="13" name="Text 11"/>
              <p:cNvSpPr>
                <a:spLocks noRot="1" noChangeAspect="1" noMove="1" noResize="1" noEditPoints="1" noAdjustHandles="1" noChangeArrowheads="1" noChangeShapeType="1" noTextEdit="1"/>
              </p:cNvSpPr>
              <p:nvPr/>
            </p:nvSpPr>
            <p:spPr>
              <a:xfrm>
                <a:off x="868680" y="5440680"/>
                <a:ext cx="4846320" cy="411480"/>
              </a:xfrm>
              <a:prstGeom prst="rect">
                <a:avLst/>
              </a:prstGeom>
              <a:blipFill>
                <a:blip r:embed="rId7"/>
                <a:stretch>
                  <a:fillRect l="-252" t="-110448" b="-176119"/>
                </a:stretch>
              </a:blipFill>
              <a:ln/>
            </p:spPr>
            <p:txBody>
              <a:bodyPr/>
              <a:lstStyle/>
              <a:p>
                <a:r>
                  <a:rPr lang="es-MX">
                    <a:noFill/>
                  </a:rPr>
                  <a:t> </a:t>
                </a:r>
              </a:p>
            </p:txBody>
          </p:sp>
        </mc:Fallback>
      </mc:AlternateContent>
      <p:sp>
        <p:nvSpPr>
          <p:cNvPr id="14" name="Shape 12"/>
          <p:cNvSpPr/>
          <p:nvPr/>
        </p:nvSpPr>
        <p:spPr>
          <a:xfrm>
            <a:off x="6291072" y="2194560"/>
            <a:ext cx="5349240" cy="3749040"/>
          </a:xfrm>
          <a:prstGeom prst="roundRect">
            <a:avLst>
              <a:gd name="adj" fmla="val 2439"/>
            </a:avLst>
          </a:prstGeom>
          <a:solidFill>
            <a:srgbClr val="D1FAE5"/>
          </a:solidFill>
          <a:ln w="12700">
            <a:solidFill>
              <a:srgbClr val="A7F3D0"/>
            </a:solidFill>
            <a:prstDash val="solid"/>
          </a:ln>
        </p:spPr>
        <p:txBody>
          <a:bodyPr/>
          <a:lstStyle/>
          <a:p>
            <a:endParaRPr lang="es-MX"/>
          </a:p>
        </p:txBody>
      </p:sp>
      <p:sp>
        <p:nvSpPr>
          <p:cNvPr id="15" name="Text 13"/>
          <p:cNvSpPr/>
          <p:nvPr/>
        </p:nvSpPr>
        <p:spPr>
          <a:xfrm>
            <a:off x="6611112" y="2468880"/>
            <a:ext cx="4754880" cy="365760"/>
          </a:xfrm>
          <a:prstGeom prst="rect">
            <a:avLst/>
          </a:prstGeom>
          <a:noFill/>
          <a:ln/>
        </p:spPr>
        <p:txBody>
          <a:bodyPr wrap="square" rtlCol="0" anchor="ctr"/>
          <a:lstStyle/>
          <a:p>
            <a:pPr marL="0" indent="0">
              <a:buNone/>
            </a:pPr>
            <a:r>
              <a:rPr lang="en-US" sz="1500" b="1" dirty="0">
                <a:solidFill>
                  <a:srgbClr val="065F46"/>
                </a:solidFill>
                <a:latin typeface="Calibri" pitchFamily="34" charset="0"/>
                <a:ea typeface="Calibri" pitchFamily="34" charset="-122"/>
                <a:cs typeface="Calibri" pitchFamily="34" charset="-120"/>
              </a:rPr>
              <a:t>Solución del PVI:</a:t>
            </a:r>
            <a:endParaRPr lang="en-US" sz="1500" dirty="0"/>
          </a:p>
        </p:txBody>
      </p:sp>
      <p:sp>
        <p:nvSpPr>
          <p:cNvPr id="16" name="Shape 14"/>
          <p:cNvSpPr/>
          <p:nvPr/>
        </p:nvSpPr>
        <p:spPr>
          <a:xfrm>
            <a:off x="6611112" y="2971800"/>
            <a:ext cx="4709160" cy="1188720"/>
          </a:xfrm>
          <a:prstGeom prst="roundRect">
            <a:avLst>
              <a:gd name="adj" fmla="val 5385"/>
            </a:avLst>
          </a:prstGeom>
          <a:solidFill>
            <a:srgbClr val="FFFFFF"/>
          </a:solidFill>
          <a:ln w="12700">
            <a:solidFill>
              <a:srgbClr val="A7F3D0"/>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7" name="Text 15"/>
              <p:cNvSpPr/>
              <p:nvPr/>
            </p:nvSpPr>
            <p:spPr>
              <a:xfrm>
                <a:off x="6611112" y="2971800"/>
                <a:ext cx="4709160" cy="1188720"/>
              </a:xfrm>
              <a:prstGeom prst="rect">
                <a:avLst/>
              </a:prstGeom>
              <a:noFill/>
              <a:ln/>
            </p:spPr>
            <p:txBody>
              <a:bodyPr wrap="square" rtlCol="0" anchor="ctr"/>
              <a:lstStyle/>
              <a:p>
                <a:pPr marL="0" indent="0" algn="ctr">
                  <a:buNone/>
                  <a:defRPr sz="2400">
                    <a:solidFill>
                      <a:srgbClr val="047857"/>
                    </a:solidFill>
                  </a:defRPr>
                </a:pPr>
                <a14:m>
                  <m:oMathPara xmlns:m="http://schemas.openxmlformats.org/officeDocument/2006/math">
                    <m:oMath>
                      <m:r>
                        <a:rPr>
                          <a:latin typeface="Cambria Math" panose="02040503050406030204" pitchFamily="18" charset="0"/>
                        </a:rPr>
                        <m:t>𝑦</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sSup>
                            <m:sSupPr>
                              <m:ctrlPr>
                                <a:rPr>
                                  <a:latin typeface="Cambria Math" panose="02040503050406030204" pitchFamily="18" charset="0"/>
                                </a:rPr>
                              </m:ctrlPr>
                            </m:sSupPr>
                            <m:e>
                              <m:r>
                                <a:rPr>
                                  <a:latin typeface="Cambria Math" panose="02040503050406030204" pitchFamily="18" charset="0"/>
                                </a:rPr>
                                <m:t>𝑥</m:t>
                              </m:r>
                            </m:e>
                            <m:sup>
                              <m:r>
                                <a:rPr>
                                  <a:latin typeface="Cambria Math" panose="02040503050406030204" pitchFamily="18" charset="0"/>
                                </a:rPr>
                                <m:t>2</m:t>
                              </m:r>
                            </m:sup>
                          </m:sSup>
                        </m:sup>
                      </m:sSup>
                      <m:d>
                        <m:dPr>
                          <m:ctrlPr>
                            <a:rPr>
                              <a:latin typeface="Cambria Math" panose="02040503050406030204" pitchFamily="18" charset="0"/>
                            </a:rPr>
                          </m:ctrlPr>
                        </m:dPr>
                        <m:e>
                          <m:r>
                            <a:rPr>
                              <a:latin typeface="Cambria Math" panose="02040503050406030204" pitchFamily="18" charset="0"/>
                            </a:rPr>
                            <m:t>1+</m:t>
                          </m:r>
                          <m:rad>
                            <m:radPr>
                              <m:degHide m:val="on"/>
                              <m:ctrlPr>
                                <a:rPr i="1">
                                  <a:latin typeface="Cambria Math" panose="02040503050406030204" pitchFamily="18" charset="0"/>
                                </a:rPr>
                              </m:ctrlPr>
                            </m:radPr>
                            <m:deg/>
                            <m:e>
                              <m:r>
                                <a:rPr>
                                  <a:latin typeface="Cambria Math" panose="02040503050406030204" pitchFamily="18" charset="0"/>
                                </a:rPr>
                                <m:t>𝜋</m:t>
                              </m:r>
                            </m:e>
                          </m:rad>
                          <m:r>
                            <m:rPr>
                              <m:sty m:val="p"/>
                            </m:rPr>
                            <a:rPr>
                              <a:latin typeface="Cambria Math" panose="02040503050406030204" pitchFamily="18" charset="0"/>
                            </a:rPr>
                            <m:t>erf</m:t>
                          </m:r>
                          <m:r>
                            <a:rPr>
                              <a:latin typeface="Cambria Math" panose="02040503050406030204" pitchFamily="18" charset="0"/>
                            </a:rPr>
                            <m:t>(</m:t>
                          </m:r>
                          <m:r>
                            <a:rPr>
                              <a:latin typeface="Cambria Math" panose="02040503050406030204" pitchFamily="18" charset="0"/>
                            </a:rPr>
                            <m:t>𝑥</m:t>
                          </m:r>
                          <m:r>
                            <a:rPr>
                              <a:latin typeface="Cambria Math" panose="02040503050406030204" pitchFamily="18" charset="0"/>
                            </a:rPr>
                            <m:t>)</m:t>
                          </m:r>
                        </m:e>
                      </m:d>
                    </m:oMath>
                  </m:oMathPara>
                </a14:m>
                <a:endParaRPr lang="en-US" sz="2400" dirty="0"/>
              </a:p>
            </p:txBody>
          </p:sp>
        </mc:Choice>
        <mc:Fallback>
          <p:sp>
            <p:nvSpPr>
              <p:cNvPr id="17" name="Text 15"/>
              <p:cNvSpPr>
                <a:spLocks noRot="1" noChangeAspect="1" noMove="1" noResize="1" noEditPoints="1" noAdjustHandles="1" noChangeArrowheads="1" noChangeShapeType="1" noTextEdit="1"/>
              </p:cNvSpPr>
              <p:nvPr/>
            </p:nvSpPr>
            <p:spPr>
              <a:xfrm>
                <a:off x="6611112" y="2971800"/>
                <a:ext cx="4709160" cy="1188720"/>
              </a:xfrm>
              <a:prstGeom prst="rect">
                <a:avLst/>
              </a:prstGeom>
              <a:blipFill>
                <a:blip r:embed="rId8"/>
                <a:stretch>
                  <a:fillRect/>
                </a:stretch>
              </a:blipFill>
              <a:ln/>
            </p:spPr>
            <p:txBody>
              <a:bodyPr/>
              <a:lstStyle/>
              <a:p>
                <a:r>
                  <a:rPr lang="es-MX">
                    <a:noFill/>
                  </a:rPr>
                  <a:t> </a:t>
                </a:r>
              </a:p>
            </p:txBody>
          </p:sp>
        </mc:Fallback>
      </mc:AlternateContent>
      <p:sp>
        <p:nvSpPr>
          <p:cNvPr id="18" name="Text 16"/>
          <p:cNvSpPr/>
          <p:nvPr/>
        </p:nvSpPr>
        <p:spPr>
          <a:xfrm>
            <a:off x="6611112" y="4343400"/>
            <a:ext cx="4709160" cy="1463040"/>
          </a:xfrm>
          <a:prstGeom prst="rect">
            <a:avLst/>
          </a:prstGeom>
          <a:noFill/>
          <a:ln/>
        </p:spPr>
        <p:txBody>
          <a:bodyPr wrap="square" rtlCol="0" anchor="t"/>
          <a:lstStyle/>
          <a:p>
            <a:pPr marL="0" indent="0">
              <a:lnSpc>
                <a:spcPct val="130000"/>
              </a:lnSpc>
              <a:buNone/>
            </a:pPr>
            <a:r>
              <a:rPr lang="en-US" sz="1300" dirty="0">
                <a:solidFill>
                  <a:srgbClr val="065F46"/>
                </a:solidFill>
                <a:latin typeface="Calibri" pitchFamily="34" charset="0"/>
                <a:ea typeface="Calibri" pitchFamily="34" charset="-122"/>
                <a:cs typeface="Calibri" pitchFamily="34" charset="-120"/>
              </a:rPr>
              <a:t>No hay forma de escribir esta solución sin erf — y eso está perfectamente bien. P(x)=-2x y f(x)=2 son continuas en todo ℝ, así que por el teorema, la solución también es válida en todo ℝ.</a:t>
            </a:r>
            <a:endParaRPr lang="en-US" sz="1300" dirty="0"/>
          </a:p>
        </p:txBody>
      </p:sp>
      <p:sp>
        <p:nvSpPr>
          <p:cNvPr id="19" name="Text 1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235440" y="-2651760"/>
            <a:ext cx="4937760" cy="4937760"/>
          </a:xfrm>
          <a:prstGeom prst="ellipse">
            <a:avLst/>
          </a:prstGeom>
          <a:solidFill>
            <a:srgbClr val="E0E7FF"/>
          </a:solidFill>
          <a:ln/>
        </p:spPr>
        <p:txBody>
          <a:bodyPr/>
          <a:lstStyle/>
          <a:p>
            <a:endParaRPr lang="es-MX"/>
          </a:p>
        </p:txBody>
      </p:sp>
      <p:sp>
        <p:nvSpPr>
          <p:cNvPr id="3" name="Shape 1"/>
          <p:cNvSpPr/>
          <p:nvPr/>
        </p:nvSpPr>
        <p:spPr>
          <a:xfrm>
            <a:off x="548640" y="365760"/>
            <a:ext cx="1783080" cy="384048"/>
          </a:xfrm>
          <a:prstGeom prst="roundRect">
            <a:avLst>
              <a:gd name="adj" fmla="val 50000"/>
            </a:avLst>
          </a:prstGeom>
          <a:solidFill>
            <a:srgbClr val="E0E7FF"/>
          </a:solidFill>
          <a:ln/>
        </p:spPr>
        <p:txBody>
          <a:bodyPr/>
          <a:lstStyle/>
          <a:p>
            <a:endParaRPr lang="es-MX"/>
          </a:p>
        </p:txBody>
      </p:sp>
      <p:sp>
        <p:nvSpPr>
          <p:cNvPr id="4" name="Text 2"/>
          <p:cNvSpPr/>
          <p:nvPr/>
        </p:nvSpPr>
        <p:spPr>
          <a:xfrm>
            <a:off x="548640" y="365760"/>
            <a:ext cx="1783080" cy="384048"/>
          </a:xfrm>
          <a:prstGeom prst="rect">
            <a:avLst/>
          </a:prstGeom>
          <a:noFill/>
          <a:ln/>
        </p:spPr>
        <p:txBody>
          <a:bodyPr wrap="square" rtlCol="0" anchor="ctr"/>
          <a:lstStyle/>
          <a:p>
            <a:pPr marL="0" indent="0" algn="ctr">
              <a:buNone/>
            </a:pPr>
            <a:r>
              <a:rPr lang="en-US" sz="1300" b="1" kern="0" spc="100" dirty="0">
                <a:solidFill>
                  <a:srgbClr val="4338CA"/>
                </a:solidFill>
                <a:latin typeface="Calibri" pitchFamily="34" charset="0"/>
                <a:ea typeface="Calibri" pitchFamily="34" charset="-122"/>
                <a:cs typeface="Calibri" pitchFamily="34" charset="-120"/>
              </a:rPr>
              <a:t>EJEMPLO 6</a:t>
            </a:r>
            <a:endParaRPr lang="en-US" sz="1300" dirty="0"/>
          </a:p>
        </p:txBody>
      </p:sp>
      <p:sp>
        <p:nvSpPr>
          <p:cNvPr id="6" name="Shape 4"/>
          <p:cNvSpPr/>
          <p:nvPr/>
        </p:nvSpPr>
        <p:spPr>
          <a:xfrm>
            <a:off x="1737360" y="2743200"/>
            <a:ext cx="8714232" cy="1737360"/>
          </a:xfrm>
          <a:prstGeom prst="roundRect">
            <a:avLst>
              <a:gd name="adj" fmla="val 5263"/>
            </a:avLst>
          </a:prstGeom>
          <a:solidFill>
            <a:srgbClr val="FFFFFF"/>
          </a:solidFill>
          <a:ln w="12700">
            <a:solidFill>
              <a:srgbClr val="E2E8F0"/>
            </a:solidFill>
            <a:prstDash val="solid"/>
          </a:ln>
        </p:spPr>
        <p:txBody>
          <a:bodyPr/>
          <a:lstStyle/>
          <a:p>
            <a:endParaRPr lang="es-MX"/>
          </a:p>
        </p:txBody>
      </p:sp>
      <p:sp>
        <p:nvSpPr>
          <p:cNvPr id="7" name="Text 5"/>
          <p:cNvSpPr/>
          <p:nvPr/>
        </p:nvSpPr>
        <p:spPr>
          <a:xfrm>
            <a:off x="2011680" y="2926080"/>
            <a:ext cx="8165592" cy="1371600"/>
          </a:xfrm>
          <a:prstGeom prst="rect">
            <a:avLst/>
          </a:prstGeom>
          <a:noFill/>
          <a:ln/>
        </p:spPr>
        <p:txBody>
          <a:bodyPr wrap="square" rtlCol="0" anchor="ctr"/>
          <a:lstStyle/>
          <a:p>
            <a:pPr marL="0" indent="0" algn="ctr">
              <a:lnSpc>
                <a:spcPct val="135000"/>
              </a:lnSpc>
              <a:buNone/>
            </a:pPr>
            <a:r>
              <a:rPr lang="en-US" sz="1450" dirty="0">
                <a:solidFill>
                  <a:srgbClr val="334155"/>
                </a:solidFill>
                <a:latin typeface="Calibri" pitchFamily="34" charset="0"/>
                <a:ea typeface="Calibri" pitchFamily="34" charset="-122"/>
                <a:cs typeface="Calibri" pitchFamily="34" charset="-120"/>
              </a:rPr>
              <a:t>Un tanque contiene 300 L de salmuera con 50 kg de sal disuelta. Entra salmuera con concentración 2 kg/L a razón de 3 L/min. La mezcla, bien agitada, sale a la misma razón.</a:t>
            </a:r>
            <a:endParaRPr lang="en-US" sz="1450" dirty="0"/>
          </a:p>
          <a:p>
            <a:pPr marL="0" indent="0" algn="ctr">
              <a:lnSpc>
                <a:spcPct val="135000"/>
              </a:lnSpc>
              <a:buNone/>
            </a:pPr>
            <a:endParaRPr lang="en-US" sz="1450" dirty="0"/>
          </a:p>
          <a:p>
            <a:pPr marL="0" indent="0" algn="ctr">
              <a:lnSpc>
                <a:spcPct val="135000"/>
              </a:lnSpc>
              <a:buNone/>
            </a:pPr>
            <a:r>
              <a:rPr lang="en-US" sz="1450" dirty="0">
                <a:solidFill>
                  <a:srgbClr val="334155"/>
                </a:solidFill>
                <a:latin typeface="Calibri" pitchFamily="34" charset="0"/>
                <a:ea typeface="Calibri" pitchFamily="34" charset="-122"/>
                <a:cs typeface="Calibri" pitchFamily="34" charset="-120"/>
              </a:rPr>
              <a:t>Encuentra la cantidad de sal A(t) en el tanque en cualquier momento t, y determina qué pasa cuando t → ∞.</a:t>
            </a:r>
            <a:endParaRPr lang="en-US" sz="1450" dirty="0"/>
          </a:p>
        </p:txBody>
      </p:sp>
      <p:sp>
        <p:nvSpPr>
          <p:cNvPr id="8" name="Text 6"/>
          <p:cNvSpPr/>
          <p:nvPr/>
        </p:nvSpPr>
        <p:spPr>
          <a:xfrm>
            <a:off x="1737360" y="4709160"/>
            <a:ext cx="8714232" cy="822960"/>
          </a:xfrm>
          <a:prstGeom prst="rect">
            <a:avLst/>
          </a:prstGeom>
          <a:noFill/>
          <a:ln/>
        </p:spPr>
        <p:txBody>
          <a:bodyPr wrap="square" rtlCol="0" anchor="t"/>
          <a:lstStyle/>
          <a:p>
            <a:pPr marL="0" indent="0" algn="ctr">
              <a:lnSpc>
                <a:spcPct val="130000"/>
              </a:lnSpc>
              <a:buNone/>
            </a:pPr>
            <a:r>
              <a:rPr lang="en-US" sz="1600" i="1" dirty="0">
                <a:solidFill>
                  <a:srgbClr val="475569"/>
                </a:solidFill>
                <a:latin typeface="Calibri" pitchFamily="34" charset="0"/>
                <a:ea typeface="Calibri" pitchFamily="34" charset="-122"/>
                <a:cs typeface="Calibri" pitchFamily="34" charset="-120"/>
              </a:rPr>
              <a:t>Plantea la ecuación diferencial que modela el proceso y resuélvela.</a:t>
            </a:r>
            <a:endParaRPr lang="en-US" sz="1600" dirty="0"/>
          </a:p>
        </p:txBody>
      </p:sp>
      <p:sp>
        <p:nvSpPr>
          <p:cNvPr id="9" name="Text 7"/>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65760"/>
            <a:ext cx="2423160" cy="384048"/>
          </a:xfrm>
          <a:prstGeom prst="roundRect">
            <a:avLst>
              <a:gd name="adj" fmla="val 50000"/>
            </a:avLst>
          </a:prstGeom>
          <a:solidFill>
            <a:srgbClr val="E0E7FF"/>
          </a:solidFill>
          <a:ln/>
        </p:spPr>
        <p:txBody>
          <a:bodyPr/>
          <a:lstStyle/>
          <a:p>
            <a:endParaRPr lang="es-MX"/>
          </a:p>
        </p:txBody>
      </p:sp>
      <p:sp>
        <p:nvSpPr>
          <p:cNvPr id="3" name="Text 1"/>
          <p:cNvSpPr/>
          <p:nvPr/>
        </p:nvSpPr>
        <p:spPr>
          <a:xfrm>
            <a:off x="548640" y="365760"/>
            <a:ext cx="2423160" cy="384048"/>
          </a:xfrm>
          <a:prstGeom prst="rect">
            <a:avLst/>
          </a:prstGeom>
          <a:noFill/>
          <a:ln/>
        </p:spPr>
        <p:txBody>
          <a:bodyPr wrap="square" rtlCol="0" anchor="ctr"/>
          <a:lstStyle/>
          <a:p>
            <a:pPr marL="0" indent="0" algn="ctr">
              <a:buNone/>
            </a:pPr>
            <a:r>
              <a:rPr lang="en-US" sz="1300" b="1" kern="0" spc="100" dirty="0">
                <a:solidFill>
                  <a:srgbClr val="4338CA"/>
                </a:solidFill>
                <a:latin typeface="Calibri" pitchFamily="34" charset="0"/>
                <a:ea typeface="Calibri" pitchFamily="34" charset="-122"/>
                <a:cs typeface="Calibri" pitchFamily="34" charset="-120"/>
              </a:rPr>
              <a:t>EJEMPLO 6 · APLICACIÓN</a:t>
            </a:r>
            <a:endParaRPr lang="en-US" sz="1300" dirty="0"/>
          </a:p>
        </p:txBody>
      </p:sp>
      <p:sp>
        <p:nvSpPr>
          <p:cNvPr id="4" name="Text 2"/>
          <p:cNvSpPr/>
          <p:nvPr/>
        </p:nvSpPr>
        <p:spPr>
          <a:xfrm>
            <a:off x="548640" y="868680"/>
            <a:ext cx="11091672" cy="731520"/>
          </a:xfrm>
          <a:prstGeom prst="rect">
            <a:avLst/>
          </a:prstGeom>
          <a:noFill/>
          <a:ln/>
        </p:spPr>
        <p:txBody>
          <a:bodyPr wrap="square" rtlCol="0" anchor="t"/>
          <a:lstStyle/>
          <a:p>
            <a:pPr marL="0" indent="0" algn="l">
              <a:buNone/>
            </a:pPr>
            <a:r>
              <a:rPr lang="en-US" sz="3000" b="1" dirty="0">
                <a:solidFill>
                  <a:srgbClr val="0F172A"/>
                </a:solidFill>
                <a:latin typeface="Calibri" pitchFamily="34" charset="0"/>
                <a:ea typeface="Calibri" pitchFamily="34" charset="-122"/>
                <a:cs typeface="Calibri" pitchFamily="34" charset="-120"/>
              </a:rPr>
              <a:t>Un Tanque de Mezcla</a:t>
            </a:r>
            <a:endParaRPr lang="en-US" sz="3000" dirty="0"/>
          </a:p>
        </p:txBody>
      </p:sp>
      <p:sp>
        <p:nvSpPr>
          <p:cNvPr id="5" name="Shape 3"/>
          <p:cNvSpPr/>
          <p:nvPr/>
        </p:nvSpPr>
        <p:spPr>
          <a:xfrm>
            <a:off x="548640" y="1691640"/>
            <a:ext cx="11091672" cy="2148840"/>
          </a:xfrm>
          <a:prstGeom prst="roundRect">
            <a:avLst>
              <a:gd name="adj" fmla="val 4255"/>
            </a:avLst>
          </a:prstGeom>
          <a:solidFill>
            <a:srgbClr val="F1F5F9"/>
          </a:solidFill>
          <a:ln w="12700">
            <a:solidFill>
              <a:srgbClr val="E2E8F0"/>
            </a:solidFill>
            <a:prstDash val="solid"/>
          </a:ln>
        </p:spPr>
        <p:txBody>
          <a:bodyPr/>
          <a:lstStyle/>
          <a:p>
            <a:endParaRPr lang="es-MX"/>
          </a:p>
        </p:txBody>
      </p:sp>
      <p:sp>
        <p:nvSpPr>
          <p:cNvPr id="6" name="Text 4"/>
          <p:cNvSpPr/>
          <p:nvPr/>
        </p:nvSpPr>
        <p:spPr>
          <a:xfrm>
            <a:off x="868680" y="1874520"/>
            <a:ext cx="10424160" cy="365760"/>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Modelando: razón de cambio = entra − sale</a:t>
            </a:r>
            <a:endParaRPr lang="en-US" sz="1500" dirty="0"/>
          </a:p>
        </p:txBody>
      </p:sp>
      <mc:AlternateContent xmlns:mc="http://schemas.openxmlformats.org/markup-compatibility/2006">
        <mc:Choice xmlns:a14="http://schemas.microsoft.com/office/drawing/2010/main" Requires="a14">
          <p:sp>
            <p:nvSpPr>
              <p:cNvPr id="7" name="Text 5"/>
              <p:cNvSpPr/>
              <p:nvPr/>
            </p:nvSpPr>
            <p:spPr>
              <a:xfrm>
                <a:off x="868680" y="2286000"/>
                <a:ext cx="10424160" cy="640080"/>
              </a:xfrm>
              <a:prstGeom prst="rect">
                <a:avLst/>
              </a:prstGeom>
              <a:noFill/>
              <a:ln/>
            </p:spPr>
            <p:txBody>
              <a:bodyPr wrap="square" rtlCol="0" anchor="t"/>
              <a:lstStyle/>
              <a:p>
                <a:pPr marL="0" indent="0" algn="ctr">
                  <a:buNone/>
                  <a:defRPr sz="1700">
                    <a:solidFill>
                      <a:srgbClr val="334155"/>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𝑑𝐴</m:t>
                          </m:r>
                        </m:num>
                        <m:den>
                          <m:r>
                            <a:rPr>
                              <a:latin typeface="Cambria Math" panose="02040503050406030204" pitchFamily="18" charset="0"/>
                            </a:rPr>
                            <m:t>𝑑𝑡</m:t>
                          </m:r>
                        </m:den>
                      </m:f>
                      <m:r>
                        <a:rPr>
                          <a:latin typeface="Cambria Math" panose="02040503050406030204" pitchFamily="18" charset="0"/>
                        </a:rPr>
                        <m:t>=(2)(3)−</m:t>
                      </m:r>
                      <m:d>
                        <m:dPr>
                          <m:ctrlPr>
                            <a:rPr i="1">
                              <a:latin typeface="Cambria Math" panose="02040503050406030204" pitchFamily="18" charset="0"/>
                            </a:rPr>
                          </m:ctrlPr>
                        </m:dPr>
                        <m:e>
                          <m:f>
                            <m:fPr>
                              <m:ctrlPr>
                                <a:rPr>
                                  <a:latin typeface="Cambria Math" panose="02040503050406030204" pitchFamily="18" charset="0"/>
                                </a:rPr>
                              </m:ctrlPr>
                            </m:fPr>
                            <m:num>
                              <m:r>
                                <a:rPr>
                                  <a:latin typeface="Cambria Math" panose="02040503050406030204" pitchFamily="18" charset="0"/>
                                </a:rPr>
                                <m:t>𝐴</m:t>
                              </m:r>
                            </m:num>
                            <m:den>
                              <m:r>
                                <a:rPr>
                                  <a:latin typeface="Cambria Math" panose="02040503050406030204" pitchFamily="18" charset="0"/>
                                </a:rPr>
                                <m:t>300</m:t>
                              </m:r>
                            </m:den>
                          </m:f>
                        </m:e>
                      </m:d>
                      <m:r>
                        <a:rPr>
                          <a:latin typeface="Cambria Math" panose="02040503050406030204" pitchFamily="18" charset="0"/>
                        </a:rPr>
                        <m:t>(3)=6−</m:t>
                      </m:r>
                      <m:f>
                        <m:fPr>
                          <m:ctrlPr>
                            <a:rPr>
                              <a:latin typeface="Cambria Math" panose="02040503050406030204" pitchFamily="18" charset="0"/>
                            </a:rPr>
                          </m:ctrlPr>
                        </m:fPr>
                        <m:num>
                          <m:r>
                            <a:rPr>
                              <a:latin typeface="Cambria Math" panose="02040503050406030204" pitchFamily="18" charset="0"/>
                            </a:rPr>
                            <m:t>𝐴</m:t>
                          </m:r>
                        </m:num>
                        <m:den>
                          <m:r>
                            <a:rPr>
                              <a:latin typeface="Cambria Math" panose="02040503050406030204" pitchFamily="18" charset="0"/>
                            </a:rPr>
                            <m:t>100</m:t>
                          </m:r>
                        </m:den>
                      </m:f>
                    </m:oMath>
                  </m:oMathPara>
                </a14:m>
                <a:endParaRPr lang="en-US" sz="1700" dirty="0"/>
              </a:p>
            </p:txBody>
          </p:sp>
        </mc:Choice>
        <mc:Fallback>
          <p:sp>
            <p:nvSpPr>
              <p:cNvPr id="7" name="Text 5"/>
              <p:cNvSpPr>
                <a:spLocks noRot="1" noChangeAspect="1" noMove="1" noResize="1" noEditPoints="1" noAdjustHandles="1" noChangeArrowheads="1" noChangeShapeType="1" noTextEdit="1"/>
              </p:cNvSpPr>
              <p:nvPr/>
            </p:nvSpPr>
            <p:spPr>
              <a:xfrm>
                <a:off x="868680" y="2286000"/>
                <a:ext cx="10424160" cy="640080"/>
              </a:xfrm>
              <a:prstGeom prst="rect">
                <a:avLst/>
              </a:prstGeom>
              <a:blipFill>
                <a:blip r:embed="rId3"/>
                <a:stretch>
                  <a:fillRect/>
                </a:stretch>
              </a:blipFill>
              <a:ln/>
            </p:spPr>
            <p:txBody>
              <a:bodyPr/>
              <a:lstStyle/>
              <a:p>
                <a:r>
                  <a:rPr lang="es-MX">
                    <a:noFill/>
                  </a:rPr>
                  <a:t> </a:t>
                </a:r>
              </a:p>
            </p:txBody>
          </p:sp>
        </mc:Fallback>
      </mc:AlternateContent>
      <p:sp>
        <p:nvSpPr>
          <p:cNvPr id="8" name="Shape 6"/>
          <p:cNvSpPr/>
          <p:nvPr/>
        </p:nvSpPr>
        <p:spPr>
          <a:xfrm>
            <a:off x="2651760" y="2971800"/>
            <a:ext cx="6858000" cy="685800"/>
          </a:xfrm>
          <a:prstGeom prst="roundRect">
            <a:avLst>
              <a:gd name="adj" fmla="val 9333"/>
            </a:avLst>
          </a:prstGeom>
          <a:solidFill>
            <a:srgbClr val="FFFFFF"/>
          </a:solidFill>
          <a:ln w="12700">
            <a:solidFill>
              <a:srgbClr val="CBD5E1"/>
            </a:solidFill>
            <a:prstDash val="solid"/>
          </a:ln>
        </p:spPr>
        <p:txBody>
          <a:bodyPr/>
          <a:lstStyle/>
          <a:p>
            <a:endParaRPr lang="es-MX"/>
          </a:p>
        </p:txBody>
      </p:sp>
      <mc:AlternateContent xmlns:mc="http://schemas.openxmlformats.org/markup-compatibility/2006">
        <mc:Choice xmlns:a14="http://schemas.microsoft.com/office/drawing/2010/main" Requires="a14">
          <p:sp>
            <p:nvSpPr>
              <p:cNvPr id="9" name="Text 7"/>
              <p:cNvSpPr/>
              <p:nvPr/>
            </p:nvSpPr>
            <p:spPr>
              <a:xfrm>
                <a:off x="2651760" y="2971800"/>
                <a:ext cx="6858000" cy="685800"/>
              </a:xfrm>
              <a:prstGeom prst="rect">
                <a:avLst/>
              </a:prstGeom>
              <a:noFill/>
              <a:ln/>
            </p:spPr>
            <p:txBody>
              <a:bodyPr wrap="square" rtlCol="0" anchor="ctr"/>
              <a:lstStyle/>
              <a:p>
                <a:pPr marL="0" indent="0" algn="ctr">
                  <a:buNone/>
                  <a:defRPr sz="1900">
                    <a:solidFill>
                      <a:srgbClr val="4338CA"/>
                    </a:solidFill>
                  </a:defRPr>
                </a:pPr>
                <a14:m>
                  <m:oMathPara xmlns:m="http://schemas.openxmlformats.org/officeDocument/2006/math">
                    <m:oMath>
                      <m:f>
                        <m:fPr>
                          <m:ctrlPr>
                            <a:rPr>
                              <a:latin typeface="Cambria Math" panose="02040503050406030204" pitchFamily="18" charset="0"/>
                            </a:rPr>
                          </m:ctrlPr>
                        </m:fPr>
                        <m:num>
                          <m:r>
                            <a:rPr>
                              <a:latin typeface="Cambria Math" panose="02040503050406030204" pitchFamily="18" charset="0"/>
                            </a:rPr>
                            <m:t>𝑑𝐴</m:t>
                          </m:r>
                        </m:num>
                        <m:den>
                          <m:r>
                            <a:rPr>
                              <a:latin typeface="Cambria Math" panose="02040503050406030204" pitchFamily="18" charset="0"/>
                            </a:rPr>
                            <m:t>𝑑𝑡</m:t>
                          </m:r>
                        </m:den>
                      </m:f>
                      <m:r>
                        <a:rPr>
                          <a:latin typeface="Cambria Math" panose="02040503050406030204" pitchFamily="18" charset="0"/>
                        </a:rPr>
                        <m:t>+</m:t>
                      </m:r>
                      <m:f>
                        <m:fPr>
                          <m:ctrlPr>
                            <a:rPr>
                              <a:latin typeface="Cambria Math" panose="02040503050406030204" pitchFamily="18" charset="0"/>
                            </a:rPr>
                          </m:ctrlPr>
                        </m:fPr>
                        <m:num>
                          <m:r>
                            <a:rPr>
                              <a:latin typeface="Cambria Math" panose="02040503050406030204" pitchFamily="18" charset="0"/>
                            </a:rPr>
                            <m:t>𝐴</m:t>
                          </m:r>
                        </m:num>
                        <m:den>
                          <m:r>
                            <a:rPr>
                              <a:latin typeface="Cambria Math" panose="02040503050406030204" pitchFamily="18" charset="0"/>
                            </a:rPr>
                            <m:t>100</m:t>
                          </m:r>
                        </m:den>
                      </m:f>
                      <m:r>
                        <a:rPr>
                          <a:latin typeface="Cambria Math" panose="02040503050406030204" pitchFamily="18" charset="0"/>
                        </a:rPr>
                        <m:t>=6,</m:t>
                      </m:r>
                      <m:r>
                        <a:rPr>
                          <a:latin typeface="Cambria Math" panose="02040503050406030204" pitchFamily="18" charset="0"/>
                        </a:rPr>
                        <m:t>𝐴</m:t>
                      </m:r>
                      <m:r>
                        <a:rPr>
                          <a:latin typeface="Cambria Math" panose="02040503050406030204" pitchFamily="18" charset="0"/>
                        </a:rPr>
                        <m:t>(0)=50</m:t>
                      </m:r>
                    </m:oMath>
                  </m:oMathPara>
                </a14:m>
                <a:endParaRPr lang="en-US" sz="1900" dirty="0"/>
              </a:p>
            </p:txBody>
          </p:sp>
        </mc:Choice>
        <mc:Fallback>
          <p:sp>
            <p:nvSpPr>
              <p:cNvPr id="9" name="Text 7"/>
              <p:cNvSpPr>
                <a:spLocks noRot="1" noChangeAspect="1" noMove="1" noResize="1" noEditPoints="1" noAdjustHandles="1" noChangeArrowheads="1" noChangeShapeType="1" noTextEdit="1"/>
              </p:cNvSpPr>
              <p:nvPr/>
            </p:nvSpPr>
            <p:spPr>
              <a:xfrm>
                <a:off x="2651760" y="2971800"/>
                <a:ext cx="6858000" cy="685800"/>
              </a:xfrm>
              <a:prstGeom prst="rect">
                <a:avLst/>
              </a:prstGeom>
              <a:blipFill>
                <a:blip r:embed="rId4"/>
                <a:stretch>
                  <a:fillRect/>
                </a:stretch>
              </a:blipFill>
              <a:ln/>
            </p:spPr>
            <p:txBody>
              <a:bodyPr/>
              <a:lstStyle/>
              <a:p>
                <a:r>
                  <a:rPr lang="es-MX">
                    <a:noFill/>
                  </a:rPr>
                  <a:t> </a:t>
                </a:r>
              </a:p>
            </p:txBody>
          </p:sp>
        </mc:Fallback>
      </mc:AlternateContent>
      <p:sp>
        <p:nvSpPr>
          <p:cNvPr id="10" name="Shape 8"/>
          <p:cNvSpPr/>
          <p:nvPr/>
        </p:nvSpPr>
        <p:spPr>
          <a:xfrm>
            <a:off x="548640" y="4023360"/>
            <a:ext cx="5349240" cy="2468880"/>
          </a:xfrm>
          <a:prstGeom prst="roundRect">
            <a:avLst>
              <a:gd name="adj" fmla="val 3704"/>
            </a:avLst>
          </a:prstGeom>
          <a:solidFill>
            <a:srgbClr val="F1F5F9"/>
          </a:solidFill>
          <a:ln w="12700">
            <a:solidFill>
              <a:srgbClr val="E2E8F0"/>
            </a:solidFill>
            <a:prstDash val="solid"/>
          </a:ln>
        </p:spPr>
        <p:txBody>
          <a:bodyPr/>
          <a:lstStyle/>
          <a:p>
            <a:endParaRPr lang="es-MX"/>
          </a:p>
        </p:txBody>
      </p:sp>
      <p:sp>
        <p:nvSpPr>
          <p:cNvPr id="11" name="Text 9"/>
          <p:cNvSpPr/>
          <p:nvPr/>
        </p:nvSpPr>
        <p:spPr>
          <a:xfrm>
            <a:off x="868680" y="4206240"/>
            <a:ext cx="4754880" cy="365760"/>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Factor integrante y solución:</a:t>
            </a:r>
            <a:endParaRPr lang="en-US" sz="1400" dirty="0"/>
          </a:p>
        </p:txBody>
      </p:sp>
      <mc:AlternateContent xmlns:mc="http://schemas.openxmlformats.org/markup-compatibility/2006">
        <mc:Choice xmlns:a14="http://schemas.microsoft.com/office/drawing/2010/main" Requires="a14">
          <p:sp>
            <p:nvSpPr>
              <p:cNvPr id="12" name="Text 10"/>
              <p:cNvSpPr/>
              <p:nvPr/>
            </p:nvSpPr>
            <p:spPr>
              <a:xfrm>
                <a:off x="868680" y="4617720"/>
                <a:ext cx="4754880" cy="365760"/>
              </a:xfrm>
              <a:prstGeom prst="rect">
                <a:avLst/>
              </a:prstGeom>
              <a:noFill/>
              <a:ln/>
            </p:spPr>
            <p:txBody>
              <a:bodyPr wrap="square" rtlCol="0" anchor="t"/>
              <a:lstStyle/>
              <a:p>
                <a:pPr marL="0" indent="0" algn="l">
                  <a:buNone/>
                  <a:defRPr sz="1500">
                    <a:solidFill>
                      <a:srgbClr val="334155"/>
                    </a:solidFill>
                  </a:defRPr>
                </a:pPr>
                <a14:m>
                  <m:oMathPara xmlns:m="http://schemas.openxmlformats.org/officeDocument/2006/math">
                    <m:oMath>
                      <m:r>
                        <a:rPr>
                          <a:latin typeface="Cambria Math" panose="02040503050406030204" pitchFamily="18" charset="0"/>
                        </a:rPr>
                        <m:t>𝜇</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m:t>
                      </m:r>
                      <m:sSup>
                        <m:sSupPr>
                          <m:ctrlPr>
                            <a:rPr>
                              <a:latin typeface="Cambria Math" panose="02040503050406030204" pitchFamily="18" charset="0"/>
                            </a:rPr>
                          </m:ctrlPr>
                        </m:sSupPr>
                        <m:e>
                          <m:r>
                            <a:rPr>
                              <a:latin typeface="Cambria Math" panose="02040503050406030204" pitchFamily="18" charset="0"/>
                            </a:rPr>
                            <m:t>𝑒</m:t>
                          </m:r>
                        </m:e>
                        <m:sup>
                          <m:f>
                            <m:fPr>
                              <m:type m:val="lin"/>
                              <m:ctrlPr>
                                <a:rPr>
                                  <a:latin typeface="Cambria Math" panose="02040503050406030204" pitchFamily="18" charset="0"/>
                                </a:rPr>
                              </m:ctrlPr>
                            </m:fPr>
                            <m:num>
                              <m:r>
                                <a:rPr>
                                  <a:latin typeface="Cambria Math" panose="02040503050406030204" pitchFamily="18" charset="0"/>
                                </a:rPr>
                                <m:t>𝑡</m:t>
                              </m:r>
                            </m:num>
                            <m:den>
                              <m:r>
                                <a:rPr>
                                  <a:latin typeface="Cambria Math" panose="02040503050406030204" pitchFamily="18" charset="0"/>
                                </a:rPr>
                                <m:t>100</m:t>
                              </m:r>
                            </m:den>
                          </m:f>
                        </m:sup>
                      </m:sSup>
                    </m:oMath>
                  </m:oMathPara>
                </a14:m>
                <a:endParaRPr lang="en-US" sz="1500" dirty="0"/>
              </a:p>
            </p:txBody>
          </p:sp>
        </mc:Choice>
        <mc:Fallback>
          <p:sp>
            <p:nvSpPr>
              <p:cNvPr id="12" name="Text 10"/>
              <p:cNvSpPr>
                <a:spLocks noRot="1" noChangeAspect="1" noMove="1" noResize="1" noEditPoints="1" noAdjustHandles="1" noChangeArrowheads="1" noChangeShapeType="1" noTextEdit="1"/>
              </p:cNvSpPr>
              <p:nvPr/>
            </p:nvSpPr>
            <p:spPr>
              <a:xfrm>
                <a:off x="868680" y="4617720"/>
                <a:ext cx="4754880" cy="365760"/>
              </a:xfrm>
              <a:prstGeom prst="rect">
                <a:avLst/>
              </a:prstGeom>
              <a:blipFill>
                <a:blip r:embed="rId5"/>
                <a:stretch>
                  <a:fillRect t="-65000" b="-68333"/>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3" name="Text 11"/>
              <p:cNvSpPr/>
              <p:nvPr/>
            </p:nvSpPr>
            <p:spPr>
              <a:xfrm>
                <a:off x="868680" y="5029200"/>
                <a:ext cx="4846320" cy="411480"/>
              </a:xfrm>
              <a:prstGeom prst="rect">
                <a:avLst/>
              </a:prstGeom>
              <a:noFill/>
              <a:ln/>
            </p:spPr>
            <p:txBody>
              <a:bodyPr wrap="square" rtlCol="0" anchor="t"/>
              <a:lstStyle/>
              <a:p>
                <a:pPr marL="0" indent="0" algn="l">
                  <a:buNone/>
                  <a:defRPr sz="1600">
                    <a:solidFill>
                      <a:srgbClr val="334155"/>
                    </a:solidFill>
                  </a:defRPr>
                </a:pPr>
                <a14:m>
                  <m:oMathPara xmlns:m="http://schemas.openxmlformats.org/officeDocument/2006/math">
                    <m:oMath>
                      <m:r>
                        <a:rPr>
                          <a:latin typeface="Cambria Math" panose="02040503050406030204" pitchFamily="18" charset="0"/>
                        </a:rPr>
                        <m:t>𝐴</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)=600+</m:t>
                      </m:r>
                      <m:r>
                        <a:rPr>
                          <a:latin typeface="Cambria Math" panose="02040503050406030204" pitchFamily="18" charset="0"/>
                        </a:rPr>
                        <m:t>𝐶</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/100</m:t>
                          </m:r>
                        </m:sup>
                      </m:sSup>
                    </m:oMath>
                  </m:oMathPara>
                </a14:m>
                <a:endParaRPr lang="en-US" sz="1600" dirty="0"/>
              </a:p>
            </p:txBody>
          </p:sp>
        </mc:Choice>
        <mc:Fallback>
          <p:sp>
            <p:nvSpPr>
              <p:cNvPr id="13" name="Text 11"/>
              <p:cNvSpPr>
                <a:spLocks noRot="1" noChangeAspect="1" noMove="1" noResize="1" noEditPoints="1" noAdjustHandles="1" noChangeArrowheads="1" noChangeShapeType="1" noTextEdit="1"/>
              </p:cNvSpPr>
              <p:nvPr/>
            </p:nvSpPr>
            <p:spPr>
              <a:xfrm>
                <a:off x="868680" y="5029200"/>
                <a:ext cx="4846320" cy="411480"/>
              </a:xfrm>
              <a:prstGeom prst="rect">
                <a:avLst/>
              </a:prstGeom>
              <a:blipFill>
                <a:blip r:embed="rId6"/>
                <a:stretch>
                  <a:fillRect/>
                </a:stretch>
              </a:blipFill>
              <a:ln/>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14" name="Text 12"/>
              <p:cNvSpPr/>
              <p:nvPr/>
            </p:nvSpPr>
            <p:spPr>
              <a:xfrm>
                <a:off x="868680" y="5532120"/>
                <a:ext cx="4846320" cy="365760"/>
              </a:xfrm>
              <a:prstGeom prst="rect">
                <a:avLst/>
              </a:prstGeom>
              <a:noFill/>
              <a:ln/>
            </p:spPr>
            <p:txBody>
              <a:bodyPr wrap="square" rtlCol="0" anchor="t"/>
              <a:lstStyle/>
              <a:p>
                <a:pPr marL="0" indent="0">
                  <a:buNone/>
                  <a:defRPr sz="1350">
                    <a:solidFill>
                      <a:srgbClr val="0F172A"/>
                    </a:solidFill>
                  </a:defRPr>
                </a:pPr>
                <a:r>
                  <a:rPr lang="en-US" sz="1350" b="1" dirty="0">
                    <a:solidFill>
                      <a:srgbClr val="0F172A"/>
                    </a:solidFill>
                    <a:latin typeface="Calibri" pitchFamily="34" charset="0"/>
                    <a:ea typeface="Calibri" pitchFamily="34" charset="-122"/>
                    <a:cs typeface="Calibri" pitchFamily="34" charset="-120"/>
                  </a:rPr>
                  <a:t>A(0)=50:  </a:t>
                </a:r>
                <a14:m>
                  <m:oMath xmlns:m="http://schemas.openxmlformats.org/officeDocument/2006/math">
                    <m:r>
                      <a:rPr>
                        <a:latin typeface="Cambria Math" panose="02040503050406030204" pitchFamily="18" charset="0"/>
                      </a:rPr>
                      <m:t>50=600+</m:t>
                    </m:r>
                    <m:r>
                      <a:rPr>
                        <a:latin typeface="Cambria Math" panose="02040503050406030204" pitchFamily="18" charset="0"/>
                      </a:rPr>
                      <m:t>𝐶</m:t>
                    </m:r>
                    <m:r>
                      <a:rPr>
                        <a:latin typeface="Cambria Math" panose="02040503050406030204" pitchFamily="18" charset="0"/>
                      </a:rPr>
                      <m:t>⇒</m:t>
                    </m:r>
                    <m:r>
                      <a:rPr>
                        <a:latin typeface="Cambria Math" panose="02040503050406030204" pitchFamily="18" charset="0"/>
                      </a:rPr>
                      <m:t>𝐶</m:t>
                    </m:r>
                    <m:r>
                      <a:rPr>
                        <a:latin typeface="Cambria Math" panose="02040503050406030204" pitchFamily="18" charset="0"/>
                      </a:rPr>
                      <m:t>=−550</m:t>
                    </m:r>
                  </m:oMath>
                </a14:m>
                <a:endParaRPr lang="en-US" sz="1350" dirty="0"/>
              </a:p>
            </p:txBody>
          </p:sp>
        </mc:Choice>
        <mc:Fallback>
          <p:sp>
            <p:nvSpPr>
              <p:cNvPr id="14" name="Text 12"/>
              <p:cNvSpPr>
                <a:spLocks noRot="1" noChangeAspect="1" noMove="1" noResize="1" noEditPoints="1" noAdjustHandles="1" noChangeArrowheads="1" noChangeShapeType="1" noTextEdit="1"/>
              </p:cNvSpPr>
              <p:nvPr/>
            </p:nvSpPr>
            <p:spPr>
              <a:xfrm>
                <a:off x="868680" y="5532120"/>
                <a:ext cx="4846320" cy="365760"/>
              </a:xfrm>
              <a:prstGeom prst="rect">
                <a:avLst/>
              </a:prstGeom>
              <a:blipFill>
                <a:blip r:embed="rId7"/>
                <a:stretch>
                  <a:fillRect l="-377" t="-3333"/>
                </a:stretch>
              </a:blipFill>
              <a:ln/>
            </p:spPr>
            <p:txBody>
              <a:bodyPr/>
              <a:lstStyle/>
              <a:p>
                <a:r>
                  <a:rPr lang="es-MX">
                    <a:noFill/>
                  </a:rPr>
                  <a:t> </a:t>
                </a:r>
              </a:p>
            </p:txBody>
          </p:sp>
        </mc:Fallback>
      </mc:AlternateContent>
      <p:sp>
        <p:nvSpPr>
          <p:cNvPr id="15" name="Shape 13"/>
          <p:cNvSpPr/>
          <p:nvPr/>
        </p:nvSpPr>
        <p:spPr>
          <a:xfrm>
            <a:off x="868680" y="5943600"/>
            <a:ext cx="4709160" cy="502920"/>
          </a:xfrm>
          <a:prstGeom prst="roundRect">
            <a:avLst>
              <a:gd name="adj" fmla="val 12727"/>
            </a:avLst>
          </a:prstGeom>
          <a:solidFill>
            <a:srgbClr val="FFFFFF"/>
          </a:solidFill>
          <a:ln w="12700">
            <a:solidFill>
              <a:srgbClr val="CBD5E1"/>
            </a:solidFill>
            <a:prstDash val="solid"/>
          </a:ln>
        </p:spPr>
        <p:txBody>
          <a:bodyPr/>
          <a:lstStyle/>
          <a:p>
            <a:endParaRPr lang="es-MX"/>
          </a:p>
        </p:txBody>
      </p:sp>
      <mc:AlternateContent xmlns:mc="http://schemas.openxmlformats.org/markup-compatibility/2006">
        <mc:Choice xmlns:a14="http://schemas.microsoft.com/office/drawing/2010/main" Requires="a14">
          <p:sp>
            <p:nvSpPr>
              <p:cNvPr id="16" name="Text 14"/>
              <p:cNvSpPr/>
              <p:nvPr/>
            </p:nvSpPr>
            <p:spPr>
              <a:xfrm>
                <a:off x="868680" y="5943600"/>
                <a:ext cx="4709160" cy="502920"/>
              </a:xfrm>
              <a:prstGeom prst="rect">
                <a:avLst/>
              </a:prstGeom>
              <a:noFill/>
              <a:ln/>
            </p:spPr>
            <p:txBody>
              <a:bodyPr wrap="square" rtlCol="0" anchor="ctr"/>
              <a:lstStyle/>
              <a:p>
                <a:pPr marL="0" indent="0" algn="ctr">
                  <a:buNone/>
                  <a:defRPr sz="1500">
                    <a:solidFill>
                      <a:srgbClr val="4338CA"/>
                    </a:solidFill>
                  </a:defRPr>
                </a:pPr>
                <a14:m>
                  <m:oMathPara xmlns:m="http://schemas.openxmlformats.org/officeDocument/2006/math">
                    <m:oMath>
                      <m:r>
                        <a:rPr>
                          <a:latin typeface="Cambria Math" panose="02040503050406030204" pitchFamily="18" charset="0"/>
                        </a:rPr>
                        <m:t>𝐴</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)=600−550</m:t>
                      </m:r>
                      <m:sSup>
                        <m:sSupPr>
                          <m:ctrlPr>
                            <a:rPr>
                              <a:latin typeface="Cambria Math" panose="02040503050406030204" pitchFamily="18" charset="0"/>
                            </a:rPr>
                          </m:ctrlPr>
                        </m:sSupPr>
                        <m:e>
                          <m:r>
                            <a:rPr>
                              <a:latin typeface="Cambria Math" panose="02040503050406030204" pitchFamily="18" charset="0"/>
                            </a:rPr>
                            <m:t>𝑒</m:t>
                          </m:r>
                        </m:e>
                        <m:sup>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/100</m:t>
                          </m:r>
                        </m:sup>
                      </m:sSup>
                    </m:oMath>
                  </m:oMathPara>
                </a14:m>
                <a:endParaRPr lang="en-US" sz="1500" dirty="0"/>
              </a:p>
            </p:txBody>
          </p:sp>
        </mc:Choice>
        <mc:Fallback>
          <p:sp>
            <p:nvSpPr>
              <p:cNvPr id="16" name="Text 14"/>
              <p:cNvSpPr>
                <a:spLocks noRot="1" noChangeAspect="1" noMove="1" noResize="1" noEditPoints="1" noAdjustHandles="1" noChangeArrowheads="1" noChangeShapeType="1" noTextEdit="1"/>
              </p:cNvSpPr>
              <p:nvPr/>
            </p:nvSpPr>
            <p:spPr>
              <a:xfrm>
                <a:off x="868680" y="5943600"/>
                <a:ext cx="4709160" cy="502920"/>
              </a:xfrm>
              <a:prstGeom prst="rect">
                <a:avLst/>
              </a:prstGeom>
              <a:blipFill>
                <a:blip r:embed="rId8"/>
                <a:stretch>
                  <a:fillRect/>
                </a:stretch>
              </a:blipFill>
              <a:ln/>
            </p:spPr>
            <p:txBody>
              <a:bodyPr/>
              <a:lstStyle/>
              <a:p>
                <a:r>
                  <a:rPr lang="es-MX">
                    <a:noFill/>
                  </a:rPr>
                  <a:t> </a:t>
                </a:r>
              </a:p>
            </p:txBody>
          </p:sp>
        </mc:Fallback>
      </mc:AlternateContent>
      <p:sp>
        <p:nvSpPr>
          <p:cNvPr id="17" name="Shape 15"/>
          <p:cNvSpPr/>
          <p:nvPr/>
        </p:nvSpPr>
        <p:spPr>
          <a:xfrm>
            <a:off x="6291072" y="4023360"/>
            <a:ext cx="5349240" cy="2468880"/>
          </a:xfrm>
          <a:prstGeom prst="roundRect">
            <a:avLst>
              <a:gd name="adj" fmla="val 3704"/>
            </a:avLst>
          </a:prstGeom>
          <a:solidFill>
            <a:srgbClr val="E0E7FF"/>
          </a:solidFill>
          <a:ln w="12700">
            <a:solidFill>
              <a:srgbClr val="C7D2FE"/>
            </a:solidFill>
            <a:prstDash val="solid"/>
          </a:ln>
        </p:spPr>
        <p:txBody>
          <a:bodyPr/>
          <a:lstStyle/>
          <a:p>
            <a:endParaRPr lang="es-MX"/>
          </a:p>
        </p:txBody>
      </p:sp>
      <p:sp>
        <p:nvSpPr>
          <p:cNvPr id="18" name="Text 16"/>
          <p:cNvSpPr/>
          <p:nvPr/>
        </p:nvSpPr>
        <p:spPr>
          <a:xfrm>
            <a:off x="6611112" y="4206240"/>
            <a:ext cx="4754880" cy="365760"/>
          </a:xfrm>
          <a:prstGeom prst="rect">
            <a:avLst/>
          </a:prstGeom>
          <a:noFill/>
          <a:ln/>
        </p:spPr>
        <p:txBody>
          <a:bodyPr wrap="square" rtlCol="0" anchor="ctr"/>
          <a:lstStyle/>
          <a:p>
            <a:pPr marL="0" indent="0">
              <a:buNone/>
            </a:pPr>
            <a:r>
              <a:rPr lang="en-US" sz="1400" b="1" dirty="0">
                <a:solidFill>
                  <a:srgbClr val="3730A3"/>
                </a:solidFill>
                <a:latin typeface="Calibri" pitchFamily="34" charset="0"/>
                <a:ea typeface="Calibri" pitchFamily="34" charset="-122"/>
                <a:cs typeface="Calibri" pitchFamily="34" charset="-120"/>
              </a:rPr>
              <a:t>¿Qué pasa cuando t → ∞?</a:t>
            </a:r>
            <a:endParaRPr lang="en-US" sz="1400" dirty="0"/>
          </a:p>
        </p:txBody>
      </p:sp>
      <mc:AlternateContent xmlns:mc="http://schemas.openxmlformats.org/markup-compatibility/2006">
        <mc:Choice xmlns:a14="http://schemas.microsoft.com/office/drawing/2010/main" Requires="a14">
          <p:sp>
            <p:nvSpPr>
              <p:cNvPr id="19" name="Text 17"/>
              <p:cNvSpPr/>
              <p:nvPr/>
            </p:nvSpPr>
            <p:spPr>
              <a:xfrm>
                <a:off x="6611112" y="4617720"/>
                <a:ext cx="4754880" cy="457200"/>
              </a:xfrm>
              <a:prstGeom prst="rect">
                <a:avLst/>
              </a:prstGeom>
              <a:noFill/>
              <a:ln/>
            </p:spPr>
            <p:txBody>
              <a:bodyPr wrap="square" rtlCol="0" anchor="t"/>
              <a:lstStyle/>
              <a:p>
                <a:pPr marL="0" indent="0" algn="l">
                  <a:buNone/>
                  <a:defRPr sz="1700">
                    <a:solidFill>
                      <a:srgbClr val="3730A3"/>
                    </a:solidFill>
                  </a:defRPr>
                </a:pPr>
                <a14:m>
                  <m:oMathPara xmlns:m="http://schemas.openxmlformats.org/officeDocument/2006/math">
                    <m:oMath>
                      <m:sSub>
                        <m:sSubPr>
                          <m:ctrlPr>
                            <a:rPr>
                              <a:latin typeface="Cambria Math" panose="02040503050406030204" pitchFamily="18" charset="0"/>
                            </a:rPr>
                          </m:ctrlPr>
                        </m:sSubPr>
                        <m:e>
                          <m:r>
                            <a:rPr>
                              <a:latin typeface="Cambria Math" panose="02040503050406030204" pitchFamily="18" charset="0"/>
                            </a:rPr>
                            <m:t>𝑙𝑖𝑚</m:t>
                          </m:r>
                        </m:e>
                        <m:sub>
                          <m:r>
                            <a:rPr>
                              <a:latin typeface="Cambria Math" panose="02040503050406030204" pitchFamily="18" charset="0"/>
                            </a:rPr>
                            <m:t>𝑡</m:t>
                          </m:r>
                          <m:r>
                            <a:rPr>
                              <a:latin typeface="Cambria Math" panose="02040503050406030204" pitchFamily="18" charset="0"/>
                            </a:rPr>
                            <m:t>→∞</m:t>
                          </m:r>
                        </m:sub>
                      </m:sSub>
                      <m:r>
                        <a:rPr>
                          <a:latin typeface="Cambria Math" panose="02040503050406030204" pitchFamily="18" charset="0"/>
                        </a:rPr>
                        <m:t>𝐴</m:t>
                      </m:r>
                      <m:r>
                        <a:rPr>
                          <a:latin typeface="Cambria Math" panose="02040503050406030204" pitchFamily="18" charset="0"/>
                        </a:rPr>
                        <m:t>(</m:t>
                      </m:r>
                      <m:r>
                        <a:rPr>
                          <a:latin typeface="Cambria Math" panose="02040503050406030204" pitchFamily="18" charset="0"/>
                        </a:rPr>
                        <m:t>𝑡</m:t>
                      </m:r>
                      <m:r>
                        <a:rPr>
                          <a:latin typeface="Cambria Math" panose="02040503050406030204" pitchFamily="18" charset="0"/>
                        </a:rPr>
                        <m:t>)=600</m:t>
                      </m:r>
                      <m:r>
                        <m:rPr>
                          <m:nor/>
                        </m:rPr>
                        <a:rPr i="0"/>
                        <m:t> kg</m:t>
                      </m:r>
                    </m:oMath>
                  </m:oMathPara>
                </a14:m>
                <a:endParaRPr lang="en-US" sz="1700" dirty="0"/>
              </a:p>
            </p:txBody>
          </p:sp>
        </mc:Choice>
        <mc:Fallback>
          <p:sp>
            <p:nvSpPr>
              <p:cNvPr id="19" name="Text 17"/>
              <p:cNvSpPr>
                <a:spLocks noRot="1" noChangeAspect="1" noMove="1" noResize="1" noEditPoints="1" noAdjustHandles="1" noChangeArrowheads="1" noChangeShapeType="1" noTextEdit="1"/>
              </p:cNvSpPr>
              <p:nvPr/>
            </p:nvSpPr>
            <p:spPr>
              <a:xfrm>
                <a:off x="6611112" y="4617720"/>
                <a:ext cx="4754880" cy="457200"/>
              </a:xfrm>
              <a:prstGeom prst="rect">
                <a:avLst/>
              </a:prstGeom>
              <a:blipFill>
                <a:blip r:embed="rId9"/>
                <a:stretch>
                  <a:fillRect/>
                </a:stretch>
              </a:blipFill>
              <a:ln/>
            </p:spPr>
            <p:txBody>
              <a:bodyPr/>
              <a:lstStyle/>
              <a:p>
                <a:r>
                  <a:rPr lang="es-MX">
                    <a:noFill/>
                  </a:rPr>
                  <a:t> </a:t>
                </a:r>
              </a:p>
            </p:txBody>
          </p:sp>
        </mc:Fallback>
      </mc:AlternateContent>
      <p:sp>
        <p:nvSpPr>
          <p:cNvPr id="20" name="Text 18"/>
          <p:cNvSpPr/>
          <p:nvPr/>
        </p:nvSpPr>
        <p:spPr>
          <a:xfrm>
            <a:off x="6611112" y="5120640"/>
            <a:ext cx="4709160" cy="1280160"/>
          </a:xfrm>
          <a:prstGeom prst="rect">
            <a:avLst/>
          </a:prstGeom>
          <a:noFill/>
          <a:ln/>
        </p:spPr>
        <p:txBody>
          <a:bodyPr wrap="square" rtlCol="0" anchor="t"/>
          <a:lstStyle/>
          <a:p>
            <a:pPr marL="0" indent="0">
              <a:lnSpc>
                <a:spcPct val="130000"/>
              </a:lnSpc>
              <a:buNone/>
            </a:pPr>
            <a:r>
              <a:rPr lang="en-US" sz="1300" dirty="0">
                <a:solidFill>
                  <a:srgbClr val="3730A3"/>
                </a:solidFill>
                <a:latin typeface="Calibri" pitchFamily="34" charset="0"/>
                <a:ea typeface="Calibri" pitchFamily="34" charset="-122"/>
                <a:cs typeface="Calibri" pitchFamily="34" charset="-120"/>
              </a:rPr>
              <a:t>Tiene sentido físico: en equilibrio, la concentración dentro del tanque iguala a la de entrada, 2 kg/L × 300 L = 600 kg. El modelo lineal predice exactamente el estado estacionario.</a:t>
            </a:r>
            <a:endParaRPr lang="en-US" sz="1300" dirty="0"/>
          </a:p>
        </p:txBody>
      </p:sp>
      <p:sp>
        <p:nvSpPr>
          <p:cNvPr id="21" name="Text 19"/>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12480" y="-2103120"/>
            <a:ext cx="4572000" cy="4572000"/>
          </a:xfrm>
          <a:prstGeom prst="ellipse">
            <a:avLst/>
          </a:prstGeom>
          <a:solidFill>
            <a:srgbClr val="6D28D9"/>
          </a:solidFill>
          <a:ln/>
        </p:spPr>
        <p:txBody>
          <a:bodyPr/>
          <a:lstStyle/>
          <a:p>
            <a:endParaRPr lang="es-MX"/>
          </a:p>
        </p:txBody>
      </p:sp>
      <p:sp>
        <p:nvSpPr>
          <p:cNvPr id="3" name="Shape 1"/>
          <p:cNvSpPr/>
          <p:nvPr/>
        </p:nvSpPr>
        <p:spPr>
          <a:xfrm>
            <a:off x="548640" y="365760"/>
            <a:ext cx="1828800" cy="384048"/>
          </a:xfrm>
          <a:prstGeom prst="roundRect">
            <a:avLst>
              <a:gd name="adj" fmla="val 50000"/>
            </a:avLst>
          </a:prstGeom>
          <a:solidFill>
            <a:srgbClr val="EDE9FE"/>
          </a:solidFill>
          <a:ln/>
        </p:spPr>
        <p:txBody>
          <a:bodyPr/>
          <a:lstStyle/>
          <a:p>
            <a:endParaRPr lang="es-MX"/>
          </a:p>
        </p:txBody>
      </p:sp>
      <p:sp>
        <p:nvSpPr>
          <p:cNvPr id="4" name="Text 2"/>
          <p:cNvSpPr/>
          <p:nvPr/>
        </p:nvSpPr>
        <p:spPr>
          <a:xfrm>
            <a:off x="548640" y="365760"/>
            <a:ext cx="1828800" cy="384048"/>
          </a:xfrm>
          <a:prstGeom prst="rect">
            <a:avLst/>
          </a:prstGeom>
          <a:noFill/>
          <a:ln/>
        </p:spPr>
        <p:txBody>
          <a:bodyPr wrap="square" rtlCol="0" anchor="ctr"/>
          <a:lstStyle/>
          <a:p>
            <a:pPr marL="0" indent="0" algn="ctr">
              <a:buNone/>
            </a:pPr>
            <a:r>
              <a:rPr lang="en-US" sz="1300" b="1" kern="0" spc="100" dirty="0">
                <a:solidFill>
                  <a:srgbClr val="6D28D9"/>
                </a:solidFill>
                <a:latin typeface="Calibri" pitchFamily="34" charset="0"/>
                <a:ea typeface="Calibri" pitchFamily="34" charset="-122"/>
                <a:cs typeface="Calibri" pitchFamily="34" charset="-120"/>
              </a:rPr>
              <a:t>CONCLUSIÓN</a:t>
            </a:r>
            <a:endParaRPr lang="en-US" sz="1300" dirty="0"/>
          </a:p>
        </p:txBody>
      </p:sp>
      <p:sp>
        <p:nvSpPr>
          <p:cNvPr id="5" name="Text 3"/>
          <p:cNvSpPr/>
          <p:nvPr/>
        </p:nvSpPr>
        <p:spPr>
          <a:xfrm>
            <a:off x="548640" y="868680"/>
            <a:ext cx="11091672" cy="731520"/>
          </a:xfrm>
          <a:prstGeom prst="rect">
            <a:avLst/>
          </a:prstGeom>
          <a:noFill/>
          <a:ln/>
        </p:spPr>
        <p:txBody>
          <a:bodyPr wrap="square" rtlCol="0" anchor="t"/>
          <a:lstStyle/>
          <a:p>
            <a:pPr marL="0" indent="0" algn="l">
              <a:buNone/>
            </a:pPr>
            <a:r>
              <a:rPr lang="en-US" sz="3400" b="1" dirty="0">
                <a:solidFill>
                  <a:srgbClr val="0F172A"/>
                </a:solidFill>
                <a:latin typeface="Calibri" pitchFamily="34" charset="0"/>
                <a:ea typeface="Calibri" pitchFamily="34" charset="-122"/>
                <a:cs typeface="Calibri" pitchFamily="34" charset="-120"/>
              </a:rPr>
              <a:t>Resumen de la Sesión</a:t>
            </a:r>
            <a:endParaRPr lang="en-US" sz="3400" dirty="0"/>
          </a:p>
        </p:txBody>
      </p:sp>
      <p:sp>
        <p:nvSpPr>
          <p:cNvPr id="6" name="Shape 4"/>
          <p:cNvSpPr/>
          <p:nvPr/>
        </p:nvSpPr>
        <p:spPr>
          <a:xfrm>
            <a:off x="777240" y="1965960"/>
            <a:ext cx="3429000" cy="2331720"/>
          </a:xfrm>
          <a:prstGeom prst="roundRect">
            <a:avLst>
              <a:gd name="adj" fmla="val 3922"/>
            </a:avLst>
          </a:prstGeom>
          <a:solidFill>
            <a:srgbClr val="F1F5F9"/>
          </a:solidFill>
          <a:ln w="12700">
            <a:solidFill>
              <a:srgbClr val="E2E8F0"/>
            </a:solidFill>
            <a:prstDash val="solid"/>
          </a:ln>
        </p:spPr>
        <p:txBody>
          <a:bodyPr/>
          <a:lstStyle/>
          <a:p>
            <a:endParaRPr lang="es-MX"/>
          </a:p>
        </p:txBody>
      </p:sp>
      <p:sp>
        <p:nvSpPr>
          <p:cNvPr id="7" name="Text 5"/>
          <p:cNvSpPr/>
          <p:nvPr/>
        </p:nvSpPr>
        <p:spPr>
          <a:xfrm>
            <a:off x="777240" y="2194560"/>
            <a:ext cx="3429000" cy="6858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8" name="Text 6"/>
          <p:cNvSpPr/>
          <p:nvPr/>
        </p:nvSpPr>
        <p:spPr>
          <a:xfrm>
            <a:off x="960120" y="2880360"/>
            <a:ext cx="3063240" cy="411480"/>
          </a:xfrm>
          <a:prstGeom prst="rect">
            <a:avLst/>
          </a:prstGeom>
          <a:noFill/>
          <a:ln/>
        </p:spPr>
        <p:txBody>
          <a:bodyPr wrap="square"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El Factor μ(x)</a:t>
            </a:r>
            <a:endParaRPr lang="en-US" sz="1500" dirty="0"/>
          </a:p>
        </p:txBody>
      </p:sp>
      <p:sp>
        <p:nvSpPr>
          <p:cNvPr id="9" name="Text 7"/>
          <p:cNvSpPr/>
          <p:nvPr/>
        </p:nvSpPr>
        <p:spPr>
          <a:xfrm>
            <a:off x="1005840" y="3337560"/>
            <a:ext cx="2971800" cy="868680"/>
          </a:xfrm>
          <a:prstGeom prst="rect">
            <a:avLst/>
          </a:prstGeom>
          <a:noFill/>
          <a:ln/>
        </p:spPr>
        <p:txBody>
          <a:bodyPr wrap="square" rtlCol="0" anchor="t"/>
          <a:lstStyle/>
          <a:p>
            <a:pPr marL="0" indent="0" algn="ctr">
              <a:lnSpc>
                <a:spcPct val="125000"/>
              </a:lnSpc>
              <a:buNone/>
            </a:pPr>
            <a:r>
              <a:rPr lang="en-US" sz="1150" dirty="0">
                <a:solidFill>
                  <a:srgbClr val="475569"/>
                </a:solidFill>
                <a:latin typeface="Calibri" pitchFamily="34" charset="0"/>
                <a:ea typeface="Calibri" pitchFamily="34" charset="-122"/>
                <a:cs typeface="Calibri" pitchFamily="34" charset="-120"/>
              </a:rPr>
              <a:t>Multiplicar por el factor integrante convierte cualquier ecuación lineal en la derivada de un producto.</a:t>
            </a:r>
            <a:endParaRPr lang="en-US" sz="1150" dirty="0"/>
          </a:p>
        </p:txBody>
      </p:sp>
      <p:sp>
        <p:nvSpPr>
          <p:cNvPr id="10" name="Shape 8"/>
          <p:cNvSpPr/>
          <p:nvPr/>
        </p:nvSpPr>
        <p:spPr>
          <a:xfrm>
            <a:off x="4572000" y="1965960"/>
            <a:ext cx="3429000" cy="2331720"/>
          </a:xfrm>
          <a:prstGeom prst="roundRect">
            <a:avLst>
              <a:gd name="adj" fmla="val 3922"/>
            </a:avLst>
          </a:prstGeom>
          <a:solidFill>
            <a:srgbClr val="F1F5F9"/>
          </a:solidFill>
          <a:ln w="12700">
            <a:solidFill>
              <a:srgbClr val="E2E8F0"/>
            </a:solidFill>
            <a:prstDash val="solid"/>
          </a:ln>
        </p:spPr>
        <p:txBody>
          <a:bodyPr/>
          <a:lstStyle/>
          <a:p>
            <a:endParaRPr lang="es-MX"/>
          </a:p>
        </p:txBody>
      </p:sp>
      <p:sp>
        <p:nvSpPr>
          <p:cNvPr id="11" name="Text 9"/>
          <p:cNvSpPr/>
          <p:nvPr/>
        </p:nvSpPr>
        <p:spPr>
          <a:xfrm>
            <a:off x="4572000" y="2194560"/>
            <a:ext cx="3429000" cy="6858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12" name="Text 10"/>
          <p:cNvSpPr/>
          <p:nvPr/>
        </p:nvSpPr>
        <p:spPr>
          <a:xfrm>
            <a:off x="4754880" y="2880360"/>
            <a:ext cx="3063240" cy="411480"/>
          </a:xfrm>
          <a:prstGeom prst="rect">
            <a:avLst/>
          </a:prstGeom>
          <a:noFill/>
          <a:ln/>
        </p:spPr>
        <p:txBody>
          <a:bodyPr wrap="square"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Sin Sorpresas de Intervalo</a:t>
            </a:r>
            <a:endParaRPr lang="en-US" sz="1500" dirty="0"/>
          </a:p>
        </p:txBody>
      </p:sp>
      <p:sp>
        <p:nvSpPr>
          <p:cNvPr id="13" name="Text 11"/>
          <p:cNvSpPr/>
          <p:nvPr/>
        </p:nvSpPr>
        <p:spPr>
          <a:xfrm>
            <a:off x="4800600" y="3337560"/>
            <a:ext cx="2971800" cy="868680"/>
          </a:xfrm>
          <a:prstGeom prst="rect">
            <a:avLst/>
          </a:prstGeom>
          <a:noFill/>
          <a:ln/>
        </p:spPr>
        <p:txBody>
          <a:bodyPr wrap="square" rtlCol="0" anchor="t"/>
          <a:lstStyle/>
          <a:p>
            <a:pPr marL="0" indent="0" algn="ctr">
              <a:lnSpc>
                <a:spcPct val="125000"/>
              </a:lnSpc>
              <a:buNone/>
            </a:pPr>
            <a:r>
              <a:rPr lang="en-US" sz="1150" dirty="0">
                <a:solidFill>
                  <a:srgbClr val="475569"/>
                </a:solidFill>
                <a:latin typeface="Calibri" pitchFamily="34" charset="0"/>
                <a:ea typeface="Calibri" pitchFamily="34" charset="-122"/>
                <a:cs typeface="Calibri" pitchFamily="34" charset="-120"/>
              </a:rPr>
              <a:t>Si P y f son continuas en I, la solución vive en TODO I — el caso lineal es predecible.</a:t>
            </a:r>
            <a:endParaRPr lang="en-US" sz="1150" dirty="0"/>
          </a:p>
        </p:txBody>
      </p:sp>
      <p:sp>
        <p:nvSpPr>
          <p:cNvPr id="14" name="Shape 12"/>
          <p:cNvSpPr/>
          <p:nvPr/>
        </p:nvSpPr>
        <p:spPr>
          <a:xfrm>
            <a:off x="8366760" y="1965960"/>
            <a:ext cx="3429000" cy="2331720"/>
          </a:xfrm>
          <a:prstGeom prst="roundRect">
            <a:avLst>
              <a:gd name="adj" fmla="val 3922"/>
            </a:avLst>
          </a:prstGeom>
          <a:solidFill>
            <a:srgbClr val="F1F5F9"/>
          </a:solidFill>
          <a:ln w="12700">
            <a:solidFill>
              <a:srgbClr val="E2E8F0"/>
            </a:solidFill>
            <a:prstDash val="solid"/>
          </a:ln>
        </p:spPr>
        <p:txBody>
          <a:bodyPr/>
          <a:lstStyle/>
          <a:p>
            <a:endParaRPr lang="es-MX"/>
          </a:p>
        </p:txBody>
      </p:sp>
      <p:sp>
        <p:nvSpPr>
          <p:cNvPr id="15" name="Text 13"/>
          <p:cNvSpPr/>
          <p:nvPr/>
        </p:nvSpPr>
        <p:spPr>
          <a:xfrm>
            <a:off x="8366760" y="2194560"/>
            <a:ext cx="3429000" cy="685800"/>
          </a:xfrm>
          <a:prstGeom prst="rect">
            <a:avLst/>
          </a:prstGeom>
          <a:noFill/>
          <a:ln/>
        </p:spPr>
        <p:txBody>
          <a:bodyPr wrap="square" rtlCol="0" anchor="ctr"/>
          <a:lstStyle/>
          <a:p>
            <a:pPr marL="0" indent="0" algn="ctr">
              <a:buNone/>
            </a:pPr>
            <a:r>
              <a:rPr lang="en-US" sz="3400" dirty="0">
                <a:solidFill>
                  <a:srgbClr val="000000"/>
                </a:solidFill>
              </a:rPr>
              <a:t>🧮</a:t>
            </a:r>
            <a:endParaRPr lang="en-US" sz="3400" dirty="0"/>
          </a:p>
        </p:txBody>
      </p:sp>
      <p:sp>
        <p:nvSpPr>
          <p:cNvPr id="16" name="Text 14"/>
          <p:cNvSpPr/>
          <p:nvPr/>
        </p:nvSpPr>
        <p:spPr>
          <a:xfrm>
            <a:off x="8549640" y="2880360"/>
            <a:ext cx="3063240" cy="411480"/>
          </a:xfrm>
          <a:prstGeom prst="rect">
            <a:avLst/>
          </a:prstGeom>
          <a:noFill/>
          <a:ln/>
        </p:spPr>
        <p:txBody>
          <a:bodyPr wrap="square" rtlCol="0" anchor="ctr"/>
          <a:lstStyle/>
          <a:p>
            <a:pPr marL="0" indent="0" algn="ctr">
              <a:buNone/>
            </a:pPr>
            <a:r>
              <a:rPr lang="en-US" sz="1500" b="1" dirty="0">
                <a:solidFill>
                  <a:srgbClr val="0F172A"/>
                </a:solidFill>
                <a:latin typeface="Calibri" pitchFamily="34" charset="0"/>
                <a:ea typeface="Calibri" pitchFamily="34" charset="-122"/>
                <a:cs typeface="Calibri" pitchFamily="34" charset="-120"/>
              </a:rPr>
              <a:t>Más Allá de lo Elemental</a:t>
            </a:r>
            <a:endParaRPr lang="en-US" sz="1500" dirty="0"/>
          </a:p>
        </p:txBody>
      </p:sp>
      <p:sp>
        <p:nvSpPr>
          <p:cNvPr id="17" name="Text 15"/>
          <p:cNvSpPr/>
          <p:nvPr/>
        </p:nvSpPr>
        <p:spPr>
          <a:xfrm>
            <a:off x="8595360" y="3337560"/>
            <a:ext cx="2971800" cy="868680"/>
          </a:xfrm>
          <a:prstGeom prst="rect">
            <a:avLst/>
          </a:prstGeom>
          <a:noFill/>
          <a:ln/>
        </p:spPr>
        <p:txBody>
          <a:bodyPr wrap="square" rtlCol="0" anchor="t"/>
          <a:lstStyle/>
          <a:p>
            <a:pPr marL="0" indent="0" algn="ctr">
              <a:lnSpc>
                <a:spcPct val="125000"/>
              </a:lnSpc>
              <a:buNone/>
            </a:pPr>
            <a:r>
              <a:rPr lang="en-US" sz="1150" dirty="0">
                <a:solidFill>
                  <a:srgbClr val="475569"/>
                </a:solidFill>
                <a:latin typeface="Calibri" pitchFamily="34" charset="0"/>
                <a:ea typeface="Calibri" pitchFamily="34" charset="-122"/>
                <a:cs typeface="Calibri" pitchFamily="34" charset="-120"/>
              </a:rPr>
              <a:t>erf, erfc y las integrales definidas siguen siendo herramientas legítimas de solución.</a:t>
            </a:r>
            <a:endParaRPr lang="en-US" sz="1150" dirty="0"/>
          </a:p>
        </p:txBody>
      </p:sp>
      <p:sp>
        <p:nvSpPr>
          <p:cNvPr id="18" name="Shape 16"/>
          <p:cNvSpPr/>
          <p:nvPr/>
        </p:nvSpPr>
        <p:spPr>
          <a:xfrm>
            <a:off x="548640" y="4709160"/>
            <a:ext cx="11091672" cy="1417320"/>
          </a:xfrm>
          <a:prstGeom prst="roundRect">
            <a:avLst>
              <a:gd name="adj" fmla="val 6452"/>
            </a:avLst>
          </a:prstGeom>
          <a:solidFill>
            <a:srgbClr val="EDE9FE"/>
          </a:solidFill>
          <a:ln/>
        </p:spPr>
        <p:txBody>
          <a:bodyPr/>
          <a:lstStyle/>
          <a:p>
            <a:endParaRPr lang="es-MX"/>
          </a:p>
        </p:txBody>
      </p:sp>
      <p:sp>
        <p:nvSpPr>
          <p:cNvPr id="19" name="Text 17"/>
          <p:cNvSpPr/>
          <p:nvPr/>
        </p:nvSpPr>
        <p:spPr>
          <a:xfrm>
            <a:off x="914400" y="4709160"/>
            <a:ext cx="10360152" cy="1417320"/>
          </a:xfrm>
          <a:prstGeom prst="rect">
            <a:avLst/>
          </a:prstGeom>
          <a:noFill/>
          <a:ln/>
        </p:spPr>
        <p:txBody>
          <a:bodyPr wrap="square" rtlCol="0" anchor="ctr"/>
          <a:lstStyle/>
          <a:p>
            <a:pPr marL="0" indent="0" algn="ctr">
              <a:lnSpc>
                <a:spcPct val="135000"/>
              </a:lnSpc>
              <a:buNone/>
            </a:pPr>
            <a:r>
              <a:rPr lang="en-US" sz="1550" b="1" dirty="0">
                <a:solidFill>
                  <a:srgbClr val="5B21B6"/>
                </a:solidFill>
                <a:latin typeface="Calibri" pitchFamily="34" charset="0"/>
                <a:ea typeface="Calibri" pitchFamily="34" charset="-122"/>
                <a:cs typeface="Calibri" pitchFamily="34" charset="-120"/>
              </a:rPr>
              <a:t>💼  Próximo paso de las Firmas:  </a:t>
            </a:r>
            <a:r>
              <a:rPr lang="en-US" sz="1550" dirty="0">
                <a:solidFill>
                  <a:srgbClr val="5B21B6"/>
                </a:solidFill>
                <a:latin typeface="Calibri" pitchFamily="34" charset="0"/>
                <a:ea typeface="Calibri" pitchFamily="34" charset="-122"/>
                <a:cs typeface="Calibri" pitchFamily="34" charset="-120"/>
              </a:rPr>
              <a:t>¿Y si ninguna de las dos técnicas aplica directamente? En la próxima sesión conoceremos las Ecuaciones Exactas y el uso de factores integrantes para forzar la exactitud.</a:t>
            </a:r>
            <a:endParaRPr lang="en-US" sz="1550" dirty="0"/>
          </a:p>
        </p:txBody>
      </p:sp>
      <p:sp>
        <p:nvSpPr>
          <p:cNvPr id="20" name="Text 18"/>
          <p:cNvSpPr/>
          <p:nvPr/>
        </p:nvSpPr>
        <p:spPr>
          <a:xfrm>
            <a:off x="11521440" y="6446520"/>
            <a:ext cx="457200" cy="292608"/>
          </a:xfrm>
          <a:prstGeom prst="rect">
            <a:avLst/>
          </a:prstGeom>
          <a:noFill/>
          <a:ln/>
        </p:spPr>
        <p:txBody>
          <a:bodyPr wrap="square" rtlCol="0" anchor="ctr"/>
          <a:lstStyle/>
          <a:p>
            <a:pPr marL="0" indent="0" algn="r">
              <a:buNone/>
            </a:pPr>
            <a:r>
              <a:rPr lang="en-US" sz="1200" dirty="0">
                <a:solidFill>
                  <a:srgbClr val="475569"/>
                </a:solidFill>
                <a:latin typeface="Calibri" pitchFamily="34" charset="0"/>
                <a:ea typeface="Calibri" pitchFamily="34" charset="-122"/>
                <a:cs typeface="Calibri" pitchFamily="34" charset="-120"/>
              </a:rPr>
              <a:t>19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1803</Words>
  <Application>Microsoft Office PowerPoint</Application>
  <PresentationFormat>Widescreen</PresentationFormat>
  <Paragraphs>211</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Eduardo Javier Serna Duarte</cp:lastModifiedBy>
  <cp:revision>2</cp:revision>
  <dcterms:created xsi:type="dcterms:W3CDTF">2026-08-20T04:02:44Z</dcterms:created>
  <dcterms:modified xsi:type="dcterms:W3CDTF">2026-08-20T04:59:22Z</dcterms:modified>
</cp:coreProperties>
</file>