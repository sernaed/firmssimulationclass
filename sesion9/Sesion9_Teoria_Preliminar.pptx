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Preliminar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Lineales de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Superior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16052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1–8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5212080"/>
            <a:ext cx="3246120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5212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PVI → PVF → 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321040" y="5212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2E2350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LAS REGLAS PRIMERO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Euler a Orden Superior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1828800"/>
          </a:xfrm>
          <a:prstGeom prst="roundRect">
            <a:avLst>
              <a:gd name="adj" fmla="val 40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Separables, lineales, exactas, homogéneas, Bernoulli. Todas de primer orden — solo aparece y'.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1691640"/>
            <a:ext cx="5364328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Euler, para cuando no hay fórmula cerrada.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subimos un escalón: ecuaciones de orden n. Pero antes de fabricar soluciones —eso es la Sesión 10—, necesitamos las reglas: ¿cuándo existe una solución? ¿cuándo es única?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VALOR INICIAL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PVI, Generalizado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/>
        </p:spPr>
      </p:sp>
      <p:pic>
        <p:nvPicPr>
          <p:cNvPr id="5" name="Image 0" descr="build/eq/pvi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6994" y="1783080"/>
            <a:ext cx="7417707" cy="777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0E3A44"/>
          </a:solidFill>
          <a:ln/>
        </p:spPr>
      </p:sp>
      <p:pic>
        <p:nvPicPr>
          <p:cNvPr id="7" name="Image 1" descr="build/eq/pvi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45818"/>
            <a:ext cx="10545775" cy="7206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4160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una condición por cada derivada, hasta la (n−1)-ésima, todas evaluadas en el mismo punto x₀. Para segundo orden: posición y velocidad iniciales. Para tercer orden, agregan la aceleración inicial.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50749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cuenten las condiciones antes de empezar — si les faltan o les sobran, algo está mal planteado.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GARANTÍA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aₙ(x), …, a₀(x) y g(x) continuas en un intervalo I, con aₙ(x)≠0 para toda x en I. Si x₀ está en I, el problema de valor inicial tiene una solución — y es única — en todo el intervalo 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68680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1: COEFICIENTES CONTINUOS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2: aₙ(x) ≠ 0 EN TODO 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segunda hipótesis —aₙ(x) nunca cero— es la que más se les va a olvidar, y es exactamente donde viven la mayoría de las trampas de examen.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PVF — Un Mundo Distinto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1E293B"/>
          </a:solidFill>
          <a:ln/>
        </p:spPr>
      </p:sp>
      <p:pic>
        <p:nvPicPr>
          <p:cNvPr id="5" name="Image 0" descr="build/img/ivp_vs_b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0585" y="1783080"/>
            <a:ext cx="5850525" cy="2148840"/>
          </a:xfrm>
          <a:prstGeom prst="rect">
            <a:avLst/>
          </a:prstGeom>
        </p:spPr>
      </p:pic>
      <p:pic>
        <p:nvPicPr>
          <p:cNvPr id="6" name="Image 1" descr="build/eq/pvf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119" y="4023360"/>
            <a:ext cx="6471458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0749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074920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 NO aplica a un PVF. Puede tener solución única, ninguna, o infinitas — la deflexión de una viga o el pandeo de una columna se modelan así, y lo van a resolver en la Sesión 10.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CLÁSICO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PVF con Tres Personalidades</a:t>
            </a:r>
            <a:endParaRPr lang="en-US" sz="2900" dirty="0"/>
          </a:p>
        </p:txBody>
      </p:sp>
      <p:pic>
        <p:nvPicPr>
          <p:cNvPr id="4" name="Image 0" descr="build/eq/bvp_ode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20930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SOLUCIONES</a:t>
            </a:r>
            <a:endParaRPr lang="en-US" sz="1250" dirty="0"/>
          </a:p>
        </p:txBody>
      </p:sp>
      <p:pic>
        <p:nvPicPr>
          <p:cNvPr id="7" name="Image 1" descr="build/eq/bvp_cas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68667"/>
            <a:ext cx="3240938" cy="42338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5800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C₂sin(2π)=0 → cualquier C₂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338218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SOLUCIÓN</a:t>
            </a:r>
            <a:endParaRPr lang="en-US" sz="1250" dirty="0"/>
          </a:p>
        </p:txBody>
      </p:sp>
      <p:pic>
        <p:nvPicPr>
          <p:cNvPr id="11" name="Image 2" descr="build/eq/bvp_cas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78" y="2668667"/>
            <a:ext cx="3240938" cy="4233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475378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C₂sin(2π)=1 → imposible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8127797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264957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ÚNICA</a:t>
            </a:r>
            <a:endParaRPr lang="en-US" sz="1250" dirty="0"/>
          </a:p>
        </p:txBody>
      </p:sp>
      <p:pic>
        <p:nvPicPr>
          <p:cNvPr id="15" name="Image 3" descr="build/eq/bvp_cas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7" y="2668667"/>
            <a:ext cx="3240938" cy="42338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64957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C₂sin(π/2)=0 → C₂=0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48640" y="4069080"/>
            <a:ext cx="11094415" cy="2331720"/>
          </a:xfrm>
          <a:prstGeom prst="roundRect">
            <a:avLst>
              <a:gd name="adj" fmla="val 3922"/>
            </a:avLst>
          </a:prstGeom>
          <a:solidFill>
            <a:srgbClr val="1E293B"/>
          </a:solidFill>
          <a:ln/>
        </p:spPr>
      </p:sp>
      <p:pic>
        <p:nvPicPr>
          <p:cNvPr id="18" name="Image 4" descr="build/img/bvp_fami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243" y="4206240"/>
            <a:ext cx="2673209" cy="1691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2960" y="5897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Personalidad uno, visualizada: infinitas curvas distintas pasando por los mismos dos puntos.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SOLUCIONES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 de Superposición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superposition_hom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4985"/>
            <a:ext cx="10545775" cy="10249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 y₂, …, yₖ son soluciones de la MISMA ecuación homogénea, entonces cualquier combinación lineal de ellas también es solución. Pueden verificarlo sustituyendo directamente.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razón por la que, en la Sesión 10, nunca vamos a buscar 'la' solución — vamos a buscar varias soluciones simples y combinarlas.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E INDEPENDENCIA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¿Son Genuinamente Distintas?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300" dirty="0"/>
          </a:p>
        </p:txBody>
      </p:sp>
      <p:pic>
        <p:nvPicPr>
          <p:cNvPr id="6" name="Image 0" descr="build/eq/lin_dep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2862"/>
            <a:ext cx="4815688" cy="463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es LINEALMENTE DEPENDIENTE si existen constantes, no todas cero, que hacen esa suma igual a cero para toda x. Si la única forma es con todas en cero, son INDEPENDIENTES.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3017520"/>
          </a:xfrm>
          <a:prstGeom prst="roundRect">
            <a:avLst>
              <a:gd name="adj" fmla="val 2424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EJEMPLO — DEPENDIENTES</a:t>
            </a:r>
            <a:endParaRPr lang="en-US" sz="1300" dirty="0"/>
          </a:p>
        </p:txBody>
      </p:sp>
      <p:pic>
        <p:nvPicPr>
          <p:cNvPr id="10" name="Image 1" descr="build/eq/lin_dep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39765"/>
            <a:ext cx="4815688" cy="3953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f₁=x y f₂=5x son dependientes: reciclan la misma información. En cambio, f₁=x y f₂=x² son independientes — no hay forma de anular esa combinación salvo con ambas constantes en cero.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ALGEBRAICO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wronskian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2800" y="1828800"/>
            <a:ext cx="5966094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Teorema: si y₁, …, yₙ son soluciones de la MISMA ecuación lineal homogénea, son linealmente independientes en un intervalo si y solo si su Wronskiano nunca se anula ahí.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023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0233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Wronskiano solo es una prueba confiable cuando las funciones ya son soluciones de la misma ecuación — para funciones cualesquiera, un Wronskiano cero no garantiza dependencia.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Calculando un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0040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DE y''−9y=0</a:t>
            </a:r>
            <a:endParaRPr lang="en-US" sz="1300" dirty="0"/>
          </a:p>
        </p:txBody>
      </p:sp>
      <p:pic>
        <p:nvPicPr>
          <p:cNvPr id="6" name="Image 0" descr="build/eq/wronskian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8968" y="2240280"/>
            <a:ext cx="4493759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71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y₁'=3e³ˣ, y₂'=−3e⁻³ˣ. El Wronskiano:</a:t>
            </a:r>
            <a:endParaRPr lang="en-US" sz="1450" dirty="0"/>
          </a:p>
        </p:txBody>
      </p:sp>
      <p:pic>
        <p:nvPicPr>
          <p:cNvPr id="8" name="Image 1" descr="build/eq/wronskian_ex_cal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78" y="3337560"/>
            <a:ext cx="6835140" cy="59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0690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e³ˣ·e⁻³ˣ=1 para toda x, el resultado es −6 sin importar x — nunca es cero. Son linealmente independientes en toda la recta real: forman un conjunto fundamental de soluciones.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JUNTA AQUÍ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Fundamental y Solución General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general_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9746"/>
            <a:ext cx="10545775" cy="10153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fundamental de soluciones de una ED lineal homogénea de orden n es exactamente eso: n soluciones, linealmente independientes entre sí, de esa misma ecuación.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25196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y₁,…,yₙ es un conjunto fundamental, esta combinación ES la solución general — combina todas las soluciones posibles, ninguna se les escapa.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NO HOMOGÉNEAS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General: yᶜ + yₚ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yc_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3149" y="1645920"/>
            <a:ext cx="3965396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1E293B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COMPLEMENTARIA yᶜ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la ecuación homogénea asociada — todo lo que ya construimos hoy.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8728" y="2880360"/>
            <a:ext cx="5364328" cy="1965960"/>
          </a:xfrm>
          <a:prstGeom prst="roundRect">
            <a:avLst>
              <a:gd name="adj" fmla="val 372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3048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PARTICULAR yₚ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53048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función, sin constantes libres, que satisface la ecuación completa con su lado derecho.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PIEZA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 para No Homogéneas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173736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yₚ₁ es solución particular cuando el lado derecho es g₁(x), y yₚ₂ es solución particular cuando el lado derecho es g₂(x), entonces yₚ₁+yₚ₂ es solución particular cuando el lado derecho es g₁(x)+g₂(x).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7490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resuelven cada uno por separado y suman. Esa es exactamente la lógica detrás del método del anulador que aprenden en la Sesión 10.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LOS MÉTODOS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PVI con PVF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siempre tiene solución única bajo continuidad; un PVF no tiene esa garantía — revisen el problema completo.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 fuera de contexto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detecta independencia entre soluciones de la MISMA ecuación — no lo usen como prueba general para funciones arbitrarias.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yᶜ+yₚ mal entendido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debe ser la solución general de la homogénea completa, con sus n constantes — no una solución particular más.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mal las condiciones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necesita exactamente n condiciones, ni una más ni una menos, todas en el mismo punto x₀.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Juego, Completas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Y UNICIDAD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834640"/>
          </a:xfrm>
          <a:prstGeom prst="roundRect">
            <a:avLst>
              <a:gd name="adj" fmla="val 2581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fórmula todavía — eso fue a propósito. Antes de fabricar soluciones necesitábamos saber cuándo existen, cuándo son únicas, y cómo se combinan para formar la solución general, homogénea o no.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361188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MÉTODOS DE SOLUCIÓN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2519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 fabricar, de forma completamente mecánica, conjuntos fundamentales de soluciones para ecuaciones con coeficientes constantes — y van a resolver su primer caso real con valores en la frontera.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2026-09-17T03:43:43Z</dcterms:created>
  <dcterms:modified xsi:type="dcterms:W3CDTF">2026-09-17T03:43:43Z</dcterms:modified>
</cp:coreProperties>
</file>