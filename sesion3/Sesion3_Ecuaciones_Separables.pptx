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3922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-2331720"/>
            <a:ext cx="5029200" cy="502920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-1691640" y="4617720"/>
            <a:ext cx="4114800" cy="4114800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4206240" y="1051560"/>
            <a:ext cx="3749040" cy="384048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206240" y="10515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III  •  SESIÓN 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1072591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Ecuaciones Diferenciales Separables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arte de separar lo que depende de x de lo que depende de y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1435608" y="3429000"/>
            <a:ext cx="9326880" cy="2926080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1892808" y="365760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Sesión 2 aprendimos a anclar una familia de soluciones a una curva única mediante un PVI. Hoy damos el primer paso algebraico real: aprenderemos la primera técnica para construir esa familia de soluciones desde cero.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08960" y="4754880"/>
            <a:ext cx="59436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3108960" y="4754880"/>
                <a:ext cx="5943600" cy="13716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4000">
                    <a:solidFill>
                      <a:srgbClr val="0E749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  <m:r>
                        <a:rPr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960" y="4754880"/>
                <a:ext cx="5943600" cy="13716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10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880360" cy="384048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TÉCNICAS DE 1ER ORDEN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una Ecuación Separable?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cambio se factoriza en dos mundos independientes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11091672" cy="196596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868680" y="2240280"/>
                <a:ext cx="10424160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25000"/>
                  </a:lnSpc>
                  <a:buNone/>
                  <a:defRPr sz="1450">
                    <a:solidFill>
                      <a:srgbClr val="334155"/>
                    </a:solidFill>
                  </a:defRPr>
                </a:pPr>
                <a:r>
                  <a:rPr lang="en-US" sz="14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Una ED de primer orden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es-MX" sz="1450">
                        <a:solidFill>
                          <a:srgbClr val="334155"/>
                        </a:solidFill>
                      </a:rPr>
                      <a:t>dy/dx = f(x,y)</a:t>
                    </a:r>
                  </mc:Fallback>
                </mc:AlternateContent>
                <a:r>
                  <a:rPr lang="en-US" sz="14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es separable si su lado derecho puede factorizarse como el producto de una función que depende solo de x por una función que depende solo de y. Dividiendo entre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)≠0</m:t>
                        </m:r>
                      </m:oMath>
                    </a14:m>
                  </mc:Choice>
                  <mc:Fallback xmlns="">
                    <a:r>
                      <a:rPr lang="es-MX" sz="1450">
                        <a:solidFill>
                          <a:srgbClr val="334155"/>
                        </a:solidFill>
                      </a:rPr>
                      <a:t>h(y) \neq 0</a:t>
                    </a:r>
                  </mc:Fallback>
                </mc:AlternateContent>
                <a:r>
                  <a:rPr lang="en-US" sz="14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las variables quedan literalmente separadas a cada lado del signo igual:</a:t>
                </a:r>
                <a:endParaRPr lang="en-US" sz="145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2240280"/>
                <a:ext cx="10424160" cy="868680"/>
              </a:xfrm>
              <a:prstGeom prst="rect">
                <a:avLst/>
              </a:prstGeom>
              <a:blipFill>
                <a:blip r:embed="rId3"/>
                <a:stretch>
                  <a:fillRect l="-234" b="-11268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1371600" y="3154680"/>
            <a:ext cx="4206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1371600" y="3154680"/>
                <a:ext cx="4206240" cy="7772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2600">
                    <a:solidFill>
                      <a:srgbClr val="0F172A"/>
                    </a:solidFill>
                  </a:defRPr>
                </a:pPr>
                <mc:AlternateContent>
                  <mc:Choice Requires="a14">
                    <a14:m>
                      <m:oMathPara xmlns:m="http://schemas.openxmlformats.org/officeDocument/2006/math">
                        <m:oMath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den>
                          </m:f>
                          <m:r>
                            <a:rPr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</mc:Choice>
                  <mc:Fallback xmlns="">
                    <a:r>
                      <a:rPr lang="es-MX" sz="2600">
                        <a:solidFill>
                          <a:srgbClr val="0F172A"/>
                        </a:solidFill>
                      </a:rPr>
                      <a:t>\frac{dy}{dx} = g(x)\,h(y)</a:t>
                    </a:r>
                  </mc:Fallback>
                </mc:AlternateContent>
                <a:endParaRPr lang="en-US" sz="2600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154680"/>
                <a:ext cx="4206240" cy="7772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6583680" y="3154680"/>
            <a:ext cx="420624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6583680" y="3154680"/>
                <a:ext cx="4206240" cy="7772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2600">
                    <a:solidFill>
                      <a:srgbClr val="0E7490"/>
                    </a:solidFill>
                  </a:defRPr>
                </a:pPr>
                <mc:AlternateContent>
                  <mc:Choice Requires="a14">
                    <a14:m>
                      <m:oMathPara xmlns:m="http://schemas.openxmlformats.org/officeDocument/2006/math">
                        <m:oMath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𝑑𝑥</m:t>
                          </m:r>
                        </m:oMath>
                      </m:oMathPara>
                    </a14:m>
                  </mc:Choice>
                  <mc:Fallback xmlns="">
                    <a:r>
                      <a:rPr lang="es-MX" sz="2600">
                        <a:solidFill>
                          <a:srgbClr val="0E7490"/>
                        </a:solidFill>
                      </a:rPr>
                      <a:t>\frac{dy}{h(y)} = g(x)\,dx</a:t>
                    </a:r>
                  </mc:Fallback>
                </mc:AlternateContent>
                <a:endParaRPr lang="en-US" sz="260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680" y="3154680"/>
                <a:ext cx="4206240" cy="777240"/>
              </a:xfrm>
              <a:prstGeom prst="rect">
                <a:avLst/>
              </a:prstGeom>
              <a:blipFill>
                <a:blip r:embed="rId5"/>
                <a:stretch>
                  <a:fillRect b="-315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548640" y="43434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777240" y="45445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777240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5445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es separable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14"/>
              <p:cNvSpPr/>
              <p:nvPr/>
            </p:nvSpPr>
            <p:spPr>
              <a:xfrm>
                <a:off x="777240" y="5120640"/>
                <a:ext cx="4892040" cy="10515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60000"/>
                  </a:lnSpc>
                  <a:spcAft>
                    <a:spcPts val="600"/>
                  </a:spcAft>
                  <a:buNone/>
                  <a:defRPr sz="1250">
                    <a:solidFill>
                      <a:srgbClr val="065F46"/>
                    </a:solidFill>
                  </a:defRPr>
                </a:pPr>
                <mc:AlternateContent>
                  <mc:Choice Requires="a14">
                    <a14:m>
                      <m:oMath xmlns:m="http://schemas.openxmlformats.org/officeDocument/2006/math"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𝑑𝑦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den>
                        </m:f>
                        <m:r>
                          <a:rPr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es-MX" sz="1250">
                        <a:solidFill>
                          <a:srgbClr val="065F46"/>
                        </a:solidFill>
                      </a:rPr>
                      <a:t>\frac{dy}{dx} = -\frac{x}{y}</a:t>
                    </a:r>
                  </mc:Fallback>
                </mc:AlternateContent>
                <a:r>
                  <a:rPr lang="en-US" sz="1250" dirty="0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→  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)=−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oMath>
                    </a14:m>
                  </mc:Choice>
                  <mc:Fallback xmlns="">
                    <a:r>
                      <a:rPr lang="es-MX" sz="1250">
                        <a:solidFill>
                          <a:srgbClr val="065F46"/>
                        </a:solidFill>
                      </a:rPr>
                      <a:t>g(x)=-x,\ h(y)=\frac{1}{y}</a:t>
                    </a:r>
                  </mc:Fallback>
                </mc:AlternateContent>
                <a:endParaRPr lang="en-US" sz="1250" dirty="0"/>
              </a:p>
              <a:p>
                <a:pPr marL="0" indent="0">
                  <a:lnSpc>
                    <a:spcPct val="160000"/>
                  </a:lnSpc>
                  <a:spcAft>
                    <a:spcPts val="600"/>
                  </a:spcAft>
                  <a:buNone/>
                  <a:defRPr sz="1250">
                    <a:solidFill>
                      <a:srgbClr val="065F46"/>
                    </a:solidFill>
                  </a:defRPr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</m:oMath>
                    </a14:m>
                  </mc:Choice>
                  <mc:Fallback xmlns="">
                    <a:r>
                      <a:rPr lang="es-MX" sz="1250">
                        <a:solidFill>
                          <a:srgbClr val="065F46"/>
                        </a:solidFill>
                      </a:rPr>
                      <a:t>dy/dx = e^{-x^2}</a:t>
                    </a:r>
                  </mc:Fallback>
                </mc:AlternateContent>
                <a:r>
                  <a:rPr lang="en-US" sz="1250" dirty="0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→  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)=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)=1</m:t>
                        </m:r>
                      </m:oMath>
                    </a14:m>
                  </mc:Choice>
                  <mc:Fallback xmlns="">
                    <a:r>
                      <a:rPr lang="es-MX" sz="1250">
                        <a:solidFill>
                          <a:srgbClr val="065F46"/>
                        </a:solidFill>
                      </a:rPr>
                      <a:t>g(x)=e^{-x^2},\ h(y)=1</a:t>
                    </a:r>
                  </mc:Fallback>
                </mc:AlternateContent>
                <a:endParaRPr lang="en-US" sz="1250" dirty="0"/>
              </a:p>
              <a:p>
                <a:pPr marL="0" indent="0">
                  <a:lnSpc>
                    <a:spcPct val="160000"/>
                  </a:lnSpc>
                  <a:spcAft>
                    <a:spcPts val="600"/>
                  </a:spcAft>
                  <a:buNone/>
                  <a:defRPr sz="1250">
                    <a:solidFill>
                      <a:srgbClr val="065F46"/>
                    </a:solidFill>
                  </a:defRPr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(1+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𝑦𝑑𝑥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a14:m>
                  </mc:Choice>
                  <mc:Fallback xmlns="">
                    <a:r>
                      <a:rPr lang="es-MX" sz="1250">
                        <a:solidFill>
                          <a:srgbClr val="065F46"/>
                        </a:solidFill>
                      </a:rPr>
                      <a:t>(1+x)\,dy - y\,dx = 0</a:t>
                    </a:r>
                  </mc:Fallback>
                </mc:AlternateContent>
                <a:r>
                  <a:rPr lang="en-US" sz="1250" dirty="0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→   ya en forma diferencial</a:t>
                </a:r>
                <a:endParaRPr lang="en-US" sz="1250" dirty="0"/>
              </a:p>
            </p:txBody>
          </p:sp>
        </mc:Choice>
        <mc:Fallback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40" y="5120640"/>
                <a:ext cx="4892040" cy="1051560"/>
              </a:xfrm>
              <a:prstGeom prst="rect">
                <a:avLst/>
              </a:prstGeom>
              <a:blipFill>
                <a:blip r:embed="rId6"/>
                <a:stretch>
                  <a:fillRect b="-31214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6291072" y="434340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6519672" y="4544568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6519672" y="4544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14032" y="454456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separable</a:t>
            </a:r>
            <a:endParaRPr lang="en-US" sz="1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19"/>
              <p:cNvSpPr/>
              <p:nvPr/>
            </p:nvSpPr>
            <p:spPr>
              <a:xfrm>
                <a:off x="6519672" y="5120640"/>
                <a:ext cx="4892040" cy="10515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60000"/>
                  </a:lnSpc>
                  <a:spcAft>
                    <a:spcPts val="600"/>
                  </a:spcAft>
                  <a:buNone/>
                  <a:defRPr sz="1250">
                    <a:solidFill>
                      <a:srgbClr val="9F1239"/>
                    </a:solidFill>
                  </a:defRPr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a14:m>
                  </mc:Choice>
                  <mc:Fallback xmlns="">
                    <a:r>
                      <a:rPr lang="es-MX" sz="1250">
                        <a:solidFill>
                          <a:srgbClr val="9F1239"/>
                        </a:solidFill>
                      </a:rPr>
                      <a:t>dy/dx = x+y</a:t>
                    </a:r>
                  </mc:Fallback>
                </mc:AlternateContent>
                <a:r>
                  <a:rPr lang="en-US" sz="1250" dirty="0">
                    <a:solidFill>
                      <a:srgbClr val="9F123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→   la suma no se factoriza</a:t>
                </a:r>
                <a:endParaRPr lang="en-US" sz="1250" dirty="0"/>
              </a:p>
              <a:p>
                <a:pPr marL="0" indent="0">
                  <a:lnSpc>
                    <a:spcPct val="160000"/>
                  </a:lnSpc>
                  <a:spcAft>
                    <a:spcPts val="600"/>
                  </a:spcAft>
                  <a:buNone/>
                  <a:defRPr sz="1250">
                    <a:solidFill>
                      <a:srgbClr val="9F1239"/>
                    </a:solidFill>
                  </a:defRPr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a14:m>
                  </mc:Choice>
                  <mc:Fallback xmlns="">
                    <a:r>
                      <a:rPr lang="es-MX" sz="1250">
                        <a:solidFill>
                          <a:srgbClr val="9F1239"/>
                        </a:solidFill>
                      </a:rPr>
                      <a:t>dy/dx = xy+x</a:t>
                    </a:r>
                  </mc:Fallback>
                </mc:AlternateContent>
                <a:r>
                  <a:rPr lang="en-US" sz="1250" dirty="0">
                    <a:solidFill>
                      <a:srgbClr val="9F123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→   ¡cuidado! sí lo es:   </a:t>
                </a: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+1)</m:t>
                        </m:r>
                      </m:oMath>
                    </a14:m>
                  </mc:Choice>
                  <mc:Fallback xmlns="">
                    <a:r>
                      <a:rPr lang="es-MX" sz="1250">
                        <a:solidFill>
                          <a:srgbClr val="9F1239"/>
                        </a:solidFill>
                      </a:rPr>
                      <a:t>=x(y+1)</a:t>
                    </a:r>
                  </mc:Fallback>
                </mc:AlternateContent>
                <a:endParaRPr lang="en-US" sz="1250" dirty="0"/>
              </a:p>
              <a:p>
                <a:pPr marL="0" indent="0">
                  <a:lnSpc>
                    <a:spcPct val="160000"/>
                  </a:lnSpc>
                  <a:spcAft>
                    <a:spcPts val="600"/>
                  </a:spcAft>
                  <a:buNone/>
                  <a:defRPr sz="1250">
                    <a:solidFill>
                      <a:srgbClr val="9F1239"/>
                    </a:solidFill>
                  </a:defRPr>
                </a:pPr>
                <mc:AlternateContent>
                  <mc:Choice Requires="a14">
                    <a14:m>
                      <m:oMath xmlns:m="http://schemas.openxmlformats.org/officeDocument/2006/math">
                        <m:r>
                          <a:rPr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</mc:Choice>
                  <mc:Fallback xmlns="">
                    <a:r>
                      <a:rPr lang="es-MX" sz="1250">
                        <a:solidFill>
                          <a:srgbClr val="9F1239"/>
                        </a:solidFill>
                      </a:rPr>
                      <a:t>dy/dx = \sin(x+y)</a:t>
                    </a:r>
                  </mc:Fallback>
                </mc:AlternateContent>
                <a:r>
                  <a:rPr lang="en-US" sz="1250" dirty="0">
                    <a:solidFill>
                      <a:srgbClr val="9F123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→   el argumento mezcla x y y</a:t>
                </a:r>
                <a:endParaRPr lang="en-US" sz="1250" dirty="0"/>
              </a:p>
            </p:txBody>
          </p:sp>
        </mc:Choice>
        <mc:Fallback>
          <p:sp>
            <p:nvSpPr>
              <p:cNvPr id="21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672" y="5120640"/>
                <a:ext cx="4892040" cy="1051560"/>
              </a:xfrm>
              <a:prstGeom prst="rect">
                <a:avLst/>
              </a:prstGeom>
              <a:blipFill>
                <a:blip r:embed="rId7"/>
                <a:stretch>
                  <a:fillRect b="-11561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20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DE SOLUCIÓN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General: 4 Pasos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ecuación diferencial a la familia de soluciones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749808" y="2331720"/>
            <a:ext cx="502920" cy="502920"/>
          </a:xfrm>
          <a:prstGeom prst="ellipse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749808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926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749808" y="3246120"/>
                <a:ext cx="2240280" cy="5943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20000"/>
                  </a:lnSpc>
                  <a:buNone/>
                  <a:defRPr sz="1050">
                    <a:solidFill>
                      <a:srgbClr val="475569"/>
                    </a:solidFill>
                  </a:defRPr>
                </a:pPr>
                <a:r>
                  <a:rPr lang="en-US" sz="110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Reescribe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𝑑𝑦</m:t>
                    </m:r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r>
                      <a:rPr>
                        <a:latin typeface="Cambria Math" panose="02040503050406030204" pitchFamily="18" charset="0"/>
                      </a:rPr>
                      <m:t>𝑑𝑥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  <m:r>
                      <a:rPr>
                        <a:latin typeface="Cambria Math" panose="02040503050406030204" pitchFamily="18" charset="0"/>
                      </a:rPr>
                      <m:t>ℎ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10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como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𝑑𝑦</m:t>
                    </m:r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r>
                      <a:rPr>
                        <a:latin typeface="Cambria Math" panose="02040503050406030204" pitchFamily="18" charset="0"/>
                      </a:rPr>
                      <m:t>ℎ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)=</m:t>
                    </m:r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  <m:r>
                      <a:rPr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US" sz="110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cuidando que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ℎ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)≠0</m:t>
                    </m:r>
                  </m:oMath>
                </a14:m>
                <a:r>
                  <a:rPr lang="en-US" sz="110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110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808" y="3246120"/>
                <a:ext cx="2240280" cy="594360"/>
              </a:xfrm>
              <a:prstGeom prst="rect">
                <a:avLst/>
              </a:prstGeom>
              <a:blipFill>
                <a:blip r:embed="rId3"/>
                <a:stretch>
                  <a:fillRect b="-21649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3328416" y="21488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529584" y="2331720"/>
            <a:ext cx="502920" cy="50292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529584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9584" y="2926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/>
              <p:nvPr/>
            </p:nvSpPr>
            <p:spPr>
              <a:xfrm>
                <a:off x="3529584" y="3246120"/>
                <a:ext cx="2240280" cy="5943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20000"/>
                  </a:lnSpc>
                  <a:buNone/>
                  <a:defRPr sz="1050">
                    <a:solidFill>
                      <a:srgbClr val="475569"/>
                    </a:solidFill>
                  </a:defRPr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>
                        <a:latin typeface="Cambria Math" panose="02040503050406030204" pitchFamily="18" charset="0"/>
                      </a:rPr>
                      <m:t>=∫</m:t>
                    </m:r>
                    <m:r>
                      <a:rPr>
                        <a:latin typeface="Cambria Math" panose="02040503050406030204" pitchFamily="18" charset="0"/>
                      </a:rPr>
                      <m:t>𝑔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  <m:r>
                      <a:rPr>
                        <a:latin typeface="Cambria Math" panose="02040503050406030204" pitchFamily="18" charset="0"/>
                      </a:rPr>
                      <m:t>𝑑𝑥</m:t>
                    </m:r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10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Una sola constante: las dos se combinan.</a:t>
                </a:r>
                <a:endParaRPr lang="en-US" sz="1100" dirty="0"/>
              </a:p>
            </p:txBody>
          </p:sp>
        </mc:Choice>
        <mc:Fallback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9584" y="3246120"/>
                <a:ext cx="2240280" cy="594360"/>
              </a:xfrm>
              <a:prstGeom prst="rect">
                <a:avLst/>
              </a:prstGeom>
              <a:blipFill>
                <a:blip r:embed="rId4"/>
                <a:stretch>
                  <a:fillRect b="-4124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4"/>
          <p:cNvSpPr/>
          <p:nvPr/>
        </p:nvSpPr>
        <p:spPr>
          <a:xfrm>
            <a:off x="6108192" y="21488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309360" y="2331720"/>
            <a:ext cx="502920" cy="502920"/>
          </a:xfrm>
          <a:prstGeom prst="ellipse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30936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2926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Despejar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 18"/>
              <p:cNvSpPr/>
              <p:nvPr/>
            </p:nvSpPr>
            <p:spPr>
              <a:xfrm>
                <a:off x="6309360" y="3246120"/>
                <a:ext cx="2240280" cy="5943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20000"/>
                  </a:lnSpc>
                  <a:buNone/>
                  <a:defRPr sz="1050">
                    <a:solidFill>
                      <a:srgbClr val="475569"/>
                    </a:solidFill>
                  </a:defRPr>
                </a:pPr>
                <a:r>
                  <a:rPr lang="en-US" sz="110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 es posible, resuelve para y (solución explícita); si no, deja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𝐺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)=</m:t>
                    </m:r>
                    <m:r>
                      <a:rPr>
                        <a:latin typeface="Cambria Math" panose="02040503050406030204" pitchFamily="18" charset="0"/>
                      </a:rPr>
                      <m:t>𝐻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)+</m:t>
                    </m:r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110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(implícita).</a:t>
                </a:r>
                <a:endParaRPr lang="en-US" sz="1100" dirty="0"/>
              </a:p>
            </p:txBody>
          </p:sp>
        </mc:Choice>
        <mc:Fallback>
          <p:sp>
            <p:nvSpPr>
              <p:cNvPr id="20" name="Tex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360" y="3246120"/>
                <a:ext cx="2240280" cy="594360"/>
              </a:xfrm>
              <a:prstGeom prst="rect">
                <a:avLst/>
              </a:prstGeom>
              <a:blipFill>
                <a:blip r:embed="rId5"/>
                <a:stretch>
                  <a:fillRect b="-21649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Shape 19"/>
          <p:cNvSpPr/>
          <p:nvPr/>
        </p:nvSpPr>
        <p:spPr>
          <a:xfrm>
            <a:off x="8887968" y="2148840"/>
            <a:ext cx="2606040" cy="178308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9089136" y="2331720"/>
            <a:ext cx="502920" cy="502920"/>
          </a:xfrm>
          <a:prstGeom prst="ellipse">
            <a:avLst/>
          </a:prstGeom>
          <a:solidFill>
            <a:srgbClr val="FFE4E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9089136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89136" y="292608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 23"/>
              <p:cNvSpPr/>
              <p:nvPr/>
            </p:nvSpPr>
            <p:spPr>
              <a:xfrm>
                <a:off x="9089136" y="3246120"/>
                <a:ext cx="2240280" cy="5943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20000"/>
                  </a:lnSpc>
                  <a:buNone/>
                  <a:defRPr sz="1050">
                    <a:solidFill>
                      <a:srgbClr val="475569"/>
                    </a:solidFill>
                  </a:defRPr>
                </a:pPr>
                <a:r>
                  <a:rPr lang="en-US" sz="110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Revisa las raíces de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ℎ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sz="110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(soluciones perdidas) y, si hay PVI, evalúa C y el intervalo I.</a:t>
                </a:r>
                <a:endParaRPr lang="en-US" sz="1100" dirty="0"/>
              </a:p>
            </p:txBody>
          </p:sp>
        </mc:Choice>
        <mc:Fallback>
          <p:sp>
            <p:nvSpPr>
              <p:cNvPr id="25" name="Text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9136" y="3246120"/>
                <a:ext cx="2240280" cy="594360"/>
              </a:xfrm>
              <a:prstGeom prst="rect">
                <a:avLst/>
              </a:prstGeom>
              <a:blipFill>
                <a:blip r:embed="rId6"/>
                <a:stretch>
                  <a:fillRect b="-21649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Shape 24"/>
          <p:cNvSpPr/>
          <p:nvPr/>
        </p:nvSpPr>
        <p:spPr>
          <a:xfrm>
            <a:off x="548640" y="420624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25"/>
              <p:cNvSpPr/>
              <p:nvPr/>
            </p:nvSpPr>
            <p:spPr>
              <a:xfrm>
                <a:off x="548640" y="4206240"/>
                <a:ext cx="5394960" cy="12344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3000">
                    <a:solidFill>
                      <a:srgbClr val="0E749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27" name="Tex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4206240"/>
                <a:ext cx="5394960" cy="123444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Shape 26"/>
          <p:cNvSpPr/>
          <p:nvPr/>
        </p:nvSpPr>
        <p:spPr>
          <a:xfrm>
            <a:off x="6245352" y="420624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 27"/>
              <p:cNvSpPr/>
              <p:nvPr/>
            </p:nvSpPr>
            <p:spPr>
              <a:xfrm>
                <a:off x="6245352" y="4206240"/>
                <a:ext cx="5394960" cy="12344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2600">
                    <a:solidFill>
                      <a:srgbClr val="047857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∫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ℎ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=∫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>
          <p:sp>
            <p:nvSpPr>
              <p:cNvPr id="29" name="Text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352" y="4206240"/>
                <a:ext cx="5394960" cy="12344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Shape 28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822960" y="562356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Ojo de Analista:  </a:t>
            </a: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entre h(y) puede esconder soluciones constantes donde h(y)=0. Siempre revísalas por separado — lo veremos con lupa en el Ejemplo 4.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651760"/>
            <a:ext cx="4937760" cy="4937760"/>
          </a:xfrm>
          <a:prstGeom prst="ellipse">
            <a:avLst/>
          </a:prstGeom>
          <a:solidFill>
            <a:srgbClr val="FEF3C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48640" y="3657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743200"/>
            <a:ext cx="96286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1280160" y="2743200"/>
                <a:ext cx="9628632" cy="1737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3600">
                    <a:solidFill>
                      <a:srgbClr val="B45309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𝑦𝑑𝑥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160" y="2743200"/>
                <a:ext cx="9628632" cy="17373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1737360" y="4709160"/>
            <a:ext cx="87142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la solución general por separación de variables.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Separación Directa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548640" y="1508760"/>
                <a:ext cx="11091672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l">
                  <a:buNone/>
                  <a:defRPr sz="1700">
                    <a:solidFill>
                      <a:srgbClr val="B45309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𝑦𝑑𝑥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508760"/>
                <a:ext cx="11091672" cy="365760"/>
              </a:xfrm>
              <a:prstGeom prst="rect">
                <a:avLst/>
              </a:prstGeom>
              <a:blipFill>
                <a:blip r:embed="rId3"/>
                <a:stretch>
                  <a:fillRect b="-833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548640" y="219456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y reacomodar: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868680" y="2926080"/>
                <a:ext cx="475488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l">
                  <a:buNone/>
                  <a:defRPr sz="1500">
                    <a:solidFill>
                      <a:srgbClr val="334155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𝑦𝑑𝑥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2926080"/>
                <a:ext cx="4754880" cy="4114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868680" y="3383280"/>
            <a:ext cx="42062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868680" y="3383280"/>
                <a:ext cx="4206240" cy="10058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2400">
                    <a:solidFill>
                      <a:srgbClr val="B45309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𝑑𝑥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3383280"/>
                <a:ext cx="4206240" cy="100584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868680" y="4434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 ≠ 0, x ≠ −1)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892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Integrar: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1"/>
              <p:cNvSpPr/>
              <p:nvPr/>
            </p:nvSpPr>
            <p:spPr>
              <a:xfrm>
                <a:off x="868680" y="5303520"/>
                <a:ext cx="475488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l">
                  <a:buNone/>
                  <a:defRPr sz="1500">
                    <a:solidFill>
                      <a:srgbClr val="334155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>
                          <a:latin typeface="Cambria Math" panose="02040503050406030204" pitchFamily="18" charset="0"/>
                        </a:rPr>
                        <m:t>|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|=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>
                          <a:latin typeface="Cambria Math" panose="02040503050406030204" pitchFamily="18" charset="0"/>
                        </a:rPr>
                        <m:t>|1+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|+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500" dirty="0"/>
              </a:p>
            </p:txBody>
          </p:sp>
        </mc:Choice>
        <mc:Fallback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5303520"/>
                <a:ext cx="475488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6291072" y="219456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611112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Exponenciar y </a:t>
            </a:r>
            <a:r>
              <a:rPr lang="en-US" sz="1500" b="1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renombrar</a:t>
            </a: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constante: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11112" y="2971800"/>
            <a:ext cx="47091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15"/>
              <p:cNvSpPr/>
              <p:nvPr/>
            </p:nvSpPr>
            <p:spPr>
              <a:xfrm>
                <a:off x="6611112" y="2971800"/>
                <a:ext cx="4709160" cy="10972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3000">
                    <a:solidFill>
                      <a:srgbClr val="B45309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>
                          <a:latin typeface="Cambria Math" panose="02040503050406030204" pitchFamily="18" charset="0"/>
                        </a:rPr>
                        <m:t>(1+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112" y="2971800"/>
                <a:ext cx="4709160" cy="10972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16"/>
          <p:cNvSpPr/>
          <p:nvPr/>
        </p:nvSpPr>
        <p:spPr>
          <a:xfrm>
            <a:off x="6611112" y="425196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C=0 recupera la solución trivial y=0 perdida al dividir. Geométricamente: una familia de rectas que giran alrededor del punto fijo (−1, 0).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651760"/>
            <a:ext cx="4937760" cy="4937760"/>
          </a:xfrm>
          <a:prstGeom prst="ellipse">
            <a:avLst/>
          </a:prstGeom>
          <a:solidFill>
            <a:srgbClr val="EDE9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48640" y="36576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743200"/>
            <a:ext cx="96286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1280160" y="2743200"/>
                <a:ext cx="9628632" cy="1737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3200">
                    <a:solidFill>
                      <a:srgbClr val="6D28D9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(4)=−3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160" y="2743200"/>
                <a:ext cx="9628632" cy="17373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1737360" y="4709160"/>
            <a:ext cx="87142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la solución explícita del PVI y determina la región R de validez.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87452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PVI con Solución Explícita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548640" y="1508760"/>
                <a:ext cx="11091672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l">
                  <a:buNone/>
                  <a:defRPr sz="1700">
                    <a:solidFill>
                      <a:srgbClr val="6D28D9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(4)=−3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508760"/>
                <a:ext cx="11091672" cy="365760"/>
              </a:xfrm>
              <a:prstGeom prst="rect">
                <a:avLst/>
              </a:prstGeom>
              <a:blipFill>
                <a:blip r:embed="rId3"/>
                <a:stretch>
                  <a:fillRect b="-5833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548640" y="219456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 integrar: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868680" y="2926080"/>
                <a:ext cx="475488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l">
                  <a:buNone/>
                  <a:defRPr sz="1500">
                    <a:solidFill>
                      <a:srgbClr val="334155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𝑦𝑑𝑦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𝑥𝑑𝑥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2926080"/>
                <a:ext cx="4754880" cy="3657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868680" y="3337560"/>
            <a:ext cx="4206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868680" y="3337560"/>
                <a:ext cx="4206240" cy="9601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2400">
                    <a:solidFill>
                      <a:srgbClr val="6D28D9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3337560"/>
                <a:ext cx="4206240" cy="9601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868680" y="4434840"/>
                <a:ext cx="484632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  <a:defRPr sz="1300">
                    <a:solidFill>
                      <a:srgbClr val="475569"/>
                    </a:solidFill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300" i="1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(familia de circunferencias centradas en el origen)</a:t>
                </a:r>
                <a:endParaRPr lang="en-US" sz="130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4434840"/>
                <a:ext cx="4846320" cy="5486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6291072" y="2194560"/>
            <a:ext cx="5349240" cy="3749040"/>
          </a:xfrm>
          <a:prstGeom prst="roundRect">
            <a:avLst>
              <a:gd name="adj" fmla="val 2439"/>
            </a:avLst>
          </a:prstGeom>
          <a:solidFill>
            <a:srgbClr val="EDE9FE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611112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el PVI (4, −3):</a:t>
            </a:r>
            <a:endParaRPr lang="en-US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12"/>
              <p:cNvSpPr/>
              <p:nvPr/>
            </p:nvSpPr>
            <p:spPr>
              <a:xfrm>
                <a:off x="6611112" y="2926080"/>
                <a:ext cx="475488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l">
                  <a:buNone/>
                  <a:defRPr sz="1500">
                    <a:solidFill>
                      <a:srgbClr val="5B21B6"/>
                    </a:solidFill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+(−3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=16+9=25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112" y="2926080"/>
                <a:ext cx="4754880" cy="4114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13"/>
          <p:cNvSpPr/>
          <p:nvPr/>
        </p:nvSpPr>
        <p:spPr>
          <a:xfrm>
            <a:off x="6611112" y="3474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implícita del PVI: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11112" y="3886200"/>
            <a:ext cx="47091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15"/>
              <p:cNvSpPr/>
              <p:nvPr/>
            </p:nvSpPr>
            <p:spPr>
              <a:xfrm>
                <a:off x="6611112" y="3886200"/>
                <a:ext cx="4709160" cy="10972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3000">
                    <a:solidFill>
                      <a:srgbClr val="6D28D9"/>
                    </a:solidFill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112" y="3886200"/>
                <a:ext cx="4709160" cy="10972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16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320040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2 · CONTINUACIÓN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Explícita y Región de Validez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4434840"/>
          </a:xfrm>
          <a:prstGeom prst="roundRect">
            <a:avLst>
              <a:gd name="adj" fmla="val 206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868680" y="1828800"/>
                <a:ext cx="10424160" cy="6858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30000"/>
                  </a:lnSpc>
                  <a:buNone/>
                  <a:defRPr sz="1450">
                    <a:solidFill>
                      <a:srgbClr val="334155"/>
                    </a:solidFill>
                  </a:defRPr>
                </a:pPr>
                <a:r>
                  <a:rPr lang="en-US" sz="14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La circunferencia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US" sz="14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da dos ramas posibles: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=±</m:t>
                    </m:r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25−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sz="14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Como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(4)=−3&lt;0</m:t>
                    </m:r>
                  </m:oMath>
                </a14:m>
                <a:r>
                  <a:rPr lang="en-US" sz="14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la condición inicial nos obliga a elegir la rama negativa:</a:t>
                </a:r>
                <a:endParaRPr lang="en-US" sz="1450" dirty="0"/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1828800"/>
                <a:ext cx="10424160" cy="685800"/>
              </a:xfrm>
              <a:prstGeom prst="rect">
                <a:avLst/>
              </a:prstGeom>
              <a:blipFill>
                <a:blip r:embed="rId3"/>
                <a:stretch>
                  <a:fillRect l="-234" b="-885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4023360" y="2514600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4023360" y="2514600"/>
                <a:ext cx="4114800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2600">
                    <a:solidFill>
                      <a:srgbClr val="6D28D9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=−</m:t>
                      </m:r>
                      <m:rad>
                        <m:radPr>
                          <m:deg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25−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sz="260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3360" y="2514600"/>
                <a:ext cx="4114800" cy="8686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868680" y="3611880"/>
                <a:ext cx="10424160" cy="11430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30000"/>
                  </a:lnSpc>
                  <a:buNone/>
                  <a:defRPr sz="1450">
                    <a:solidFill>
                      <a:srgbClr val="334155"/>
                    </a:solidFill>
                  </a:defRPr>
                </a:pPr>
                <a:r>
                  <a:rPr lang="en-US" sz="14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Aquí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)=−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4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y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𝜕</m:t>
                    </m:r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r>
                      <a:rPr>
                        <a:latin typeface="Cambria Math" panose="02040503050406030204" pitchFamily="18" charset="0"/>
                      </a:rPr>
                      <m:t>𝜕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son continuas siempre que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14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Eso define la región R: el semiplano inferior {(x,y): y&lt;0}, donde el Teorema de Existencia y Unicidad (Sesión 2) garantiza que nuestra curva es la única solución.</a:t>
                </a:r>
                <a:endParaRPr lang="en-US" sz="1450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3611880"/>
                <a:ext cx="10424160" cy="1143000"/>
              </a:xfrm>
              <a:prstGeom prst="rect">
                <a:avLst/>
              </a:prstGeom>
              <a:blipFill>
                <a:blip r:embed="rId5"/>
                <a:stretch>
                  <a:fillRect l="-234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868680" y="4892040"/>
            <a:ext cx="10424160" cy="960120"/>
          </a:xfrm>
          <a:prstGeom prst="roundRect">
            <a:avLst>
              <a:gd name="adj" fmla="val 7619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1143000" y="4892040"/>
                <a:ext cx="9875520" cy="9601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lnSpc>
                    <a:spcPct val="125000"/>
                  </a:lnSpc>
                  <a:buNone/>
                  <a:defRPr sz="1450">
                    <a:solidFill>
                      <a:srgbClr val="5B21B6"/>
                    </a:solidFill>
                  </a:defRPr>
                </a:pPr>
                <a:r>
                  <a:rPr lang="en-US" sz="1450" b="1" dirty="0">
                    <a:solidFill>
                      <a:srgbClr val="5B21B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 x = ±5 tenemos y = 0: </a:t>
                </a:r>
                <a:r>
                  <a:rPr lang="en-US" sz="1450" dirty="0">
                    <a:solidFill>
                      <a:srgbClr val="5B21B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ahí la tangente es vertical y la ecuación original se indefine. Por eso el intervalo de definición es el intervalo </a:t>
                </a:r>
                <a:r>
                  <a:rPr lang="en-US" sz="1450" b="1" dirty="0">
                    <a:solidFill>
                      <a:srgbClr val="5B21B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abierto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𝐼</m:t>
                    </m:r>
                    <m:r>
                      <a:rPr>
                        <a:latin typeface="Cambria Math" panose="02040503050406030204" pitchFamily="18" charset="0"/>
                      </a:rPr>
                      <m:t>=(−5, 5)</m:t>
                    </m:r>
                  </m:oMath>
                </a14:m>
                <a:r>
                  <a:rPr lang="en-US" sz="1450" dirty="0">
                    <a:solidFill>
                      <a:srgbClr val="5B21B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no el intervalo cerrado.</a:t>
                </a:r>
                <a:endParaRPr lang="en-US" sz="145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4892040"/>
                <a:ext cx="9875520" cy="960120"/>
              </a:xfrm>
              <a:prstGeom prst="rect">
                <a:avLst/>
              </a:prstGeom>
              <a:blipFill>
                <a:blip r:embed="rId6"/>
                <a:stretch>
                  <a:fillRect l="-247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10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651760"/>
            <a:ext cx="4937760" cy="4937760"/>
          </a:xfrm>
          <a:prstGeom prst="ellipse">
            <a:avLst/>
          </a:prstGeom>
          <a:solidFill>
            <a:srgbClr val="CFFA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4864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743200"/>
            <a:ext cx="96286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1280160" y="2743200"/>
                <a:ext cx="9628632" cy="1737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3600">
                    <a:solidFill>
                      <a:srgbClr val="0E7490"/>
                    </a:solidFill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=1+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(0)=0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160" y="2743200"/>
                <a:ext cx="9628632" cy="17373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1737360" y="4709160"/>
            <a:ext cx="87142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la solución del PVI y su intervalo de definición.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Intervalo de Validez es Finito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548640" y="1508760"/>
                <a:ext cx="11091672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l">
                  <a:buNone/>
                  <a:defRPr sz="1700">
                    <a:solidFill>
                      <a:srgbClr val="0E7490"/>
                    </a:solidFill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=1+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(0)=0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508760"/>
                <a:ext cx="11091672" cy="365760"/>
              </a:xfrm>
              <a:prstGeom prst="rect">
                <a:avLst/>
              </a:prstGeom>
              <a:blipFill>
                <a:blip r:embed="rId3"/>
                <a:stretch>
                  <a:fillRect b="-833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548640" y="219456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68680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Separar, integrar y aplicar el PVI: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35661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868680" y="2880360"/>
                <a:ext cx="3566160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2200">
                    <a:solidFill>
                      <a:srgbClr val="0E7490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2880360"/>
                <a:ext cx="3566160" cy="86868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868680" y="3886200"/>
                <a:ext cx="484632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l">
                  <a:buNone/>
                  <a:defRPr sz="1350">
                    <a:solidFill>
                      <a:srgbClr val="334155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arctan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>
                          <a:latin typeface="Cambria Math" panose="02040503050406030204" pitchFamily="18" charset="0"/>
                        </a:rPr>
                        <m:t>⇒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arctan</m:t>
                      </m:r>
                      <m:r>
                        <a:rPr>
                          <a:latin typeface="Cambria Math" panose="02040503050406030204" pitchFamily="18" charset="0"/>
                        </a:rPr>
                        <m:t>(0)=0⇒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35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3886200"/>
                <a:ext cx="4846320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6291072" y="219456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CFFAFE"/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611112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5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del PVI: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59752" y="2926080"/>
            <a:ext cx="36576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A5F3F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12"/>
              <p:cNvSpPr/>
              <p:nvPr/>
            </p:nvSpPr>
            <p:spPr>
              <a:xfrm>
                <a:off x="7159752" y="2926080"/>
                <a:ext cx="3657600" cy="118872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3200">
                    <a:solidFill>
                      <a:srgbClr val="0E7490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tan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9752" y="2926080"/>
                <a:ext cx="3657600" cy="11887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548640" y="4709160"/>
            <a:ext cx="11091672" cy="1691640"/>
          </a:xfrm>
          <a:prstGeom prst="roundRect">
            <a:avLst>
              <a:gd name="adj" fmla="val 4865"/>
            </a:avLst>
          </a:prstGeom>
          <a:solidFill>
            <a:srgbClr val="FEF3C7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868680" y="4892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Moraleja</a:t>
            </a:r>
            <a:endParaRPr lang="en-US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15"/>
              <p:cNvSpPr/>
              <p:nvPr/>
            </p:nvSpPr>
            <p:spPr>
              <a:xfrm>
                <a:off x="868680" y="5257800"/>
                <a:ext cx="6766560" cy="100584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25000"/>
                  </a:lnSpc>
                  <a:buNone/>
                  <a:defRPr sz="1350">
                    <a:solidFill>
                      <a:srgbClr val="78350F"/>
                    </a:solidFill>
                  </a:defRPr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)=1+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350" dirty="0">
                    <a:solidFill>
                      <a:srgbClr val="78350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es suave y continua en TODO ℝ², sin ninguna singularidad visible. Y sin embargo, el intervalo de definición de la solución es finito:</a:t>
                </a:r>
                <a:endParaRPr lang="en-US" sz="1350" dirty="0"/>
              </a:p>
            </p:txBody>
          </p:sp>
        </mc:Choice>
        <mc:Fallback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5257800"/>
                <a:ext cx="6766560" cy="1005840"/>
              </a:xfrm>
              <a:prstGeom prst="rect">
                <a:avLst/>
              </a:prstGeom>
              <a:blipFill>
                <a:blip r:embed="rId7"/>
                <a:stretch>
                  <a:fillRect l="-270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16"/>
              <p:cNvSpPr/>
              <p:nvPr/>
            </p:nvSpPr>
            <p:spPr>
              <a:xfrm>
                <a:off x="7818120" y="5074920"/>
                <a:ext cx="3566160" cy="10515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2400">
                    <a:solidFill>
                      <a:srgbClr val="B45309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>
                              <a:latin typeface="Cambria Math" panose="02040503050406030204" pitchFamily="18" charset="0"/>
                            </a:rPr>
                            <m:t>, </m:t>
                          </m:r>
                          <m:f>
                            <m:f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8" name="Text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120" y="5074920"/>
                <a:ext cx="3566160" cy="10515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 17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651760"/>
            <a:ext cx="4937760" cy="4937760"/>
          </a:xfrm>
          <a:prstGeom prst="ellipse">
            <a:avLst/>
          </a:prstGeom>
          <a:solidFill>
            <a:srgbClr val="FFE4E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4864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743200"/>
            <a:ext cx="96286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1280160" y="2743200"/>
                <a:ext cx="9628632" cy="1737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4000">
                    <a:solidFill>
                      <a:srgbClr val="BE123C"/>
                    </a:solidFill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−4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160" y="2743200"/>
                <a:ext cx="9628632" cy="17373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1737360" y="4709160"/>
            <a:ext cx="87142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Resuélvela de dos formas: factorizando el lado derecho primero, y sin factorizar. ¿Obtienes la misma respuesta completa?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Peligro de No Factorizar Primero</a:t>
            </a:r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548640" y="1508760"/>
                <a:ext cx="11091672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  <a:defRPr sz="1700">
                    <a:solidFill>
                      <a:srgbClr val="BE123C"/>
                    </a:solidFill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en-US" sz="1700" dirty="0">
                    <a:solidFill>
                      <a:srgbClr val="BE12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—  dos caminos, ¿la misma respuesta completa?</a:t>
                </a:r>
                <a:endParaRPr lang="en-US" sz="1700" dirty="0"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508760"/>
                <a:ext cx="11091672" cy="365760"/>
              </a:xfrm>
              <a:prstGeom prst="rect">
                <a:avLst/>
              </a:prstGeom>
              <a:blipFill>
                <a:blip r:embed="rId3"/>
                <a:stretch>
                  <a:fillRect t="-6667" b="-16667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548640" y="219456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FFE4E6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423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sin factorizar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2960" y="3063240"/>
            <a:ext cx="3383280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822960" y="3063240"/>
                <a:ext cx="3383280" cy="7772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2200">
                    <a:solidFill>
                      <a:srgbClr val="BE123C"/>
                    </a:solidFill>
                  </a:defRPr>
                </a:pPr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>
                              <a:latin typeface="Cambria Math" panose="02040503050406030204" pitchFamily="18" charset="0"/>
                            </a:rPr>
                            <m:t>−4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063240"/>
                <a:ext cx="3383280" cy="7772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822960" y="3977640"/>
                <a:ext cx="475488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  <a:defRPr sz="1250">
                    <a:solidFill>
                      <a:srgbClr val="9F1239"/>
                    </a:solidFill>
                  </a:defRPr>
                </a:pPr>
                <a:r>
                  <a:rPr lang="en-US" sz="1250" dirty="0">
                    <a:solidFill>
                      <a:srgbClr val="9F123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Aplicando directo la fórmula de tabla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>
                            <a:latin typeface="Cambria Math" panose="02040503050406030204" pitchFamily="18" charset="0"/>
                          </a:rPr>
                          <m:t>𝑑𝑢</m:t>
                        </m:r>
                      </m:num>
                      <m:den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1250" dirty="0">
                    <a:solidFill>
                      <a:srgbClr val="9F123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e integrando:</a:t>
                </a:r>
                <a:endParaRPr lang="en-US" sz="1250" dirty="0"/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3977640"/>
                <a:ext cx="4754880" cy="548640"/>
              </a:xfrm>
              <a:prstGeom prst="rect">
                <a:avLst/>
              </a:prstGeom>
              <a:blipFill>
                <a:blip r:embed="rId5"/>
                <a:stretch>
                  <a:fillRect l="-128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822960" y="4526280"/>
            <a:ext cx="42976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12"/>
              <p:cNvSpPr/>
              <p:nvPr/>
            </p:nvSpPr>
            <p:spPr>
              <a:xfrm>
                <a:off x="822960" y="4526280"/>
                <a:ext cx="4297680" cy="10515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2400">
                    <a:solidFill>
                      <a:srgbClr val="BE123C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ar-AE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sepChr m:val="+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sSup>
                                <m:sSup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4526280"/>
                <a:ext cx="4297680" cy="10515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13"/>
          <p:cNvSpPr/>
          <p:nvPr/>
        </p:nvSpPr>
        <p:spPr>
          <a:xfrm>
            <a:off x="822960" y="56692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y aquí se detiene, como si fuera “la” solución general.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91072" y="2194560"/>
            <a:ext cx="5349240" cy="4206240"/>
          </a:xfrm>
          <a:prstGeom prst="roundRect">
            <a:avLst>
              <a:gd name="adj" fmla="val 2174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565392" y="2423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565392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59752" y="2423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Factorizar primero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 18"/>
              <p:cNvSpPr/>
              <p:nvPr/>
            </p:nvSpPr>
            <p:spPr>
              <a:xfrm>
                <a:off x="6565392" y="3063240"/>
                <a:ext cx="484632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l">
                  <a:buNone/>
                  <a:defRPr sz="1400">
                    <a:solidFill>
                      <a:srgbClr val="065F46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−4=(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−2)(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+2)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20" name="Tex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392" y="3063240"/>
                <a:ext cx="4846320" cy="3657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 19"/>
              <p:cNvSpPr/>
              <p:nvPr/>
            </p:nvSpPr>
            <p:spPr>
              <a:xfrm>
                <a:off x="6565392" y="3474720"/>
                <a:ext cx="4846320" cy="77724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25000"/>
                  </a:lnSpc>
                  <a:buNone/>
                  <a:defRPr sz="1250">
                    <a:solidFill>
                      <a:srgbClr val="065F46"/>
                    </a:solidFill>
                  </a:defRPr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ℎ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en-US" sz="1250" dirty="0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⇒  y=2 y y=−2 son soluciones constantes (de </a:t>
                </a:r>
                <a:r>
                  <a:rPr lang="en-US" sz="1250" dirty="0" err="1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equilibrio</a:t>
                </a:r>
                <a:r>
                  <a:rPr lang="en-US" sz="1250" dirty="0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/ puntos </a:t>
                </a:r>
                <a:r>
                  <a:rPr lang="en-US" sz="1250" dirty="0" err="1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críticos</a:t>
                </a:r>
                <a:r>
                  <a:rPr lang="en-US" sz="1250" dirty="0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), visibles de </a:t>
                </a:r>
                <a:r>
                  <a:rPr lang="en-US" sz="1250" dirty="0" err="1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inmediato</a:t>
                </a:r>
                <a:r>
                  <a:rPr lang="en-US" sz="1250" dirty="0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Se </a:t>
                </a:r>
                <a:r>
                  <a:rPr lang="en-US" sz="1250" dirty="0" err="1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puede</a:t>
                </a:r>
                <a:r>
                  <a:rPr lang="en-US" sz="1250" dirty="0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250" dirty="0" err="1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hacer</a:t>
                </a:r>
                <a:r>
                  <a:rPr lang="en-US" sz="1250" dirty="0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un </a:t>
                </a:r>
                <a:r>
                  <a:rPr lang="en-US" sz="1250" dirty="0" err="1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diagrama</a:t>
                </a:r>
                <a:r>
                  <a:rPr lang="en-US" sz="1250" dirty="0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de </a:t>
                </a:r>
                <a:r>
                  <a:rPr lang="en-US" sz="1250" dirty="0" err="1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fase</a:t>
                </a:r>
                <a:r>
                  <a:rPr lang="en-US" sz="1250" dirty="0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1250" dirty="0"/>
              </a:p>
            </p:txBody>
          </p:sp>
        </mc:Choice>
        <mc:Fallback>
          <p:sp>
            <p:nvSpPr>
              <p:cNvPr id="21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392" y="3474720"/>
                <a:ext cx="4846320" cy="777240"/>
              </a:xfrm>
              <a:prstGeom prst="rect">
                <a:avLst/>
              </a:prstGeom>
              <a:blipFill>
                <a:blip r:embed="rId8"/>
                <a:stretch>
                  <a:fillRect l="-126" b="-7031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20"/>
              <p:cNvSpPr/>
              <p:nvPr/>
            </p:nvSpPr>
            <p:spPr>
              <a:xfrm>
                <a:off x="6565392" y="4297680"/>
                <a:ext cx="4846320" cy="50292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  <a:defRPr sz="1250">
                    <a:solidFill>
                      <a:srgbClr val="065F46"/>
                    </a:solidFill>
                  </a:defRPr>
                </a:pPr>
                <a:r>
                  <a:rPr lang="en-US" sz="1250" dirty="0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≠±2</m:t>
                    </m:r>
                  </m:oMath>
                </a14:m>
                <a:r>
                  <a:rPr lang="en-US" sz="1250" dirty="0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se separa igual (fracciones parciales) y se llega a la misma familia:</a:t>
                </a:r>
                <a:endParaRPr lang="en-US" sz="1250" dirty="0"/>
              </a:p>
            </p:txBody>
          </p:sp>
        </mc:Choice>
        <mc:Fallback>
          <p:sp>
            <p:nvSpPr>
              <p:cNvPr id="22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392" y="4297680"/>
                <a:ext cx="4846320" cy="502920"/>
              </a:xfrm>
              <a:prstGeom prst="rect">
                <a:avLst/>
              </a:prstGeom>
              <a:blipFill>
                <a:blip r:embed="rId9"/>
                <a:stretch>
                  <a:fillRect l="-126" t="-1205" b="-3614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/>
          <p:cNvSpPr/>
          <p:nvPr/>
        </p:nvSpPr>
        <p:spPr>
          <a:xfrm>
            <a:off x="6565392" y="4846320"/>
            <a:ext cx="429768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 22"/>
              <p:cNvSpPr/>
              <p:nvPr/>
            </p:nvSpPr>
            <p:spPr>
              <a:xfrm>
                <a:off x="6565392" y="4846320"/>
                <a:ext cx="4297680" cy="10515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2400">
                    <a:solidFill>
                      <a:srgbClr val="047857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ar-AE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sepChr m:val="+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sSup>
                                <m:sSup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4" name="Tex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392" y="4846320"/>
                <a:ext cx="4297680" cy="10515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23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651760" cy="384048"/>
          </a:xfrm>
          <a:prstGeom prst="roundRect">
            <a:avLst>
              <a:gd name="adj" fmla="val 50000"/>
            </a:avLst>
          </a:prstGeom>
          <a:solidFill>
            <a:srgbClr val="FFE4E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4 · VEREDICTO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 Completa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91672" cy="4480560"/>
          </a:xfrm>
          <a:prstGeom prst="roundRect">
            <a:avLst>
              <a:gd name="adj" fmla="val 204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4"/>
              <p:cNvSpPr/>
              <p:nvPr/>
            </p:nvSpPr>
            <p:spPr>
              <a:xfrm>
                <a:off x="868680" y="1828800"/>
                <a:ext cx="10424160" cy="10515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30000"/>
                  </a:lnSpc>
                  <a:buNone/>
                  <a:defRPr sz="1500">
                    <a:solidFill>
                      <a:srgbClr val="334155"/>
                    </a:solidFill>
                  </a:defRPr>
                </a:pPr>
                <a:r>
                  <a:rPr lang="en-US" sz="150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 evaluamos la familia 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50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, obtenemos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150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 esa solución constante sí estaba escondida en la fórmula. Pero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US" sz="150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nunca aparece, sin importar qué valor finito le des a C — es una solución singular, genuinamente perdida al dividir entre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ar-AE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lang="ar-AE" sz="150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</a:t>
                </a:r>
                <a:endParaRPr lang="en-US" sz="1500" dirty="0"/>
              </a:p>
            </p:txBody>
          </p:sp>
        </mc:Choice>
        <mc:Fallback>
          <p:sp>
            <p:nvSpPr>
              <p:cNvPr id="6" name="Text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1828800"/>
                <a:ext cx="10424160" cy="1051560"/>
              </a:xfrm>
              <a:prstGeom prst="rect">
                <a:avLst/>
              </a:prstGeom>
              <a:blipFill>
                <a:blip r:embed="rId3"/>
                <a:stretch>
                  <a:fillRect l="-234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868680" y="3063240"/>
            <a:ext cx="10424160" cy="1371600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18872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completa:</a:t>
            </a:r>
            <a:endParaRPr lang="en-US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1188720" y="3566160"/>
                <a:ext cx="5120640" cy="8229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2200">
                    <a:solidFill>
                      <a:srgbClr val="BE123C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ar-AE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sepChr m:val="+"/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sSup>
                                <m:sSup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8720" y="3566160"/>
                <a:ext cx="5120640" cy="82296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6400800" y="3794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 err="1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omitiendo</a:t>
            </a:r>
            <a:endParaRPr lang="en-US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7863840" y="3566160"/>
                <a:ext cx="2743200" cy="8229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2400">
                    <a:solidFill>
                      <a:srgbClr val="BE123C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 lang="en-US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mtClean="0">
                          <a:latin typeface="Cambria Math" panose="02040503050406030204" pitchFamily="18" charset="0"/>
                        </a:rPr>
                        <m:t>=±2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840" y="3566160"/>
                <a:ext cx="2743200" cy="8229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10"/>
          <p:cNvSpPr/>
          <p:nvPr/>
        </p:nvSpPr>
        <p:spPr>
          <a:xfrm>
            <a:off x="548640" y="4709160"/>
            <a:ext cx="110916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Factorizar antes de separar no es estética: es lo que evita que le entregues a tu cliente un </a:t>
            </a:r>
            <a:r>
              <a:rPr lang="en-US" sz="1600" b="1" dirty="0" err="1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</a:t>
            </a:r>
            <a:r>
              <a:rPr lang="en-US" sz="1600" b="1" dirty="0" err="1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</a:t>
            </a: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600" b="1" dirty="0" err="1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incompleto</a:t>
            </a:r>
            <a:r>
              <a:rPr lang="en-US" sz="16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651760"/>
            <a:ext cx="4937760" cy="4937760"/>
          </a:xfrm>
          <a:prstGeom prst="ellipse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4864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743200"/>
            <a:ext cx="96286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1280160" y="2743200"/>
                <a:ext cx="9628632" cy="1737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2400">
                    <a:solidFill>
                      <a:srgbClr val="047857"/>
                    </a:solidFill>
                  </a:defRPr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(0)=0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160" y="2743200"/>
                <a:ext cx="9628632" cy="17373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1737360" y="4709160"/>
            <a:ext cx="87142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la solución del PVI (aunque no puedas despejar y).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Implícita: Cuando Despejar No Es Posible</a:t>
            </a:r>
            <a:endParaRPr lang="en-US" sz="27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548640" y="1600200"/>
                <a:ext cx="11091672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l">
                  <a:buNone/>
                  <a:defRPr sz="1500">
                    <a:solidFill>
                      <a:srgbClr val="047857"/>
                    </a:solidFill>
                  </a:defRPr>
                </a:pPr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(0)=0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600200"/>
                <a:ext cx="11091672" cy="365760"/>
              </a:xfrm>
              <a:prstGeom prst="rect">
                <a:avLst/>
              </a:prstGeom>
              <a:blipFill>
                <a:blip r:embed="rId3"/>
                <a:stretch>
                  <a:fillRect b="-31667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548640" y="2240280"/>
            <a:ext cx="5349240" cy="3703320"/>
          </a:xfrm>
          <a:prstGeom prst="roundRect">
            <a:avLst>
              <a:gd name="adj" fmla="val 246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(dividiendo entre eʸcos x):</a:t>
            </a:r>
            <a:endParaRPr lang="en-US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868680" y="2880360"/>
                <a:ext cx="4754880" cy="32004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  <a:defRPr sz="1250">
                    <a:solidFill>
                      <a:srgbClr val="94A3B8"/>
                    </a:solidFill>
                  </a:defRPr>
                </a:pPr>
                <a:r>
                  <a:rPr lang="en-US" sz="1250" i="1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Usando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sin</m:t>
                    </m:r>
                    <m:r>
                      <a:rPr>
                        <a:latin typeface="Cambria Math" panose="02040503050406030204" pitchFamily="18" charset="0"/>
                      </a:rPr>
                      <m:t>2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=2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sin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cos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250" i="1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</a:t>
                </a:r>
                <a:endParaRPr lang="en-US" sz="125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2880360"/>
                <a:ext cx="4754880" cy="320040"/>
              </a:xfrm>
              <a:prstGeom prst="rect">
                <a:avLst/>
              </a:prstGeom>
              <a:blipFill>
                <a:blip r:embed="rId4"/>
                <a:stretch>
                  <a:fillRect l="-128" t="-1923" b="-3846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868680" y="3200400"/>
                <a:ext cx="475488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l">
                  <a:buNone/>
                  <a:defRPr sz="1500">
                    <a:solidFill>
                      <a:srgbClr val="334155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=2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𝑥𝑑𝑥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3200400"/>
                <a:ext cx="4754880" cy="41148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868680" y="3703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cada lado:</a:t>
            </a:r>
            <a:endParaRPr lang="en-US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868680" y="4114800"/>
                <a:ext cx="475488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  <a:defRPr sz="1250">
                    <a:solidFill>
                      <a:srgbClr val="94A3B8"/>
                    </a:solidFill>
                  </a:defRPr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∫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𝑑𝑦</m:t>
                    </m:r>
                    <m:r>
                      <a:rPr>
                        <a:latin typeface="Cambria Math" panose="02040503050406030204" pitchFamily="18" charset="0"/>
                      </a:rPr>
                      <m:t>=−(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+1)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lang="en-US" sz="1250" i="1" dirty="0">
                    <a:solidFill>
                      <a:srgbClr val="94A3B8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(por partes)</a:t>
                </a:r>
                <a:endParaRPr lang="en-US" sz="125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4114800"/>
                <a:ext cx="4754880" cy="3657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 10"/>
              <p:cNvSpPr/>
              <p:nvPr/>
            </p:nvSpPr>
            <p:spPr>
              <a:xfrm>
                <a:off x="868680" y="4526280"/>
                <a:ext cx="484632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l">
                  <a:buNone/>
                  <a:defRPr sz="1500">
                    <a:solidFill>
                      <a:srgbClr val="334155"/>
                    </a:solidFill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+1)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=−2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>
          <p:sp>
            <p:nvSpPr>
              <p:cNvPr id="12" name="Text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4526280"/>
                <a:ext cx="4846320" cy="4114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 11"/>
              <p:cNvSpPr/>
              <p:nvPr/>
            </p:nvSpPr>
            <p:spPr>
              <a:xfrm>
                <a:off x="868680" y="5074920"/>
                <a:ext cx="4846320" cy="4114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  <a:defRPr sz="1400">
                    <a:solidFill>
                      <a:srgbClr val="065F46"/>
                    </a:solidFill>
                  </a:defRPr>
                </a:pPr>
                <a:r>
                  <a:rPr lang="en-US" sz="1400" b="1" dirty="0">
                    <a:solidFill>
                      <a:srgbClr val="065F46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PVI (0,0): 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1+1=−2+</m:t>
                    </m:r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  <m:r>
                      <a:rPr>
                        <a:latin typeface="Cambria Math" panose="02040503050406030204" pitchFamily="18" charset="0"/>
                      </a:rPr>
                      <m:t>⇒</m:t>
                    </m:r>
                    <m:r>
                      <a:rPr>
                        <a:latin typeface="Cambria Math" panose="02040503050406030204" pitchFamily="18" charset="0"/>
                      </a:rPr>
                      <m:t>𝐶</m:t>
                    </m:r>
                    <m:r>
                      <a:rPr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1400" dirty="0"/>
              </a:p>
            </p:txBody>
          </p:sp>
        </mc:Choice>
        <mc:Fallback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5074920"/>
                <a:ext cx="4846320" cy="411480"/>
              </a:xfrm>
              <a:prstGeom prst="rect">
                <a:avLst/>
              </a:prstGeom>
              <a:blipFill>
                <a:blip r:embed="rId8"/>
                <a:stretch>
                  <a:fillRect l="-377" t="-2985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6291072" y="2240280"/>
            <a:ext cx="5349240" cy="3703320"/>
          </a:xfrm>
          <a:prstGeom prst="roundRect">
            <a:avLst>
              <a:gd name="adj" fmla="val 2469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6611112" y="2514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implícita: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611112" y="3017520"/>
            <a:ext cx="470916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15"/>
              <p:cNvSpPr/>
              <p:nvPr/>
            </p:nvSpPr>
            <p:spPr>
              <a:xfrm>
                <a:off x="6611112" y="3017520"/>
                <a:ext cx="4709160" cy="10515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2400">
                    <a:solidFill>
                      <a:srgbClr val="047857"/>
                    </a:solidFill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+1)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+2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112" y="3017520"/>
                <a:ext cx="4709160" cy="10515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 16"/>
          <p:cNvSpPr/>
          <p:nvPr/>
        </p:nvSpPr>
        <p:spPr>
          <a:xfrm>
            <a:off x="6611112" y="429768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no se puede despejar algebraicamente en términos de funciones elementales. Necesitamos otra estrategia para visualizarla.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2788920" cy="384048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5 · VISUALIZACIÓN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Curvas de Nivel Generadas por Computadora</a:t>
            </a:r>
            <a:endParaRPr lang="en-US" sz="2800" dirty="0"/>
          </a:p>
        </p:txBody>
      </p:sp>
      <p:pic>
        <p:nvPicPr>
          <p:cNvPr id="5" name="Image 0" descr="E:\Teaching\sesion3\img\curvas_nivel_ejemplo5_light.png"/>
          <p:cNvPicPr>
            <a:picLocks noChangeAspect="1"/>
          </p:cNvPicPr>
          <p:nvPr/>
        </p:nvPicPr>
        <p:blipFill>
          <a:blip r:embed="rId3"/>
          <a:srcRect l="-33333" r="-33333"/>
          <a:stretch/>
        </p:blipFill>
        <p:spPr>
          <a:xfrm>
            <a:off x="548640" y="1691640"/>
            <a:ext cx="7040880" cy="4224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18120" y="1691640"/>
            <a:ext cx="3822192" cy="4251960"/>
          </a:xfrm>
          <a:prstGeom prst="roundRect">
            <a:avLst>
              <a:gd name="adj" fmla="val 2392"/>
            </a:avLst>
          </a:prstGeom>
          <a:solidFill>
            <a:srgbClr val="D1FAE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8092440" y="19202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poder despejar y, graficamos curvas de nivel de</a:t>
            </a:r>
            <a:endParaRPr lang="en-US" sz="13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5"/>
              <p:cNvSpPr/>
              <p:nvPr/>
            </p:nvSpPr>
            <p:spPr>
              <a:xfrm>
                <a:off x="7955280" y="2514600"/>
                <a:ext cx="3566160" cy="54864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ctr">
                  <a:buNone/>
                  <a:defRPr sz="1500">
                    <a:solidFill>
                      <a:srgbClr val="047857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+(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+1)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+2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500" dirty="0"/>
              </a:p>
            </p:txBody>
          </p:sp>
        </mc:Choice>
        <mc:Fallback>
          <p:sp>
            <p:nvSpPr>
              <p:cNvPr id="8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5280" y="2514600"/>
                <a:ext cx="3566160" cy="5486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 6"/>
          <p:cNvSpPr/>
          <p:nvPr/>
        </p:nvSpPr>
        <p:spPr>
          <a:xfrm>
            <a:off x="8092440" y="31089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varios valores de C, sin resolver nada algebraicamente.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092440" y="3977640"/>
            <a:ext cx="3291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 C=4</a:t>
            </a: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(resaltada) es la única que pasa por el punto </a:t>
            </a: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(0,0)</a:t>
            </a: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esa es la solución de nuestro PVI.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2651760"/>
            <a:ext cx="4937760" cy="4937760"/>
          </a:xfrm>
          <a:prstGeom prst="ellipse">
            <a:avLst/>
          </a:prstGeom>
          <a:solidFill>
            <a:srgbClr val="E0E7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4864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280160" y="2743200"/>
            <a:ext cx="962863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1280160" y="2743200"/>
                <a:ext cx="9628632" cy="17373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3600">
                    <a:solidFill>
                      <a:srgbClr val="4338CA"/>
                    </a:solidFill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 lang="ar-AE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(3)=5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0160" y="2743200"/>
                <a:ext cx="9628632" cy="17373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1737360" y="4709160"/>
            <a:ext cx="87142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la solución del PVI y justifica tu resultado.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783080" cy="384048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Soluciones que Viven Dentro de una Integral</a:t>
            </a:r>
            <a:endParaRPr lang="en-US"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3"/>
              <p:cNvSpPr/>
              <p:nvPr/>
            </p:nvSpPr>
            <p:spPr>
              <a:xfrm>
                <a:off x="548640" y="1600200"/>
                <a:ext cx="11091672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l">
                  <a:buNone/>
                  <a:defRPr sz="1700">
                    <a:solidFill>
                      <a:srgbClr val="4338CA"/>
                    </a:solidFill>
                  </a:defRPr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(3)=5</m:t>
                      </m:r>
                    </m:oMath>
                  </m:oMathPara>
                </a14:m>
                <a:endParaRPr lang="en-US" sz="1700" dirty="0"/>
              </a:p>
            </p:txBody>
          </p:sp>
        </mc:Choice>
        <mc:Fallback>
          <p:sp>
            <p:nvSpPr>
              <p:cNvPr id="5" name="Text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600200"/>
                <a:ext cx="11091672" cy="365760"/>
              </a:xfrm>
              <a:prstGeom prst="rect">
                <a:avLst/>
              </a:prstGeom>
              <a:blipFill>
                <a:blip r:embed="rId3"/>
                <a:stretch>
                  <a:fillRect b="-18333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hape 4"/>
          <p:cNvSpPr/>
          <p:nvPr/>
        </p:nvSpPr>
        <p:spPr>
          <a:xfrm>
            <a:off x="548640" y="219456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868680" y="2377440"/>
                <a:ext cx="475488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buNone/>
                  <a:defRPr sz="1450">
                    <a:solidFill>
                      <a:srgbClr val="334155"/>
                    </a:solidFill>
                  </a:defRPr>
                </a:pPr>
                <a:r>
                  <a:rPr lang="en-US" sz="14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Separar: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𝑑𝑦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sz="145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2377440"/>
                <a:ext cx="4754880" cy="365760"/>
              </a:xfrm>
              <a:prstGeom prst="rect">
                <a:avLst/>
              </a:prstGeom>
              <a:blipFill>
                <a:blip r:embed="rId4"/>
                <a:stretch>
                  <a:fillRect l="-513" b="-11667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868680" y="2788920"/>
                <a:ext cx="4846320" cy="91440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25000"/>
                  </a:lnSpc>
                  <a:buNone/>
                  <a:defRPr sz="1250">
                    <a:solidFill>
                      <a:srgbClr val="BE123C"/>
                    </a:solidFill>
                  </a:defRPr>
                </a:pPr>
                <a:r>
                  <a:rPr lang="en-US" sz="1250" dirty="0">
                    <a:solidFill>
                      <a:srgbClr val="BE12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Pero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sz="1250" dirty="0">
                    <a:solidFill>
                      <a:srgbClr val="BE12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no tiene antiderivada elemental (no existe combinación de polinomios, exponenciales, trig o logaritmos cuya derivada sea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sz="1250" dirty="0">
                    <a:solidFill>
                      <a:srgbClr val="BE123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).</a:t>
                </a:r>
                <a:endParaRPr lang="en-US" sz="125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2788920"/>
                <a:ext cx="4846320" cy="914400"/>
              </a:xfrm>
              <a:prstGeom prst="rect">
                <a:avLst/>
              </a:prstGeom>
              <a:blipFill>
                <a:blip r:embed="rId5"/>
                <a:stretch>
                  <a:fillRect l="-126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7"/>
          <p:cNvSpPr/>
          <p:nvPr/>
        </p:nvSpPr>
        <p:spPr>
          <a:xfrm>
            <a:off x="6291072" y="2194560"/>
            <a:ext cx="5349240" cy="1600200"/>
          </a:xfrm>
          <a:prstGeom prst="roundRect">
            <a:avLst>
              <a:gd name="adj" fmla="val 5714"/>
            </a:avLst>
          </a:prstGeom>
          <a:solidFill>
            <a:srgbClr val="E0E7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6611112" y="2377440"/>
            <a:ext cx="470916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9"/>
              <p:cNvSpPr/>
              <p:nvPr/>
            </p:nvSpPr>
            <p:spPr>
              <a:xfrm>
                <a:off x="6611112" y="2377440"/>
                <a:ext cx="4709160" cy="123444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  <a:defRPr sz="2600">
                    <a:solidFill>
                      <a:srgbClr val="4338CA"/>
                    </a:solidFill>
                  </a:defRPr>
                </a:pPr>
                <a14:m>
                  <m:oMathPara xmlns:m="http://schemas.openxmlformats.org/officeDocument/2006/math">
                    <m:oMath>
                      <m:r>
                        <a:rPr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)=5+</m:t>
                      </m:r>
                      <m:nary>
                        <m:naryPr>
                          <m:limLoc m:val="subSup"/>
                          <m:grow m:val="on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sSup>
                            <m:sSupPr>
                              <m:ctrlPr>
                                <a:rPr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𝑑𝑡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>
          <p:sp>
            <p:nvSpPr>
              <p:cNvPr id="11" name="Text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112" y="2377440"/>
                <a:ext cx="4709160" cy="12344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548640" y="3977640"/>
            <a:ext cx="11091672" cy="2606040"/>
          </a:xfrm>
          <a:prstGeom prst="roundRect">
            <a:avLst>
              <a:gd name="adj" fmla="val 315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esto SÍ es una solución legítima y útil?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8680" y="4590288"/>
            <a:ext cx="365760" cy="365760"/>
          </a:xfrm>
          <a:prstGeom prst="ellipse">
            <a:avLst/>
          </a:prstGeom>
          <a:solidFill>
            <a:srgbClr val="E0E7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68680" y="4590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14"/>
              <p:cNvSpPr/>
              <p:nvPr/>
            </p:nvSpPr>
            <p:spPr>
              <a:xfrm>
                <a:off x="1371600" y="4572000"/>
                <a:ext cx="4800600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20000"/>
                  </a:lnSpc>
                  <a:buNone/>
                  <a:defRPr sz="1150">
                    <a:solidFill>
                      <a:srgbClr val="334155"/>
                    </a:solidFill>
                  </a:defRPr>
                </a:pPr>
                <a:r>
                  <a:rPr lang="en-US" sz="11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Existencia y unicidad garantizadas: 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𝑥</m:t>
                    </m:r>
                    <m:r>
                      <a:rPr>
                        <a:latin typeface="Cambria Math" panose="02040503050406030204" pitchFamily="18" charset="0"/>
                      </a:rPr>
                      <m:t>,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sz="11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y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𝜕</m:t>
                    </m:r>
                    <m:r>
                      <a:rPr>
                        <a:latin typeface="Cambria Math" panose="02040503050406030204" pitchFamily="18" charset="0"/>
                      </a:rPr>
                      <m:t>𝑓</m:t>
                    </m:r>
                    <m:r>
                      <a:rPr>
                        <a:latin typeface="Cambria Math" panose="02040503050406030204" pitchFamily="18" charset="0"/>
                      </a:rPr>
                      <m:t>/</m:t>
                    </m:r>
                    <m:r>
                      <a:rPr>
                        <a:latin typeface="Cambria Math" panose="02040503050406030204" pitchFamily="18" charset="0"/>
                      </a:rPr>
                      <m:t>𝜕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1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son continuas en todo ℝ², así que hay una única solución en todo ℝ.</a:t>
                </a:r>
                <a:endParaRPr lang="en-US" sz="1150" dirty="0"/>
              </a:p>
            </p:txBody>
          </p:sp>
        </mc:Choice>
        <mc:Fallback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572000"/>
                <a:ext cx="4800600" cy="8686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15"/>
          <p:cNvSpPr/>
          <p:nvPr/>
        </p:nvSpPr>
        <p:spPr>
          <a:xfrm>
            <a:off x="6537960" y="4590288"/>
            <a:ext cx="365760" cy="365760"/>
          </a:xfrm>
          <a:prstGeom prst="ellipse">
            <a:avLst/>
          </a:prstGeom>
          <a:solidFill>
            <a:srgbClr val="E0E7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537960" y="4590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 17"/>
              <p:cNvSpPr/>
              <p:nvPr/>
            </p:nvSpPr>
            <p:spPr>
              <a:xfrm>
                <a:off x="7040880" y="4572000"/>
                <a:ext cx="4800600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20000"/>
                  </a:lnSpc>
                  <a:buNone/>
                  <a:defRPr sz="1150">
                    <a:solidFill>
                      <a:srgbClr val="334155"/>
                    </a:solidFill>
                  </a:defRPr>
                </a:pPr>
                <a:r>
                  <a:rPr lang="en-US" sz="11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Satisface la ecuación por construcción:  </a:t>
                </a:r>
                <a:r>
                  <a:rPr lang="en-US" sz="11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por el Teorema Fundamental del Cálculo, la derivada de la integral 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sz="11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automáticamente, y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(3)=5+0=5</m:t>
                    </m:r>
                  </m:oMath>
                </a14:m>
                <a:r>
                  <a:rPr lang="en-US" sz="11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sin despejar nada.</a:t>
                </a:r>
                <a:endParaRPr lang="en-US" sz="1150" dirty="0"/>
              </a:p>
            </p:txBody>
          </p:sp>
        </mc:Choice>
        <mc:Fallback>
          <p:sp>
            <p:nvSpPr>
              <p:cNvPr id="19" name="Text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880" y="4572000"/>
                <a:ext cx="4800600" cy="86868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Shape 18"/>
          <p:cNvSpPr/>
          <p:nvPr/>
        </p:nvSpPr>
        <p:spPr>
          <a:xfrm>
            <a:off x="868680" y="5596128"/>
            <a:ext cx="365760" cy="365760"/>
          </a:xfrm>
          <a:prstGeom prst="ellipse">
            <a:avLst/>
          </a:prstGeom>
          <a:solidFill>
            <a:srgbClr val="E0E7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868680" y="5596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20"/>
              <p:cNvSpPr/>
              <p:nvPr/>
            </p:nvSpPr>
            <p:spPr>
              <a:xfrm>
                <a:off x="1371600" y="5577840"/>
                <a:ext cx="4800600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>
                  <a:lnSpc>
                    <a:spcPct val="120000"/>
                  </a:lnSpc>
                  <a:buNone/>
                  <a:defRPr sz="1150">
                    <a:solidFill>
                      <a:srgbClr val="334155"/>
                    </a:solidFill>
                  </a:defRPr>
                </a:pPr>
                <a:r>
                  <a:rPr lang="en-US" sz="1150" b="1" dirty="0">
                    <a:solidFill>
                      <a:srgbClr val="0F172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“No elemental” no significa “no válida”:  </a:t>
                </a:r>
                <a:r>
                  <a:rPr lang="en-US" sz="11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 una función bien definida, suave y creciente — tan legítima como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lang="en-US" sz="1150" dirty="0">
                    <a:solidFill>
                      <a:srgbClr val="33415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es un número aunque no sea una fracción simple.</a:t>
                </a:r>
                <a:endParaRPr lang="en-US" sz="1150" dirty="0"/>
              </a:p>
            </p:txBody>
          </p:sp>
        </mc:Choice>
        <mc:Fallback>
          <p:sp>
            <p:nvSpPr>
              <p:cNvPr id="22" name="Text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577840"/>
                <a:ext cx="4800600" cy="86868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Shape 21"/>
          <p:cNvSpPr/>
          <p:nvPr/>
        </p:nvSpPr>
        <p:spPr>
          <a:xfrm>
            <a:off x="6537960" y="5596128"/>
            <a:ext cx="365760" cy="365760"/>
          </a:xfrm>
          <a:prstGeom prst="ellipse">
            <a:avLst/>
          </a:prstGeom>
          <a:solidFill>
            <a:srgbClr val="E0E7FF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6537960" y="5596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40880" y="55778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 de ingeniería real: 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evalúa numéricamente a cualquier precisión (cuadratura, software, tablas de la función error erf) — así se usan a diario la normal acumulada o el kernel de calor.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03120"/>
            <a:ext cx="4572000" cy="4572000"/>
          </a:xfrm>
          <a:prstGeom prst="ellipse">
            <a:avLst/>
          </a:prstGeom>
          <a:solidFill>
            <a:srgbClr val="6D28D9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48640" y="36576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de la Sesión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19659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🧩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60120" y="2880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y Verificar</a:t>
            </a:r>
            <a:endParaRPr lang="en-US" sz="15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7"/>
              <p:cNvSpPr/>
              <p:nvPr/>
            </p:nvSpPr>
            <p:spPr>
              <a:xfrm>
                <a:off x="1005840" y="3337560"/>
                <a:ext cx="2971800" cy="868680"/>
              </a:xfrm>
              <a:prstGeom prst="rect">
                <a:avLst/>
              </a:prstGeom>
              <a:noFill/>
              <a:ln/>
            </p:spPr>
            <p:txBody>
              <a:bodyPr wrap="square" rtlCol="0" anchor="t"/>
              <a:lstStyle/>
              <a:p>
                <a:pPr marL="0" indent="0" algn="ctr">
                  <a:lnSpc>
                    <a:spcPct val="125000"/>
                  </a:lnSpc>
                  <a:buNone/>
                  <a:defRPr sz="1150">
                    <a:solidFill>
                      <a:srgbClr val="475569"/>
                    </a:solidFill>
                  </a:defRPr>
                </a:pPr>
                <a:r>
                  <a:rPr lang="en-US" sz="115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Dividir entre h(y) es válido solo si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ℎ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𝑦</m:t>
                    </m:r>
                    <m:r>
                      <a:rPr>
                        <a:latin typeface="Cambria Math" panose="02040503050406030204" pitchFamily="18" charset="0"/>
                      </a:rPr>
                      <m:t>)≠0</m:t>
                    </m:r>
                  </m:oMath>
                </a14:m>
                <a:r>
                  <a:rPr lang="en-US" sz="1150" dirty="0">
                    <a:solidFill>
                      <a:srgbClr val="475569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. Revisa siempre esas raíces antes de dar la solución por completa.</a:t>
                </a:r>
                <a:endParaRPr lang="en-US" sz="1150" dirty="0"/>
              </a:p>
            </p:txBody>
          </p:sp>
        </mc:Choice>
        <mc:Fallback>
          <p:sp>
            <p:nvSpPr>
              <p:cNvPr id="9" name="Text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840" y="3337560"/>
                <a:ext cx="2971800" cy="868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4572000" y="19659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📐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54880" y="2880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Álgebra a la Geometría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00600" y="33375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Constantes, regiones de validez, intervalos de definición y curvas de nivel son parte de la respuesta, no un extra opcional.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366760" y="1965960"/>
            <a:ext cx="3429000" cy="2331720"/>
          </a:xfrm>
          <a:prstGeom prst="roundRect">
            <a:avLst>
              <a:gd name="adj" fmla="val 392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8366760" y="2194560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∫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549640" y="28803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Siempre Hay Fórmula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95360" y="333756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integral definida con límite variable es una solución tan real y útil como cualquier función elemental.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EDE9F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914400" y="4709160"/>
            <a:ext cx="1036015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55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Próximo paso de las Firmas:  </a:t>
            </a:r>
            <a:r>
              <a:rPr lang="en-US" sz="155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hacemos cuando la ecuación ya no se deja separar? En la próxima sesión conoceremos las Ecuaciones Lineales de primer orden y el método del factor integrante.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1868</Words>
  <Application>Microsoft Office PowerPoint</Application>
  <PresentationFormat>Widescreen</PresentationFormat>
  <Paragraphs>204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Eduardo Javier Serna Duarte</cp:lastModifiedBy>
  <cp:revision>2</cp:revision>
  <dcterms:created xsi:type="dcterms:W3CDTF">2026-08-17T15:42:39Z</dcterms:created>
  <dcterms:modified xsi:type="dcterms:W3CDTF">2026-08-17T18:52:27Z</dcterms:modified>
</cp:coreProperties>
</file>