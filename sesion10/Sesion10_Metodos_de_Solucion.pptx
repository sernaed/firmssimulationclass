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15458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6818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05037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6397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720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— El Proceso General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conocen una solución y₁, ¿cómo consiguen una segunda, independiente?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21408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035808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35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8803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950208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7947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primer orden para u′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864608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47091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— El Atajo Exponencial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coeficientes constantes, hay un atajo total: en vez de buscar una segunda solución a partir de la primera, adivinan todas a la vez.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CARACTERÍSTICA</a:t>
            </a:r>
            <a:endParaRPr lang="en-US" sz="1800" dirty="0"/>
          </a:p>
        </p:txBody>
      </p:sp>
      <p:pic>
        <p:nvPicPr>
          <p:cNvPr id="7" name="Image 0" descr="build/eq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71273"/>
            <a:ext cx="2011680" cy="749694"/>
          </a:xfrm>
          <a:prstGeom prst="rect">
            <a:avLst/>
          </a:prstGeom>
        </p:spPr>
      </p:pic>
      <p:pic>
        <p:nvPicPr>
          <p:cNvPr id="8" name="Image 1" descr="build/eq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927031"/>
            <a:ext cx="8259775" cy="6381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94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800" dirty="0"/>
          </a:p>
        </p:txBody>
      </p:sp>
      <p:pic>
        <p:nvPicPr>
          <p:cNvPr id="7" name="Image 0" descr="build/eq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34222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21098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800" dirty="0"/>
          </a:p>
        </p:txBody>
      </p:sp>
      <p:pic>
        <p:nvPicPr>
          <p:cNvPr id="11" name="Image 1" descr="build/eq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32287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310677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800" dirty="0"/>
          </a:p>
        </p:txBody>
      </p:sp>
      <p:pic>
        <p:nvPicPr>
          <p:cNvPr id="15" name="Image 2" descr="build/eq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41209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98348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98348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800" dirty="0"/>
          </a:p>
        </p:txBody>
      </p:sp>
      <p:pic>
        <p:nvPicPr>
          <p:cNvPr id="6" name="Image 0" descr="build/eq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9456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800" dirty="0"/>
          </a:p>
        </p:txBody>
      </p:sp>
      <p:pic>
        <p:nvPicPr>
          <p:cNvPr id="8" name="Image 1" descr="build/eq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7490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4348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build/eq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800" dirty="0"/>
          </a:p>
        </p:txBody>
      </p:sp>
      <p:pic>
        <p:nvPicPr>
          <p:cNvPr id="6" name="Image 0" descr="build/eq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92608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" name="Image 0" descr="build/eq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800" dirty="0"/>
          </a:p>
        </p:txBody>
      </p:sp>
      <p:pic>
        <p:nvPicPr>
          <p:cNvPr id="6" name="Image 0" descr="build/eq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92608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8348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8348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800" dirty="0"/>
          </a:p>
        </p:txBody>
      </p:sp>
      <p:pic>
        <p:nvPicPr>
          <p:cNvPr id="6" name="Image 0" descr="build/eq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7478" y="2103120"/>
            <a:ext cx="5276738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54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11094415" cy="1920240"/>
          </a:xfrm>
          <a:prstGeom prst="roundRect">
            <a:avLst>
              <a:gd name="adj" fmla="val 381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931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800" dirty="0"/>
          </a:p>
        </p:txBody>
      </p:sp>
      <p:pic>
        <p:nvPicPr>
          <p:cNvPr id="10" name="Image 1" descr="build/eq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311502"/>
            <a:ext cx="1645920" cy="612435"/>
          </a:xfrm>
          <a:prstGeom prst="rect">
            <a:avLst/>
          </a:prstGeom>
        </p:spPr>
      </p:pic>
      <p:pic>
        <p:nvPicPr>
          <p:cNvPr id="11" name="Image 2" descr="build/eq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29768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502920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AUXILIAR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800" dirty="0"/>
          </a:p>
        </p:txBody>
      </p:sp>
      <p:pic>
        <p:nvPicPr>
          <p:cNvPr id="7" name="Image 0" descr="build/eq/ce_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340098"/>
            <a:ext cx="3149498" cy="45212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21098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800" dirty="0"/>
          </a:p>
        </p:txBody>
      </p:sp>
      <p:pic>
        <p:nvPicPr>
          <p:cNvPr id="11" name="Image 1" descr="build/eq/ce_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348520"/>
            <a:ext cx="3149498" cy="4352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310677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800" dirty="0"/>
          </a:p>
        </p:txBody>
      </p:sp>
      <p:pic>
        <p:nvPicPr>
          <p:cNvPr id="15" name="Image 2" descr="build/eq/ce_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432965"/>
            <a:ext cx="3149498" cy="26639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98348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98348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 estas tres fórmulas con las de la Diapositiva 9 — misma estructura: solo cambian eʳˣ→xᵐ y x→ln x.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749040"/>
          </a:xfrm>
          <a:prstGeom prst="roundRect">
            <a:avLst>
              <a:gd name="adj" fmla="val 2439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800" dirty="0"/>
          </a:p>
        </p:txBody>
      </p:sp>
      <p:pic>
        <p:nvPicPr>
          <p:cNvPr id="6" name="Image 0" descr="build/eq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9456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800" dirty="0"/>
          </a:p>
        </p:txBody>
      </p:sp>
      <p:pic>
        <p:nvPicPr>
          <p:cNvPr id="8" name="Image 1" descr="build/eq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88620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06908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69080"/>
            <a:ext cx="10637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73736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78308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1608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10248" y="173736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7328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11480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06908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4114800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1608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10248" y="406908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07328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0900" y="1783080"/>
            <a:ext cx="4789896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880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45262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800" dirty="0"/>
          </a:p>
        </p:txBody>
      </p:sp>
      <p:pic>
        <p:nvPicPr>
          <p:cNvPr id="5" name="Image 0" descr="build/eq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3194761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60720" y="160020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</a:t>
            </a:r>
            <a:endParaRPr lang="en-US" sz="1800" dirty="0"/>
          </a:p>
        </p:txBody>
      </p:sp>
      <p:pic>
        <p:nvPicPr>
          <p:cNvPr id="7" name="Image 1" descr="build/eq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965960"/>
            <a:ext cx="3051761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697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800" dirty="0"/>
          </a:p>
        </p:txBody>
      </p:sp>
      <p:pic>
        <p:nvPicPr>
          <p:cNvPr id="9" name="Image 2" descr="build/eq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520440"/>
            <a:ext cx="4554650" cy="5029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548640" y="4572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548640" y="5166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800" dirty="0"/>
          </a:p>
        </p:txBody>
      </p:sp>
      <p:pic>
        <p:nvPicPr>
          <p:cNvPr id="13" name="Image 3" descr="build/eq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486400"/>
            <a:ext cx="5429534" cy="5029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Física a la Ecuación Diferencial</a:t>
            </a:r>
            <a:endParaRPr lang="en-US" sz="2900" dirty="0"/>
          </a:p>
        </p:txBody>
      </p:sp>
      <p:pic>
        <p:nvPicPr>
          <p:cNvPr id="4" name="Image 0" descr="build/img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845" y="1645920"/>
            <a:ext cx="4352687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37776" y="1824228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7776" y="18242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232136" y="1645920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Newton: la fuerza neta es masa por aceleración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637776" y="2711196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37776" y="27111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232136" y="2532888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resorte y el amortiguador se oponen al movimiento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637776" y="3598164"/>
            <a:ext cx="420624" cy="420624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37776" y="35981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232136" y="3419856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fuerza aplicada es constante: F₀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343400"/>
            <a:ext cx="11094415" cy="1874520"/>
          </a:xfrm>
          <a:prstGeom prst="roundRect">
            <a:avLst>
              <a:gd name="adj" fmla="val 4878"/>
            </a:avLst>
          </a:prstGeom>
          <a:solidFill>
            <a:srgbClr val="1E293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4805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LEY DE NEWTON</a:t>
            </a:r>
            <a:endParaRPr lang="en-US" sz="1800" dirty="0"/>
          </a:p>
        </p:txBody>
      </p:sp>
      <p:pic>
        <p:nvPicPr>
          <p:cNvPr id="16" name="Image 1" descr="build/eq/msd_newt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272" y="4846320"/>
            <a:ext cx="5023104" cy="685800"/>
          </a:xfrm>
          <a:prstGeom prst="rect">
            <a:avLst/>
          </a:prstGeom>
        </p:spPr>
      </p:pic>
      <p:pic>
        <p:nvPicPr>
          <p:cNvPr id="17" name="Image 2" descr="build/eq/msd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975" y="4846320"/>
            <a:ext cx="4849792" cy="6858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2960" y="557784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m=1, c=4, k=13, F₀=26 — la parte homogénea es la misma ecuación característica de la Diapositiva 14.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msd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653" y="2194560"/>
            <a:ext cx="646639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800" dirty="0"/>
          </a:p>
        </p:txBody>
      </p:sp>
      <p:pic>
        <p:nvPicPr>
          <p:cNvPr id="7" name="Image 1" descr="build/eq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5760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891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89120"/>
            <a:ext cx="106372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160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55968" y="173736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7328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40690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1608" y="411480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55968" y="40690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07328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603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94360"/>
          </a:xfrm>
          <a:prstGeom prst="roundRect">
            <a:avLst>
              <a:gd name="adj" fmla="val 12308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5778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2026-09-22T05:08:32Z</dcterms:created>
  <dcterms:modified xsi:type="dcterms:W3CDTF">2026-09-22T05:08:32Z</dcterms:modified>
</cp:coreProperties>
</file>