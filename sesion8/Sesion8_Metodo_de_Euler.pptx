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1371600"/>
            <a:ext cx="4754880" cy="4754880"/>
          </a:xfrm>
          <a:prstGeom prst="ellipse">
            <a:avLst/>
          </a:prstGeom>
          <a:ln w="31750">
            <a:solidFill>
              <a:srgbClr val="06B6D4">
                <a:alpha val="14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365760"/>
            <a:ext cx="2743200" cy="2743200"/>
          </a:xfrm>
          <a:prstGeom prst="ellipse">
            <a:avLst/>
          </a:prstGeom>
          <a:ln w="31750">
            <a:solidFill>
              <a:srgbClr val="8B5CF6">
                <a:alpha val="16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554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III · SESIÓN 8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05740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Métodos Numéricos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</a:t>
            </a:r>
            <a:pPr indent="0" marL="0">
              <a:buNone/>
            </a:pPr>
            <a:r>
              <a:rPr lang="en-US" sz="2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de Euler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5212080"/>
            <a:ext cx="3977640" cy="457200"/>
          </a:xfrm>
          <a:prstGeom prst="roundRect">
            <a:avLst>
              <a:gd name="adj" fmla="val 20000"/>
            </a:avLst>
          </a:prstGeom>
          <a:solidFill>
            <a:srgbClr val="26334D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521208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ARSENAL ANALÍTICO: SESIONES 1–7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709160" y="5212080"/>
            <a:ext cx="2606040" cy="457200"/>
          </a:xfrm>
          <a:prstGeom prst="roundRect">
            <a:avLst>
              <a:gd name="adj" fmla="val 20000"/>
            </a:avLst>
          </a:prstGeom>
          <a:solidFill>
            <a:srgbClr val="0E3A44"/>
          </a:solidFill>
          <a:ln w="15875">
            <a:solidFill>
              <a:srgbClr val="06B6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9160" y="521208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ALGORITMO NUEVO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498080" y="5212080"/>
            <a:ext cx="3611880" cy="457200"/>
          </a:xfrm>
          <a:prstGeom prst="roundRect">
            <a:avLst>
              <a:gd name="adj" fmla="val 20000"/>
            </a:avLst>
          </a:prstGeom>
          <a:solidFill>
            <a:srgbClr val="2E2350"/>
          </a:solidFill>
          <a:ln w="15875">
            <a:solidFill>
              <a:srgbClr val="8B5C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0" y="521208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APROXIMAR, NO RESOLVER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8 · CÁLCULO III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REPASO RELÁMPAGO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Sesiones 1–6: Tres Casos, Tres Soluciones Exactas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15258" cy="1554480"/>
          </a:xfrm>
          <a:prstGeom prst="roundRect">
            <a:avLst>
              <a:gd name="adj" fmla="val 5294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28800"/>
            <a:ext cx="35152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🧪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2560320"/>
            <a:ext cx="33323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Carbono-14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338218" y="1600200"/>
            <a:ext cx="3515258" cy="1554480"/>
          </a:xfrm>
          <a:prstGeom prst="roundRect">
            <a:avLst>
              <a:gd name="adj" fmla="val 5294"/>
            </a:avLst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4338218" y="1828800"/>
            <a:ext cx="35152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🔬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29658" y="2560320"/>
            <a:ext cx="33323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forense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127797" y="1600200"/>
            <a:ext cx="3515258" cy="1554480"/>
          </a:xfrm>
          <a:prstGeom prst="roundRect">
            <a:avLst>
              <a:gd name="adj" fmla="val 5294"/>
            </a:avLst>
          </a:prstGeom>
          <a:solidFill>
            <a:srgbClr val="1E293B"/>
          </a:solidFill>
          <a:ln/>
        </p:spPr>
      </p:sp>
      <p:sp>
        <p:nvSpPr>
          <p:cNvPr id="11" name="Text 9"/>
          <p:cNvSpPr/>
          <p:nvPr/>
        </p:nvSpPr>
        <p:spPr>
          <a:xfrm>
            <a:off x="8127797" y="1828800"/>
            <a:ext cx="35152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🪂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19237" y="2560320"/>
            <a:ext cx="33323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Paracaidista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352044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37033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YA RESUELTOS — CON FÓRMULA CERRADA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68680" y="4023360"/>
            <a:ext cx="10454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tomamos dos de estos mismos casos y fingimos, por un momento, no conocer el atajo algebraico — para comparar la aproximación numérica contra la respuesta exacta que ya tienen en su cuaderno. Así sabremos, con certeza, qué tan buena es esta nueva herramienta.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8 · CÁLCULO III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IDEA GEOMÉTRICA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Sigan la Brújula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623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🧭  UNA ECUACIÓN DIFERENCIAL ES UNA BRÚJULA</a:t>
            </a:r>
            <a:endParaRPr lang="en-US" sz="1300" dirty="0"/>
          </a:p>
        </p:txBody>
      </p:sp>
      <p:pic>
        <p:nvPicPr>
          <p:cNvPr id="5" name="Image 0" descr="build/eq/slope_de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65960"/>
            <a:ext cx="2037283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2606040"/>
            <a:ext cx="5623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cada punto del plano, y' = f(x,y) da la pendiente de la curva solución que pasa por ahí.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333756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06B6D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3337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115568" y="3355848"/>
            <a:ext cx="5056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Párense en su punto inicial y lean la brújula.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48640" y="393192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06B6D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115568" y="3950208"/>
            <a:ext cx="5056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Caminen en línea recta un paso h en esa dirección.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548640" y="452628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06B6D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115568" y="4544568"/>
            <a:ext cx="5056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llegar, vuelvan a leer la brújula — y repitan.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537960" y="1600200"/>
            <a:ext cx="5105095" cy="4160520"/>
          </a:xfrm>
          <a:prstGeom prst="roundRect">
            <a:avLst>
              <a:gd name="adj" fmla="val 2198"/>
            </a:avLst>
          </a:prstGeom>
          <a:solidFill>
            <a:srgbClr val="1E293B"/>
          </a:solidFill>
          <a:ln/>
        </p:spPr>
      </p:sp>
      <p:pic>
        <p:nvPicPr>
          <p:cNvPr id="17" name="Image 1" descr="build/img/slope_f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0189" y="1783080"/>
            <a:ext cx="4560638" cy="34290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6766560" y="5257800"/>
            <a:ext cx="4647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Cian</a:t>
            </a:r>
            <a:pPr algn="ctr"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poligonal de Euler   ·   </a:t>
            </a:r>
            <a:pPr algn="ctr" indent="0" marL="0">
              <a:buNone/>
            </a:pPr>
            <a:r>
              <a:rPr lang="en-US" sz="12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Violeta</a:t>
            </a:r>
            <a:pPr algn="ctr"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curva exacta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8 · CÁLCULO III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DERIVACIÓN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Taylor al Método de Euler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15568" y="170992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serie de Taylor alrededor de x nos da: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1115568" y="2148840"/>
            <a:ext cx="9921240" cy="868680"/>
          </a:xfrm>
          <a:prstGeom prst="roundRect">
            <a:avLst>
              <a:gd name="adj" fmla="val 8421"/>
            </a:avLst>
          </a:prstGeom>
          <a:solidFill>
            <a:srgbClr val="1E293B"/>
          </a:solidFill>
          <a:ln/>
        </p:spPr>
      </p:sp>
      <p:pic>
        <p:nvPicPr>
          <p:cNvPr id="8" name="Image 0" descr="build/eq/taylor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84163" y="2148840"/>
            <a:ext cx="6384049" cy="8686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324612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06B6D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115568" y="326440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Euler trunca a primer orden y sustituye y'(x) = f(x,y(x)) directamente: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1115568" y="3703320"/>
            <a:ext cx="9921240" cy="868680"/>
          </a:xfrm>
          <a:prstGeom prst="roundRect">
            <a:avLst>
              <a:gd name="adj" fmla="val 8421"/>
            </a:avLst>
          </a:prstGeom>
          <a:solidFill>
            <a:srgbClr val="0E3A44"/>
          </a:solidFill>
          <a:ln/>
        </p:spPr>
      </p:sp>
      <p:pic>
        <p:nvPicPr>
          <p:cNvPr id="13" name="Image 1" descr="build/eq/taylor_trun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7678" y="3703320"/>
            <a:ext cx="7657019" cy="86868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48640" y="484632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142B1F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77240" y="484632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MÉTODO DE ORDEN 1 — todo lo que se tira es h²⁄2·y''(x) en adelante: error local O(h²), error acumulado O(h).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8 · CÁLCULO III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ALGORITMO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Líneas, Ningún Atajo Algebraico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120640" cy="2651760"/>
          </a:xfrm>
          <a:prstGeom prst="roundRect">
            <a:avLst>
              <a:gd name="adj" fmla="val 2759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5" name="Image 0" descr="build/eq/euler_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028" y="1965960"/>
            <a:ext cx="4555864" cy="822960"/>
          </a:xfrm>
          <a:prstGeom prst="rect">
            <a:avLst/>
          </a:prstGeom>
        </p:spPr>
      </p:pic>
      <p:pic>
        <p:nvPicPr>
          <p:cNvPr id="6" name="Image 1" descr="build/eq/euler_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167089"/>
            <a:ext cx="4572000" cy="52382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22960" y="4023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n = 0, 1, 2, … hasta el punto que les interesa.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6035040" y="169164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8B5CF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03504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6601968" y="1719072"/>
            <a:ext cx="50410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(x₀, y₀) y un paso h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6035040" y="2313432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8B5CF6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035040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601968" y="2340864"/>
            <a:ext cx="50410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Evaluar la pendiente f(xₙ, yₙ)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6035040" y="2935224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8B5CF6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035040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6601968" y="2962656"/>
            <a:ext cx="50410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Avanzar: xₙ₊₁, yₙ₊₁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6035040" y="3557016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8B5CF6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035040" y="3557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6601968" y="3584448"/>
            <a:ext cx="50410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Repetir hasta llegar al punto deseado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548640" y="484632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2E235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484632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integrales ni sustituciones ingeniosas — solo evaluar f y sumar, una y otra vez. Mecánico y repetitivo: perfecto para una computadora.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8 · CÁLCULO III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4 · SESIÓN 6, REVISITADO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Paracaidista, Otra Vez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64328" cy="2331720"/>
          </a:xfrm>
          <a:prstGeom prst="roundRect">
            <a:avLst>
              <a:gd name="adj" fmla="val 3922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PVI · 80 KG DE MASA</a:t>
            </a:r>
            <a:endParaRPr lang="en-US" sz="1300" dirty="0"/>
          </a:p>
        </p:txBody>
      </p:sp>
      <p:pic>
        <p:nvPicPr>
          <p:cNvPr id="6" name="Image 0" descr="build/eq/pvi_para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35748"/>
            <a:ext cx="4815688" cy="81490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337560"/>
            <a:ext cx="48156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caída, con resistencia del aire proporcional a v.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78728" y="169164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2E235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53048" y="187452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🎭  FINJAMOS QUE NO EXISTE</a:t>
            </a:r>
            <a:endParaRPr lang="en-US" sz="1300" dirty="0"/>
          </a:p>
        </p:txBody>
      </p:sp>
      <p:pic>
        <p:nvPicPr>
          <p:cNvPr id="10" name="Image 1" descr="build/eq/exact_para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3048" y="2347850"/>
            <a:ext cx="4815688" cy="653539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553048" y="3200400"/>
            <a:ext cx="48156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conocen esta fórmula (velocidad terminal 39.2 m/s). Hoy la escondemos.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48640" y="434340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77240" y="434340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Vamos a construir la trayectoria de velocidad paso a paso, con h = 1 segundo, sin usar el atajo algebraico de arriba.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8 · CÁLCULO III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MANOS A LA OBRA · h =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Aplicando Euler, Paso a Paso</a:t>
            </a:r>
            <a:endParaRPr lang="en-US" sz="2900" dirty="0"/>
          </a:p>
        </p:txBody>
      </p:sp>
      <p:pic>
        <p:nvPicPr>
          <p:cNvPr id="4" name="Image 0" descr="build/eq/euler_parac_ste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180358" cy="5943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2286000"/>
            <a:ext cx="6492240" cy="457200"/>
          </a:xfrm>
          <a:prstGeom prst="roundRect">
            <a:avLst>
              <a:gd name="adj" fmla="val 12000"/>
            </a:avLst>
          </a:prstGeom>
          <a:solidFill>
            <a:srgbClr val="0E3A44"/>
          </a:solidFill>
          <a:ln/>
        </p:spPr>
      </p:sp>
      <p:sp>
        <p:nvSpPr>
          <p:cNvPr id="6" name="Text 3"/>
          <p:cNvSpPr/>
          <p:nvPr/>
        </p:nvSpPr>
        <p:spPr>
          <a:xfrm>
            <a:off x="548640" y="2286000"/>
            <a:ext cx="1428293" cy="457200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976933" y="2286000"/>
            <a:ext cx="2207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(s)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184294" y="2286000"/>
            <a:ext cx="28565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vₙ (m/s)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8640" y="2743200"/>
            <a:ext cx="1428293" cy="402336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1976933" y="2743200"/>
            <a:ext cx="220736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184294" y="2743200"/>
            <a:ext cx="28565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48640" y="3145536"/>
            <a:ext cx="6492240" cy="402336"/>
          </a:xfrm>
          <a:prstGeom prst="rect">
            <a:avLst/>
          </a:prstGeom>
          <a:solidFill>
            <a:srgbClr val="1E293B">
              <a:alpha val="60000"/>
            </a:srgbClr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3145536"/>
            <a:ext cx="1428293" cy="402336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1976933" y="3145536"/>
            <a:ext cx="220736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184294" y="3145536"/>
            <a:ext cx="28565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9.80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548640" y="3547872"/>
            <a:ext cx="1428293" cy="402336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976933" y="3547872"/>
            <a:ext cx="220736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184294" y="3547872"/>
            <a:ext cx="28565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17.15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548640" y="3950208"/>
            <a:ext cx="6492240" cy="402336"/>
          </a:xfrm>
          <a:prstGeom prst="rect">
            <a:avLst/>
          </a:prstGeom>
          <a:solidFill>
            <a:srgbClr val="1E293B">
              <a:alpha val="60000"/>
            </a:srgbClr>
          </a:solidFill>
          <a:ln/>
        </p:spPr>
      </p:sp>
      <p:sp>
        <p:nvSpPr>
          <p:cNvPr id="20" name="Text 17"/>
          <p:cNvSpPr/>
          <p:nvPr/>
        </p:nvSpPr>
        <p:spPr>
          <a:xfrm>
            <a:off x="548640" y="3950208"/>
            <a:ext cx="1428293" cy="402336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1976933" y="3950208"/>
            <a:ext cx="220736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4184294" y="3950208"/>
            <a:ext cx="28565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22.66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548640" y="4352544"/>
            <a:ext cx="1428293" cy="402336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1976933" y="4352544"/>
            <a:ext cx="220736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50" dirty="0"/>
          </a:p>
        </p:txBody>
      </p:sp>
      <p:sp>
        <p:nvSpPr>
          <p:cNvPr id="25" name="Text 22"/>
          <p:cNvSpPr/>
          <p:nvPr/>
        </p:nvSpPr>
        <p:spPr>
          <a:xfrm>
            <a:off x="4184294" y="4352544"/>
            <a:ext cx="28565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26.80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548640" y="4754880"/>
            <a:ext cx="6492240" cy="402336"/>
          </a:xfrm>
          <a:prstGeom prst="rect">
            <a:avLst/>
          </a:prstGeom>
          <a:solidFill>
            <a:srgbClr val="1E293B">
              <a:alpha val="60000"/>
            </a:srgbClr>
          </a:solidFill>
          <a:ln/>
        </p:spPr>
      </p:sp>
      <p:sp>
        <p:nvSpPr>
          <p:cNvPr id="27" name="Text 24"/>
          <p:cNvSpPr/>
          <p:nvPr/>
        </p:nvSpPr>
        <p:spPr>
          <a:xfrm>
            <a:off x="548640" y="4754880"/>
            <a:ext cx="1428293" cy="402336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50" dirty="0"/>
          </a:p>
        </p:txBody>
      </p:sp>
      <p:sp>
        <p:nvSpPr>
          <p:cNvPr id="28" name="Text 25"/>
          <p:cNvSpPr/>
          <p:nvPr/>
        </p:nvSpPr>
        <p:spPr>
          <a:xfrm>
            <a:off x="1976933" y="4754880"/>
            <a:ext cx="220736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50" dirty="0"/>
          </a:p>
        </p:txBody>
      </p:sp>
      <p:sp>
        <p:nvSpPr>
          <p:cNvPr id="29" name="Text 26"/>
          <p:cNvSpPr/>
          <p:nvPr/>
        </p:nvSpPr>
        <p:spPr>
          <a:xfrm>
            <a:off x="4184294" y="4754880"/>
            <a:ext cx="28565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29.90</a:t>
            </a:r>
            <a:endParaRPr lang="en-US" sz="1350" dirty="0"/>
          </a:p>
        </p:txBody>
      </p:sp>
      <p:sp>
        <p:nvSpPr>
          <p:cNvPr id="30" name="Shape 27"/>
          <p:cNvSpPr/>
          <p:nvPr/>
        </p:nvSpPr>
        <p:spPr>
          <a:xfrm>
            <a:off x="7406640" y="1554480"/>
            <a:ext cx="4236415" cy="3931920"/>
          </a:xfrm>
          <a:prstGeom prst="roundRect">
            <a:avLst>
              <a:gd name="adj" fmla="val 2326"/>
            </a:avLst>
          </a:prstGeom>
          <a:solidFill>
            <a:srgbClr val="1E293B"/>
          </a:solidFill>
          <a:ln/>
        </p:spPr>
      </p:sp>
      <p:sp>
        <p:nvSpPr>
          <p:cNvPr id="31" name="Text 28"/>
          <p:cNvSpPr/>
          <p:nvPr/>
        </p:nvSpPr>
        <p:spPr>
          <a:xfrm>
            <a:off x="7680960" y="17830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UNA CADENA DE CÁLCULO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7680960" y="2148840"/>
            <a:ext cx="36877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paso solo necesita el resultado del paso anterior — nunca de pasos futuros. Vamos a resolverlo juntos, en el pizarrón, alimentando cada resultado al siguiente paso.</a:t>
            </a:r>
            <a:endParaRPr lang="en-US" sz="1350" dirty="0"/>
          </a:p>
        </p:txBody>
      </p:sp>
      <p:sp>
        <p:nvSpPr>
          <p:cNvPr id="33" name="Text 30"/>
          <p:cNvSpPr/>
          <p:nvPr/>
        </p:nvSpPr>
        <p:spPr>
          <a:xfrm>
            <a:off x="7680960" y="3566160"/>
            <a:ext cx="3687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llegar al quinto paso, tendremos la velocidad estimada a los 5 segundos.</a:t>
            </a:r>
            <a:endParaRPr lang="en-US" sz="1350" dirty="0"/>
          </a:p>
        </p:txBody>
      </p:sp>
      <p:sp>
        <p:nvSpPr>
          <p:cNvPr id="34" name="Text 31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8 · CÁLCULO III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MOMENTO DE LA VERDAD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Euler vs. Solución Exacta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309360" cy="457200"/>
          </a:xfrm>
          <a:prstGeom prst="roundRect">
            <a:avLst>
              <a:gd name="adj" fmla="val 12000"/>
            </a:avLst>
          </a:prstGeom>
          <a:solidFill>
            <a:srgbClr val="0E3A44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00200"/>
            <a:ext cx="1009498" cy="457200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558138" y="1600200"/>
            <a:ext cx="17666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Euler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324758" y="1600200"/>
            <a:ext cx="17666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91379" y="1600200"/>
            <a:ext cx="17666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2057400"/>
            <a:ext cx="1009498" cy="365760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558138" y="205740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324758" y="205740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091379" y="205740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2423160"/>
            <a:ext cx="6309360" cy="365760"/>
          </a:xfrm>
          <a:prstGeom prst="rect">
            <a:avLst/>
          </a:prstGeom>
          <a:solidFill>
            <a:srgbClr val="1E293B">
              <a:alpha val="60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2423160"/>
            <a:ext cx="1009498" cy="365760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558138" y="242316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9.80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324758" y="242316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8.67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091379" y="242316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+1.13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48640" y="2788920"/>
            <a:ext cx="1009498" cy="365760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558138" y="278892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17.15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324758" y="278892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15.43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091379" y="278892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+1.72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48640" y="3154680"/>
            <a:ext cx="6309360" cy="365760"/>
          </a:xfrm>
          <a:prstGeom prst="rect">
            <a:avLst/>
          </a:prstGeom>
          <a:solidFill>
            <a:srgbClr val="1E293B">
              <a:alpha val="60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3154680"/>
            <a:ext cx="1009498" cy="365760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558138" y="315468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22.66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3324758" y="315468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20.68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5091379" y="315468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+1.98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548640" y="3520440"/>
            <a:ext cx="1009498" cy="365760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1558138" y="352044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26.80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3324758" y="352044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24.78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5091379" y="352044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+2.02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548640" y="3886200"/>
            <a:ext cx="6309360" cy="365760"/>
          </a:xfrm>
          <a:prstGeom prst="rect">
            <a:avLst/>
          </a:prstGeom>
          <a:solidFill>
            <a:srgbClr val="1E293B">
              <a:alpha val="60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548640" y="3886200"/>
            <a:ext cx="1009498" cy="365760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1558138" y="388620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29.90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3324758" y="388620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27.97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5091379" y="388620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+1.93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7223760" y="1600200"/>
            <a:ext cx="4419295" cy="2423160"/>
          </a:xfrm>
          <a:prstGeom prst="roundRect">
            <a:avLst>
              <a:gd name="adj" fmla="val 3774"/>
            </a:avLst>
          </a:prstGeom>
          <a:solidFill>
            <a:srgbClr val="1E293B"/>
          </a:solidFill>
          <a:ln/>
        </p:spPr>
      </p:sp>
      <p:pic>
        <p:nvPicPr>
          <p:cNvPr id="37" name="Image 0" descr="build/img/conca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58242" y="1737360"/>
            <a:ext cx="2750332" cy="214884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548640" y="4434840"/>
            <a:ext cx="11094415" cy="1005840"/>
          </a:xfrm>
          <a:prstGeom prst="roundRect">
            <a:avLst>
              <a:gd name="adj" fmla="val 7273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777240" y="4434840"/>
            <a:ext cx="106372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Euler siempre sobreestima aquí, y el error crece antes de estabilizarse. La curva v(t) es cóncava hacia abajo — la recta tangente de Euler siempre se escapa por arriba de una curva cóncava hacia abajo. El signo del error está directamente ligado a la segunda derivada que descartamos en Taylor.</a:t>
            </a:r>
            <a:endParaRPr lang="en-US" sz="1350" dirty="0"/>
          </a:p>
        </p:txBody>
      </p:sp>
      <p:sp>
        <p:nvSpPr>
          <p:cNvPr id="40" name="Text 37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8 · CÁLCULO III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TRADE-OFF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Precio de la Precisión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577840" cy="3063240"/>
          </a:xfrm>
          <a:prstGeom prst="roundRect">
            <a:avLst>
              <a:gd name="adj" fmla="val 2985"/>
            </a:avLst>
          </a:prstGeom>
          <a:solidFill>
            <a:srgbClr val="1E293B"/>
          </a:solidFill>
          <a:ln/>
        </p:spPr>
      </p:sp>
      <p:pic>
        <p:nvPicPr>
          <p:cNvPr id="5" name="Image 0" descr="build/img/step_tradeo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2900" y="1737360"/>
            <a:ext cx="3709319" cy="2788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92240" y="1600200"/>
            <a:ext cx="5150815" cy="1417320"/>
          </a:xfrm>
          <a:prstGeom prst="roundRect">
            <a:avLst>
              <a:gd name="adj" fmla="val 5161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766560" y="1764792"/>
            <a:ext cx="4602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GRANDE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766560" y="2057400"/>
            <a:ext cx="46021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Pocos pasos, poca aritmética — pero el error es grande.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492240" y="3246120"/>
            <a:ext cx="5150815" cy="1417320"/>
          </a:xfrm>
          <a:prstGeom prst="roundRect">
            <a:avLst>
              <a:gd name="adj" fmla="val 5161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66560" y="3410712"/>
            <a:ext cx="4602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CHICO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766560" y="3703320"/>
            <a:ext cx="46021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Muchos pasos, más aritmética — pero el error es pequeño.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48640" y="4892040"/>
            <a:ext cx="11094415" cy="530352"/>
          </a:xfrm>
          <a:prstGeom prst="roundRect">
            <a:avLst>
              <a:gd name="adj" fmla="val 13793"/>
            </a:avLst>
          </a:prstGeom>
          <a:solidFill>
            <a:srgbClr val="2E235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77240" y="4892040"/>
            <a:ext cx="1063721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error acumulado es O(h) — reducirlo 10× cuesta aproximadamente 10× más pasos. Nadie regala precisión infinita gratis.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8 · CÁLCULO III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JUGAR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Solver Interactivo de la Plataforma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🎛️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97280" y="1709928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Elige un modelo preconstruido (paracaidista, forense) o tu propia f(x,y)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441448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🔧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97280" y="2459736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 x₀, y₀, el paso h y el número de pasos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191256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097280" y="3209544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Gráfica en vivo: poligonal de Euler vs. curva exacta, cuando existe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3941064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097280" y="3959352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completa con el error en cada paso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949440" y="1691640"/>
            <a:ext cx="4693615" cy="3794760"/>
          </a:xfrm>
          <a:prstGeom prst="roundRect">
            <a:avLst>
              <a:gd name="adj" fmla="val 1928"/>
            </a:avLst>
          </a:prstGeom>
          <a:solidFill>
            <a:srgbClr val="142B1F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23760" y="1920240"/>
            <a:ext cx="4144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SU RETO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223760" y="2286000"/>
            <a:ext cx="41449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Encuentren el valor de h más grande que mantenga el error por debajo del 1%, gastando el menor número de pasos posible.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223760" y="3749040"/>
            <a:ext cx="41449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una sola respuesta correcta — hay un balance, y lo van a encontrar experimentando, no adivinando.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8 · CÁLCULO III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CONFIAR EN LA CALCULADORA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🧭  Ojo de Analista — Errores Comunes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457200" cy="4572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371600" y="17830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Euler nunca es gratis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paso arrastra error, y se acumula. Un resultado sin saber su orden de magnitud de error es una adivinanza con más decimales.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55868" y="16002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84468" y="1783080"/>
            <a:ext cx="457200" cy="4572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1" name="Text 9"/>
          <p:cNvSpPr/>
          <p:nvPr/>
        </p:nvSpPr>
        <p:spPr>
          <a:xfrm>
            <a:off x="6484468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078828" y="17830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grande vs. h chico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0188" y="24688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Rápido pero impreciso, o preciso pero caro — repórtenme siempre con qué h obtuvieron su resultado.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6576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3840480"/>
            <a:ext cx="457200" cy="4572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371600" y="38404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Euler es, a propósito, el más simple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2960" y="45262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práctica casi nadie lo usa solo: existen primos mejorados, como Euler Mejorado o Runge-Kutta.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55868" y="36576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84468" y="3840480"/>
            <a:ext cx="457200" cy="4572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21" name="Text 19"/>
          <p:cNvSpPr/>
          <p:nvPr/>
        </p:nvSpPr>
        <p:spPr>
          <a:xfrm>
            <a:off x="6484468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078828" y="38404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sustituye existencia y unicidad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30188" y="45262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PVI no garantiza solución única (Sesión 2), tampoco tiene sentido aproximarla.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8 · CÁLCULO III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BOLETO DE SALIDA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Caso Forense, Versión Numérica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64328" cy="2423160"/>
          </a:xfrm>
          <a:prstGeom prst="roundRect">
            <a:avLst>
              <a:gd name="adj" fmla="val 3774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PVI</a:t>
            </a:r>
            <a:endParaRPr lang="en-US" sz="1300" dirty="0"/>
          </a:p>
        </p:txBody>
      </p:sp>
      <p:pic>
        <p:nvPicPr>
          <p:cNvPr id="6" name="Image 0" descr="build/eq/pvi_foren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411868"/>
            <a:ext cx="4815688" cy="3426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200400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álgebra exacta, ya saben que a la hora t = 1 la temperatura es T(1) = 33.4 °C.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78728" y="1691640"/>
            <a:ext cx="5364328" cy="2423160"/>
          </a:xfrm>
          <a:prstGeom prst="roundRect">
            <a:avLst>
              <a:gd name="adj" fmla="val 3019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53048" y="187452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TAREA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553048" y="2176272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Usen Euler con h = 0.25 (cuatro pasos hasta t = 1):</a:t>
            </a:r>
            <a:endParaRPr lang="en-US" sz="1350" dirty="0"/>
          </a:p>
        </p:txBody>
      </p:sp>
      <p:pic>
        <p:nvPicPr>
          <p:cNvPr id="11" name="Image 1" descr="build/eq/euler_forense_ste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3048" y="2673680"/>
            <a:ext cx="4815688" cy="40421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553048" y="3200400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Calculen T₄ y compárenlo contra los 33.4 °C exactos.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548640" y="4343400"/>
            <a:ext cx="11094415" cy="1005840"/>
          </a:xfrm>
          <a:prstGeom prst="roundRect">
            <a:avLst>
              <a:gd name="adj" fmla="val 7273"/>
            </a:avLst>
          </a:prstGeom>
          <a:solidFill>
            <a:srgbClr val="2E235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77240" y="4343400"/>
            <a:ext cx="106372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¿Por qué tan preciso esta vez, si con el paracaidista el error fue mucho más grande con el mismo número de pasos? Piénsenlo antes de irse — la respuesta tiene que ver con qué tan curvada es cada función. Tráiganla lista para la próxima sesión.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8 · CÁLCULO III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4114800"/>
            <a:ext cx="4023360" cy="4023360"/>
          </a:xfrm>
          <a:prstGeom prst="ellipse">
            <a:avLst/>
          </a:prstGeom>
          <a:solidFill>
            <a:srgbClr val="06B6D4">
              <a:alpha val="1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SESIÓN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Compartimentos, Un Solo Ingeniero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64328" cy="1371600"/>
          </a:xfrm>
          <a:prstGeom prst="roundRect">
            <a:avLst>
              <a:gd name="adj" fmla="val 5333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78308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ÁLGEBRA EXACTA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103120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cuando existe fórmula cerrada: separables, lineales, exactas, homogéneas, Bernoulli.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78728" y="1600200"/>
            <a:ext cx="5364328" cy="1371600"/>
          </a:xfrm>
          <a:prstGeom prst="roundRect">
            <a:avLst>
              <a:gd name="adj" fmla="val 5333"/>
            </a:avLst>
          </a:prstGeom>
          <a:solidFill>
            <a:srgbClr val="2E235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53048" y="178308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APROXIMACIÓN NUMÉRICA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553048" y="2103120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cuando no la hay: el Método de Euler, y sus primos más precisos.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246120"/>
            <a:ext cx="11094415" cy="2651760"/>
          </a:xfrm>
          <a:prstGeom prst="roundRect">
            <a:avLst>
              <a:gd name="adj" fmla="val 2759"/>
            </a:avLst>
          </a:prstGeom>
          <a:solidFill>
            <a:srgbClr val="14202E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4564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LA FRONTERA SIGUE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14400" y="379476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Ambos compartimentos son ingeniería real — un buen ingeniero sabe cuál usar y, sobre todo, sabe cuánto confiar en cada uno.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914400" y="4434840"/>
            <a:ext cx="10362895" cy="502920"/>
          </a:xfrm>
          <a:prstGeom prst="roundRect">
            <a:avLst>
              <a:gd name="adj" fmla="val 14545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434840"/>
            <a:ext cx="10362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  →  ECUACIONES DE ORDEN SUPERIOR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5074920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el fenómeno depende de la aceleración o la vibración, van a necesitar una teoría nueva para saber cuántas soluciones independientes buscar.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8 · CÁLCULO III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2026-09-16T20:52:27Z</dcterms:created>
  <dcterms:modified xsi:type="dcterms:W3CDTF">2026-09-16T20:52:27Z</dcterms:modified>
</cp:coreProperties>
</file>