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754880" cy="4754880"/>
          </a:xfrm>
          <a:prstGeom prst="ellipse">
            <a:avLst/>
          </a:prstGeom>
          <a:ln w="31750">
            <a:solidFill>
              <a:srgbClr val="06B6D4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"/>
            <a:ext cx="2743200" cy="2743200"/>
          </a:xfrm>
          <a:prstGeom prst="ellipse">
            <a:avLst/>
          </a:prstGeom>
          <a:ln w="3175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· SESIÓN 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Preliminar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Lineales de </a:t>
            </a:r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Superior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26334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212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 ANALÍTICO: SESIONES 1–8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92040" y="5212080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0E3A44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5212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 → PVF → WRONSKIANO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21040" y="5212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2E2350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5212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LAS REGLAS PRIMERO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RELÁMPAGO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Euler a Orden Superior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1828800"/>
          </a:xfrm>
          <a:prstGeom prst="roundRect">
            <a:avLst>
              <a:gd name="adj" fmla="val 4000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EXACTA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Separables, lineales, exactas, homogéneas, Bernoulli. Todas de primer orden — solo aparece y'.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691640"/>
            <a:ext cx="5364328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APROXIMACIÓN NUMÉRICA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3048" y="224028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 Euler, para cuando no hay fórmula cerrada.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subimos un escalón: ecuaciones de orden n. Pero antes de fabricar soluciones —eso es la Sesión 10—, necesitamos las reglas: ¿cuándo existe una solución? ¿cuándo es única?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VALOR INICIAL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PVI, Generalizado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</p:spPr>
      </p:sp>
      <p:pic>
        <p:nvPicPr>
          <p:cNvPr id="5" name="Image 0" descr="build/eq/pvi_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3330" y="1737360"/>
            <a:ext cx="654503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65176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6517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Fíjense en g(x). Si g(x)=0, la ecuación es homogénea; si no, es no homogénea. Ojo: esto NO es la 'homogénea' de la Sesión 7 (dy/dx=f(y/x), y=vx) — dos ideas sin relación que comparten nombre.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0E3A44"/>
          </a:solidFill>
          <a:ln/>
        </p:spPr>
      </p:sp>
      <p:pic>
        <p:nvPicPr>
          <p:cNvPr id="9" name="Image 1" descr="build/eq/pvi_condi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917" y="3794760"/>
            <a:ext cx="10035862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091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Necesitan una condición por cada derivada, hasta la (n−1)-ésima, todas evaluadas en el mismo punto x₀. Para segundo orden: posición y velocidad iniciales. Para tercer orden, agregan la aceleración inicial.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548640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Ingenieros: cuenten las condiciones antes de empezar — si les faltan o les sobran, algo está mal planteado.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GARANTÍA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Teorema de Existencia y Unicidad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2743200"/>
          </a:xfrm>
          <a:prstGeom prst="roundRect">
            <a:avLst>
              <a:gd name="adj" fmla="val 2667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0454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aₙ(x), …, a₀(x) y g(x) continuas en un intervalo I, con aₙ(x)≠0 para toda x en I. Si x₀ está en I, el problema de valor inicial tiene una solución — y es única — en todo el intervalo I.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68680" y="3703320"/>
            <a:ext cx="5090008" cy="502920"/>
          </a:xfrm>
          <a:prstGeom prst="roundRect">
            <a:avLst>
              <a:gd name="adj" fmla="val 18182"/>
            </a:avLst>
          </a:prstGeom>
          <a:solidFill>
            <a:srgbClr val="26334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09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1: COEFICIENTES CONTINUOS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3703320"/>
            <a:ext cx="5090008" cy="502920"/>
          </a:xfrm>
          <a:prstGeom prst="roundRect">
            <a:avLst>
              <a:gd name="adj" fmla="val 18182"/>
            </a:avLst>
          </a:prstGeom>
          <a:solidFill>
            <a:srgbClr val="26334D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3703320"/>
            <a:ext cx="509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2: aₙ(x) ≠ 0 EN TODO 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920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segunda hipótesis —aₙ(x) nunca cero— es la que más se les va a olvidar, y es exactamente donde viven la mayoría de las trampas de examen.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PVF — Un Mundo Distinto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246120"/>
          </a:xfrm>
          <a:prstGeom prst="roundRect">
            <a:avLst>
              <a:gd name="adj" fmla="val 2817"/>
            </a:avLst>
          </a:prstGeom>
          <a:solidFill>
            <a:srgbClr val="1E293B"/>
          </a:solidFill>
          <a:ln/>
        </p:spPr>
      </p:sp>
      <p:pic>
        <p:nvPicPr>
          <p:cNvPr id="5" name="Image 0" descr="build/img/ivp_vs_bv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0585" y="1783080"/>
            <a:ext cx="5850525" cy="2148840"/>
          </a:xfrm>
          <a:prstGeom prst="rect">
            <a:avLst/>
          </a:prstGeom>
        </p:spPr>
      </p:pic>
      <p:pic>
        <p:nvPicPr>
          <p:cNvPr id="6" name="Image 1" descr="build/eq/pvf_condi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119" y="4023360"/>
            <a:ext cx="6471458" cy="685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074920"/>
            <a:ext cx="11094415" cy="1280160"/>
          </a:xfrm>
          <a:prstGeom prst="roundRect">
            <a:avLst>
              <a:gd name="adj" fmla="val 5714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5074920"/>
            <a:ext cx="106372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teorema de existencia y unicidad NO aplica a un PVF. Puede tener solución única, ninguna, o infinitas — la deflexión de una viga o el pandeo de una columna se modelan así, y lo van a resolver en la Sesión 10.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CLÁSICO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PVF con Tres Personalidades</a:t>
            </a:r>
            <a:endParaRPr lang="en-US" sz="2900" dirty="0"/>
          </a:p>
        </p:txBody>
      </p:sp>
      <p:pic>
        <p:nvPicPr>
          <p:cNvPr id="4" name="Image 0" descr="build/eq/bvp_ode_s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2093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194560"/>
            <a:ext cx="3515258" cy="1600200"/>
          </a:xfrm>
          <a:prstGeom prst="roundRect">
            <a:avLst>
              <a:gd name="adj" fmla="val 4571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SOLUCIONES</a:t>
            </a:r>
            <a:endParaRPr lang="en-US" sz="1250" dirty="0"/>
          </a:p>
        </p:txBody>
      </p:sp>
      <p:pic>
        <p:nvPicPr>
          <p:cNvPr id="7" name="Image 1" descr="build/eq/bvp_cas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68667"/>
            <a:ext cx="3240938" cy="4233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315468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C₂sin(2π)=0 → cualquier C₂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338218" y="2194560"/>
            <a:ext cx="3515258" cy="1600200"/>
          </a:xfrm>
          <a:prstGeom prst="roundRect">
            <a:avLst>
              <a:gd name="adj" fmla="val 4571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SOLUCIÓN</a:t>
            </a:r>
            <a:endParaRPr lang="en-US" sz="1250" dirty="0"/>
          </a:p>
        </p:txBody>
      </p:sp>
      <p:pic>
        <p:nvPicPr>
          <p:cNvPr id="11" name="Image 2" descr="build/eq/bvp_cas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378" y="2668667"/>
            <a:ext cx="3240938" cy="4233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75378" y="315468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C₂sin(2π)=1 → imposible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8127797" y="2194560"/>
            <a:ext cx="3515258" cy="1600200"/>
          </a:xfrm>
          <a:prstGeom prst="roundRect">
            <a:avLst>
              <a:gd name="adj" fmla="val 4571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264957" y="233172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ÚNICA</a:t>
            </a:r>
            <a:endParaRPr lang="en-US" sz="1250" dirty="0"/>
          </a:p>
        </p:txBody>
      </p:sp>
      <p:pic>
        <p:nvPicPr>
          <p:cNvPr id="15" name="Image 3" descr="build/eq/bvp_cas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7" y="2668667"/>
            <a:ext cx="3240938" cy="42338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64957" y="315468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C₂sin(π/2)=0 → C₂=0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48640" y="4069080"/>
            <a:ext cx="11094415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/>
        </p:spPr>
      </p:sp>
      <p:pic>
        <p:nvPicPr>
          <p:cNvPr id="18" name="Image 4" descr="build/img/bvp_famil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243" y="4206240"/>
            <a:ext cx="2673209" cy="1691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2960" y="58978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Personalidad uno, visualizada: infinitas curvas distintas pasando por los mismos dos puntos.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SOLUCIONES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 de Superposición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build/eq/superposition_hom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64985"/>
            <a:ext cx="10545775" cy="1024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337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y₁, y₂, …, yₖ son soluciones de la MISMA ecuación homogénea, entonces cualquier combinación lineal de ellas también es solución. Pueden verificarlo sustituyendo directamente.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34340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343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razón por la que, en la Sesión 10, nunca vamos a buscar 'la' solución — vamos a buscar varias soluciones simples y combinarlas.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E INDEPENDENCIA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¿Son Genuinamente Distintas?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pic>
        <p:nvPicPr>
          <p:cNvPr id="6" name="Image 0" descr="build/eq/lin_dep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2862"/>
            <a:ext cx="4815688" cy="463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4815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es LINEALMENTE DEPENDIENTE si existen constantes, no todas cero, que hacen esa suma igual a cero para toda x. Si la única forma es con todas en cero, son INDEPENDIENTES.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78728" y="1691640"/>
            <a:ext cx="5364328" cy="3017520"/>
          </a:xfrm>
          <a:prstGeom prst="roundRect">
            <a:avLst>
              <a:gd name="adj" fmla="val 2424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3048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EJEMPLO — DEPENDIENTES</a:t>
            </a:r>
            <a:endParaRPr lang="en-US" sz="1300" dirty="0"/>
          </a:p>
        </p:txBody>
      </p:sp>
      <p:pic>
        <p:nvPicPr>
          <p:cNvPr id="10" name="Image 1" descr="build/eq/lin_dep_exa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2339765"/>
            <a:ext cx="4815688" cy="3953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53048" y="2926080"/>
            <a:ext cx="4815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f₁=x y f₂=5x son dependientes: reciclan la misma información. En cambio, f₁=x y f₂=x² son independientes — no hay forma de anular esa combinación salvo con ambas constantes en cero.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ATAJO ALGEBRAICO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Wronskiano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build/eq/wronskian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2800" y="1828800"/>
            <a:ext cx="5966094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017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Teorema: si y₁, …, yₙ son soluciones de la MISMA ecuación lineal homogénea, son linealmente independientes en un intervalo si y solo si su Wronskiano nunca se anula ahí.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02336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 Wronskiano solo es una prueba confiable cuando las funciones ya son soluciones de la misma ecuación — para funciones cualesquiera, un Wronskiano cero no garantiza dependencia.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Calculando un Wronskiano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DE y''−9y=0</a:t>
            </a:r>
            <a:endParaRPr lang="en-US" sz="1300" dirty="0"/>
          </a:p>
        </p:txBody>
      </p:sp>
      <p:pic>
        <p:nvPicPr>
          <p:cNvPr id="6" name="Image 0" descr="build/eq/wronskian_ex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8968" y="2240280"/>
            <a:ext cx="4493759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Derivando: y₁'=3e³ˣ, y₂'=−3e⁻³ˣ. El Wronskiano:</a:t>
            </a:r>
            <a:endParaRPr lang="en-US" sz="1450" dirty="0"/>
          </a:p>
        </p:txBody>
      </p:sp>
      <p:pic>
        <p:nvPicPr>
          <p:cNvPr id="8" name="Image 1" descr="build/eq/wronskian_ex_cal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278" y="3337560"/>
            <a:ext cx="683514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406908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e³ˣ·e⁻³ˣ=1 para toda x, el resultado es −6 sin importar x — nunca es cero. Son linealmente independientes en toda la recta real: forman un conjunto fundamental de soluciones.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JUNTA AQUÍ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Fundamental y Solución General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build/eq/general_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69746"/>
            <a:ext cx="10545775" cy="10153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3375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fundamental de soluciones de una ED lineal homogénea de orden n es exactamente eso: n soluciones, linealmente independientes entre sí, de esa misma ecuación.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2519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25196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y₁,…,yₙ es un conjunto fundamental, esta combinación ES la solución general — combina todas las soluciones posibles, ninguna se les escapa.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NO HOMOGÉNEAS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General: yᶜ + yₚ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build/eq/yc_y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3149" y="1645920"/>
            <a:ext cx="3965396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880360"/>
            <a:ext cx="5364328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06324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COMPLEMENTARIA yᶜ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general de la ecuación homogénea asociada — todo lo que ya construimos hoy.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8728" y="288036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53048" y="306324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PARTICULAR yₚ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53048" y="342900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función, sin constantes libres, que satisface la ecuación completa con su lado derecho.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PIEZA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Superposición para No Homogéneas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yₚ₁ es solución particular cuando el lado derecho es g₁(x), y yₚ₂ es solución particular cuando el lado derecho es g₂(x), entonces yₚ₁+yₚ₂ es solución particular cuando el lado derecho es g₁(x)+g₂(x).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74904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forzamiento tiene varios términos distintos, resuelven cada uno por separado y suman. Esa es exactamente la lógica detrás del método del anulador que aprenden en la Sesión 10.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LOS MÉTODOS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PVI con PVF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PVI de orden n siempre tiene solución única bajo continuidad; un PVF no tiene esa garantía — revisen el problema completo.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8828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Wronskiano fuera de contexto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0188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detecta independencia entre soluciones de la MISMA ecuación — no lo usen como prueba general para funciones arbitrarias.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yᶜ+yₚ mal entendido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yᶜ debe ser la solución general de la homogénea completa, con sus n constantes — no una solución particular más.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868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78828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mal las condiciones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0188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PVI de orden n necesita exactamente n condiciones, ni una más ni una menos, todas en el mismo punto x₀.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4023360" cy="402336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del Juego, Completas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26334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EXISTENCIA Y UNICIDAD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0824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26334D"/>
          </a:solidFill>
          <a:ln/>
        </p:spPr>
      </p:sp>
      <p:sp>
        <p:nvSpPr>
          <p:cNvPr id="8" name="Text 6"/>
          <p:cNvSpPr/>
          <p:nvPr/>
        </p:nvSpPr>
        <p:spPr>
          <a:xfrm>
            <a:off x="3390824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LINEAL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26334D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WRONSKIANO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075191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26334D"/>
          </a:solidFill>
          <a:ln/>
        </p:spPr>
      </p:sp>
      <p:sp>
        <p:nvSpPr>
          <p:cNvPr id="12" name="Text 10"/>
          <p:cNvSpPr/>
          <p:nvPr/>
        </p:nvSpPr>
        <p:spPr>
          <a:xfrm>
            <a:off x="9075191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yᶜ + yₚ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11094415" cy="2834640"/>
          </a:xfrm>
          <a:prstGeom prst="roundRect">
            <a:avLst>
              <a:gd name="adj" fmla="val 2581"/>
            </a:avLst>
          </a:prstGeom>
          <a:solidFill>
            <a:srgbClr val="1420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517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fórmula todavía — eso fue a propósito. Antes de fabricar soluciones necesitábamos saber cuándo existen, cuándo son únicas, y cómo se combinan para formar la solución general, homogénea o no.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10362895" cy="502920"/>
          </a:xfrm>
          <a:prstGeom prst="roundRect">
            <a:avLst>
              <a:gd name="adj" fmla="val 14545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→  MÉTODOS DE SOLUCIÓN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 fabricar, de forma completamente mecánica, conjuntos fundamentales de soluciones para ecuaciones con coeficientes constantes — y van a resolver su primer caso real con valores en la frontera.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2026-09-17T04:11:08Z</dcterms:created>
  <dcterms:modified xsi:type="dcterms:W3CDTF">2026-09-17T04:11:08Z</dcterms:modified>
</cp:coreProperties>
</file>