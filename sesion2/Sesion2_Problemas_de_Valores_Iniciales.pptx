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¡Hola a todos, colegas! Bienvenidos a nuestra segunda sesión. En la clase anterior, hablamos de que las ecuaciones diferenciales describen el cambio y que al resolverlas, obtenemos una familia infinita de soluciones porque hay una constante que no conocemos. Hoy vamos a aprender cómo aterrizar esas posibilidades infinitas a la única curva que describe la realidad de nuestro sistema. Hoy aprenderemos sobre Problemas de Valores Iniciales.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Un Problema de Valores Iniciales o PVI no es más que una Ecuación Diferencial Ordinaria acompañada de un requisito innegociable: las condiciones iniciales. Si no sabemos dónde y cómo empieza nuestro sistema, nunca podremos predecir con certeza su estado en el futuro. Para un PVI de primer orden, necesitamos un solo dato: la posición inicial.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Pero atención a los PVIs de orden n: necesitamos n condiciones iniciales evaluadas todas exactamente en el mismo instante temporal x0.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Veamos qué significa esto en la práctica. Cuando n=1, solo necesitamos un dato: dónde empieza el sistema, como la posición inicial. Cuando n=2, como en un sistema masa-resorte, necesitamos dos datos evaluados en el mismo instante: la posición Y la velocidad iniciales. Esto es exactamente lo que vamos a ver en los dos ejemplos que siguen.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Si lo vemos en el plano cartesiano, resolver la EDO a secas nos da todas las trayectorias posibles. Pero cuando nos dan la condición inicial, nos están clavando un alfiler en el plano. De todas esas infinitas posibilidades, nos obligan a buscar la única ruta que obligatoriamente pasa por nuestro punto de inicio. Eso es resolver un PVI.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Para ilustrar, imaginen que el cliente les contrata para modelar conejos en una reserva. La EDO básica nos arroja que la población P(t) = C e^kt. Esa constante C es un dolor de cabeza, porque no sabemos si la población empezó con 10 o con un millón.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En cuanto el cliente nos da la condición inicial: 'Empezamos con 50 conejos', sustituimos el tiempo cero, y obtenemos inmediatamente que la constante es 50. Listo, ahora sí tenemos un modelo real.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Piensen en un amortiguador de un coche o una masa atada a un resorte. Si estiramos el resorte 2 metros y lo soltamos desde el reposo, tenemos dos datos en t=0: la posición (x=2) y la velocidad (ẋ=0).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Para sacar nuestra curva única, tenemos que sustituir en la solución general, derivarla, sustituir de nuevo, y resolver el pequeño sistema algebraico. Observen bien los pasos, porque esto será el pan de cada día de su firma consultora.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Aquí entra el rigor de la ingeniería. Antes de meter a todo su equipo a calcular integrales espantosas, el Analista de su firma tiene una responsabilidad enorme: verificar el Teorema de Existencia y Unicidad. Y ojo: el teorema no promete una solución para siempre, solo en algún intervalo alrededor de x0 — eso es justo lo que vamos a ver en el peligro de la explosión en tiempo finito.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Miren este monstruo: y' = y^(1/3). Parece sencillo. Pero cerca de y=0, la curva se vuelve casi vertical: la pendiente se dispara al infinito. Esa es la señal de que algo puede salir mal con la unicidad.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 sistema tiene al menos dos soluciones válidas, quedarse en cero o crecer como parábola semicúbica. Imaginen el terror si esto fuera el diseño de un cohete: 'el cohete se queda estacionado en la base... o despega. No sabemos'. ¡Ese es el costo de no validar los teoremas!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Otro peligro es ignorar el intervalo de definición. Si están modelando la presión de un reactor químico, significa que exactamente a la hora 1, el reactor explotará. El dominio matemático (-infinito, 1) les está gritando el tiempo máximo de vida del sistema.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 esto cerramos. Quédense con esto en mente: las matemáticas no mienten, pero hay que saber preguntarles. Las condiciones iniciales son lo que nos ancla a la realidad, y el rigor analítico es lo que nos salva de diseñar puentes que colapsan. Para nuestra próxima sesión, empezaremos a ensuciarnos las manos con el álgebra: dejaremos la teoría y nos meteremos de lleno a encontrar nosotros mismos esas familias de curvas usando Separación de Variables y Ecuaciones Exactas. Nos vemos la próxima clase.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092440" y="-2331720"/>
            <a:ext cx="5029200" cy="5029200"/>
          </a:xfrm>
          <a:prstGeom prst="ellipse">
            <a:avLst/>
          </a:prstGeom>
          <a:solidFill>
            <a:srgbClr val="0E7490">
              <a:alpha val="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691640" y="4617720"/>
            <a:ext cx="4114800" cy="4114800"/>
          </a:xfrm>
          <a:prstGeom prst="ellipse">
            <a:avLst/>
          </a:prstGeom>
          <a:solidFill>
            <a:srgbClr val="047857">
              <a:alpha val="4000"/>
            </a:srgbClr>
          </a:solidFill>
          <a:ln/>
        </p:spPr>
      </p:sp>
      <p:pic>
        <p:nvPicPr>
          <p:cNvPr id="4" name="Image 0" descr="C:\Users\SPARTAN PC\AppData\Local\Temp\claude\E--Teaching--claude-worktrees-dns-setup-prod-6069ff\1d827184-58c4-4508-9ffe-382ca45d0551\scratchpad\sesion2_pptx\logo_r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365760"/>
            <a:ext cx="1371600" cy="51435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4724248" y="1371600"/>
            <a:ext cx="3803904" cy="457200"/>
          </a:xfrm>
          <a:prstGeom prst="roundRect">
            <a:avLst>
              <a:gd name="adj" fmla="val 50000"/>
            </a:avLst>
          </a:prstGeom>
          <a:solidFill>
            <a:srgbClr val="0E7490">
              <a:alpha val="18000"/>
            </a:srgbClr>
          </a:solidFill>
          <a:ln w="9525">
            <a:solidFill>
              <a:srgbClr val="0E7490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4724248" y="1371600"/>
            <a:ext cx="380390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spc="100" kern="0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CÁLCULO III · SESIÓN 2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731520" y="1965960"/>
            <a:ext cx="10728655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Problemas de Valores Iniciales</a:t>
            </a:r>
            <a:endParaRPr lang="en-US" sz="4200" dirty="0"/>
          </a:p>
        </p:txBody>
      </p:sp>
      <p:sp>
        <p:nvSpPr>
          <p:cNvPr id="8" name="Text 5"/>
          <p:cNvSpPr/>
          <p:nvPr/>
        </p:nvSpPr>
        <p:spPr>
          <a:xfrm>
            <a:off x="731520" y="2926080"/>
            <a:ext cx="10728655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100" i="1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la familia infinita a la curva exacta</a:t>
            </a:r>
            <a:endParaRPr lang="en-US" sz="2100" dirty="0"/>
          </a:p>
        </p:txBody>
      </p:sp>
      <p:sp>
        <p:nvSpPr>
          <p:cNvPr id="9" name="Shape 6"/>
          <p:cNvSpPr/>
          <p:nvPr/>
        </p:nvSpPr>
        <p:spPr>
          <a:xfrm>
            <a:off x="1432408" y="3611880"/>
            <a:ext cx="9326880" cy="2697480"/>
          </a:xfrm>
          <a:prstGeom prst="roundRect">
            <a:avLst>
              <a:gd name="adj" fmla="val 3051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25400" dir="5400000">
              <a:srgbClr val="0F172A">
                <a:alpha val="14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1889608" y="3886200"/>
            <a:ext cx="8412480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Aprenderemos cómo pasar de la familia infinita de curvas (solución general) a encontrar la curva única que describe el estado exacto de nuestro sistema, dadas unas condiciones iniciales.</a:t>
            </a:r>
            <a:endParaRPr lang="en-US" sz="1900" dirty="0"/>
          </a:p>
        </p:txBody>
      </p:sp>
      <p:sp>
        <p:nvSpPr>
          <p:cNvPr id="11" name="Shape 8"/>
          <p:cNvSpPr/>
          <p:nvPr/>
        </p:nvSpPr>
        <p:spPr>
          <a:xfrm>
            <a:off x="3124048" y="5394960"/>
            <a:ext cx="5943600" cy="777240"/>
          </a:xfrm>
          <a:prstGeom prst="roundRect">
            <a:avLst>
              <a:gd name="adj" fmla="val 8235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pic>
        <p:nvPicPr>
          <p:cNvPr id="12" name="Image 1" descr="C:\Users\SPARTAN PC\AppData\Local\Temp\claude\E--Teaching--claude-worktrees-dns-setup-prod-6069ff\1d827184-58c4-4508-9ffe-382ca45d0551\scratchpad\sesion2_pptx\equations\s1_intr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81348" y="5446761"/>
            <a:ext cx="3429000" cy="67363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11277295" y="649224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65760"/>
            <a:ext cx="3378708" cy="457200"/>
          </a:xfrm>
          <a:prstGeom prst="roundRect">
            <a:avLst>
              <a:gd name="adj" fmla="val 50000"/>
            </a:avLst>
          </a:prstGeom>
          <a:solidFill>
            <a:srgbClr val="0E7490">
              <a:alpha val="18000"/>
            </a:srgbClr>
          </a:solidFill>
          <a:ln w="9525">
            <a:solidFill>
              <a:srgbClr val="0E749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65760"/>
            <a:ext cx="337870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spc="100" kern="0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1.2 · TEORÍA DE PVI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548640" y="960120"/>
            <a:ext cx="1109441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¿Qué es un Problema de Valores Iniciales?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48640" y="1691640"/>
            <a:ext cx="11094415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anclaje del modelo a la realidad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548640" y="2194560"/>
            <a:ext cx="11094415" cy="1280160"/>
          </a:xfrm>
          <a:prstGeom prst="roundRect">
            <a:avLst>
              <a:gd name="adj" fmla="val 6429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25400" dir="5400000">
              <a:srgbClr val="0F172A">
                <a:alpha val="14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868680" y="2359152"/>
            <a:ext cx="10454335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EDO modela el comportamiento dinámico de un sistema, pero su solución general contiene constantes arbitrarias (C). Necesitamos saber en dónde empezó el sistema: a esto le llamamos Condiciones Iniciales.</a:t>
            </a:r>
            <a:endParaRPr lang="en-US" sz="1900" dirty="0"/>
          </a:p>
        </p:txBody>
      </p:sp>
      <p:sp>
        <p:nvSpPr>
          <p:cNvPr id="8" name="Shape 6"/>
          <p:cNvSpPr/>
          <p:nvPr/>
        </p:nvSpPr>
        <p:spPr>
          <a:xfrm>
            <a:off x="548640" y="3657600"/>
            <a:ext cx="11094415" cy="2606040"/>
          </a:xfrm>
          <a:prstGeom prst="roundRect">
            <a:avLst>
              <a:gd name="adj" fmla="val 3158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25400" dir="5400000">
              <a:srgbClr val="0F172A">
                <a:alpha val="14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845820" y="3863340"/>
            <a:ext cx="960120" cy="960120"/>
          </a:xfrm>
          <a:prstGeom prst="ellipse">
            <a:avLst/>
          </a:prstGeom>
          <a:solidFill>
            <a:srgbClr val="0E7490">
              <a:alpha val="22000"/>
            </a:srgbClr>
          </a:solidFill>
          <a:ln w="15875">
            <a:solidFill>
              <a:srgbClr val="0E749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45820" y="3863340"/>
            <a:ext cx="96012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3200" dirty="0"/>
          </a:p>
        </p:txBody>
      </p:sp>
      <p:sp>
        <p:nvSpPr>
          <p:cNvPr id="11" name="Text 9"/>
          <p:cNvSpPr/>
          <p:nvPr/>
        </p:nvSpPr>
        <p:spPr>
          <a:xfrm>
            <a:off x="2057400" y="3977640"/>
            <a:ext cx="5486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PVI de 1er Orden</a:t>
            </a:r>
            <a:endParaRPr lang="en-US" sz="2200" dirty="0"/>
          </a:p>
        </p:txBody>
      </p:sp>
      <p:sp>
        <p:nvSpPr>
          <p:cNvPr id="12" name="Shape 10"/>
          <p:cNvSpPr/>
          <p:nvPr/>
        </p:nvSpPr>
        <p:spPr>
          <a:xfrm>
            <a:off x="1143000" y="5074920"/>
            <a:ext cx="4937760" cy="502920"/>
          </a:xfrm>
          <a:prstGeom prst="roundRect">
            <a:avLst>
              <a:gd name="adj" fmla="val 1272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325880" y="5088636"/>
            <a:ext cx="1371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Resolver:</a:t>
            </a:r>
            <a:endParaRPr lang="en-US" sz="1800" dirty="0"/>
          </a:p>
        </p:txBody>
      </p:sp>
      <p:pic>
        <p:nvPicPr>
          <p:cNvPr id="14" name="Image 0" descr="C:\Users\SPARTAN PC\AppData\Local\Temp\claude\E--Teaching--claude-worktrees-dns-setup-prod-6069ff\1d827184-58c4-4508-9ffe-382ca45d0551\scratchpad\sesion2_pptx\equations\s2_1st_resolv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880360" y="5042916"/>
            <a:ext cx="1408176" cy="566928"/>
          </a:xfrm>
          <a:prstGeom prst="rect">
            <a:avLst/>
          </a:prstGeom>
        </p:spPr>
      </p:pic>
      <p:sp>
        <p:nvSpPr>
          <p:cNvPr id="15" name="Shape 12"/>
          <p:cNvSpPr/>
          <p:nvPr/>
        </p:nvSpPr>
        <p:spPr>
          <a:xfrm>
            <a:off x="6400800" y="5074920"/>
            <a:ext cx="4709160" cy="502920"/>
          </a:xfrm>
          <a:prstGeom prst="roundRect">
            <a:avLst>
              <a:gd name="adj" fmla="val 1272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6583680" y="5088636"/>
            <a:ext cx="12801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Sujeto a:</a:t>
            </a:r>
            <a:endParaRPr lang="en-US" sz="1800" dirty="0"/>
          </a:p>
        </p:txBody>
      </p:sp>
      <p:pic>
        <p:nvPicPr>
          <p:cNvPr id="17" name="Image 1" descr="C:\Users\SPARTAN PC\AppData\Local\Temp\claude\E--Teaching--claude-worktrees-dns-setup-prod-6069ff\1d827184-58c4-4508-9ffe-382ca45d0551\scratchpad\sesion2_pptx\equations\s2_1st_sujet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46720" y="5181585"/>
            <a:ext cx="1143000" cy="289590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11277295" y="649224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65760"/>
            <a:ext cx="3378708" cy="457200"/>
          </a:xfrm>
          <a:prstGeom prst="roundRect">
            <a:avLst>
              <a:gd name="adj" fmla="val 50000"/>
            </a:avLst>
          </a:prstGeom>
          <a:solidFill>
            <a:srgbClr val="0E7490">
              <a:alpha val="18000"/>
            </a:srgbClr>
          </a:solidFill>
          <a:ln w="9525">
            <a:solidFill>
              <a:srgbClr val="0E749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65760"/>
            <a:ext cx="337870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spc="100" kern="0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1.2 · TEORÍA DE PVI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548640" y="960120"/>
            <a:ext cx="1109441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PVI de Orden n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548640" y="1691640"/>
            <a:ext cx="11094415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Cuando el sistema necesita más de una condición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548640" y="2331720"/>
            <a:ext cx="11094415" cy="3931920"/>
          </a:xfrm>
          <a:prstGeom prst="roundRect">
            <a:avLst>
              <a:gd name="adj" fmla="val 2093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25400" dir="5400000">
              <a:srgbClr val="0F172A">
                <a:alpha val="14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570068" y="2583180"/>
            <a:ext cx="1051560" cy="1051560"/>
          </a:xfrm>
          <a:prstGeom prst="ellipse">
            <a:avLst/>
          </a:prstGeom>
          <a:solidFill>
            <a:srgbClr val="0E7490">
              <a:alpha val="22000"/>
            </a:srgbClr>
          </a:solidFill>
          <a:ln w="15875">
            <a:solidFill>
              <a:srgbClr val="0E749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570068" y="2583180"/>
            <a:ext cx="105156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</a:t>
            </a:r>
            <a:endParaRPr lang="en-US" sz="3400" dirty="0"/>
          </a:p>
        </p:txBody>
      </p:sp>
      <p:sp>
        <p:nvSpPr>
          <p:cNvPr id="9" name="Text 7"/>
          <p:cNvSpPr/>
          <p:nvPr/>
        </p:nvSpPr>
        <p:spPr>
          <a:xfrm>
            <a:off x="1188720" y="3931920"/>
            <a:ext cx="9814255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Resolver la EDO sujeta a n condiciones iniciales, todas evaluadas exactamente en el mismo punto x₀:</a:t>
            </a:r>
            <a:endParaRPr lang="en-US" sz="1900" dirty="0"/>
          </a:p>
        </p:txBody>
      </p:sp>
      <p:sp>
        <p:nvSpPr>
          <p:cNvPr id="10" name="Shape 8"/>
          <p:cNvSpPr/>
          <p:nvPr/>
        </p:nvSpPr>
        <p:spPr>
          <a:xfrm>
            <a:off x="2209648" y="4846320"/>
            <a:ext cx="7772400" cy="868680"/>
          </a:xfrm>
          <a:prstGeom prst="roundRect">
            <a:avLst>
              <a:gd name="adj" fmla="val 7368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pic>
        <p:nvPicPr>
          <p:cNvPr id="11" name="Image 0" descr="C:\Users\SPARTAN PC\AppData\Local\Temp\claude\E--Teaching--claude-worktrees-dns-setup-prod-6069ff\1d827184-58c4-4508-9ffe-382ca45d0551\scratchpad\sesion2_pptx\equations\s2_nth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72820" y="5060747"/>
            <a:ext cx="4846055" cy="439826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11277295" y="649224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65760"/>
            <a:ext cx="3378708" cy="457200"/>
          </a:xfrm>
          <a:prstGeom prst="roundRect">
            <a:avLst>
              <a:gd name="adj" fmla="val 50000"/>
            </a:avLst>
          </a:prstGeom>
          <a:solidFill>
            <a:srgbClr val="0E7490">
              <a:alpha val="18000"/>
            </a:srgbClr>
          </a:solidFill>
          <a:ln w="9525">
            <a:solidFill>
              <a:srgbClr val="0E749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65760"/>
            <a:ext cx="337870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spc="100" kern="0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1.2 · TEORÍA DE PVI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548640" y="960120"/>
            <a:ext cx="1109441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Casos Particulares: n = 1 y n = 2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48640" y="1691640"/>
            <a:ext cx="11094415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la fórmula general a los órdenes más comunes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548640" y="2331720"/>
            <a:ext cx="5318608" cy="3931920"/>
          </a:xfrm>
          <a:prstGeom prst="roundRect">
            <a:avLst>
              <a:gd name="adj" fmla="val 2093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25400" dir="5400000">
              <a:srgbClr val="0F172A">
                <a:alpha val="14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27884" y="2628900"/>
            <a:ext cx="960120" cy="960120"/>
          </a:xfrm>
          <a:prstGeom prst="ellipse">
            <a:avLst/>
          </a:prstGeom>
          <a:solidFill>
            <a:srgbClr val="0E7490">
              <a:alpha val="22000"/>
            </a:srgbClr>
          </a:solidFill>
          <a:ln w="15875">
            <a:solidFill>
              <a:srgbClr val="0E749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27884" y="2628900"/>
            <a:ext cx="96012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3200" dirty="0"/>
          </a:p>
        </p:txBody>
      </p:sp>
      <p:sp>
        <p:nvSpPr>
          <p:cNvPr id="9" name="Text 7"/>
          <p:cNvSpPr/>
          <p:nvPr/>
        </p:nvSpPr>
        <p:spPr>
          <a:xfrm>
            <a:off x="822960" y="3749040"/>
            <a:ext cx="476996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Primer Orden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914400" y="4343400"/>
            <a:ext cx="4587088" cy="822960"/>
          </a:xfrm>
          <a:prstGeom prst="roundRect">
            <a:avLst>
              <a:gd name="adj" fmla="val 7778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pic>
        <p:nvPicPr>
          <p:cNvPr id="11" name="Image 0" descr="C:\Users\SPARTAN PC\AppData\Local\Temp\claude\E--Teaching--claude-worktrees-dns-setup-prod-6069ff\1d827184-58c4-4508-9ffe-382ca45d0551\scratchpad\sesion2_pptx\equations\s3b_case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27200" y="4604004"/>
            <a:ext cx="2761488" cy="301752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1005840" y="5349240"/>
            <a:ext cx="4404208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Basta con un solo dato: dónde empieza el sistema.</a:t>
            </a:r>
            <a:endParaRPr lang="en-US" sz="1800" dirty="0"/>
          </a:p>
        </p:txBody>
      </p:sp>
      <p:sp>
        <p:nvSpPr>
          <p:cNvPr id="13" name="Shape 10"/>
          <p:cNvSpPr/>
          <p:nvPr/>
        </p:nvSpPr>
        <p:spPr>
          <a:xfrm>
            <a:off x="6324448" y="2331720"/>
            <a:ext cx="5318608" cy="3931920"/>
          </a:xfrm>
          <a:prstGeom prst="roundRect">
            <a:avLst>
              <a:gd name="adj" fmla="val 2093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25400" dir="5400000">
              <a:srgbClr val="0F172A">
                <a:alpha val="14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8503691" y="2628900"/>
            <a:ext cx="960120" cy="960120"/>
          </a:xfrm>
          <a:prstGeom prst="ellipse">
            <a:avLst/>
          </a:prstGeom>
          <a:solidFill>
            <a:srgbClr val="0E7490">
              <a:alpha val="22000"/>
            </a:srgbClr>
          </a:solidFill>
          <a:ln w="15875">
            <a:solidFill>
              <a:srgbClr val="0E7490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8503691" y="2628900"/>
            <a:ext cx="96012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3200" dirty="0"/>
          </a:p>
        </p:txBody>
      </p:sp>
      <p:sp>
        <p:nvSpPr>
          <p:cNvPr id="16" name="Text 13"/>
          <p:cNvSpPr/>
          <p:nvPr/>
        </p:nvSpPr>
        <p:spPr>
          <a:xfrm>
            <a:off x="6598768" y="3749040"/>
            <a:ext cx="476996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Segundo Orden</a:t>
            </a:r>
            <a:endParaRPr lang="en-US" sz="2000" dirty="0"/>
          </a:p>
        </p:txBody>
      </p:sp>
      <p:sp>
        <p:nvSpPr>
          <p:cNvPr id="17" name="Shape 14"/>
          <p:cNvSpPr/>
          <p:nvPr/>
        </p:nvSpPr>
        <p:spPr>
          <a:xfrm>
            <a:off x="6690208" y="4343400"/>
            <a:ext cx="4587088" cy="822960"/>
          </a:xfrm>
          <a:prstGeom prst="roundRect">
            <a:avLst>
              <a:gd name="adj" fmla="val 7778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pic>
        <p:nvPicPr>
          <p:cNvPr id="18" name="Image 1" descr="C:\Users\SPARTAN PC\AppData\Local\Temp\claude\E--Teaching--claude-worktrees-dns-setup-prod-6069ff\1d827184-58c4-4508-9ffe-382ca45d0551\scratchpad\sesion2_pptx\equations\s3b_case2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28444" y="4619229"/>
            <a:ext cx="3910614" cy="271302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6781648" y="5349240"/>
            <a:ext cx="4404208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necesitan dos datos: posición y velocidad iniciales.</a:t>
            </a:r>
            <a:endParaRPr lang="en-US" sz="1800" dirty="0"/>
          </a:p>
        </p:txBody>
      </p:sp>
      <p:sp>
        <p:nvSpPr>
          <p:cNvPr id="20" name="Text 16"/>
          <p:cNvSpPr/>
          <p:nvPr/>
        </p:nvSpPr>
        <p:spPr>
          <a:xfrm>
            <a:off x="11277295" y="649224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65760"/>
            <a:ext cx="2528316" cy="457200"/>
          </a:xfrm>
          <a:prstGeom prst="roundRect">
            <a:avLst>
              <a:gd name="adj" fmla="val 50000"/>
            </a:avLst>
          </a:prstGeom>
          <a:solidFill>
            <a:srgbClr val="047857">
              <a:alpha val="18000"/>
            </a:srgbClr>
          </a:solidFill>
          <a:ln w="9525">
            <a:solidFill>
              <a:srgbClr val="04785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65760"/>
            <a:ext cx="252831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spc="100" kern="0" dirty="0">
                <a:solidFill>
                  <a:srgbClr val="047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VISUALIZACIÓN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548640" y="960120"/>
            <a:ext cx="1109441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Interpretación Geométrica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48640" y="1783080"/>
            <a:ext cx="5318608" cy="4526280"/>
          </a:xfrm>
          <a:prstGeom prst="roundRect">
            <a:avLst>
              <a:gd name="adj" fmla="val 1818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25400" dir="5400000">
              <a:srgbClr val="0F172A">
                <a:alpha val="14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22960" y="2057400"/>
            <a:ext cx="914400" cy="914400"/>
          </a:xfrm>
          <a:prstGeom prst="ellipse">
            <a:avLst/>
          </a:prstGeom>
          <a:solidFill>
            <a:srgbClr val="0E7490">
              <a:alpha val="22000"/>
            </a:srgbClr>
          </a:solidFill>
          <a:ln w="15875">
            <a:solidFill>
              <a:srgbClr val="0E749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205740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🗺</a:t>
            </a:r>
            <a:endParaRPr lang="en-US" sz="3200" dirty="0"/>
          </a:p>
        </p:txBody>
      </p:sp>
      <p:sp>
        <p:nvSpPr>
          <p:cNvPr id="8" name="Text 6"/>
          <p:cNvSpPr/>
          <p:nvPr/>
        </p:nvSpPr>
        <p:spPr>
          <a:xfrm>
            <a:off x="960120" y="3154680"/>
            <a:ext cx="449564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Familia de Curvas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1005840" y="3749040"/>
            <a:ext cx="4404208" cy="1691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solución general representa todas las trayectorias posibles del sistema: infinitas curvas en el plano. Como todas las rutas que un avión podría tomar según el viento.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 rot="-480000">
            <a:off x="1005840" y="5806440"/>
            <a:ext cx="4404208" cy="0"/>
          </a:xfrm>
          <a:prstGeom prst="line">
            <a:avLst/>
          </a:prstGeom>
          <a:noFill/>
          <a:ln w="15875">
            <a:solidFill>
              <a:srgbClr val="0E7490">
                <a:alpha val="65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 rot="-240000">
            <a:off x="1005840" y="5806440"/>
            <a:ext cx="4404208" cy="0"/>
          </a:xfrm>
          <a:prstGeom prst="line">
            <a:avLst/>
          </a:prstGeom>
          <a:noFill/>
          <a:ln w="15875">
            <a:solidFill>
              <a:srgbClr val="0E7490">
                <a:alpha val="57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005840" y="5806440"/>
            <a:ext cx="4404208" cy="0"/>
          </a:xfrm>
          <a:prstGeom prst="line">
            <a:avLst/>
          </a:prstGeom>
          <a:noFill/>
          <a:ln w="15875">
            <a:solidFill>
              <a:srgbClr val="0E7490">
                <a:alpha val="49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 rot="240000">
            <a:off x="1005840" y="5806440"/>
            <a:ext cx="4404208" cy="0"/>
          </a:xfrm>
          <a:prstGeom prst="line">
            <a:avLst/>
          </a:prstGeom>
          <a:noFill/>
          <a:ln w="15875">
            <a:solidFill>
              <a:srgbClr val="0E7490">
                <a:alpha val="41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 rot="480000">
            <a:off x="1005840" y="5806440"/>
            <a:ext cx="4404208" cy="0"/>
          </a:xfrm>
          <a:prstGeom prst="line">
            <a:avLst/>
          </a:prstGeom>
          <a:noFill/>
          <a:ln w="15875">
            <a:solidFill>
              <a:srgbClr val="0E7490">
                <a:alpha val="33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324448" y="1783080"/>
            <a:ext cx="5318608" cy="4526280"/>
          </a:xfrm>
          <a:prstGeom prst="roundRect">
            <a:avLst>
              <a:gd name="adj" fmla="val 1818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25400" dir="5400000">
              <a:srgbClr val="0F172A">
                <a:alpha val="14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598768" y="2057400"/>
            <a:ext cx="914400" cy="914400"/>
          </a:xfrm>
          <a:prstGeom prst="ellipse">
            <a:avLst/>
          </a:prstGeom>
          <a:solidFill>
            <a:srgbClr val="047857">
              <a:alpha val="22000"/>
            </a:srgbClr>
          </a:solidFill>
          <a:ln w="15875">
            <a:solidFill>
              <a:srgbClr val="04785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598768" y="205740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47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📌</a:t>
            </a:r>
            <a:endParaRPr lang="en-US" sz="3200" dirty="0"/>
          </a:p>
        </p:txBody>
      </p:sp>
      <p:sp>
        <p:nvSpPr>
          <p:cNvPr id="18" name="Text 16"/>
          <p:cNvSpPr/>
          <p:nvPr/>
        </p:nvSpPr>
        <p:spPr>
          <a:xfrm>
            <a:off x="6735928" y="3154680"/>
            <a:ext cx="449564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Curva Única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6781648" y="3749040"/>
            <a:ext cx="4404208" cy="1691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condición y(x₀)=y₀ obliga a elegir la única curva que pasa por ese punto. Es como colocar un alfiler: de todas las posibilidades, solo una es válida.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6781648" y="5806440"/>
            <a:ext cx="4404208" cy="0"/>
          </a:xfrm>
          <a:prstGeom prst="line">
            <a:avLst/>
          </a:prstGeom>
          <a:noFill/>
          <a:ln w="31750">
            <a:solidFill>
              <a:srgbClr val="047857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928887" y="5751576"/>
            <a:ext cx="109728" cy="109728"/>
          </a:xfrm>
          <a:prstGeom prst="ellipse">
            <a:avLst/>
          </a:prstGeom>
          <a:solidFill>
            <a:srgbClr val="047857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1277295" y="649224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65760"/>
            <a:ext cx="1961388" cy="457200"/>
          </a:xfrm>
          <a:prstGeom prst="roundRect">
            <a:avLst>
              <a:gd name="adj" fmla="val 50000"/>
            </a:avLst>
          </a:prstGeom>
          <a:solidFill>
            <a:srgbClr val="B45309">
              <a:alpha val="18000"/>
            </a:srgbClr>
          </a:solidFill>
          <a:ln w="9525">
            <a:solidFill>
              <a:srgbClr val="B4530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65760"/>
            <a:ext cx="196138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spc="100" kern="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EJEMPLO 1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548640" y="960120"/>
            <a:ext cx="1109441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Crecimiento Poblacional (1er Orden)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10774375" y="548640"/>
            <a:ext cx="822960" cy="822960"/>
          </a:xfrm>
          <a:prstGeom prst="ellipse">
            <a:avLst/>
          </a:prstGeom>
          <a:solidFill>
            <a:srgbClr val="B45309">
              <a:alpha val="22000"/>
            </a:srgbClr>
          </a:solidFill>
          <a:ln w="15875">
            <a:solidFill>
              <a:srgbClr val="B4530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774375" y="54864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🐇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548640" y="1965960"/>
            <a:ext cx="11094415" cy="4343400"/>
          </a:xfrm>
          <a:prstGeom prst="roundRect">
            <a:avLst>
              <a:gd name="adj" fmla="val 1895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25400" dir="5400000">
              <a:srgbClr val="0F172A">
                <a:alpha val="14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914400" y="2286000"/>
            <a:ext cx="10362895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Nuestra firma modela la tasa de crecimiento de conejos en una reserva:</a:t>
            </a:r>
            <a:endParaRPr lang="en-US" sz="1900" dirty="0"/>
          </a:p>
        </p:txBody>
      </p:sp>
      <p:sp>
        <p:nvSpPr>
          <p:cNvPr id="9" name="Shape 7"/>
          <p:cNvSpPr/>
          <p:nvPr/>
        </p:nvSpPr>
        <p:spPr>
          <a:xfrm>
            <a:off x="3809848" y="2926080"/>
            <a:ext cx="4572000" cy="9144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pic>
        <p:nvPicPr>
          <p:cNvPr id="10" name="Image 0" descr="C:\Users\SPARTAN PC\AppData\Local\Temp\claude\E--Teaching--claude-worktrees-dns-setup-prod-6069ff\1d827184-58c4-4508-9ffe-382ca45d0551\scratchpad\sesion2_pptx\equations\s4_dPd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58831" y="3046461"/>
            <a:ext cx="1274034" cy="673638"/>
          </a:xfrm>
          <a:prstGeom prst="rect">
            <a:avLst/>
          </a:prstGeom>
        </p:spPr>
      </p:pic>
      <p:sp>
        <p:nvSpPr>
          <p:cNvPr id="11" name="Shape 8"/>
          <p:cNvSpPr/>
          <p:nvPr/>
        </p:nvSpPr>
        <p:spPr>
          <a:xfrm>
            <a:off x="2895448" y="4023360"/>
            <a:ext cx="6400800" cy="685800"/>
          </a:xfrm>
          <a:prstGeom prst="roundRect">
            <a:avLst>
              <a:gd name="adj" fmla="val 933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3215488" y="4128516"/>
            <a:ext cx="24688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Solución general:</a:t>
            </a:r>
            <a:endParaRPr lang="en-US" sz="1800" dirty="0"/>
          </a:p>
        </p:txBody>
      </p:sp>
      <p:pic>
        <p:nvPicPr>
          <p:cNvPr id="13" name="Image 1" descr="C:\Users\SPARTAN PC\AppData\Local\Temp\claude\E--Teaching--claude-worktrees-dns-setup-prod-6069ff\1d827184-58c4-4508-9ffe-382ca45d0551\scratchpad\sesion2_pptx\equations\s4_gensol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67248" y="4203177"/>
            <a:ext cx="1332006" cy="326166"/>
          </a:xfrm>
          <a:prstGeom prst="rect">
            <a:avLst/>
          </a:prstGeom>
        </p:spPr>
      </p:pic>
      <p:sp>
        <p:nvSpPr>
          <p:cNvPr id="14" name="Shape 10"/>
          <p:cNvSpPr/>
          <p:nvPr/>
        </p:nvSpPr>
        <p:spPr>
          <a:xfrm>
            <a:off x="914400" y="4983480"/>
            <a:ext cx="10362895" cy="960120"/>
          </a:xfrm>
          <a:prstGeom prst="roundRect">
            <a:avLst>
              <a:gd name="adj" fmla="val 8571"/>
            </a:avLst>
          </a:prstGeom>
          <a:solidFill>
            <a:srgbClr val="FFFBEB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1280160" y="4983480"/>
            <a:ext cx="9631375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90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Cliente reporta: se liberaron 50 conejos al inicio (t = 0).</a:t>
            </a:r>
            <a:endParaRPr lang="en-US" sz="1900" dirty="0"/>
          </a:p>
        </p:txBody>
      </p:sp>
      <p:sp>
        <p:nvSpPr>
          <p:cNvPr id="16" name="Text 12"/>
          <p:cNvSpPr/>
          <p:nvPr/>
        </p:nvSpPr>
        <p:spPr>
          <a:xfrm>
            <a:off x="11277295" y="649224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65760"/>
            <a:ext cx="1961388" cy="457200"/>
          </a:xfrm>
          <a:prstGeom prst="roundRect">
            <a:avLst>
              <a:gd name="adj" fmla="val 50000"/>
            </a:avLst>
          </a:prstGeom>
          <a:solidFill>
            <a:srgbClr val="B45309">
              <a:alpha val="18000"/>
            </a:srgbClr>
          </a:solidFill>
          <a:ln w="9525">
            <a:solidFill>
              <a:srgbClr val="B4530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65760"/>
            <a:ext cx="196138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spc="100" kern="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EJEMPLO 1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548640" y="960120"/>
            <a:ext cx="1109441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Evaluando el PVI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10774375" y="548640"/>
            <a:ext cx="822960" cy="822960"/>
          </a:xfrm>
          <a:prstGeom prst="ellipse">
            <a:avLst/>
          </a:prstGeom>
          <a:solidFill>
            <a:srgbClr val="B45309">
              <a:alpha val="22000"/>
            </a:srgbClr>
          </a:solidFill>
          <a:ln w="15875">
            <a:solidFill>
              <a:srgbClr val="B4530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774375" y="54864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🐇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548640" y="1965960"/>
            <a:ext cx="11094415" cy="4343400"/>
          </a:xfrm>
          <a:prstGeom prst="roundRect">
            <a:avLst>
              <a:gd name="adj" fmla="val 1895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25400" dir="5400000">
              <a:srgbClr val="0F172A">
                <a:alpha val="14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914400" y="2240280"/>
            <a:ext cx="10362895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Sustituimos la condición inicial P(0) = 50 en la solución general:</a:t>
            </a:r>
            <a:endParaRPr lang="en-US" sz="1900" dirty="0"/>
          </a:p>
        </p:txBody>
      </p:sp>
      <p:sp>
        <p:nvSpPr>
          <p:cNvPr id="9" name="Shape 7"/>
          <p:cNvSpPr/>
          <p:nvPr/>
        </p:nvSpPr>
        <p:spPr>
          <a:xfrm>
            <a:off x="3718408" y="2880360"/>
            <a:ext cx="4754880" cy="1737360"/>
          </a:xfrm>
          <a:prstGeom prst="roundRect">
            <a:avLst>
              <a:gd name="adj" fmla="val 3684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pic>
        <p:nvPicPr>
          <p:cNvPr id="10" name="Image 0" descr="C:\Users\SPARTAN PC\AppData\Local\Temp\claude\E--Teaching--claude-worktrees-dns-setup-prod-6069ff\1d827184-58c4-4508-9ffe-382ca45d0551\scratchpad\sesion2_pptx\equations\s4_eva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181429" y="3079699"/>
            <a:ext cx="1828837" cy="1338682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914400" y="4754880"/>
            <a:ext cx="10362895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 la constante despejada, obtenemos la solución particular del PVI:</a:t>
            </a:r>
            <a:endParaRPr lang="en-US" sz="1900" dirty="0"/>
          </a:p>
        </p:txBody>
      </p:sp>
      <p:sp>
        <p:nvSpPr>
          <p:cNvPr id="12" name="Shape 9"/>
          <p:cNvSpPr/>
          <p:nvPr/>
        </p:nvSpPr>
        <p:spPr>
          <a:xfrm>
            <a:off x="3809848" y="5303520"/>
            <a:ext cx="4572000" cy="9144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pic>
        <p:nvPicPr>
          <p:cNvPr id="13" name="Image 1" descr="C:\Users\SPARTAN PC\AppData\Local\Temp\claude\E--Teaching--claude-worktrees-dns-setup-prod-6069ff\1d827184-58c4-4508-9ffe-382ca45d0551\scratchpad\sesion2_pptx\equations\s4_her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06207" y="5489276"/>
            <a:ext cx="2179280" cy="542888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11277295" y="649224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65760"/>
            <a:ext cx="1961388" cy="457200"/>
          </a:xfrm>
          <a:prstGeom prst="roundRect">
            <a:avLst>
              <a:gd name="adj" fmla="val 50000"/>
            </a:avLst>
          </a:prstGeom>
          <a:solidFill>
            <a:srgbClr val="6D28D9">
              <a:alpha val="18000"/>
            </a:srgbClr>
          </a:solidFill>
          <a:ln w="9525">
            <a:solidFill>
              <a:srgbClr val="6D28D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65760"/>
            <a:ext cx="196138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spc="100" kern="0" dirty="0">
                <a:solidFill>
                  <a:srgbClr val="6D2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EJEMPLO 2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548640" y="960120"/>
            <a:ext cx="1109441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 Masa-Resorte (2do Orden)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10774375" y="548640"/>
            <a:ext cx="822960" cy="822960"/>
          </a:xfrm>
          <a:prstGeom prst="ellipse">
            <a:avLst/>
          </a:prstGeom>
          <a:solidFill>
            <a:srgbClr val="6D28D9">
              <a:alpha val="22000"/>
            </a:srgbClr>
          </a:solidFill>
          <a:ln w="15875">
            <a:solidFill>
              <a:srgbClr val="6D28D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774375" y="54864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6D2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🌀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548640" y="1965960"/>
            <a:ext cx="11094415" cy="4343400"/>
          </a:xfrm>
          <a:prstGeom prst="roundRect">
            <a:avLst>
              <a:gd name="adj" fmla="val 1895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25400" dir="5400000">
              <a:srgbClr val="0F172A">
                <a:alpha val="14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914400" y="2231136"/>
            <a:ext cx="9144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EDO:</a:t>
            </a:r>
            <a:endParaRPr lang="en-US" sz="1900" dirty="0"/>
          </a:p>
        </p:txBody>
      </p:sp>
      <p:pic>
        <p:nvPicPr>
          <p:cNvPr id="9" name="Image 0" descr="C:\Users\SPARTAN PC\AppData\Local\Temp\claude\E--Teaching--claude-worktrees-dns-setup-prod-6069ff\1d827184-58c4-4508-9ffe-382ca45d0551\scratchpad\sesion2_pptx\equations\s5_ed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11680" y="2360661"/>
            <a:ext cx="1319754" cy="216438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914400" y="2916936"/>
            <a:ext cx="24688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Solución general:</a:t>
            </a:r>
            <a:endParaRPr lang="en-US" sz="1900" dirty="0"/>
          </a:p>
        </p:txBody>
      </p:sp>
      <p:pic>
        <p:nvPicPr>
          <p:cNvPr id="11" name="Image 1" descr="C:\Users\SPARTAN PC\AppData\Local\Temp\claude\E--Teaching--claude-worktrees-dns-setup-prod-6069ff\1d827184-58c4-4508-9ffe-382ca45d0551\scratchpad\sesion2_pptx\equations\s5_gensol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66160" y="3009885"/>
            <a:ext cx="3005358" cy="28959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914400" y="3931920"/>
            <a:ext cx="10362895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900" b="1" dirty="0">
                <a:solidFill>
                  <a:srgbClr val="6D2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Condiciones iniciales:  </a:t>
            </a:r>
            <a:pPr algn="l" indent="0" marL="0">
              <a:lnSpc>
                <a:spcPct val="120000"/>
              </a:lnSpc>
              <a:buNone/>
            </a:pPr>
            <a:r>
              <a:rPr lang="en-US" sz="1900" dirty="0">
                <a:solidFill>
                  <a:srgbClr val="6D2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estiró el resorte 2 m hacia abajo y se soltó desde el reposo.</a:t>
            </a:r>
            <a:endParaRPr lang="en-US" sz="1900" dirty="0"/>
          </a:p>
        </p:txBody>
      </p:sp>
      <p:sp>
        <p:nvSpPr>
          <p:cNvPr id="13" name="Shape 9"/>
          <p:cNvSpPr/>
          <p:nvPr/>
        </p:nvSpPr>
        <p:spPr>
          <a:xfrm>
            <a:off x="3581248" y="4754880"/>
            <a:ext cx="5029200" cy="1051560"/>
          </a:xfrm>
          <a:prstGeom prst="roundRect">
            <a:avLst>
              <a:gd name="adj" fmla="val 608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pic>
        <p:nvPicPr>
          <p:cNvPr id="14" name="Image 2" descr="C:\Users\SPARTAN PC\AppData\Local\Temp\claude\E--Teaching--claude-worktrees-dns-setup-prod-6069ff\1d827184-58c4-4508-9ffe-382ca45d0551\scratchpad\sesion2_pptx\equations\s5_conds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68033" y="5085186"/>
            <a:ext cx="2855630" cy="390947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1277295" y="649224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65760"/>
            <a:ext cx="1961388" cy="457200"/>
          </a:xfrm>
          <a:prstGeom prst="roundRect">
            <a:avLst>
              <a:gd name="adj" fmla="val 50000"/>
            </a:avLst>
          </a:prstGeom>
          <a:solidFill>
            <a:srgbClr val="6D28D9">
              <a:alpha val="18000"/>
            </a:srgbClr>
          </a:solidFill>
          <a:ln w="9525">
            <a:solidFill>
              <a:srgbClr val="6D28D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65760"/>
            <a:ext cx="196138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spc="100" kern="0" dirty="0">
                <a:solidFill>
                  <a:srgbClr val="6D2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EJEMPLO 2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548640" y="960120"/>
            <a:ext cx="1109441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Resolviendo el Sistema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10774375" y="548640"/>
            <a:ext cx="822960" cy="822960"/>
          </a:xfrm>
          <a:prstGeom prst="ellipse">
            <a:avLst/>
          </a:prstGeom>
          <a:solidFill>
            <a:srgbClr val="6D28D9">
              <a:alpha val="22000"/>
            </a:srgbClr>
          </a:solidFill>
          <a:ln w="15875">
            <a:solidFill>
              <a:srgbClr val="6D28D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774375" y="54864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6D2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🌀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548640" y="1965960"/>
            <a:ext cx="11094415" cy="3246120"/>
          </a:xfrm>
          <a:prstGeom prst="roundRect">
            <a:avLst>
              <a:gd name="adj" fmla="val 2535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25400" dir="5400000">
              <a:srgbClr val="0F172A">
                <a:alpha val="14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914400" y="2167128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spc="50" kern="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Sustituyendo las condiciones iniciales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914400" y="2688336"/>
            <a:ext cx="17373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Posición:</a:t>
            </a:r>
            <a:endParaRPr lang="en-US" sz="1900" dirty="0"/>
          </a:p>
        </p:txBody>
      </p:sp>
      <p:pic>
        <p:nvPicPr>
          <p:cNvPr id="10" name="Image 0" descr="C:\Users\SPARTAN PC\AppData\Local\Temp\claude\E--Teaching--claude-worktrees-dns-setup-prod-6069ff\1d827184-58c4-4508-9ffe-382ca45d0551\scratchpad\sesion2_pptx\equations\s5_po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834640" y="2781285"/>
            <a:ext cx="3886200" cy="28959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914400" y="3419856"/>
            <a:ext cx="17373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Velocidad:</a:t>
            </a:r>
            <a:endParaRPr lang="en-US" sz="1900" dirty="0"/>
          </a:p>
        </p:txBody>
      </p:sp>
      <p:pic>
        <p:nvPicPr>
          <p:cNvPr id="12" name="Image 1" descr="C:\Users\SPARTAN PC\AppData\Local\Temp\claude\E--Teaching--claude-worktrees-dns-setup-prod-6069ff\1d827184-58c4-4508-9ffe-382ca45d0551\scratchpad\sesion2_pptx\equations\s5_vel1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34640" y="3512805"/>
            <a:ext cx="3450306" cy="28959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1371600" y="4151376"/>
            <a:ext cx="16002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 ẋ(0)=0:</a:t>
            </a:r>
            <a:endParaRPr lang="en-US" sz="1800" dirty="0"/>
          </a:p>
        </p:txBody>
      </p:sp>
      <p:pic>
        <p:nvPicPr>
          <p:cNvPr id="14" name="Image 2" descr="C:\Users\SPARTAN PC\AppData\Local\Temp\claude\E--Teaching--claude-worktrees-dns-setup-prod-6069ff\1d827184-58c4-4508-9ffe-382ca45d0551\scratchpad\sesion2_pptx\equations\s5_vel2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54680" y="4244325"/>
            <a:ext cx="4431822" cy="289590"/>
          </a:xfrm>
          <a:prstGeom prst="rect">
            <a:avLst/>
          </a:prstGeom>
        </p:spPr>
      </p:pic>
      <p:sp>
        <p:nvSpPr>
          <p:cNvPr id="15" name="Shape 10"/>
          <p:cNvSpPr/>
          <p:nvPr/>
        </p:nvSpPr>
        <p:spPr>
          <a:xfrm>
            <a:off x="3124048" y="5486400"/>
            <a:ext cx="5943600" cy="822960"/>
          </a:xfrm>
          <a:prstGeom prst="roundRect">
            <a:avLst>
              <a:gd name="adj" fmla="val 7778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6" name="Text 11"/>
          <p:cNvSpPr/>
          <p:nvPr/>
        </p:nvSpPr>
        <p:spPr>
          <a:xfrm>
            <a:off x="3489808" y="5660136"/>
            <a:ext cx="23774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6D2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Solución del PVI:</a:t>
            </a:r>
            <a:endParaRPr lang="en-US" sz="1900" dirty="0"/>
          </a:p>
        </p:txBody>
      </p:sp>
      <p:pic>
        <p:nvPicPr>
          <p:cNvPr id="17" name="Image 3" descr="C:\Users\SPARTAN PC\AppData\Local\Temp\claude\E--Teaching--claude-worktrees-dns-setup-prod-6069ff\1d827184-58c4-4508-9ffe-382ca45d0551\scratchpad\sesion2_pptx\equations\s5_hero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50128" y="5676005"/>
            <a:ext cx="2599374" cy="443749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11277295" y="649224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65760"/>
            <a:ext cx="3662172" cy="457200"/>
          </a:xfrm>
          <a:prstGeom prst="roundRect">
            <a:avLst>
              <a:gd name="adj" fmla="val 50000"/>
            </a:avLst>
          </a:prstGeom>
          <a:solidFill>
            <a:srgbClr val="0E7490">
              <a:alpha val="18000"/>
            </a:srgbClr>
          </a:solidFill>
          <a:ln w="9525">
            <a:solidFill>
              <a:srgbClr val="0E749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65760"/>
            <a:ext cx="36621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spc="100" kern="0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FUNDAMENTO MATEMÁTICO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548640" y="960120"/>
            <a:ext cx="1109441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Existencia y Unicidad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48640" y="1645920"/>
            <a:ext cx="11094415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Teorema de Zill 1.2.1 · versión intuitiva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10774375" y="548640"/>
            <a:ext cx="822960" cy="822960"/>
          </a:xfrm>
          <a:prstGeom prst="ellipse">
            <a:avLst/>
          </a:prstGeom>
          <a:solidFill>
            <a:srgbClr val="0E7490">
              <a:alpha val="22000"/>
            </a:srgbClr>
          </a:solidFill>
          <a:ln w="15875">
            <a:solidFill>
              <a:srgbClr val="0E749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774375" y="54864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⚖</a:t>
            </a:r>
            <a:endParaRPr lang="en-US" sz="3000" dirty="0"/>
          </a:p>
        </p:txBody>
      </p:sp>
      <p:sp>
        <p:nvSpPr>
          <p:cNvPr id="8" name="Shape 6"/>
          <p:cNvSpPr/>
          <p:nvPr/>
        </p:nvSpPr>
        <p:spPr>
          <a:xfrm>
            <a:off x="548640" y="2194560"/>
            <a:ext cx="11094415" cy="685800"/>
          </a:xfrm>
          <a:prstGeom prst="roundRect">
            <a:avLst>
              <a:gd name="adj" fmla="val 12000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25400" dir="5400000">
              <a:srgbClr val="0F172A">
                <a:alpha val="14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914400" y="2304288"/>
            <a:ext cx="10362895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Antes de modelar, debemos saber si el sistema tiene solución y si es la única posible.</a:t>
            </a:r>
            <a:endParaRPr lang="en-US" sz="1900" dirty="0"/>
          </a:p>
        </p:txBody>
      </p:sp>
      <p:sp>
        <p:nvSpPr>
          <p:cNvPr id="10" name="Shape 8"/>
          <p:cNvSpPr/>
          <p:nvPr/>
        </p:nvSpPr>
        <p:spPr>
          <a:xfrm>
            <a:off x="548640" y="3017520"/>
            <a:ext cx="11094415" cy="1965960"/>
          </a:xfrm>
          <a:prstGeom prst="roundRect">
            <a:avLst>
              <a:gd name="adj" fmla="val 4186"/>
            </a:avLst>
          </a:prstGeom>
          <a:solidFill>
            <a:srgbClr val="ECFE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25400" dir="5400000">
              <a:srgbClr val="0F172A">
                <a:alpha val="14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914400" y="3182112"/>
            <a:ext cx="10362895" cy="1691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9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 R una región rectangular que contiene a (x₀,y₀) en su interior. Si f(x,y) es </a:t>
            </a:r>
            <a:pPr algn="l" indent="0" marL="0">
              <a:lnSpc>
                <a:spcPct val="120000"/>
              </a:lnSpc>
              <a:buNone/>
            </a:pPr>
            <a:r>
              <a:rPr lang="en-US" sz="1900" b="1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continua</a:t>
            </a:r>
            <a:pPr algn="l" indent="0" marL="0">
              <a:lnSpc>
                <a:spcPct val="120000"/>
              </a:lnSpc>
              <a:buNone/>
            </a:pPr>
            <a:r>
              <a:rPr lang="en-US" sz="19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en R y no cambia de forma abrupta al mover y, entonces existe </a:t>
            </a:r>
            <a:pPr algn="l" indent="0" marL="0">
              <a:lnSpc>
                <a:spcPct val="120000"/>
              </a:lnSpc>
              <a:buNone/>
            </a:pPr>
            <a:r>
              <a:rPr lang="en-US" sz="1900" b="1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intervalo alrededor de x₀</a:t>
            </a:r>
            <a:pPr algn="l" indent="0" marL="0">
              <a:lnSpc>
                <a:spcPct val="120000"/>
              </a:lnSpc>
              <a:buNone/>
            </a:pPr>
            <a:r>
              <a:rPr lang="en-US" sz="19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en el que el PVI tiene una </a:t>
            </a:r>
            <a:pPr algn="l" indent="0" marL="0">
              <a:lnSpc>
                <a:spcPct val="120000"/>
              </a:lnSpc>
              <a:buNone/>
            </a:pPr>
            <a:r>
              <a:rPr lang="en-US" sz="1900" b="1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única función</a:t>
            </a:r>
            <a:pPr algn="l" indent="0" marL="0">
              <a:lnSpc>
                <a:spcPct val="120000"/>
              </a:lnSpc>
              <a:buNone/>
            </a:pPr>
            <a:r>
              <a:rPr lang="en-US" sz="19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y(x) que lo soluciona.</a:t>
            </a:r>
            <a:endParaRPr lang="en-US" sz="1900" dirty="0"/>
          </a:p>
        </p:txBody>
      </p:sp>
      <p:sp>
        <p:nvSpPr>
          <p:cNvPr id="12" name="Shape 10"/>
          <p:cNvSpPr/>
          <p:nvPr/>
        </p:nvSpPr>
        <p:spPr>
          <a:xfrm>
            <a:off x="548640" y="5166360"/>
            <a:ext cx="11094415" cy="1371600"/>
          </a:xfrm>
          <a:prstGeom prst="roundRect">
            <a:avLst>
              <a:gd name="adj" fmla="val 6000"/>
            </a:avLst>
          </a:prstGeom>
          <a:solidFill>
            <a:srgbClr val="FFFBEB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25400" dir="5400000">
              <a:srgbClr val="0F172A">
                <a:alpha val="14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914400" y="5303520"/>
            <a:ext cx="10362895" cy="1143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8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Tip para Analistas:  </a:t>
            </a:r>
            <a:pPr algn="l" indent="0" marL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f(x,y) presenta singularidades (divisiones entre cero, raíces de negativos) o cambios muy abruptos cerca del punto inicial, el modelo podría colapsar o tener múltiples trayectorias. Y aunque sea continua, esa unicidad solo está garantizada en un intervalo — no necesariamente para siempre.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1277295" y="649224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65760"/>
            <a:ext cx="4370832" cy="457200"/>
          </a:xfrm>
          <a:prstGeom prst="roundRect">
            <a:avLst>
              <a:gd name="adj" fmla="val 50000"/>
            </a:avLst>
          </a:prstGeom>
          <a:solidFill>
            <a:srgbClr val="BE123C">
              <a:alpha val="18000"/>
            </a:srgbClr>
          </a:solidFill>
          <a:ln w="9525">
            <a:solidFill>
              <a:srgbClr val="BE123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65760"/>
            <a:ext cx="437083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spc="100" kern="0" dirty="0">
                <a:solidFill>
                  <a:srgbClr val="BE1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ADVERTENCIA: BIFURCACIONES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548640" y="960120"/>
            <a:ext cx="1109441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Cuando falla la unicidad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10774375" y="548640"/>
            <a:ext cx="822960" cy="822960"/>
          </a:xfrm>
          <a:prstGeom prst="ellipse">
            <a:avLst/>
          </a:prstGeom>
          <a:solidFill>
            <a:srgbClr val="BE123C">
              <a:alpha val="22000"/>
            </a:srgbClr>
          </a:solidFill>
          <a:ln w="15875">
            <a:solidFill>
              <a:srgbClr val="BE123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774375" y="54864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BE1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🚀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548640" y="1965960"/>
            <a:ext cx="11094415" cy="4343400"/>
          </a:xfrm>
          <a:prstGeom prst="roundRect">
            <a:avLst>
              <a:gd name="adj" fmla="val 1895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25400" dir="5400000">
              <a:srgbClr val="0F172A">
                <a:alpha val="14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352648" y="2331720"/>
            <a:ext cx="5486400" cy="822960"/>
          </a:xfrm>
          <a:prstGeom prst="roundRect">
            <a:avLst>
              <a:gd name="adj" fmla="val 7778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718408" y="2505456"/>
            <a:ext cx="7772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PVI:</a:t>
            </a:r>
            <a:endParaRPr lang="en-US" sz="1900" dirty="0"/>
          </a:p>
        </p:txBody>
      </p:sp>
      <p:pic>
        <p:nvPicPr>
          <p:cNvPr id="10" name="Image 0" descr="C:\Users\SPARTAN PC\AppData\Local\Temp\claude\E--Teaching--claude-worktrees-dns-setup-prod-6069ff\1d827184-58c4-4508-9ffe-382ca45d0551\scratchpad\sesion2_pptx\equations\s7_pvi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678528" y="2406381"/>
            <a:ext cx="2770632" cy="673638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914400" y="3749040"/>
            <a:ext cx="10362895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Cerca de y = 0, esta curva es casi vertical: un cambio mínimo en y dispara un cambio enorme. Esa “pendiente infinita” es una señal de alerta.</a:t>
            </a:r>
            <a:endParaRPr lang="en-US" sz="1900" dirty="0"/>
          </a:p>
        </p:txBody>
      </p:sp>
      <p:sp>
        <p:nvSpPr>
          <p:cNvPr id="12" name="Text 9"/>
          <p:cNvSpPr/>
          <p:nvPr/>
        </p:nvSpPr>
        <p:spPr>
          <a:xfrm>
            <a:off x="914400" y="4754880"/>
            <a:ext cx="10362895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000" b="1" dirty="0">
                <a:solidFill>
                  <a:srgbClr val="BE1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¡Justo ahí es donde puede fallar la unicidad!</a:t>
            </a:r>
            <a:endParaRPr lang="en-US" sz="2000" dirty="0"/>
          </a:p>
        </p:txBody>
      </p:sp>
      <p:sp>
        <p:nvSpPr>
          <p:cNvPr id="13" name="Text 10"/>
          <p:cNvSpPr/>
          <p:nvPr/>
        </p:nvSpPr>
        <p:spPr>
          <a:xfrm>
            <a:off x="914400" y="5394960"/>
            <a:ext cx="10362895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Cuando esto pasa, el PVI puede tener más de una solución válida para las mismas condiciones iniciales.</a:t>
            </a:r>
            <a:endParaRPr lang="en-US" sz="1900" dirty="0"/>
          </a:p>
        </p:txBody>
      </p:sp>
      <p:sp>
        <p:nvSpPr>
          <p:cNvPr id="14" name="Text 11"/>
          <p:cNvSpPr/>
          <p:nvPr/>
        </p:nvSpPr>
        <p:spPr>
          <a:xfrm>
            <a:off x="11277295" y="649224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65760"/>
            <a:ext cx="4370832" cy="457200"/>
          </a:xfrm>
          <a:prstGeom prst="roundRect">
            <a:avLst>
              <a:gd name="adj" fmla="val 50000"/>
            </a:avLst>
          </a:prstGeom>
          <a:solidFill>
            <a:srgbClr val="BE123C">
              <a:alpha val="18000"/>
            </a:srgbClr>
          </a:solidFill>
          <a:ln w="9525">
            <a:solidFill>
              <a:srgbClr val="BE123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65760"/>
            <a:ext cx="437083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spc="100" kern="0" dirty="0">
                <a:solidFill>
                  <a:srgbClr val="BE1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ADVERTENCIA: BIFURCACIONES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548640" y="960120"/>
            <a:ext cx="1109441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Dos soluciones, un mismo PVI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10774375" y="548640"/>
            <a:ext cx="822960" cy="822960"/>
          </a:xfrm>
          <a:prstGeom prst="ellipse">
            <a:avLst/>
          </a:prstGeom>
          <a:solidFill>
            <a:srgbClr val="BE123C">
              <a:alpha val="22000"/>
            </a:srgbClr>
          </a:solidFill>
          <a:ln w="15875">
            <a:solidFill>
              <a:srgbClr val="BE123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774375" y="54864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BE1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🚀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548640" y="1965960"/>
            <a:ext cx="11094415" cy="4343400"/>
          </a:xfrm>
          <a:prstGeom prst="roundRect">
            <a:avLst>
              <a:gd name="adj" fmla="val 1895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25400" dir="5400000">
              <a:srgbClr val="0F172A">
                <a:alpha val="14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914400" y="2286000"/>
            <a:ext cx="10362895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sistema admite, al menos, dos soluciones válidas:</a:t>
            </a:r>
            <a:endParaRPr lang="en-US" sz="1900" dirty="0"/>
          </a:p>
        </p:txBody>
      </p:sp>
      <p:sp>
        <p:nvSpPr>
          <p:cNvPr id="9" name="Shape 7"/>
          <p:cNvSpPr/>
          <p:nvPr/>
        </p:nvSpPr>
        <p:spPr>
          <a:xfrm>
            <a:off x="1371600" y="2926080"/>
            <a:ext cx="3657600" cy="640080"/>
          </a:xfrm>
          <a:prstGeom prst="roundRect">
            <a:avLst>
              <a:gd name="adj" fmla="val 1285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pic>
        <p:nvPicPr>
          <p:cNvPr id="10" name="Image 0" descr="C:\Users\SPARTAN PC\AppData\Local\Temp\claude\E--Teaching--claude-worktrees-dns-setup-prod-6069ff\1d827184-58c4-4508-9ffe-382ca45d0551\scratchpad\sesion2_pptx\equations\s7_sol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26421" y="3101325"/>
            <a:ext cx="947958" cy="289590"/>
          </a:xfrm>
          <a:prstGeom prst="rect">
            <a:avLst/>
          </a:prstGeom>
        </p:spPr>
      </p:pic>
      <p:sp>
        <p:nvSpPr>
          <p:cNvPr id="11" name="Shape 8"/>
          <p:cNvSpPr/>
          <p:nvPr/>
        </p:nvSpPr>
        <p:spPr>
          <a:xfrm>
            <a:off x="1371600" y="3749040"/>
            <a:ext cx="3657600" cy="96012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pic>
        <p:nvPicPr>
          <p:cNvPr id="12" name="Image 1" descr="C:\Users\SPARTAN PC\AppData\Local\Temp\claude\E--Teaching--claude-worktrees-dns-setup-prod-6069ff\1d827184-58c4-4508-9ffe-382ca45d0551\scratchpad\sesion2_pptx\equations\s7_sol2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14941" y="3878565"/>
            <a:ext cx="1770918" cy="701070"/>
          </a:xfrm>
          <a:prstGeom prst="rect">
            <a:avLst/>
          </a:prstGeom>
        </p:spPr>
      </p:pic>
      <p:sp>
        <p:nvSpPr>
          <p:cNvPr id="13" name="Shape 9"/>
          <p:cNvSpPr/>
          <p:nvPr/>
        </p:nvSpPr>
        <p:spPr>
          <a:xfrm>
            <a:off x="914400" y="5029200"/>
            <a:ext cx="10362895" cy="1051560"/>
          </a:xfrm>
          <a:prstGeom prst="roundRect">
            <a:avLst>
              <a:gd name="adj" fmla="val 7826"/>
            </a:avLst>
          </a:prstGeom>
          <a:solidFill>
            <a:srgbClr val="FFF1F2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1280160" y="5029200"/>
            <a:ext cx="9631375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900" dirty="0">
                <a:solidFill>
                  <a:srgbClr val="BE1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desastre en ingeniería si tu reactor puede tomar dos rumbos distintos con las mismas condiciones iniciales.</a:t>
            </a:r>
            <a:endParaRPr lang="en-US" sz="1900" dirty="0"/>
          </a:p>
        </p:txBody>
      </p:sp>
      <p:sp>
        <p:nvSpPr>
          <p:cNvPr id="15" name="Text 11"/>
          <p:cNvSpPr/>
          <p:nvPr/>
        </p:nvSpPr>
        <p:spPr>
          <a:xfrm>
            <a:off x="11277295" y="649224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65760"/>
            <a:ext cx="3662172" cy="457200"/>
          </a:xfrm>
          <a:prstGeom prst="roundRect">
            <a:avLst>
              <a:gd name="adj" fmla="val 50000"/>
            </a:avLst>
          </a:prstGeom>
          <a:solidFill>
            <a:srgbClr val="BE123C">
              <a:alpha val="18000"/>
            </a:srgbClr>
          </a:solidFill>
          <a:ln w="9525">
            <a:solidFill>
              <a:srgbClr val="BE123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65760"/>
            <a:ext cx="36621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spc="100" kern="0" dirty="0">
                <a:solidFill>
                  <a:srgbClr val="BE1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ADVERTENCIA: DOMINIOS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548640" y="960120"/>
            <a:ext cx="1109441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Explosión en Tiempo Finito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10774375" y="548640"/>
            <a:ext cx="822960" cy="822960"/>
          </a:xfrm>
          <a:prstGeom prst="ellipse">
            <a:avLst/>
          </a:prstGeom>
          <a:solidFill>
            <a:srgbClr val="BE123C">
              <a:alpha val="22000"/>
            </a:srgbClr>
          </a:solidFill>
          <a:ln w="15875">
            <a:solidFill>
              <a:srgbClr val="BE123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774375" y="54864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BE1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💥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548640" y="1965960"/>
            <a:ext cx="11094415" cy="4343400"/>
          </a:xfrm>
          <a:prstGeom prst="roundRect">
            <a:avLst>
              <a:gd name="adj" fmla="val 1895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25400" dir="5400000">
              <a:srgbClr val="0F172A">
                <a:alpha val="14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261208" y="2240280"/>
            <a:ext cx="5669280" cy="685800"/>
          </a:xfrm>
          <a:prstGeom prst="roundRect">
            <a:avLst>
              <a:gd name="adj" fmla="val 933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26968" y="2345436"/>
            <a:ext cx="21488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PVI inofensivo:</a:t>
            </a:r>
            <a:endParaRPr lang="en-US" sz="1900" dirty="0"/>
          </a:p>
        </p:txBody>
      </p:sp>
      <p:pic>
        <p:nvPicPr>
          <p:cNvPr id="10" name="Image 0" descr="C:\Users\SPARTAN PC\AppData\Local\Temp\claude\E--Teaching--claude-worktrees-dns-setup-prod-6069ff\1d827184-58c4-4508-9ffe-382ca45d0551\scratchpad\sesion2_pptx\equations\s8_pvi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58688" y="2395728"/>
            <a:ext cx="2426178" cy="374904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914400" y="3200400"/>
            <a:ext cx="10362895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 solución particular es:</a:t>
            </a:r>
            <a:endParaRPr lang="en-US" sz="1900" dirty="0"/>
          </a:p>
        </p:txBody>
      </p:sp>
      <p:sp>
        <p:nvSpPr>
          <p:cNvPr id="12" name="Shape 9"/>
          <p:cNvSpPr/>
          <p:nvPr/>
        </p:nvSpPr>
        <p:spPr>
          <a:xfrm>
            <a:off x="4632808" y="3657600"/>
            <a:ext cx="2926080" cy="9144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pic>
        <p:nvPicPr>
          <p:cNvPr id="13" name="Image 1" descr="C:\Users\SPARTAN PC\AppData\Local\Temp\claude\E--Teaching--claude-worktrees-dns-setup-prod-6069ff\1d827184-58c4-4508-9ffe-382ca45d0551\scratchpad\sesion2_pptx\equations\s8_her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48698" y="3737610"/>
            <a:ext cx="1894298" cy="75438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914400" y="4800600"/>
            <a:ext cx="10362895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curva desarrolla una asíntota vertical en x = 1: si x fuera el tiempo en horas, la presión llegaría a infinito exactamente a la hora 1.</a:t>
            </a:r>
            <a:endParaRPr lang="en-US" sz="1900" dirty="0"/>
          </a:p>
        </p:txBody>
      </p:sp>
      <p:sp>
        <p:nvSpPr>
          <p:cNvPr id="15" name="Shape 11"/>
          <p:cNvSpPr/>
          <p:nvPr/>
        </p:nvSpPr>
        <p:spPr>
          <a:xfrm>
            <a:off x="914400" y="5623560"/>
            <a:ext cx="10362895" cy="548640"/>
          </a:xfrm>
          <a:prstGeom prst="roundRect">
            <a:avLst>
              <a:gd name="adj" fmla="val 15000"/>
            </a:avLst>
          </a:prstGeom>
          <a:solidFill>
            <a:srgbClr val="FFF1F2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25400" dir="5400000">
              <a:srgbClr val="0F172A">
                <a:alpha val="14000"/>
              </a:srgbClr>
            </a:outerShdw>
          </a:effectLst>
        </p:spPr>
      </p:sp>
      <p:sp>
        <p:nvSpPr>
          <p:cNvPr id="16" name="Text 12"/>
          <p:cNvSpPr/>
          <p:nvPr/>
        </p:nvSpPr>
        <p:spPr>
          <a:xfrm>
            <a:off x="1188720" y="5623560"/>
            <a:ext cx="981425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800" b="1" dirty="0">
                <a:solidFill>
                  <a:srgbClr val="BE1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intervalo de definición máximo es (-∞, 1). </a:t>
            </a:r>
            <a:endParaRPr lang="en-US" sz="1800" dirty="0"/>
          </a:p>
        </p:txBody>
      </p:sp>
      <p:sp>
        <p:nvSpPr>
          <p:cNvPr id="17" name="Text 13"/>
          <p:cNvSpPr/>
          <p:nvPr/>
        </p:nvSpPr>
        <p:spPr>
          <a:xfrm>
            <a:off x="11277295" y="649224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098280" y="4617720"/>
            <a:ext cx="4114800" cy="4114800"/>
          </a:xfrm>
          <a:prstGeom prst="ellipse">
            <a:avLst/>
          </a:prstGeom>
          <a:solidFill>
            <a:srgbClr val="6D28D9">
              <a:alpha val="4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365760"/>
            <a:ext cx="2103120" cy="457200"/>
          </a:xfrm>
          <a:prstGeom prst="roundRect">
            <a:avLst>
              <a:gd name="adj" fmla="val 50000"/>
            </a:avLst>
          </a:prstGeom>
          <a:solidFill>
            <a:srgbClr val="6D28D9">
              <a:alpha val="18000"/>
            </a:srgbClr>
          </a:solidFill>
          <a:ln w="9525">
            <a:solidFill>
              <a:srgbClr val="6D28D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36576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spc="100" kern="0" dirty="0">
                <a:solidFill>
                  <a:srgbClr val="6D2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CONCLUSIÓN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548640" y="960120"/>
            <a:ext cx="1109441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Resumen de la Sesión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548640" y="1783080"/>
            <a:ext cx="5318608" cy="2880360"/>
          </a:xfrm>
          <a:prstGeom prst="roundRect">
            <a:avLst>
              <a:gd name="adj" fmla="val 2857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25400" dir="5400000">
              <a:srgbClr val="0F172A">
                <a:alpha val="14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73604" y="2034540"/>
            <a:ext cx="868680" cy="868680"/>
          </a:xfrm>
          <a:prstGeom prst="ellipse">
            <a:avLst/>
          </a:prstGeom>
          <a:solidFill>
            <a:srgbClr val="0E7490">
              <a:alpha val="22000"/>
            </a:srgbClr>
          </a:solidFill>
          <a:ln w="15875">
            <a:solidFill>
              <a:srgbClr val="0E749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73604" y="2034540"/>
            <a:ext cx="8686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822960" y="3017520"/>
            <a:ext cx="476996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Poder del PVI</a:t>
            </a:r>
            <a:endParaRPr lang="en-US" sz="1900" dirty="0"/>
          </a:p>
        </p:txBody>
      </p:sp>
      <p:sp>
        <p:nvSpPr>
          <p:cNvPr id="10" name="Text 8"/>
          <p:cNvSpPr/>
          <p:nvPr/>
        </p:nvSpPr>
        <p:spPr>
          <a:xfrm>
            <a:off x="914400" y="3474720"/>
            <a:ext cx="4587088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condiciones iniciales anclan lo posible a una sola realidad física.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6324448" y="1783080"/>
            <a:ext cx="5318608" cy="2880360"/>
          </a:xfrm>
          <a:prstGeom prst="roundRect">
            <a:avLst>
              <a:gd name="adj" fmla="val 2857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25400" dir="5400000">
              <a:srgbClr val="0F172A">
                <a:alpha val="14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8549411" y="2034540"/>
            <a:ext cx="868680" cy="868680"/>
          </a:xfrm>
          <a:prstGeom prst="ellipse">
            <a:avLst/>
          </a:prstGeom>
          <a:solidFill>
            <a:srgbClr val="047857">
              <a:alpha val="22000"/>
            </a:srgbClr>
          </a:solidFill>
          <a:ln w="15875">
            <a:solidFill>
              <a:srgbClr val="04785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549411" y="2034540"/>
            <a:ext cx="8686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47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⚖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6598768" y="3017520"/>
            <a:ext cx="476996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Rigor del Analista</a:t>
            </a:r>
            <a:endParaRPr lang="en-US" sz="1900" dirty="0"/>
          </a:p>
        </p:txBody>
      </p:sp>
      <p:sp>
        <p:nvSpPr>
          <p:cNvPr id="15" name="Text 13"/>
          <p:cNvSpPr/>
          <p:nvPr/>
        </p:nvSpPr>
        <p:spPr>
          <a:xfrm>
            <a:off x="6690208" y="3474720"/>
            <a:ext cx="4587088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Verificar que f(x,y) y su derivada sean continuas es obligatorio antes de predecir el modelo.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548640" y="4892040"/>
            <a:ext cx="11094415" cy="1417320"/>
          </a:xfrm>
          <a:prstGeom prst="roundRect">
            <a:avLst>
              <a:gd name="adj" fmla="val 5806"/>
            </a:avLst>
          </a:prstGeom>
          <a:solidFill>
            <a:srgbClr val="F5F3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25400" dir="5400000">
              <a:srgbClr val="0F172A">
                <a:alpha val="14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914400" y="5047488"/>
            <a:ext cx="10362895" cy="1143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900" b="1" dirty="0">
                <a:solidFill>
                  <a:srgbClr val="6D2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💼 Próximo paso de las Firmas:  </a:t>
            </a:r>
            <a:pPr algn="l" indent="0" marL="0">
              <a:lnSpc>
                <a:spcPct val="120000"/>
              </a:lnSpc>
              <a:buNone/>
            </a:pPr>
            <a:r>
              <a:rPr lang="en-US" sz="1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aprenderemos las técnicas algebraicas exactas para encontrar esas familias de soluciones a partir de la EDO: Separación de Variables y Ecuaciones Exactas.</a:t>
            </a:r>
            <a:endParaRPr lang="en-US" sz="1900" dirty="0"/>
          </a:p>
        </p:txBody>
      </p:sp>
      <p:sp>
        <p:nvSpPr>
          <p:cNvPr id="18" name="Text 16"/>
          <p:cNvSpPr/>
          <p:nvPr/>
        </p:nvSpPr>
        <p:spPr>
          <a:xfrm>
            <a:off x="11277295" y="649224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Sesión 2 - Problemas de Valores Iniciales</dc:title>
  <dc:subject>PptxGenJS Presentation</dc:subject>
  <dc:creator>Cálculo III</dc:creator>
  <cp:lastModifiedBy>Cálculo III</cp:lastModifiedBy>
  <cp:revision>1</cp:revision>
  <dcterms:created xsi:type="dcterms:W3CDTF">2026-08-13T03:36:58Z</dcterms:created>
  <dcterms:modified xsi:type="dcterms:W3CDTF">2026-08-13T03:36:58Z</dcterms:modified>
</cp:coreProperties>
</file>