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78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39226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50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3.png"/><Relationship Id="rId5" Type="http://schemas.openxmlformats.org/officeDocument/2006/relationships/image" Target="../media/image52.png"/><Relationship Id="rId4" Type="http://schemas.openxmlformats.org/officeDocument/2006/relationships/image" Target="../media/image51.png"/><Relationship Id="rId9" Type="http://schemas.openxmlformats.org/officeDocument/2006/relationships/image" Target="../media/image5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92440" y="-2331720"/>
            <a:ext cx="5029200" cy="5029200"/>
          </a:xfrm>
          <a:prstGeom prst="ellipse">
            <a:avLst/>
          </a:prstGeom>
          <a:solidFill>
            <a:srgbClr val="0E7490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-1691640" y="4617720"/>
            <a:ext cx="4114800" cy="4114800"/>
          </a:xfrm>
          <a:prstGeom prst="ellipse">
            <a:avLst/>
          </a:prstGeom>
          <a:solidFill>
            <a:srgbClr val="04785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Shape 2"/>
          <p:cNvSpPr/>
          <p:nvPr/>
        </p:nvSpPr>
        <p:spPr>
          <a:xfrm>
            <a:off x="4206240" y="1051560"/>
            <a:ext cx="3749040" cy="384048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5" name="Text 3"/>
          <p:cNvSpPr/>
          <p:nvPr/>
        </p:nvSpPr>
        <p:spPr>
          <a:xfrm>
            <a:off x="4206240" y="1051560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 •  SESIÓN 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1072591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Ecuaciones Diferenciales Separables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31520" y="2697480"/>
            <a:ext cx="107259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9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arte de separar lo que depende de x de lo que depende de y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1435608" y="3429000"/>
            <a:ext cx="9326880" cy="2926080"/>
          </a:xfrm>
          <a:prstGeom prst="roundRect">
            <a:avLst>
              <a:gd name="adj" fmla="val 3125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9" name="Text 7"/>
          <p:cNvSpPr/>
          <p:nvPr/>
        </p:nvSpPr>
        <p:spPr>
          <a:xfrm>
            <a:off x="1892808" y="365760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Sesión 2 aprendimos a anclar una familia de soluciones a una curva única mediante un PVI. Hoy damos el primer paso algebraico real: aprenderemos la primera técnica para construir esa familia de soluciones desde cero.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108960" y="4754880"/>
            <a:ext cx="594360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3108960" y="4754880"/>
                <a:ext cx="5943600" cy="137160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40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08960" y="4754880"/>
                <a:ext cx="5943600" cy="13716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880360" cy="384048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2880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TÉCNICAS DE 1ER ORDEN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una Ecuación Separable?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cambio se factoriza en dos mundos independientes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11091672" cy="1965960"/>
          </a:xfrm>
          <a:prstGeom prst="roundRect">
            <a:avLst>
              <a:gd name="adj" fmla="val 465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868680" y="2240280"/>
                <a:ext cx="1042416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5000"/>
                  </a:lnSpc>
                  <a:buNone/>
                  <a:defRPr sz="1450">
                    <a:solidFill>
                      <a:srgbClr val="334155"/>
                    </a:solidFill>
                  </a:defRPr>
                </a:pPr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Una ED de primer orden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es separable si su lado derecho puede factorizarse como el producto de una función que depende solo de x por una función que depende solo de y. Dividiendo entre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)≠0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las variables quedan literalmente separadas a cada lado del signo igual:</a:t>
                </a:r>
                <a:endParaRPr lang="en-US" sz="145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240280"/>
                <a:ext cx="10424160" cy="868680"/>
              </a:xfrm>
              <a:prstGeom prst="rect">
                <a:avLst/>
              </a:prstGeom>
              <a:blipFill>
                <a:blip r:embed="rId3"/>
                <a:stretch>
                  <a:fillRect l="-234" b="-11268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1371600" y="3154680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1371600" y="3154680"/>
                <a:ext cx="4206240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600">
                    <a:solidFill>
                      <a:srgbClr val="0F172A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3154680"/>
                <a:ext cx="4206240" cy="7772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6583680" y="3154680"/>
            <a:ext cx="42062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6583680" y="3154680"/>
                <a:ext cx="4206240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6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3154680"/>
                <a:ext cx="4206240" cy="777240"/>
              </a:xfrm>
              <a:prstGeom prst="rect">
                <a:avLst/>
              </a:prstGeom>
              <a:blipFill>
                <a:blip r:embed="rId5"/>
                <a:stretch>
                  <a:fillRect b="-3150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548640" y="43434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Shape 11"/>
          <p:cNvSpPr/>
          <p:nvPr/>
        </p:nvSpPr>
        <p:spPr>
          <a:xfrm>
            <a:off x="777240" y="45445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4" name="Text 12"/>
          <p:cNvSpPr/>
          <p:nvPr/>
        </p:nvSpPr>
        <p:spPr>
          <a:xfrm>
            <a:off x="777240" y="4544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45445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es separable</a:t>
            </a:r>
            <a:endParaRPr lang="en-US" sz="18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 14"/>
              <p:cNvSpPr/>
              <p:nvPr/>
            </p:nvSpPr>
            <p:spPr>
              <a:xfrm>
                <a:off x="777240" y="4896352"/>
                <a:ext cx="489204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065F46"/>
                    </a:solidFill>
                  </a:defRPr>
                </a:pPr>
                <a14:m>
                  <m:oMath xmlns:m="http://schemas.openxmlformats.org/officeDocument/2006/math"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)=−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 </m:t>
                    </m:r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endParaRPr lang="en-US" sz="1250" dirty="0"/>
              </a:p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065F46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, </m:t>
                    </m:r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)=1</m:t>
                    </m:r>
                  </m:oMath>
                </a14:m>
                <a:endParaRPr lang="en-US" sz="1250" dirty="0"/>
              </a:p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065F46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(1+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−</m:t>
                    </m:r>
                    <m:r>
                      <a:rPr>
                        <a:latin typeface="Cambria Math" panose="02040503050406030204" pitchFamily="18" charset="0"/>
                      </a:rPr>
                      <m:t>𝑦𝑑𝑥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ya en forma diferencial</a:t>
                </a:r>
                <a:endParaRPr lang="en-US" sz="1250" dirty="0"/>
              </a:p>
            </p:txBody>
          </p:sp>
        </mc:Choice>
        <mc:Fallback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240" y="4896352"/>
                <a:ext cx="4892040" cy="1051560"/>
              </a:xfrm>
              <a:prstGeom prst="rect">
                <a:avLst/>
              </a:prstGeom>
              <a:blipFill>
                <a:blip r:embed="rId6"/>
                <a:stretch>
                  <a:fillRect b="-31792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6291072" y="4343400"/>
            <a:ext cx="5349240" cy="1965960"/>
          </a:xfrm>
          <a:prstGeom prst="roundRect">
            <a:avLst>
              <a:gd name="adj" fmla="val 4651"/>
            </a:avLst>
          </a:prstGeom>
          <a:solidFill>
            <a:srgbClr val="FFE4E6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8" name="Shape 16"/>
          <p:cNvSpPr/>
          <p:nvPr/>
        </p:nvSpPr>
        <p:spPr>
          <a:xfrm>
            <a:off x="6519672" y="4544568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6519672" y="4544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✖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114032" y="45445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separable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/>
              <p:nvPr/>
            </p:nvSpPr>
            <p:spPr>
              <a:xfrm>
                <a:off x="6519672" y="5120640"/>
                <a:ext cx="489204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9F1239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250" dirty="0">
                    <a:solidFill>
                      <a:srgbClr val="9F123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la suma no se factoriza</a:t>
                </a:r>
                <a:endParaRPr lang="en-US" sz="1250" dirty="0"/>
              </a:p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9F1239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𝑥𝑦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250" dirty="0">
                    <a:solidFill>
                      <a:srgbClr val="9F123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¡cuidado! sí lo es: 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+1)</m:t>
                    </m:r>
                  </m:oMath>
                </a14:m>
                <a:endParaRPr lang="en-US" sz="1250" dirty="0"/>
              </a:p>
              <a:p>
                <a:pPr marL="0" indent="0">
                  <a:lnSpc>
                    <a:spcPct val="160000"/>
                  </a:lnSpc>
                  <a:spcAft>
                    <a:spcPts val="600"/>
                  </a:spcAft>
                  <a:buNone/>
                  <a:defRPr sz="1250">
                    <a:solidFill>
                      <a:srgbClr val="9F1239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sin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50" dirty="0">
                    <a:solidFill>
                      <a:srgbClr val="9F123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→   el argumento mezcla x y y</a:t>
                </a:r>
                <a:endParaRPr lang="en-US" sz="1250" dirty="0"/>
              </a:p>
            </p:txBody>
          </p:sp>
        </mc:Choice>
        <mc:Fallback xmlns="">
          <p:sp>
            <p:nvSpPr>
              <p:cNvPr id="21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9672" y="5120640"/>
                <a:ext cx="4892040" cy="1051560"/>
              </a:xfrm>
              <a:prstGeom prst="rect">
                <a:avLst/>
              </a:prstGeom>
              <a:blipFill>
                <a:blip r:embed="rId7"/>
                <a:stretch>
                  <a:fillRect b="-11561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Text 20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46888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24688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SOLUCIÓN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General: 4 Pasos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ecuación diferencial a la familia de soluciones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1488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749808" y="2331720"/>
            <a:ext cx="502920" cy="502920"/>
          </a:xfrm>
          <a:prstGeom prst="ellipse">
            <a:avLst/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749808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49808" y="29260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749808" y="3246120"/>
                <a:ext cx="2240280" cy="594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050">
                    <a:solidFill>
                      <a:srgbClr val="475569"/>
                    </a:solidFill>
                  </a:defRPr>
                </a:pPr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Reescribe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como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cuidando que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)≠0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1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08" y="3246120"/>
                <a:ext cx="2240280" cy="594360"/>
              </a:xfrm>
              <a:prstGeom prst="rect">
                <a:avLst/>
              </a:prstGeom>
              <a:blipFill>
                <a:blip r:embed="rId3"/>
                <a:stretch>
                  <a:fillRect b="-21649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3328416" y="21488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Shape 10"/>
          <p:cNvSpPr/>
          <p:nvPr/>
        </p:nvSpPr>
        <p:spPr>
          <a:xfrm>
            <a:off x="3529584" y="2331720"/>
            <a:ext cx="502920" cy="50292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3529584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529584" y="29260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/>
              <p:nvPr/>
            </p:nvSpPr>
            <p:spPr>
              <a:xfrm>
                <a:off x="3529584" y="3246120"/>
                <a:ext cx="2240280" cy="594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050">
                    <a:solidFill>
                      <a:srgbClr val="475569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>
                            <a:latin typeface="Cambria Math" panose="02040503050406030204" pitchFamily="18" charset="0"/>
                          </a:rPr>
                          <m:t>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)</m:t>
                        </m:r>
                      </m:den>
                    </m:f>
                    <m:r>
                      <a:rPr>
                        <a:latin typeface="Cambria Math" panose="02040503050406030204" pitchFamily="18" charset="0"/>
                      </a:rPr>
                      <m:t>=∫</m:t>
                    </m:r>
                    <m:r>
                      <a:rPr>
                        <a:latin typeface="Cambria Math" panose="02040503050406030204" pitchFamily="18" charset="0"/>
                      </a:rPr>
                      <m:t>𝑔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</m:t>
                    </m:r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Una sola constante: las dos se combinan.</a:t>
                </a:r>
                <a:endParaRPr lang="en-US" sz="1100" dirty="0"/>
              </a:p>
            </p:txBody>
          </p:sp>
        </mc:Choice>
        <mc:Fallback xmlns="">
          <p:sp>
            <p:nvSpPr>
              <p:cNvPr id="15" name="Text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9584" y="3246120"/>
                <a:ext cx="2240280" cy="594360"/>
              </a:xfrm>
              <a:prstGeom prst="rect">
                <a:avLst/>
              </a:prstGeom>
              <a:blipFill>
                <a:blip r:embed="rId4"/>
                <a:stretch>
                  <a:fillRect b="-4124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6108192" y="21488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6309360" y="2331720"/>
            <a:ext cx="502920" cy="50292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6309360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309360" y="29260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Despejar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/>
              <p:nvPr/>
            </p:nvSpPr>
            <p:spPr>
              <a:xfrm>
                <a:off x="6309360" y="3246120"/>
                <a:ext cx="2240280" cy="594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050">
                    <a:solidFill>
                      <a:srgbClr val="475569"/>
                    </a:solidFill>
                  </a:defRPr>
                </a:pPr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 es posible, resuelve para y (solución explícita); si no, deja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𝐺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r>
                      <a:rPr>
                        <a:latin typeface="Cambria Math" panose="02040503050406030204" pitchFamily="18" charset="0"/>
                      </a:rPr>
                      <m:t>𝐻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)+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(implícita).</a:t>
                </a:r>
                <a:endParaRPr lang="en-US" sz="1100" dirty="0"/>
              </a:p>
            </p:txBody>
          </p:sp>
        </mc:Choice>
        <mc:Fallback xmlns="">
          <p:sp>
            <p:nvSpPr>
              <p:cNvPr id="20" name="Tex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9360" y="3246120"/>
                <a:ext cx="2240280" cy="594360"/>
              </a:xfrm>
              <a:prstGeom prst="rect">
                <a:avLst/>
              </a:prstGeom>
              <a:blipFill>
                <a:blip r:embed="rId5"/>
                <a:stretch>
                  <a:fillRect b="-21649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Shape 19"/>
          <p:cNvSpPr/>
          <p:nvPr/>
        </p:nvSpPr>
        <p:spPr>
          <a:xfrm>
            <a:off x="8887968" y="2148840"/>
            <a:ext cx="2606040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22" name="Shape 20"/>
          <p:cNvSpPr/>
          <p:nvPr/>
        </p:nvSpPr>
        <p:spPr>
          <a:xfrm>
            <a:off x="9089136" y="2331720"/>
            <a:ext cx="502920" cy="502920"/>
          </a:xfrm>
          <a:prstGeom prst="ellipse">
            <a:avLst/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3" name="Text 21"/>
          <p:cNvSpPr/>
          <p:nvPr/>
        </p:nvSpPr>
        <p:spPr>
          <a:xfrm>
            <a:off x="9089136" y="2331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089136" y="2926080"/>
            <a:ext cx="2240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3"/>
              <p:cNvSpPr/>
              <p:nvPr/>
            </p:nvSpPr>
            <p:spPr>
              <a:xfrm>
                <a:off x="9089136" y="3246120"/>
                <a:ext cx="2240280" cy="5943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050">
                    <a:solidFill>
                      <a:srgbClr val="475569"/>
                    </a:solidFill>
                  </a:defRPr>
                </a:pPr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Revisa las raíces de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sz="110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(soluciones perdidas) y, si hay PVI, evalúa C y el intervalo I.</a:t>
                </a:r>
                <a:endParaRPr lang="en-US" sz="1100" dirty="0"/>
              </a:p>
            </p:txBody>
          </p:sp>
        </mc:Choice>
        <mc:Fallback xmlns="">
          <p:sp>
            <p:nvSpPr>
              <p:cNvPr id="25" name="Text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89136" y="3246120"/>
                <a:ext cx="2240280" cy="594360"/>
              </a:xfrm>
              <a:prstGeom prst="rect">
                <a:avLst/>
              </a:prstGeom>
              <a:blipFill>
                <a:blip r:embed="rId6"/>
                <a:stretch>
                  <a:fillRect b="-21649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hape 24"/>
          <p:cNvSpPr/>
          <p:nvPr/>
        </p:nvSpPr>
        <p:spPr>
          <a:xfrm>
            <a:off x="548640" y="420624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/>
              <p:cNvSpPr/>
              <p:nvPr/>
            </p:nvSpPr>
            <p:spPr>
              <a:xfrm>
                <a:off x="548640" y="4206240"/>
                <a:ext cx="5394960" cy="12344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0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27" name="Text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206240"/>
                <a:ext cx="5394960" cy="12344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6245352" y="4206240"/>
            <a:ext cx="53949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27"/>
              <p:cNvSpPr/>
              <p:nvPr/>
            </p:nvSpPr>
            <p:spPr>
              <a:xfrm>
                <a:off x="6245352" y="4206240"/>
                <a:ext cx="5394960" cy="12344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6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∫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ℎ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=∫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29" name="Text 2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5352" y="4206240"/>
                <a:ext cx="5394960" cy="123444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hape 28"/>
          <p:cNvSpPr/>
          <p:nvPr/>
        </p:nvSpPr>
        <p:spPr>
          <a:xfrm>
            <a:off x="548640" y="5623560"/>
            <a:ext cx="11091672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1" name="Text 29"/>
          <p:cNvSpPr/>
          <p:nvPr/>
        </p:nvSpPr>
        <p:spPr>
          <a:xfrm>
            <a:off x="822960" y="5623560"/>
            <a:ext cx="105430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 Ojo de Analista:  </a:t>
            </a:r>
            <a:r>
              <a:rPr lang="en-US" sz="13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Dividir entre h(y) puede esconder soluciones constantes donde h(y)=0. Siempre revísalas por separado — lo veremos con lupa en el Ejemplo 4.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600">
                    <a:solidFill>
                      <a:srgbClr val="B45309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𝑦𝑑𝑥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la solución general por separación de variables.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737360" cy="384048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Separación Directa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700">
                    <a:solidFill>
                      <a:srgbClr val="B45309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𝑦𝑑𝑥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b="-8333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19456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y reacomodar: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868680" y="292608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𝑦𝑑𝑥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26080"/>
                <a:ext cx="4754880" cy="4114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868680" y="3383280"/>
            <a:ext cx="42062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868680" y="3383280"/>
                <a:ext cx="4206240" cy="10058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B45309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383280"/>
                <a:ext cx="4206240" cy="100584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 9"/>
          <p:cNvSpPr/>
          <p:nvPr/>
        </p:nvSpPr>
        <p:spPr>
          <a:xfrm>
            <a:off x="868680" y="443484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(y ≠ 0, x ≠ −1)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48920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Integrar: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868680" y="5303520"/>
                <a:ext cx="475488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>
                          <a:latin typeface="Cambria Math" panose="02040503050406030204" pitchFamily="18" charset="0"/>
                        </a:rPr>
                        <m:t>|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|=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>
                          <a:latin typeface="Cambria Math" panose="02040503050406030204" pitchFamily="18" charset="0"/>
                        </a:rPr>
                        <m:t>|1+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|+</m:t>
                      </m:r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5303520"/>
                <a:ext cx="4754880" cy="4572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6291072" y="219456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EF3C7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6611112" y="2468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Exponenciar y </a:t>
            </a:r>
            <a:r>
              <a:rPr lang="en-US" sz="1500" b="1" dirty="0" err="1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renombrar</a:t>
            </a: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constante: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2971800"/>
            <a:ext cx="47091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FDE68A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6611112" y="2971800"/>
                <a:ext cx="470916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000">
                    <a:solidFill>
                      <a:srgbClr val="B45309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17" name="Tex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112" y="2971800"/>
                <a:ext cx="4709160" cy="10972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16"/>
          <p:cNvSpPr/>
          <p:nvPr/>
        </p:nvSpPr>
        <p:spPr>
          <a:xfrm>
            <a:off x="6611112" y="4251960"/>
            <a:ext cx="4709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C=0 recupera la solución trivial y=0 perdida al dividir. Geométricamente: una familia de rectas que giran alrededor del punto fijo (−1, 0).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200">
                    <a:solidFill>
                      <a:srgbClr val="6D28D9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(4)=−3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la solución explícita del PVI y determina la región R de validez.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87452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8745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PVI con Solución Explícita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700">
                    <a:solidFill>
                      <a:srgbClr val="6D28D9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(4)=−3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b="-58333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19456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e integrar: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868680" y="2926080"/>
                <a:ext cx="475488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𝑦𝑑𝑦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𝑥𝑑𝑥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26080"/>
                <a:ext cx="4754880" cy="3657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868680" y="3337560"/>
            <a:ext cx="4206240" cy="9601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868680" y="3337560"/>
                <a:ext cx="420624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6D28D9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337560"/>
                <a:ext cx="4206240" cy="9601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868680" y="4434840"/>
                <a:ext cx="484632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300">
                    <a:solidFill>
                      <a:srgbClr val="475569"/>
                    </a:solidFill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300" i="1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(familia de circunferencias centradas en el origen)</a:t>
                </a:r>
                <a:endParaRPr lang="en-US" sz="13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34840"/>
                <a:ext cx="4846320" cy="5486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6291072" y="2194560"/>
            <a:ext cx="5349240" cy="3749040"/>
          </a:xfrm>
          <a:prstGeom prst="roundRect">
            <a:avLst>
              <a:gd name="adj" fmla="val 2439"/>
            </a:avLst>
          </a:prstGeom>
          <a:solidFill>
            <a:srgbClr val="EDE9FE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6611112" y="2468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PVI (4, −3):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6611112" y="292608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5B21B6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4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+(−3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=16+9=25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112" y="2926080"/>
                <a:ext cx="4754880" cy="4114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 13"/>
          <p:cNvSpPr/>
          <p:nvPr/>
        </p:nvSpPr>
        <p:spPr>
          <a:xfrm>
            <a:off x="6611112" y="34747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implícita del PVI: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3886200"/>
            <a:ext cx="470916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DD6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6611112" y="3886200"/>
                <a:ext cx="4709160" cy="10972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000">
                    <a:solidFill>
                      <a:srgbClr val="6D28D9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=25</m:t>
                      </m:r>
                    </m:oMath>
                  </m:oMathPara>
                </a14:m>
                <a:endParaRPr lang="en-US" sz="3000" dirty="0"/>
              </a:p>
            </p:txBody>
          </p:sp>
        </mc:Choice>
        <mc:Fallback xmlns="">
          <p:sp>
            <p:nvSpPr>
              <p:cNvPr id="17" name="Tex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112" y="3886200"/>
                <a:ext cx="4709160" cy="10972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16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32004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2 · CONTINUACIÓN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Explícita y Región de Validez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4434840"/>
          </a:xfrm>
          <a:prstGeom prst="roundRect">
            <a:avLst>
              <a:gd name="adj" fmla="val 206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868680" y="1828800"/>
                <a:ext cx="10424160" cy="6858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30000"/>
                  </a:lnSpc>
                  <a:buNone/>
                  <a:defRPr sz="1450">
                    <a:solidFill>
                      <a:srgbClr val="334155"/>
                    </a:solidFill>
                  </a:defRPr>
                </a:pPr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La circunferencia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da dos ramas posibles: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=±</m:t>
                    </m:r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25−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Como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(4)=−3&lt;0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la condición inicial nos obliga a elegir la rama negativa:</a:t>
                </a:r>
                <a:endParaRPr lang="en-US" sz="145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828800"/>
                <a:ext cx="10424160" cy="685800"/>
              </a:xfrm>
              <a:prstGeom prst="rect">
                <a:avLst/>
              </a:prstGeom>
              <a:blipFill>
                <a:blip r:embed="rId3"/>
                <a:stretch>
                  <a:fillRect l="-234" b="-8850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4023360" y="2514600"/>
            <a:ext cx="411480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4023360" y="2514600"/>
                <a:ext cx="41148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600">
                    <a:solidFill>
                      <a:srgbClr val="6D28D9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=−</m:t>
                      </m:r>
                      <m:rad>
                        <m:radPr>
                          <m:degHide m:val="on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25−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23360" y="2514600"/>
                <a:ext cx="4114800" cy="8686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868680" y="3611880"/>
                <a:ext cx="10424160" cy="11430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30000"/>
                  </a:lnSpc>
                  <a:buNone/>
                  <a:defRPr sz="1450">
                    <a:solidFill>
                      <a:srgbClr val="334155"/>
                    </a:solidFill>
                  </a:defRPr>
                </a:pPr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Aquí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)=−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𝜕</m:t>
                    </m:r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𝜕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son continuas siempre que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≠0</m:t>
                    </m:r>
                  </m:oMath>
                </a14:m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Eso define la región R: el semiplano inferior {(x,y): y&lt;0}, donde el Teorema de Existencia y Unicidad (Sesión 2) garantiza que nuestra curva es la única solución.</a:t>
                </a:r>
                <a:endParaRPr lang="en-US" sz="145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611880"/>
                <a:ext cx="10424160" cy="1143000"/>
              </a:xfrm>
              <a:prstGeom prst="rect">
                <a:avLst/>
              </a:prstGeom>
              <a:blipFill>
                <a:blip r:embed="rId5"/>
                <a:stretch>
                  <a:fillRect l="-234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868680" y="4892040"/>
            <a:ext cx="10424160" cy="960120"/>
          </a:xfrm>
          <a:prstGeom prst="roundRect">
            <a:avLst>
              <a:gd name="adj" fmla="val 7619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1143000" y="4892040"/>
                <a:ext cx="987552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  <a:defRPr sz="1450">
                    <a:solidFill>
                      <a:srgbClr val="5B21B6"/>
                    </a:solidFill>
                  </a:defRPr>
                </a:pPr>
                <a:r>
                  <a:rPr lang="en-US" sz="1450" b="1" dirty="0">
                    <a:solidFill>
                      <a:srgbClr val="5B21B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En x = ±5 tenemos y = 0: </a:t>
                </a:r>
                <a:r>
                  <a:rPr lang="en-US" sz="1450" dirty="0">
                    <a:solidFill>
                      <a:srgbClr val="5B21B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ahí la tangente es vertical y la ecuación original se indefine. Por eso el intervalo de definición es el intervalo </a:t>
                </a:r>
                <a:r>
                  <a:rPr lang="en-US" sz="1450" b="1" dirty="0">
                    <a:solidFill>
                      <a:srgbClr val="5B21B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abierto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𝐼</m:t>
                    </m:r>
                    <m:r>
                      <a:rPr>
                        <a:latin typeface="Cambria Math" panose="02040503050406030204" pitchFamily="18" charset="0"/>
                      </a:rPr>
                      <m:t>=(−5, 5)</m:t>
                    </m:r>
                  </m:oMath>
                </a14:m>
                <a:r>
                  <a:rPr lang="en-US" sz="1450" dirty="0">
                    <a:solidFill>
                      <a:srgbClr val="5B21B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no el intervalo cerrado.</a:t>
                </a:r>
                <a:endParaRPr lang="en-US" sz="145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3000" y="4892040"/>
                <a:ext cx="9875520" cy="960120"/>
              </a:xfrm>
              <a:prstGeom prst="rect">
                <a:avLst/>
              </a:prstGeom>
              <a:blipFill>
                <a:blip r:embed="rId6"/>
                <a:stretch>
                  <a:fillRect l="-247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6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=1+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(0)=0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la solución del PVI y su intervalo de definición.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CFFA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Intervalo de Validez es Finito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7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=1+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(0)=0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b="-8333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1945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868680" y="2423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Separar, integrar y aplicar el PVI: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68680" y="2880360"/>
            <a:ext cx="3566160" cy="868680"/>
          </a:xfrm>
          <a:prstGeom prst="roundRect">
            <a:avLst>
              <a:gd name="adj" fmla="val 7368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868680" y="2880360"/>
                <a:ext cx="356616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2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880360"/>
                <a:ext cx="3566160" cy="8686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/>
              <p:nvPr/>
            </p:nvSpPr>
            <p:spPr>
              <a:xfrm>
                <a:off x="868680" y="3886200"/>
                <a:ext cx="4846320" cy="4572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35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arctan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>
                          <a:latin typeface="Cambria Math" panose="02040503050406030204" pitchFamily="18" charset="0"/>
                        </a:rPr>
                        <m:t>⇒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arctan</m:t>
                      </m:r>
                      <m:r>
                        <a:rPr>
                          <a:latin typeface="Cambria Math" panose="02040503050406030204" pitchFamily="18" charset="0"/>
                        </a:rPr>
                        <m:t>(0)=0⇒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350" dirty="0"/>
              </a:p>
            </p:txBody>
          </p:sp>
        </mc:Choice>
        <mc:Fallback xmlns="">
          <p:sp>
            <p:nvSpPr>
              <p:cNvPr id="10" name="Text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86200"/>
                <a:ext cx="4846320" cy="45720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6291072" y="2194560"/>
            <a:ext cx="5349240" cy="2286000"/>
          </a:xfrm>
          <a:prstGeom prst="roundRect">
            <a:avLst>
              <a:gd name="adj" fmla="val 4000"/>
            </a:avLst>
          </a:prstGeom>
          <a:solidFill>
            <a:srgbClr val="CFFAFE"/>
          </a:solidFill>
          <a:ln w="12700">
            <a:solidFill>
              <a:srgbClr val="A5F3F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2" name="Text 10"/>
          <p:cNvSpPr/>
          <p:nvPr/>
        </p:nvSpPr>
        <p:spPr>
          <a:xfrm>
            <a:off x="6611112" y="242316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55E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del PVI: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159752" y="2926080"/>
            <a:ext cx="365760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A5F3FC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7159752" y="2926080"/>
                <a:ext cx="3657600" cy="11887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200">
                    <a:solidFill>
                      <a:srgbClr val="0E749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tan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9752" y="2926080"/>
                <a:ext cx="3657600" cy="11887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548640" y="4709160"/>
            <a:ext cx="11091672" cy="1691640"/>
          </a:xfrm>
          <a:prstGeom prst="roundRect">
            <a:avLst>
              <a:gd name="adj" fmla="val 4865"/>
            </a:avLst>
          </a:prstGeom>
          <a:solidFill>
            <a:srgbClr val="FEF3C7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6" name="Text 14"/>
          <p:cNvSpPr/>
          <p:nvPr/>
        </p:nvSpPr>
        <p:spPr>
          <a:xfrm>
            <a:off x="868680" y="48920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Moraleja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868680" y="5257800"/>
                <a:ext cx="6766560" cy="10058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5000"/>
                  </a:lnSpc>
                  <a:buNone/>
                  <a:defRPr sz="1350">
                    <a:solidFill>
                      <a:srgbClr val="78350F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)=1+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350" dirty="0">
                    <a:solidFill>
                      <a:srgbClr val="78350F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es suave y continua en TODO ℝ², sin ninguna singularidad visible. Y sin embargo, el intervalo de definición de la solución es finito:</a:t>
                </a:r>
                <a:endParaRPr lang="en-US" sz="1350" dirty="0"/>
              </a:p>
            </p:txBody>
          </p:sp>
        </mc:Choice>
        <mc:Fallback xmlns="">
          <p:sp>
            <p:nvSpPr>
              <p:cNvPr id="17" name="Tex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5257800"/>
                <a:ext cx="6766560" cy="1005840"/>
              </a:xfrm>
              <a:prstGeom prst="rect">
                <a:avLst/>
              </a:prstGeom>
              <a:blipFill>
                <a:blip r:embed="rId7"/>
                <a:stretch>
                  <a:fillRect l="-270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/>
              <p:nvPr/>
            </p:nvSpPr>
            <p:spPr>
              <a:xfrm>
                <a:off x="7818120" y="5074920"/>
                <a:ext cx="356616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B45309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>
                              <a:latin typeface="Cambria Math" panose="02040503050406030204" pitchFamily="18" charset="0"/>
                            </a:rPr>
                            <m:t>, </m:t>
                          </m:r>
                          <m:f>
                            <m:f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8" name="Text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8120" y="5074920"/>
                <a:ext cx="3566160" cy="105156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 1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4000">
                    <a:solidFill>
                      <a:srgbClr val="BE123C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−4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Resuélvela de dos formas: factorizando el lado derecho primero, y sin factorizar. ¿Obtienes la misma respuesta completa?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Peligro de No Factorizar Primero</a:t>
            </a:r>
            <a:endParaRPr lang="en-US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700">
                    <a:solidFill>
                      <a:srgbClr val="BE123C"/>
                    </a:solidFill>
                  </a:defRPr>
                </a:pP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en-US" sz="1700" dirty="0">
                    <a:solidFill>
                      <a:srgbClr val="BE123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—  dos caminos, ¿la misma respuesta completa?</a:t>
                </a:r>
                <a:endParaRPr lang="en-US" sz="17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50876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t="-6667" b="-16667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19456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FFE4E6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Shape 5"/>
          <p:cNvSpPr/>
          <p:nvPr/>
        </p:nvSpPr>
        <p:spPr>
          <a:xfrm>
            <a:off x="822960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423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sin factorizar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3063240"/>
            <a:ext cx="338328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822960" y="3063240"/>
                <a:ext cx="3383280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200">
                    <a:solidFill>
                      <a:srgbClr val="BE123C"/>
                    </a:solidFill>
                  </a:defRPr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−4</m:t>
                          </m:r>
                        </m:den>
                      </m:f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3063240"/>
                <a:ext cx="3383280" cy="7772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822960" y="3977640"/>
                <a:ext cx="475488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250">
                    <a:solidFill>
                      <a:srgbClr val="9F1239"/>
                    </a:solidFill>
                  </a:defRPr>
                </a:pPr>
                <a:r>
                  <a:rPr lang="en-US" sz="1250" dirty="0">
                    <a:solidFill>
                      <a:srgbClr val="9F123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Aplicando directo la fórmula de tabla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∫</m:t>
                    </m:r>
                    <m:f>
                      <m:f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>
                            <a:latin typeface="Cambria Math" panose="02040503050406030204" pitchFamily="18" charset="0"/>
                          </a:rPr>
                          <m:t>𝑑𝑢</m:t>
                        </m:r>
                      </m:num>
                      <m:den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250" dirty="0">
                    <a:solidFill>
                      <a:srgbClr val="9F123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 integrando:</a:t>
                </a:r>
                <a:endParaRPr lang="en-US" sz="125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3977640"/>
                <a:ext cx="4754880" cy="548640"/>
              </a:xfrm>
              <a:prstGeom prst="rect">
                <a:avLst/>
              </a:prstGeom>
              <a:blipFill>
                <a:blip r:embed="rId5"/>
                <a:stretch>
                  <a:fillRect l="-128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822960" y="4526280"/>
            <a:ext cx="42976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FECDD3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/>
              <p:nvPr/>
            </p:nvSpPr>
            <p:spPr>
              <a:xfrm>
                <a:off x="822960" y="4526280"/>
                <a:ext cx="429768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BE123C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sepChr m:val="+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4" name="Text 1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526280"/>
                <a:ext cx="4297680" cy="10515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 13"/>
          <p:cNvSpPr/>
          <p:nvPr/>
        </p:nvSpPr>
        <p:spPr>
          <a:xfrm>
            <a:off x="822960" y="566928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y aquí se detiene, como si fuera “la” solución general.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91072" y="2194560"/>
            <a:ext cx="5349240" cy="4206240"/>
          </a:xfrm>
          <a:prstGeom prst="roundRect">
            <a:avLst>
              <a:gd name="adj" fmla="val 2174"/>
            </a:avLst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7" name="Shape 15"/>
          <p:cNvSpPr/>
          <p:nvPr/>
        </p:nvSpPr>
        <p:spPr>
          <a:xfrm>
            <a:off x="6565392" y="242316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6565392" y="24231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159752" y="24231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Factorizar primero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/>
              <p:nvPr/>
            </p:nvSpPr>
            <p:spPr>
              <a:xfrm>
                <a:off x="6565392" y="3063240"/>
                <a:ext cx="484632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400">
                    <a:solidFill>
                      <a:srgbClr val="065F46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ℎ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−4=(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−2)(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+2)</m:t>
                      </m:r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0" name="Text 1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3063240"/>
                <a:ext cx="4846320" cy="36576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/>
              <p:nvPr/>
            </p:nvSpPr>
            <p:spPr>
              <a:xfrm>
                <a:off x="6565392" y="3474720"/>
                <a:ext cx="4846320" cy="7772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5000"/>
                  </a:lnSpc>
                  <a:buNone/>
                  <a:defRPr sz="1250">
                    <a:solidFill>
                      <a:srgbClr val="065F46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)=0</m:t>
                    </m:r>
                  </m:oMath>
                </a14:m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⇒  y=2 y y=−2 son soluciones constantes (de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equilibrio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/ puntos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críticos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), visibles de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inmediato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Se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puede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hacer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un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diagrama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de </a:t>
                </a:r>
                <a:r>
                  <a:rPr lang="en-US" sz="1250" dirty="0" err="1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fase</a:t>
                </a: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250" dirty="0"/>
              </a:p>
            </p:txBody>
          </p:sp>
        </mc:Choice>
        <mc:Fallback xmlns="">
          <p:sp>
            <p:nvSpPr>
              <p:cNvPr id="21" name="Text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3474720"/>
                <a:ext cx="4846320" cy="777240"/>
              </a:xfrm>
              <a:prstGeom prst="rect">
                <a:avLst/>
              </a:prstGeom>
              <a:blipFill>
                <a:blip r:embed="rId8"/>
                <a:stretch>
                  <a:fillRect l="-126" b="-7031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0"/>
              <p:cNvSpPr/>
              <p:nvPr/>
            </p:nvSpPr>
            <p:spPr>
              <a:xfrm>
                <a:off x="6565392" y="4297680"/>
                <a:ext cx="4846320" cy="50292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250">
                    <a:solidFill>
                      <a:srgbClr val="065F46"/>
                    </a:solidFill>
                  </a:defRPr>
                </a:pPr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Para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≠±2</m:t>
                    </m:r>
                  </m:oMath>
                </a14:m>
                <a:r>
                  <a:rPr lang="en-US" sz="1250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se separa igual (fracciones parciales) y se llega a la misma familia:</a:t>
                </a:r>
                <a:endParaRPr lang="en-US" sz="1250" dirty="0"/>
              </a:p>
            </p:txBody>
          </p:sp>
        </mc:Choice>
        <mc:Fallback xmlns="">
          <p:sp>
            <p:nvSpPr>
              <p:cNvPr id="22" name="Text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4297680"/>
                <a:ext cx="4846320" cy="502920"/>
              </a:xfrm>
              <a:prstGeom prst="rect">
                <a:avLst/>
              </a:prstGeom>
              <a:blipFill>
                <a:blip r:embed="rId9"/>
                <a:stretch>
                  <a:fillRect l="-126" t="-1205" b="-3614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hape 21"/>
          <p:cNvSpPr/>
          <p:nvPr/>
        </p:nvSpPr>
        <p:spPr>
          <a:xfrm>
            <a:off x="6565392" y="4846320"/>
            <a:ext cx="429768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22"/>
              <p:cNvSpPr/>
              <p:nvPr/>
            </p:nvSpPr>
            <p:spPr>
              <a:xfrm>
                <a:off x="6565392" y="4846320"/>
                <a:ext cx="429768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sepChr m:val="+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5392" y="4846320"/>
                <a:ext cx="4297680" cy="105156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23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651760" cy="384048"/>
          </a:xfrm>
          <a:prstGeom prst="roundRect">
            <a:avLst>
              <a:gd name="adj" fmla="val 50000"/>
            </a:avLst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4 · VEREDICTO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Completa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1672" cy="4480560"/>
          </a:xfrm>
          <a:prstGeom prst="roundRect">
            <a:avLst>
              <a:gd name="adj" fmla="val 2041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 4"/>
              <p:cNvSpPr/>
              <p:nvPr/>
            </p:nvSpPr>
            <p:spPr>
              <a:xfrm>
                <a:off x="868680" y="1828800"/>
                <a:ext cx="1042416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30000"/>
                  </a:lnSpc>
                  <a:buNone/>
                  <a:defRPr sz="1500">
                    <a:solidFill>
                      <a:srgbClr val="334155"/>
                    </a:solidFill>
                  </a:defRPr>
                </a:pPr>
                <a:r>
                  <a:rPr lang="en-US" sz="150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Si evaluamos la familia en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C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50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obtenemos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en-US" sz="150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esa solución constante sí estaba escondida en la fórmula. Pero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=−2</m:t>
                    </m:r>
                  </m:oMath>
                </a14:m>
                <a:r>
                  <a:rPr lang="en-US" sz="150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nunca aparece, sin importar qué valor finito le des a C — es una solución singular, genuinamente perdida al dividir entre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ℎ</m:t>
                    </m:r>
                    <m:r>
                      <a:rPr lang="en-US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ar-AE">
                        <a:latin typeface="Cambria Math" panose="02040503050406030204" pitchFamily="18" charset="0"/>
                      </a:rPr>
                      <m:t>−4</m:t>
                    </m:r>
                  </m:oMath>
                </a14:m>
                <a:r>
                  <a:rPr lang="ar-AE" sz="150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500" dirty="0"/>
              </a:p>
            </p:txBody>
          </p:sp>
        </mc:Choice>
        <mc:Fallback xmlns="">
          <p:sp>
            <p:nvSpPr>
              <p:cNvPr id="6" name="Text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1828800"/>
                <a:ext cx="10424160" cy="1051560"/>
              </a:xfrm>
              <a:prstGeom prst="rect">
                <a:avLst/>
              </a:prstGeom>
              <a:blipFill>
                <a:blip r:embed="rId3"/>
                <a:stretch>
                  <a:fillRect l="-234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hape 5"/>
          <p:cNvSpPr/>
          <p:nvPr/>
        </p:nvSpPr>
        <p:spPr>
          <a:xfrm>
            <a:off x="868680" y="3063240"/>
            <a:ext cx="10424160" cy="1371600"/>
          </a:xfrm>
          <a:prstGeom prst="roundRect">
            <a:avLst>
              <a:gd name="adj" fmla="val 6000"/>
            </a:avLst>
          </a:prstGeom>
          <a:solidFill>
            <a:srgbClr val="FFE4E6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8" name="Text 6"/>
          <p:cNvSpPr/>
          <p:nvPr/>
        </p:nvSpPr>
        <p:spPr>
          <a:xfrm>
            <a:off x="1188720" y="32461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completa: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1188720" y="3566160"/>
                <a:ext cx="5120640" cy="8229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200">
                    <a:solidFill>
                      <a:srgbClr val="BE123C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ar-AE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sepChr m:val="+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  <m:sSup>
                                <m:sSup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e>
                                <m:sup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p>
                              </m:sSup>
                            </m:e>
                          </m:d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22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20" y="3566160"/>
                <a:ext cx="5120640" cy="82296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6400800" y="379476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i="1" dirty="0" err="1">
                <a:solidFill>
                  <a:srgbClr val="9F12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omitiendo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7863840" y="3566160"/>
                <a:ext cx="2743200" cy="8229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BE123C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mtClean="0">
                          <a:latin typeface="Cambria Math" panose="02040503050406030204" pitchFamily="18" charset="0"/>
                        </a:rPr>
                        <m:t>=±2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63840" y="3566160"/>
                <a:ext cx="2743200" cy="82296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/>
          <p:nvPr/>
        </p:nvSpPr>
        <p:spPr>
          <a:xfrm>
            <a:off x="548640" y="4709160"/>
            <a:ext cx="11091672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Factorizar antes de separar no es estética: es lo que evita que le entregues a tu cliente un </a:t>
            </a:r>
            <a:r>
              <a:rPr lang="en-US" sz="1600" b="1" dirty="0" err="1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</a:t>
            </a: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r>
              <a:rPr lang="en-US" sz="1600" b="1" dirty="0" err="1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</a:t>
            </a: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r>
              <a:rPr lang="en-US" sz="1600" b="1" dirty="0" err="1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incompleto</a:t>
            </a:r>
            <a:r>
              <a:rPr lang="en-US" sz="1600" b="1" dirty="0">
                <a:solidFill>
                  <a:srgbClr val="BE12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𝑥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(0)=0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la solución del PVI (aunque no puedas despejar y).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Implícita: Cuando Despejar No Es Posible</a:t>
            </a:r>
            <a:endParaRPr lang="en-US" sz="27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60020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p>
                          </m:s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𝑥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𝑑𝑦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US"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(0)=0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0020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b="-31667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240280"/>
            <a:ext cx="5349240" cy="3703320"/>
          </a:xfrm>
          <a:prstGeom prst="roundRect">
            <a:avLst>
              <a:gd name="adj" fmla="val 2469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(dividiendo entre eʸcos x):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868680" y="2880360"/>
                <a:ext cx="475488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250">
                    <a:solidFill>
                      <a:srgbClr val="94A3B8"/>
                    </a:solidFill>
                  </a:defRPr>
                </a:pPr>
                <a:r>
                  <a:rPr lang="en-US" sz="1250" i="1" dirty="0">
                    <a:solidFill>
                      <a:srgbClr val="94A3B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Usando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sin</m:t>
                    </m:r>
                    <m:r>
                      <a:rPr>
                        <a:latin typeface="Cambria Math" panose="02040503050406030204" pitchFamily="18" charset="0"/>
                      </a:rPr>
                      <m:t>2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=2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sin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sty m:val="p"/>
                      </m:rPr>
                      <a:rPr>
                        <a:latin typeface="Cambria Math" panose="02040503050406030204" pitchFamily="18" charset="0"/>
                      </a:rPr>
                      <m:t>cos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250" i="1" dirty="0">
                    <a:solidFill>
                      <a:srgbClr val="94A3B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</a:t>
                </a:r>
                <a:endParaRPr lang="en-US" sz="125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880360"/>
                <a:ext cx="4754880" cy="320040"/>
              </a:xfrm>
              <a:prstGeom prst="rect">
                <a:avLst/>
              </a:prstGeom>
              <a:blipFill>
                <a:blip r:embed="rId4"/>
                <a:stretch>
                  <a:fillRect l="-128" t="-1923" b="-3846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868680" y="320040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)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𝑑𝑦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=2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sin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𝑥𝑑𝑥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20040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/>
          <p:nvPr/>
        </p:nvSpPr>
        <p:spPr>
          <a:xfrm>
            <a:off x="868680" y="370332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Integrar cada lado: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868680" y="4114800"/>
                <a:ext cx="475488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250">
                    <a:solidFill>
                      <a:srgbClr val="94A3B8"/>
                    </a:solidFill>
                  </a:defRPr>
                </a:pP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∫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=−(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+1)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sup>
                    </m:sSup>
                  </m:oMath>
                </a14:m>
                <a:r>
                  <a:rPr lang="en-US" sz="1250" i="1" dirty="0">
                    <a:solidFill>
                      <a:srgbClr val="94A3B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(por partes)</a:t>
                </a:r>
                <a:endParaRPr lang="en-US" sz="125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114800"/>
                <a:ext cx="4754880" cy="3657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/>
              <p:nvPr/>
            </p:nvSpPr>
            <p:spPr>
              <a:xfrm>
                <a:off x="868680" y="4526280"/>
                <a:ext cx="48463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500">
                    <a:solidFill>
                      <a:srgbClr val="334155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+1)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=−2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12" name="Text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526280"/>
                <a:ext cx="4846320" cy="4114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/>
              <p:nvPr/>
            </p:nvSpPr>
            <p:spPr>
              <a:xfrm>
                <a:off x="868680" y="5074920"/>
                <a:ext cx="4846320" cy="4114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400">
                    <a:solidFill>
                      <a:srgbClr val="065F46"/>
                    </a:solidFill>
                  </a:defRPr>
                </a:pPr>
                <a:r>
                  <a:rPr lang="en-US" sz="1400" b="1" dirty="0">
                    <a:solidFill>
                      <a:srgbClr val="065F46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PVI (0,0):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1+1=−2+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⇒</m:t>
                    </m:r>
                    <m:r>
                      <a:rPr>
                        <a:latin typeface="Cambria Math" panose="02040503050406030204" pitchFamily="18" charset="0"/>
                      </a:rPr>
                      <m:t>𝐶</m:t>
                    </m:r>
                    <m:r>
                      <a:rPr>
                        <a:latin typeface="Cambria Math" panose="02040503050406030204" pitchFamily="18" charset="0"/>
                      </a:rPr>
                      <m:t>=4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13" name="Text 1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5074920"/>
                <a:ext cx="4846320" cy="411480"/>
              </a:xfrm>
              <a:prstGeom prst="rect">
                <a:avLst/>
              </a:prstGeom>
              <a:blipFill>
                <a:blip r:embed="rId8"/>
                <a:stretch>
                  <a:fillRect l="-377" t="-2985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6291072" y="2240280"/>
            <a:ext cx="5349240" cy="3703320"/>
          </a:xfrm>
          <a:prstGeom prst="roundRect">
            <a:avLst>
              <a:gd name="adj" fmla="val 2469"/>
            </a:avLst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6611112" y="251460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implícita: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611112" y="3017520"/>
            <a:ext cx="470916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/>
              <p:nvPr/>
            </p:nvSpPr>
            <p:spPr>
              <a:xfrm>
                <a:off x="6611112" y="3017520"/>
                <a:ext cx="4709160" cy="10515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4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+1)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=4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112" y="3017520"/>
                <a:ext cx="4709160" cy="105156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16"/>
          <p:cNvSpPr/>
          <p:nvPr/>
        </p:nvSpPr>
        <p:spPr>
          <a:xfrm>
            <a:off x="6611112" y="4297680"/>
            <a:ext cx="47091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no se puede despejar algebraicamente en términos de funciones elementales. Necesitamos otra estrategia para visualizarla.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2788920" cy="384048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2788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5 · VISUALIZACIÓN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Curvas de Nivel Generadas por Computadora</a:t>
            </a:r>
            <a:endParaRPr lang="en-US" sz="2800" dirty="0"/>
          </a:p>
        </p:txBody>
      </p:sp>
      <p:pic>
        <p:nvPicPr>
          <p:cNvPr id="5" name="Image 0" descr="E:\Teaching\sesion3\img\curvas_nivel_ejemplo5_light.png"/>
          <p:cNvPicPr>
            <a:picLocks noChangeAspect="1"/>
          </p:cNvPicPr>
          <p:nvPr/>
        </p:nvPicPr>
        <p:blipFill>
          <a:blip r:embed="rId3"/>
          <a:srcRect l="-33333" r="-33333"/>
          <a:stretch/>
        </p:blipFill>
        <p:spPr>
          <a:xfrm>
            <a:off x="548640" y="1691640"/>
            <a:ext cx="7040880" cy="4224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18120" y="1691640"/>
            <a:ext cx="3822192" cy="4251960"/>
          </a:xfrm>
          <a:prstGeom prst="roundRect">
            <a:avLst>
              <a:gd name="adj" fmla="val 2392"/>
            </a:avLst>
          </a:prstGeom>
          <a:solidFill>
            <a:srgbClr val="D1FAE5"/>
          </a:solidFill>
          <a:ln w="12700">
            <a:solidFill>
              <a:srgbClr val="A7F3D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4"/>
          <p:cNvSpPr/>
          <p:nvPr/>
        </p:nvSpPr>
        <p:spPr>
          <a:xfrm>
            <a:off x="8092440" y="192024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poder despejar y, graficamos curvas de nivel de</a:t>
            </a:r>
            <a:endParaRPr lang="en-US" sz="13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5"/>
              <p:cNvSpPr/>
              <p:nvPr/>
            </p:nvSpPr>
            <p:spPr>
              <a:xfrm>
                <a:off x="7955280" y="2514600"/>
                <a:ext cx="3566160" cy="54864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ctr">
                  <a:buNone/>
                  <a:defRPr sz="1500">
                    <a:solidFill>
                      <a:srgbClr val="047857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+1)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+2</m:t>
                      </m:r>
                      <m:r>
                        <m:rPr>
                          <m:sty m:val="p"/>
                        </m:rPr>
                        <a:rPr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1500" dirty="0"/>
              </a:p>
            </p:txBody>
          </p:sp>
        </mc:Choice>
        <mc:Fallback xmlns="">
          <p:sp>
            <p:nvSpPr>
              <p:cNvPr id="8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5280" y="2514600"/>
                <a:ext cx="3566160" cy="54864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 6"/>
          <p:cNvSpPr/>
          <p:nvPr/>
        </p:nvSpPr>
        <p:spPr>
          <a:xfrm>
            <a:off x="8092440" y="3108960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35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varios valores de C, sin resolver nada algebraicamente.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092440" y="3977640"/>
            <a:ext cx="32918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 C=4</a:t>
            </a: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(resaltada) es la única que pasa por el punto </a:t>
            </a:r>
            <a:r>
              <a:rPr lang="en-US" sz="1400" b="1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(0,0)</a:t>
            </a:r>
            <a:r>
              <a:rPr lang="en-US" sz="1400" dirty="0">
                <a:solidFill>
                  <a:srgbClr val="065F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esa es la solución de nuestro PVI.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35440" y="-2651760"/>
            <a:ext cx="4937760" cy="4937760"/>
          </a:xfrm>
          <a:prstGeom prst="ellipse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6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2743200"/>
            <a:ext cx="96286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3600">
                    <a:solidFill>
                      <a:srgbClr val="4338CA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 lang="ar-AE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ar-AE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(3)=5</m:t>
                      </m:r>
                    </m:oMath>
                  </m:oMathPara>
                </a14:m>
                <a:endParaRPr lang="en-US" sz="360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80160" y="2743200"/>
                <a:ext cx="9628632" cy="17373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/>
          <p:nvPr/>
        </p:nvSpPr>
        <p:spPr>
          <a:xfrm>
            <a:off x="1737360" y="4709160"/>
            <a:ext cx="8714232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la solución del PVI y justifica tu resultado.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6576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7830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Soluciones que Viven Dentro de una Integral</a:t>
            </a:r>
            <a:endParaRPr lang="en-US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 3"/>
              <p:cNvSpPr/>
              <p:nvPr/>
            </p:nvSpPr>
            <p:spPr>
              <a:xfrm>
                <a:off x="548640" y="1600200"/>
                <a:ext cx="11091672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l">
                  <a:buNone/>
                  <a:defRPr sz="1700">
                    <a:solidFill>
                      <a:srgbClr val="4338CA"/>
                    </a:solidFill>
                  </a:defRPr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,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(3)=5</m:t>
                      </m:r>
                    </m:oMath>
                  </m:oMathPara>
                </a14:m>
                <a:endParaRPr lang="en-US" sz="1700" dirty="0"/>
              </a:p>
            </p:txBody>
          </p:sp>
        </mc:Choice>
        <mc:Fallback xmlns="">
          <p:sp>
            <p:nvSpPr>
              <p:cNvPr id="5" name="Text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00200"/>
                <a:ext cx="11091672" cy="365760"/>
              </a:xfrm>
              <a:prstGeom prst="rect">
                <a:avLst/>
              </a:prstGeom>
              <a:blipFill>
                <a:blip r:embed="rId3"/>
                <a:stretch>
                  <a:fillRect b="-18333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hape 4"/>
          <p:cNvSpPr/>
          <p:nvPr/>
        </p:nvSpPr>
        <p:spPr>
          <a:xfrm>
            <a:off x="548640" y="219456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/>
              <p:nvPr/>
            </p:nvSpPr>
            <p:spPr>
              <a:xfrm>
                <a:off x="868680" y="2377440"/>
                <a:ext cx="4754880" cy="36576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buNone/>
                  <a:defRPr sz="1450">
                    <a:solidFill>
                      <a:srgbClr val="334155"/>
                    </a:solidFill>
                  </a:defRPr>
                </a:pPr>
                <a:r>
                  <a:rPr lang="en-US" sz="14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Separar: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𝑑𝑦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𝑑𝑥</m:t>
                    </m:r>
                  </m:oMath>
                </a14:m>
                <a:endParaRPr lang="en-US" sz="1450" dirty="0"/>
              </a:p>
            </p:txBody>
          </p:sp>
        </mc:Choice>
        <mc:Fallback xmlns="">
          <p:sp>
            <p:nvSpPr>
              <p:cNvPr id="7" name="Text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377440"/>
                <a:ext cx="4754880" cy="365760"/>
              </a:xfrm>
              <a:prstGeom prst="rect">
                <a:avLst/>
              </a:prstGeom>
              <a:blipFill>
                <a:blip r:embed="rId4"/>
                <a:stretch>
                  <a:fillRect l="-513" b="-11667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/>
              <p:nvPr/>
            </p:nvSpPr>
            <p:spPr>
              <a:xfrm>
                <a:off x="868680" y="2788920"/>
                <a:ext cx="4846320" cy="91440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5000"/>
                  </a:lnSpc>
                  <a:buNone/>
                  <a:defRPr sz="1250">
                    <a:solidFill>
                      <a:srgbClr val="BE123C"/>
                    </a:solidFill>
                  </a:defRPr>
                </a:pPr>
                <a:r>
                  <a:rPr lang="en-US" sz="1250" dirty="0">
                    <a:solidFill>
                      <a:srgbClr val="BE123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Pero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1250" dirty="0">
                    <a:solidFill>
                      <a:srgbClr val="BE123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no tiene antiderivada elemental (no existe combinación de polinomios, exponenciales, trig o logaritmos cuya derivada sea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1250" dirty="0">
                    <a:solidFill>
                      <a:srgbClr val="BE123C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</a:t>
                </a:r>
                <a:endParaRPr lang="en-US" sz="1250" dirty="0"/>
              </a:p>
            </p:txBody>
          </p:sp>
        </mc:Choice>
        <mc:Fallback xmlns="">
          <p:sp>
            <p:nvSpPr>
              <p:cNvPr id="8" name="Text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788920"/>
                <a:ext cx="4846320" cy="914400"/>
              </a:xfrm>
              <a:prstGeom prst="rect">
                <a:avLst/>
              </a:prstGeom>
              <a:blipFill>
                <a:blip r:embed="rId5"/>
                <a:stretch>
                  <a:fillRect l="-126"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6291072" y="219456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E0E7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0" name="Shape 8"/>
          <p:cNvSpPr/>
          <p:nvPr/>
        </p:nvSpPr>
        <p:spPr>
          <a:xfrm>
            <a:off x="6611112" y="2377440"/>
            <a:ext cx="47091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C7D2FE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/>
              <p:nvPr/>
            </p:nvSpPr>
            <p:spPr>
              <a:xfrm>
                <a:off x="6611112" y="2377440"/>
                <a:ext cx="4709160" cy="12344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 algn="ctr">
                  <a:buNone/>
                  <a:defRPr sz="2600">
                    <a:solidFill>
                      <a:srgbClr val="4338CA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(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>
                          <a:latin typeface="Cambria Math" panose="02040503050406030204" pitchFamily="18" charset="0"/>
                        </a:rPr>
                        <m:t>)=5+</m:t>
                      </m:r>
                      <m:nary>
                        <m:naryPr>
                          <m:limLoc m:val="subSup"/>
                          <m:grow m:val="on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sup>
                          </m:sSup>
                        </m:e>
                      </m:nary>
                      <m:r>
                        <a:rPr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en-US" sz="2600" dirty="0"/>
              </a:p>
            </p:txBody>
          </p:sp>
        </mc:Choice>
        <mc:Fallback xmlns="">
          <p:sp>
            <p:nvSpPr>
              <p:cNvPr id="11" name="Text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11112" y="2377440"/>
                <a:ext cx="4709160" cy="12344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548640" y="3977640"/>
            <a:ext cx="11091672" cy="2606040"/>
          </a:xfrm>
          <a:prstGeom prst="roundRect">
            <a:avLst>
              <a:gd name="adj" fmla="val 3158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3" name="Text 11"/>
          <p:cNvSpPr/>
          <p:nvPr/>
        </p:nvSpPr>
        <p:spPr>
          <a:xfrm>
            <a:off x="868680" y="41148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esto SÍ es una solución legítima y útil?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868680" y="4590288"/>
            <a:ext cx="365760" cy="365760"/>
          </a:xfrm>
          <a:prstGeom prst="ellipse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868680" y="45902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/>
              <p:nvPr/>
            </p:nvSpPr>
            <p:spPr>
              <a:xfrm>
                <a:off x="1371600" y="4572000"/>
                <a:ext cx="48006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150">
                    <a:solidFill>
                      <a:srgbClr val="334155"/>
                    </a:solidFill>
                  </a:defRPr>
                </a:pPr>
                <a:r>
                  <a:rPr lang="en-US" sz="115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Existencia y unicidad garantizadas: 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𝑥</m:t>
                    </m:r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)=</m:t>
                    </m:r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𝜕</m:t>
                    </m:r>
                    <m:r>
                      <a:rPr>
                        <a:latin typeface="Cambria Math" panose="02040503050406030204" pitchFamily="18" charset="0"/>
                      </a:rPr>
                      <m:t>𝑓</m:t>
                    </m:r>
                    <m:r>
                      <a:rPr>
                        <a:latin typeface="Cambria Math" panose="02040503050406030204" pitchFamily="18" charset="0"/>
                      </a:rPr>
                      <m:t>/</m:t>
                    </m:r>
                    <m:r>
                      <a:rPr>
                        <a:latin typeface="Cambria Math" panose="02040503050406030204" pitchFamily="18" charset="0"/>
                      </a:rPr>
                      <m:t>𝜕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son continuas en todo ℝ², así que hay una única solución en todo ℝ.</a:t>
                </a:r>
                <a:endParaRPr lang="en-US" sz="1150" dirty="0"/>
              </a:p>
            </p:txBody>
          </p:sp>
        </mc:Choice>
        <mc:Fallback xmlns="">
          <p:sp>
            <p:nvSpPr>
              <p:cNvPr id="16" name="Text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4572000"/>
                <a:ext cx="4800600" cy="86868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Shape 15"/>
          <p:cNvSpPr/>
          <p:nvPr/>
        </p:nvSpPr>
        <p:spPr>
          <a:xfrm>
            <a:off x="6537960" y="4590288"/>
            <a:ext cx="365760" cy="365760"/>
          </a:xfrm>
          <a:prstGeom prst="ellipse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8" name="Text 16"/>
          <p:cNvSpPr/>
          <p:nvPr/>
        </p:nvSpPr>
        <p:spPr>
          <a:xfrm>
            <a:off x="6537960" y="459028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/>
              <p:nvPr/>
            </p:nvSpPr>
            <p:spPr>
              <a:xfrm>
                <a:off x="7040880" y="4572000"/>
                <a:ext cx="48006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150">
                    <a:solidFill>
                      <a:srgbClr val="334155"/>
                    </a:solidFill>
                  </a:defRPr>
                </a:pPr>
                <a:r>
                  <a:rPr lang="en-US" sz="115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Satisface la ecuación por construcción:  </a:t>
                </a:r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por el Teorema Fundamental del Cálculo, la derivada de la integral es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automáticamente, 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(3)=5+0=5</m:t>
                    </m:r>
                  </m:oMath>
                </a14:m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sin despejar nada.</a:t>
                </a:r>
                <a:endParaRPr lang="en-US" sz="1150" dirty="0"/>
              </a:p>
            </p:txBody>
          </p:sp>
        </mc:Choice>
        <mc:Fallback xmlns="">
          <p:sp>
            <p:nvSpPr>
              <p:cNvPr id="19" name="Text 1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0880" y="4572000"/>
                <a:ext cx="4800600" cy="86868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868680" y="5596128"/>
            <a:ext cx="365760" cy="365760"/>
          </a:xfrm>
          <a:prstGeom prst="ellipse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1" name="Text 19"/>
          <p:cNvSpPr/>
          <p:nvPr/>
        </p:nvSpPr>
        <p:spPr>
          <a:xfrm>
            <a:off x="868680" y="5596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20"/>
              <p:cNvSpPr/>
              <p:nvPr/>
            </p:nvSpPr>
            <p:spPr>
              <a:xfrm>
                <a:off x="1371600" y="5577840"/>
                <a:ext cx="48006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>
                  <a:lnSpc>
                    <a:spcPct val="120000"/>
                  </a:lnSpc>
                  <a:buNone/>
                  <a:defRPr sz="1150">
                    <a:solidFill>
                      <a:srgbClr val="334155"/>
                    </a:solidFill>
                  </a:defRPr>
                </a:pPr>
                <a:r>
                  <a:rPr lang="en-US" sz="1150" b="1" dirty="0">
                    <a:solidFill>
                      <a:srgbClr val="0F172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“No elemental” no significa “no válida”:  </a:t>
                </a:r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 una función bien definida, suave y creciente — tan legítima como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en-US" sz="1150" dirty="0">
                    <a:solidFill>
                      <a:srgbClr val="334155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es un número aunque no sea una fracción simple.</a:t>
                </a:r>
                <a:endParaRPr lang="en-US" sz="1150" dirty="0"/>
              </a:p>
            </p:txBody>
          </p:sp>
        </mc:Choice>
        <mc:Fallback xmlns="">
          <p:sp>
            <p:nvSpPr>
              <p:cNvPr id="22" name="Text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1600" y="5577840"/>
                <a:ext cx="4800600" cy="86868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hape 21"/>
          <p:cNvSpPr/>
          <p:nvPr/>
        </p:nvSpPr>
        <p:spPr>
          <a:xfrm>
            <a:off x="6537960" y="5596128"/>
            <a:ext cx="365760" cy="365760"/>
          </a:xfrm>
          <a:prstGeom prst="ellipse">
            <a:avLst/>
          </a:prstGeom>
          <a:solidFill>
            <a:srgbClr val="E0E7FF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24" name="Text 22"/>
          <p:cNvSpPr/>
          <p:nvPr/>
        </p:nvSpPr>
        <p:spPr>
          <a:xfrm>
            <a:off x="6537960" y="5596128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4338C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5577840"/>
            <a:ext cx="4800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de ingeniería real:  </a:t>
            </a: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evalúa numéricamente a cualquier precisión (cuadratura, software, tablas de la función error erf) — así se usan a diario la normal acumulada o el kernel de calor.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103120"/>
            <a:ext cx="4572000" cy="4572000"/>
          </a:xfrm>
          <a:prstGeom prst="ellipse">
            <a:avLst/>
          </a:prstGeom>
          <a:solidFill>
            <a:srgbClr val="6D28D9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3" name="Shape 1"/>
          <p:cNvSpPr/>
          <p:nvPr/>
        </p:nvSpPr>
        <p:spPr>
          <a:xfrm>
            <a:off x="548640" y="365760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4" name="Text 2"/>
          <p:cNvSpPr/>
          <p:nvPr/>
        </p:nvSpPr>
        <p:spPr>
          <a:xfrm>
            <a:off x="548640" y="365760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91672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de la Sesión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77240" y="196596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🧩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Separar y Verificar</a:t>
            </a:r>
            <a:endParaRPr lang="en-US" sz="15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/>
              <p:nvPr/>
            </p:nvSpPr>
            <p:spPr>
              <a:xfrm>
                <a:off x="1005840" y="3337560"/>
                <a:ext cx="2971800" cy="868680"/>
              </a:xfrm>
              <a:prstGeom prst="rect">
                <a:avLst/>
              </a:prstGeom>
              <a:noFill/>
              <a:ln/>
            </p:spPr>
            <p:txBody>
              <a:bodyPr wrap="square" rtlCol="0" anchor="t"/>
              <a:lstStyle/>
              <a:p>
                <a:pPr marL="0" indent="0" algn="ctr">
                  <a:lnSpc>
                    <a:spcPct val="125000"/>
                  </a:lnSpc>
                  <a:buNone/>
                  <a:defRPr sz="1150">
                    <a:solidFill>
                      <a:srgbClr val="475569"/>
                    </a:solidFill>
                  </a:defRPr>
                </a:pPr>
                <a:r>
                  <a:rPr lang="en-US" sz="115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Dividir entre h(y) es válido solo si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ℎ</m:t>
                    </m:r>
                    <m:r>
                      <a:rPr>
                        <a:latin typeface="Cambria Math" panose="02040503050406030204" pitchFamily="18" charset="0"/>
                      </a:rPr>
                      <m:t>(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)≠0</m:t>
                    </m:r>
                  </m:oMath>
                </a14:m>
                <a:r>
                  <a:rPr lang="en-US" sz="1150" dirty="0">
                    <a:solidFill>
                      <a:srgbClr val="475569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 Revisa siempre esas raíces antes de dar la solución por completa.</a:t>
                </a:r>
                <a:endParaRPr lang="en-US" sz="1150" dirty="0"/>
              </a:p>
            </p:txBody>
          </p:sp>
        </mc:Choice>
        <mc:Fallback xmlns="">
          <p:sp>
            <p:nvSpPr>
              <p:cNvPr id="9" name="Text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840" y="3337560"/>
                <a:ext cx="2971800" cy="8686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4572000" y="196596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📐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754880" y="28803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Álgebra a la Geometría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00600" y="33375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Constantes, regiones de validez, intervalos de definición y curvas de nivel son parte de la respuesta, no un extra opcional.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366760" y="1965960"/>
            <a:ext cx="3429000" cy="2331720"/>
          </a:xfrm>
          <a:prstGeom prst="roundRect">
            <a:avLst>
              <a:gd name="adj" fmla="val 3922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s-MX"/>
          </a:p>
        </p:txBody>
      </p:sp>
      <p:sp>
        <p:nvSpPr>
          <p:cNvPr id="15" name="Text 13"/>
          <p:cNvSpPr/>
          <p:nvPr/>
        </p:nvSpPr>
        <p:spPr>
          <a:xfrm>
            <a:off x="8366760" y="2194560"/>
            <a:ext cx="3429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dirty="0">
                <a:solidFill>
                  <a:srgbClr val="000000"/>
                </a:solidFill>
              </a:rPr>
              <a:t>∫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8549640" y="2880360"/>
            <a:ext cx="3063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Siempre Hay Fórmula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595360" y="33375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integral definida con límite variable es una solución tan real y útil como cualquier función elemental.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1672" cy="1417320"/>
          </a:xfrm>
          <a:prstGeom prst="roundRect">
            <a:avLst>
              <a:gd name="adj" fmla="val 6452"/>
            </a:avLst>
          </a:prstGeom>
          <a:solidFill>
            <a:srgbClr val="EDE9FE"/>
          </a:solidFill>
          <a:ln/>
        </p:spPr>
        <p:txBody>
          <a:bodyPr/>
          <a:lstStyle/>
          <a:p>
            <a:endParaRPr lang="es-MX"/>
          </a:p>
        </p:txBody>
      </p:sp>
      <p:sp>
        <p:nvSpPr>
          <p:cNvPr id="19" name="Text 17"/>
          <p:cNvSpPr/>
          <p:nvPr/>
        </p:nvSpPr>
        <p:spPr>
          <a:xfrm>
            <a:off x="914400" y="4709160"/>
            <a:ext cx="1036015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5000"/>
              </a:lnSpc>
              <a:buNone/>
            </a:pPr>
            <a:r>
              <a:rPr lang="en-US" sz="1550" b="1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💼  Próximo paso de las Firmas:  </a:t>
            </a:r>
            <a:r>
              <a:rPr lang="en-US" sz="1550" dirty="0">
                <a:solidFill>
                  <a:srgbClr val="5B21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hacemos cuando la ecuación ya no se deja separar? En la próxima sesión conoceremos las Ecuaciones Lineales de primer orden y el método del factor integrante.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1521440" y="64465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286</TotalTime>
  <Words>1868</Words>
  <Application>Microsoft Office PowerPoint</Application>
  <PresentationFormat>Widescreen</PresentationFormat>
  <Paragraphs>204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Eduardo Javier Serna Duarte</cp:lastModifiedBy>
  <cp:revision>3</cp:revision>
  <dcterms:created xsi:type="dcterms:W3CDTF">2026-08-17T15:42:39Z</dcterms:created>
  <dcterms:modified xsi:type="dcterms:W3CDTF">2026-08-18T04:54:20Z</dcterms:modified>
</cp:coreProperties>
</file>