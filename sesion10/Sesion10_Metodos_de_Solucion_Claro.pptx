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891B2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7C3AED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Solución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Constantes y </a:t>
            </a:r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(SESIÓN 9) → MÉTODOS (HOY)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0" y="5212080"/>
            <a:ext cx="5605272" cy="45720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5212080"/>
            <a:ext cx="560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TÉCNICAS EN 90 MINUTOS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TAREA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al Azar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417320"/>
          </a:xfrm>
          <a:prstGeom prst="roundRect">
            <a:avLst>
              <a:gd name="adj" fmla="val 516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381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operador aniquila un polinomio de grado k?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55868" y="1600200"/>
            <a:ext cx="5387188" cy="1417320"/>
          </a:xfrm>
          <a:prstGeom prst="roundRect">
            <a:avLst>
              <a:gd name="adj" fmla="val 516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4468" y="17830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446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33108" y="1783080"/>
            <a:ext cx="4381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operador aniquila eʳˣ?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87188" cy="1417320"/>
          </a:xfrm>
          <a:prstGeom prst="roundRect">
            <a:avLst>
              <a:gd name="adj" fmla="val 516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4381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tengo xeʳˣ, ¿por qué (D−r) ya no basta?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55868" y="3246120"/>
            <a:ext cx="5387188" cy="1417320"/>
          </a:xfrm>
          <a:prstGeom prst="roundRect">
            <a:avLst>
              <a:gd name="adj" fmla="val 516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4468" y="34290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4468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33108" y="3429000"/>
            <a:ext cx="4381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g(x)=3x+e²ˣ, ¿cómo aniquilan toda la suma?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92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Elegidos al azar, por lista. Si nadie contesta ninguna, hay que repasar la tarea antes de seguir — todo lo de hoy la da por sabida.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al Método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2555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LINEAL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soluciones linealmente independientes ⇒ solución general. El Wronskiano nos deja verificarlo.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66818" y="18745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681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69738" y="1874520"/>
            <a:ext cx="2555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yᶜ + yₚ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6818" y="2468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general de una ecuación no homogénea: función complementaria más solución particular.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6397" y="18745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6397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59317" y="1874520"/>
            <a:ext cx="2555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6397" y="2468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forzamiento tiene varios términos distintos, resolvemos cada uno por separado y sumamos.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convertimos estas tres ideas en algoritmos concretos.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SOLUCIÓN A TODAS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Orden y la Apuesta Exponencial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GENERAL: REDUCCIÓN DE ORDEN</a:t>
            </a:r>
            <a:endParaRPr lang="en-US" sz="1300" dirty="0"/>
          </a:p>
        </p:txBody>
      </p:sp>
      <p:pic>
        <p:nvPicPr>
          <p:cNvPr id="6" name="Image 0" descr="build/eq_light/reduccion_formu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825" y="2057400"/>
            <a:ext cx="2070046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 y₂=u(x)y₁ y sustituyen — funciona siempre, pero es laboriosa.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5204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ATAJO: COEFICIENTES CONSTANTES</a:t>
            </a:r>
            <a:endParaRPr lang="en-US" sz="1300" dirty="0"/>
          </a:p>
        </p:txBody>
      </p:sp>
      <p:pic>
        <p:nvPicPr>
          <p:cNvPr id="10" name="Image 1" descr="build/eq_light/ansatz_si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65470"/>
            <a:ext cx="1828800" cy="681540"/>
          </a:xfrm>
          <a:prstGeom prst="rect">
            <a:avLst/>
          </a:prstGeom>
        </p:spPr>
      </p:pic>
      <p:pic>
        <p:nvPicPr>
          <p:cNvPr id="11" name="Image 2" descr="build/eq_light/char_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880086"/>
            <a:ext cx="8442655" cy="6523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46177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Factorizando eʳˣ —que nunca es cero— queda pura álgebra: la ecuación característica.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CARACTERÍSTICA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Casos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DISCRIMINANTE &gt; 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reales distintas</a:t>
            </a:r>
            <a:endParaRPr lang="en-US" sz="1200" dirty="0"/>
          </a:p>
        </p:txBody>
      </p:sp>
      <p:pic>
        <p:nvPicPr>
          <p:cNvPr id="7" name="Image 0" descr="build/eq_light/case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5068"/>
            <a:ext cx="3149498" cy="4478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38218" y="16916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1098" y="18745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DISCRIMINANTE = 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21098" y="2194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200" dirty="0"/>
          </a:p>
        </p:txBody>
      </p:sp>
      <p:pic>
        <p:nvPicPr>
          <p:cNvPr id="11" name="Image 1" descr="build/eq_light/case_repe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3185710"/>
            <a:ext cx="3149498" cy="4865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27797" y="16916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10677" y="18745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DISCRIMINANTE &lt; 0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310677" y="2194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 conjugadas</a:t>
            </a:r>
            <a:endParaRPr lang="en-US" sz="1200" dirty="0"/>
          </a:p>
        </p:txBody>
      </p:sp>
      <p:pic>
        <p:nvPicPr>
          <p:cNvPr id="15" name="Image 2" descr="build/eq_light/case_comple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3274932"/>
            <a:ext cx="3149498" cy="30813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8463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240" y="48463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Ingenieros: memoricen las tres formas — las van a usar el resto del curso.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Raíces Reales Distintas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3931920"/>
          </a:xfrm>
          <a:prstGeom prst="roundRect">
            <a:avLst>
              <a:gd name="adj" fmla="val 2326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pic>
        <p:nvPicPr>
          <p:cNvPr id="6" name="Image 0" descr="build/eq_light/ex1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921" y="2148840"/>
            <a:ext cx="6569852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característica y raíces:</a:t>
            </a:r>
            <a:endParaRPr lang="en-US" sz="1400" dirty="0"/>
          </a:p>
        </p:txBody>
      </p:sp>
      <p:pic>
        <p:nvPicPr>
          <p:cNvPr id="8" name="Image 1" descr="build/eq_light/ex1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041" y="3108960"/>
            <a:ext cx="6231613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7490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y=C₁e²ˣ+C₂e³ˣ y las condiciones iniciales: C₁+C₂=1, 2C₁+3C₂=0 ⟹ C₁=3, C₂=−2. La solución particular:</a:t>
            </a:r>
            <a:endParaRPr lang="en-US" sz="1350" dirty="0"/>
          </a:p>
        </p:txBody>
      </p:sp>
      <p:pic>
        <p:nvPicPr>
          <p:cNvPr id="10" name="Image 2" descr="build/eq_light/ex1_s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590" y="4434840"/>
            <a:ext cx="2808514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51206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 ustedes que y(0)=1 y y'(0)=0.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Directos — Raíz Repetida y Compleja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3931920"/>
          </a:xfrm>
          <a:prstGeom prst="roundRect">
            <a:avLst>
              <a:gd name="adj" fmla="val 186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300" dirty="0"/>
          </a:p>
        </p:txBody>
      </p:sp>
      <p:pic>
        <p:nvPicPr>
          <p:cNvPr id="6" name="Image 0" descr="build/eq_light/ex2a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03175"/>
            <a:ext cx="4838548" cy="3771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483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(r−3)²=0 ⟹ raíz doble r=3. Con y=(C₁+C₂x)e³ˣ y las condiciones iniciales: C₁=2, C₂=−5.</a:t>
            </a:r>
            <a:endParaRPr lang="en-US" sz="1300" dirty="0"/>
          </a:p>
        </p:txBody>
      </p:sp>
      <p:pic>
        <p:nvPicPr>
          <p:cNvPr id="8" name="Image 1" descr="build/eq_light/ex2a_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67" y="3886200"/>
            <a:ext cx="2740933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55868" y="1691640"/>
            <a:ext cx="5387188" cy="3931920"/>
          </a:xfrm>
          <a:prstGeom prst="roundRect">
            <a:avLst>
              <a:gd name="adj" fmla="val 186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0188" y="1874520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</a:t>
            </a:r>
            <a:endParaRPr lang="en-US" sz="1300" dirty="0"/>
          </a:p>
        </p:txBody>
      </p:sp>
      <p:pic>
        <p:nvPicPr>
          <p:cNvPr id="11" name="Image 2" descr="build/eq_light/ex2b_set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308548"/>
            <a:ext cx="4838548" cy="3663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30188" y="2880360"/>
            <a:ext cx="483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r²+4r+13=0 ⟹ r=−2±3i. Con y=e⁻²ˣ(C₁cos3x+C₂sin3x) y las condiciones iniciales: C₁=0, C₂=1.</a:t>
            </a:r>
            <a:endParaRPr lang="en-US" sz="1300" dirty="0"/>
          </a:p>
        </p:txBody>
      </p:sp>
      <p:pic>
        <p:nvPicPr>
          <p:cNvPr id="13" name="Image 3" descr="build/eq_light/ex2b_s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725" y="3886200"/>
            <a:ext cx="2779474" cy="5486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5760720"/>
            <a:ext cx="11094415" cy="41148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77240" y="57607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 esta última ecuación en la memoria — va a reaparecer.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FAMILIA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 — La Misma Idea, Otra Apuesta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GENERAL</a:t>
            </a:r>
            <a:endParaRPr lang="en-US" sz="1300" dirty="0"/>
          </a:p>
        </p:txBody>
      </p:sp>
      <p:pic>
        <p:nvPicPr>
          <p:cNvPr id="6" name="Image 0" descr="build/eq_light/ce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2580" y="2057400"/>
            <a:ext cx="5606535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cada derivada es una potencia de x que coincide con el orden de la derivada.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7947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 Y LA ECUACIÓN AUXILIAR</a:t>
            </a:r>
            <a:endParaRPr lang="en-US" sz="1300" dirty="0"/>
          </a:p>
        </p:txBody>
      </p:sp>
      <p:pic>
        <p:nvPicPr>
          <p:cNvPr id="10" name="Image 1" descr="build/eq_light/ce_ansat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28622"/>
            <a:ext cx="1645920" cy="612435"/>
          </a:xfrm>
          <a:prstGeom prst="rect">
            <a:avLst/>
          </a:prstGeom>
        </p:spPr>
      </p:pic>
      <p:pic>
        <p:nvPicPr>
          <p:cNvPr id="11" name="Image 2" descr="build/eq_light/ce_au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114800"/>
            <a:ext cx="5514535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48920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Factorizando xᵐ —nunca cero para x&gt;0—: los mismos tres casos de siempre, ahora con potencias y logaritmos de x.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 — Ejemplo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3931920"/>
          </a:xfrm>
          <a:prstGeom prst="roundRect">
            <a:avLst>
              <a:gd name="adj" fmla="val 2326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pic>
        <p:nvPicPr>
          <p:cNvPr id="6" name="Image 0" descr="build/eq_light/ce_ex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0704" y="2148840"/>
            <a:ext cx="6550286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auxiliar y raíces:</a:t>
            </a:r>
            <a:endParaRPr lang="en-US" sz="1400" dirty="0"/>
          </a:p>
        </p:txBody>
      </p:sp>
      <p:pic>
        <p:nvPicPr>
          <p:cNvPr id="8" name="Image 1" descr="build/eq_light/ce_ex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404" y="3108960"/>
            <a:ext cx="7852886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7490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raíces complejas m=α±βi (α=0, β=2): y=xᵅ[C₁cos(β ln x)+C₂sin(β ln x)]. Evaluando en x=1 (ln 1=0) con y(1)=1, y'(1)=4: C₁=1, C₂=2.</a:t>
            </a:r>
            <a:endParaRPr lang="en-US" sz="1300" dirty="0"/>
          </a:p>
        </p:txBody>
      </p:sp>
      <p:pic>
        <p:nvPicPr>
          <p:cNvPr id="10" name="Image 2" descr="build/eq_light/ce_ex_s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445" y="4572000"/>
            <a:ext cx="5206805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ANULADOR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Basta con Adivinar?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build/eq_light/nonhomog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9603" y="1828800"/>
            <a:ext cx="5672488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17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saben construir yᶜ. Falta yₚ. Podrían adivinar su forma a ojo —polinomio para polinomio, exponencial para exponencial— pero adivinar falla en cuanto el forzamiento se complica.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977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97764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anulador convierte ese tanteo en álgebra pura: tratamos D=d/dx como un símbolo algebraico, y buscamos un operador que ANIQUILE —convierta en cero— la función g(x) del lado derecho.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BLOQUES BÁSICOS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 y la Tabla de Anuladores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6656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Polinomio de grado k (hasta xᵏ)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05289" y="1691640"/>
            <a:ext cx="41177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Dᵏ⁺¹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43200"/>
            <a:ext cx="6656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Exponencial eʳˣ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05289" y="2743200"/>
            <a:ext cx="41177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(D−r)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94760"/>
            <a:ext cx="6656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eᵅˣcos βx  o  eᵅˣsin βx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05289" y="3794760"/>
            <a:ext cx="41177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D²−2αD+(α²+β²)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9204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suma de términos, multiplican —componen— los operadores de cada uno. Aquí regresa la superposición para no homogéneas de la Sesión 9: cada anulador se encarga de su propio término.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COMPLETO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del Anulador, Paso a Paso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Encuentren yᶜ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 la homogénea asociada — ya saben hacerlo.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17830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446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33108" y="178308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Anulen g(x)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Encuentren un operador anulador y apliquenlo a AMBOS lados de la ecuación completa.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84048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Resuelvan y eliminen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Resuelvan la ecuación de orden mayor; eliminen los términos que ya están en yᶜ.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4468" y="38404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446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33108" y="384048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Sustituyan y despejen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Sustituyan la forma restante (yₚ) en la ecuación ORIGINAL para hallar los coeficientes.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Anulador (Planteamiento)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build/eq_light/an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8262" y="1828800"/>
            <a:ext cx="5635171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0632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yᶜ? [característica (r−2)(r+1)=0 ⟹ yᶜ=C₁e²ˣ+C₂e⁻ˣ]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9319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operador aniquila 4x²? [D³, porque x² es un polinomio de grado 2]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846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Apliquen D³ a ambos lados, identifiquen qué términos ya están en yᶜ, y propongan la forma de yₚ con coeficientes por determinar. Resuélvanlo en su cuaderno — la solución está en la siguiente diapositiva.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Anulador (Solución)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4023360"/>
          </a:xfrm>
          <a:prstGeom prst="roundRect">
            <a:avLst>
              <a:gd name="adj" fmla="val 227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yᶜ</a:t>
            </a:r>
            <a:endParaRPr lang="en-US" sz="1300" dirty="0"/>
          </a:p>
        </p:txBody>
      </p:sp>
      <p:pic>
        <p:nvPicPr>
          <p:cNvPr id="6" name="Image 0" descr="build/eq_light/an_y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194761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0" y="178308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yₚ (SIN LOS TÉRMINOS YA EN yᶜ)</a:t>
            </a:r>
            <a:endParaRPr lang="en-US" sz="1300" dirty="0"/>
          </a:p>
        </p:txBody>
      </p:sp>
      <p:pic>
        <p:nvPicPr>
          <p:cNvPr id="8" name="Image 1" descr="build/eq_light/an_yp_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03120"/>
            <a:ext cx="3051761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78892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Sustituyendo en la ecuación original y agrupando por potencias de x: de x², −2C=4; de x¹, −2C−2B=0; de x⁰, 2C−B−2A=0.</a:t>
            </a:r>
            <a:endParaRPr lang="en-US" sz="1350" dirty="0"/>
          </a:p>
        </p:txBody>
      </p:sp>
      <p:pic>
        <p:nvPicPr>
          <p:cNvPr id="10" name="Image 2" descr="build/eq_light/an_coeff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523" y="3337560"/>
            <a:ext cx="455465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9776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particular: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22960" y="42976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yₚ = −3 + 2x − 2x²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22960" y="4800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GENERAL COMPLETA</a:t>
            </a:r>
            <a:endParaRPr lang="en-US" sz="1300" dirty="0"/>
          </a:p>
        </p:txBody>
      </p:sp>
      <p:pic>
        <p:nvPicPr>
          <p:cNvPr id="14" name="Image 3" descr="build/eq_light/an_f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080" y="5120640"/>
            <a:ext cx="5429534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Masa-Resorte-Amortiguador, Ahora Forzado</a:t>
            </a:r>
            <a:endParaRPr lang="en-US" sz="2900" dirty="0"/>
          </a:p>
        </p:txBody>
      </p:sp>
      <p:pic>
        <p:nvPicPr>
          <p:cNvPr id="4" name="Image 0" descr="build/img_light/msd_for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072" y="1737360"/>
            <a:ext cx="4286121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9664" y="1600200"/>
            <a:ext cx="4783391" cy="777240"/>
          </a:xfrm>
          <a:prstGeom prst="roundRect">
            <a:avLst>
              <a:gd name="adj" fmla="val 9412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1" descr="build/eq_light/msd_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102" y="1737360"/>
            <a:ext cx="3556514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9664" y="2514600"/>
            <a:ext cx="478339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característica de la Diapositiva 7: xᶜ=e⁻²ᵗ(C₁cos3t+C₂sin3t). El anulador de la constante 26 es D; la forma de xₚ es una constante, y sustituyendo, xₚ=2.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859664" y="4023360"/>
            <a:ext cx="4783391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pic>
        <p:nvPicPr>
          <p:cNvPr id="9" name="Image 2" descr="build/eq_light/msd_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264" y="4210469"/>
            <a:ext cx="4326191" cy="40302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" y="502920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importar C₁ y C₂, el término exponencial decae a cero cuando t→∞: el sistema termina asentándose en un NUEVO EQUILIBRIO, desplazado 2 unidades. xᶜ es la respuesta transitoria que se apaga; xₚ es hacia dónde se dirige el sistema a largo plazo.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 no es coeficientes constantes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sustitución es y=xᵐ, no y=eʳˣ — son ecuaciones distintas, con trucos distintos; no las mezclen.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8828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revisar contra yᶜ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término de la solución de orden mayor ya está en yᶜ y no lo eliminan, el sistema de coeficientes no va a tener solución.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Anular solo un lado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anulador debe aplicarse a AMBOS lados de la ecuación — no solo al lado derecho.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78828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que Cauchy-Euler asume x&gt;0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x&lt;0 se necesitan ajustes con |x| que no cubrimos hoy.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Arsenal de Orden Superior, Completo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824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390824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ANULADOR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75191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9075191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FORZADO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1094415" cy="219456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fabrican soluciones completas: homogéneas con coeficientes constantes, Cauchy-Euler, y no homogéneas cuando el forzamiento es un polinomio, una exponencial, un seno o coseno — o una combinación de esos.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el anulador tiene un límite: solo funciona cuando existe un anulador, y funciones como tan x o ln x simplemente no tienen uno.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846320"/>
            <a:ext cx="10362895" cy="502920"/>
          </a:xfrm>
          <a:prstGeom prst="roundRect">
            <a:avLst>
              <a:gd name="adj" fmla="val 14545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VARIACIÓN DE PARÁMETROS Y SISTEMAS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que funciona para cualquier forzamiento, y cómo resolver sistemas completos de ecuaciones diferenciales lineales.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2026-09-22T03:38:25Z</dcterms:created>
  <dcterms:modified xsi:type="dcterms:W3CDTF">2026-09-22T03:38:25Z</dcterms:modified>
</cp:coreProperties>
</file>