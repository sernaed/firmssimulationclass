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0" y="-1371600"/>
            <a:ext cx="4754880" cy="4754880"/>
          </a:xfrm>
          <a:prstGeom prst="ellipse">
            <a:avLst/>
          </a:prstGeom>
          <a:ln w="31750">
            <a:solidFill>
              <a:srgbClr val="0891B2">
                <a:alpha val="14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875520" y="365760"/>
            <a:ext cx="2743200" cy="2743200"/>
          </a:xfrm>
          <a:prstGeom prst="ellipse">
            <a:avLst/>
          </a:prstGeom>
          <a:ln w="31750">
            <a:solidFill>
              <a:srgbClr val="7C3AED">
                <a:alpha val="16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554480"/>
            <a:ext cx="9144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 III · SESIÓN 10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205740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de Solución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48640" y="2971800"/>
            <a:ext cx="10698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Coeficientes Constantes y </a:t>
            </a:r>
            <a:pPr indent="0" marL="0">
              <a:buNone/>
            </a:pPr>
            <a:r>
              <a:rPr lang="en-US" sz="24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212080"/>
            <a:ext cx="4937760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52120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(SESIÓN 9) → MÉTODOS (HOY)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0" y="5212080"/>
            <a:ext cx="5605272" cy="457200"/>
          </a:xfrm>
          <a:prstGeom prst="roundRect">
            <a:avLst>
              <a:gd name="adj" fmla="val 20000"/>
            </a:avLst>
          </a:prstGeom>
          <a:solidFill>
            <a:srgbClr val="ECFEFF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0" y="5212080"/>
            <a:ext cx="56052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TÉCNICAS EN 90 MINUTOS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TAREA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1 de 4</a:t>
            </a:r>
            <a:endParaRPr lang="en-US" sz="29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Voy a elegir al azar a cuatro personas, una por pregunta, por lista.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11094415" cy="2651760"/>
          </a:xfrm>
          <a:prstGeom prst="roundRect">
            <a:avLst>
              <a:gd name="adj" fmla="val 2759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03824" y="242316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903824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3063240"/>
            <a:ext cx="99971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operador aniquila un polinomio de grado k?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TAREA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2 de 4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2651760"/>
          </a:xfrm>
          <a:prstGeom prst="roundRect">
            <a:avLst>
              <a:gd name="adj" fmla="val 2759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03824" y="242316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03824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3063240"/>
            <a:ext cx="99971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operador aniquila eʳˣ?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TAREA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3 de 4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2651760"/>
          </a:xfrm>
          <a:prstGeom prst="roundRect">
            <a:avLst>
              <a:gd name="adj" fmla="val 2759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03824" y="242316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03824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3063240"/>
            <a:ext cx="99971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tengo xeʳˣ, ¿por qué (D−r) ya no basta?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REVISIÓN DE TAREA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4 de 4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2651760"/>
          </a:xfrm>
          <a:prstGeom prst="roundRect">
            <a:avLst>
              <a:gd name="adj" fmla="val 2759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03824" y="242316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03824" y="24231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97280" y="3063240"/>
            <a:ext cx="999713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6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g(x)=3x+e²ˣ, ¿cómo aniquilan toda la suma?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548640" y="4983480"/>
            <a:ext cx="11094415" cy="731520"/>
          </a:xfrm>
          <a:prstGeom prst="roundRect">
            <a:avLst>
              <a:gd name="adj" fmla="val 1000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4983480"/>
            <a:ext cx="106372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Elegidos al azar, por lista. Si nadie contesta ninguna, hay que repasar la tarea antes de seguir — todo lo de hoy la da por sabida.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 RELÁMPAGO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Teoría al Método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15258" cy="2377440"/>
          </a:xfrm>
          <a:prstGeom prst="roundRect">
            <a:avLst>
              <a:gd name="adj" fmla="val 3846"/>
            </a:avLst>
          </a:prstGeom>
          <a:solidFill>
            <a:srgbClr val="F1F5F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87452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80160" y="1874520"/>
            <a:ext cx="2555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INDEPENDENCIA LINEAL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468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soluciones linealmente independientes ⇒ solución general. El Wronskiano nos deja verificarlo.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38218" y="1691640"/>
            <a:ext cx="3515258" cy="2377440"/>
          </a:xfrm>
          <a:prstGeom prst="roundRect">
            <a:avLst>
              <a:gd name="adj" fmla="val 3846"/>
            </a:avLst>
          </a:prstGeom>
          <a:solidFill>
            <a:srgbClr val="F1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4566818" y="187452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66818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69738" y="1874520"/>
            <a:ext cx="2555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yᶜ + yₚ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66818" y="2468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general de una ecuación no homogénea: función complementaria más solución particular.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27797" y="1691640"/>
            <a:ext cx="3515258" cy="2377440"/>
          </a:xfrm>
          <a:prstGeom prst="roundRect">
            <a:avLst>
              <a:gd name="adj" fmla="val 3846"/>
            </a:avLst>
          </a:prstGeom>
          <a:solidFill>
            <a:srgbClr val="F1F5F9"/>
          </a:solidFill>
          <a:ln/>
        </p:spPr>
      </p:sp>
      <p:sp>
        <p:nvSpPr>
          <p:cNvPr id="15" name="Shape 13"/>
          <p:cNvSpPr/>
          <p:nvPr/>
        </p:nvSpPr>
        <p:spPr>
          <a:xfrm>
            <a:off x="8356397" y="187452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56397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859317" y="1874520"/>
            <a:ext cx="255513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SUPERPOSICIÓN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56397" y="2468880"/>
            <a:ext cx="305805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forzamiento tiene varios términos distintos, resolvemos cada uno por separado y sumamos.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29768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5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convertimos estas tres ideas en algoritmos concretos.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UNA SOLUCIÓN A TODAS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Reducción de Orden y la Apuesta Exponencial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2240280"/>
          </a:xfrm>
          <a:prstGeom prst="roundRect">
            <a:avLst>
              <a:gd name="adj" fmla="val 4082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3736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GENERAL: REDUCCIÓN DE ORDEN, EN CUATRO PASOS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822960" y="210312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2542032"/>
            <a:ext cx="24649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Proponen y₂=u(x)y₁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516554" y="210312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16554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16554" y="2542032"/>
            <a:ext cx="24649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Sustituyen: los términos con u se cancelan solos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0148" y="210312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10148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210148" y="2542032"/>
            <a:ext cx="24649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Queda una ecuación de 1er orden para u′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8903741" y="210312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903741" y="21031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903741" y="2542032"/>
            <a:ext cx="246499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Resuelven, integran, y multiplican por y₁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329184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siempre, pero son dos integrales y bastante álgebra intermedia — laboriosa.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11094415" cy="1691640"/>
          </a:xfrm>
          <a:prstGeom prst="roundRect">
            <a:avLst>
              <a:gd name="adj" fmla="val 4324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114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ATAJO: COEFICIENTES CONSTANTES</a:t>
            </a:r>
            <a:endParaRPr lang="en-US" sz="1300" dirty="0"/>
          </a:p>
        </p:txBody>
      </p:sp>
      <p:pic>
        <p:nvPicPr>
          <p:cNvPr id="21" name="Image 0" descr="build/eq_light/ansatz_simp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459830"/>
            <a:ext cx="1828800" cy="681540"/>
          </a:xfrm>
          <a:prstGeom prst="rect">
            <a:avLst/>
          </a:prstGeom>
        </p:spPr>
      </p:pic>
      <p:pic>
        <p:nvPicPr>
          <p:cNvPr id="22" name="Image 1" descr="build/eq_light/char_eq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0" y="4474446"/>
            <a:ext cx="8442655" cy="652309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822960" y="521208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Factorizando eʳˣ —que nunca es cero— queda pura álgebra: la ecuación característica.</a:t>
            </a:r>
            <a:endParaRPr lang="en-US" sz="1300" dirty="0"/>
          </a:p>
        </p:txBody>
      </p:sp>
      <p:sp>
        <p:nvSpPr>
          <p:cNvPr id="24" name="Text 20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5" name="Text 21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ECUACIÓN CARACTERÍSTICA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Tres Casos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87452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&gt; 0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Raíces reales distintas</a:t>
            </a:r>
            <a:endParaRPr lang="en-US" sz="1200" dirty="0"/>
          </a:p>
        </p:txBody>
      </p:sp>
      <p:pic>
        <p:nvPicPr>
          <p:cNvPr id="7" name="Image 0" descr="build/eq_light/case_re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3205068"/>
            <a:ext cx="3149498" cy="447864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338218" y="16916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521098" y="187452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= 0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21098" y="219456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Raíz repetida</a:t>
            </a:r>
            <a:endParaRPr lang="en-US" sz="1200" dirty="0"/>
          </a:p>
        </p:txBody>
      </p:sp>
      <p:pic>
        <p:nvPicPr>
          <p:cNvPr id="11" name="Image 1" descr="build/eq_light/case_repeat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1098" y="3185710"/>
            <a:ext cx="3149498" cy="486580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8127797" y="1691640"/>
            <a:ext cx="3515258" cy="2926080"/>
          </a:xfrm>
          <a:prstGeom prst="roundRect">
            <a:avLst>
              <a:gd name="adj" fmla="val 2500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310677" y="1874520"/>
            <a:ext cx="314949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DISCRIMINANTE &lt; 0</a:t>
            </a:r>
            <a:endParaRPr lang="en-US" sz="1250" dirty="0"/>
          </a:p>
        </p:txBody>
      </p:sp>
      <p:sp>
        <p:nvSpPr>
          <p:cNvPr id="14" name="Text 10"/>
          <p:cNvSpPr/>
          <p:nvPr/>
        </p:nvSpPr>
        <p:spPr>
          <a:xfrm>
            <a:off x="8310677" y="2194560"/>
            <a:ext cx="31494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Raíces complejas conjugadas</a:t>
            </a:r>
            <a:endParaRPr lang="en-US" sz="1200" dirty="0"/>
          </a:p>
        </p:txBody>
      </p:sp>
      <p:pic>
        <p:nvPicPr>
          <p:cNvPr id="15" name="Image 2" descr="build/eq_light/case_comple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0677" y="3274932"/>
            <a:ext cx="3149498" cy="308135"/>
          </a:xfrm>
          <a:prstGeom prst="rect">
            <a:avLst/>
          </a:prstGeom>
        </p:spPr>
      </p:pic>
      <p:sp>
        <p:nvSpPr>
          <p:cNvPr id="16" name="Shape 11"/>
          <p:cNvSpPr/>
          <p:nvPr/>
        </p:nvSpPr>
        <p:spPr>
          <a:xfrm>
            <a:off x="548640" y="48463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777240" y="4846320"/>
            <a:ext cx="106372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Ingenieros: memoricen las tres formas — las van a usar el resto del curso.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9" name="Text 14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Raíces Reales Distintas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ex1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9562"/>
            <a:ext cx="10545775" cy="80727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749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la ecuación característica, sus raíces, la solución general, y usen las condiciones iniciales para hallar la solución particular. Resuélvanlo en su cuaderno — la solución está en la siguiente diapositiva.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Raíces Reales Distintas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3246120"/>
          </a:xfrm>
          <a:prstGeom prst="roundRect">
            <a:avLst>
              <a:gd name="adj" fmla="val 2817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ECUACIÓN CARACTERÍSTICA Y RAÍCES</a:t>
            </a:r>
            <a:endParaRPr lang="en-US" sz="1300" dirty="0"/>
          </a:p>
        </p:txBody>
      </p:sp>
      <p:pic>
        <p:nvPicPr>
          <p:cNvPr id="6" name="Image 0" descr="build/eq_light/ex1_ste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80041" y="2148840"/>
            <a:ext cx="6231613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34640"/>
            <a:ext cx="105457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y=C₁e²ˣ+C₂e³ˣ y las condiciones iniciales: C₁+C₂=1, 2C₁+3C₂=0 ⟹ C₁=3, C₂=−2. La solución particular:</a:t>
            </a:r>
            <a:endParaRPr lang="en-US" sz="1350" dirty="0"/>
          </a:p>
        </p:txBody>
      </p:sp>
      <p:pic>
        <p:nvPicPr>
          <p:cNvPr id="8" name="Image 1" descr="build/eq_light/ex1_s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91590" y="3520440"/>
            <a:ext cx="2808514" cy="548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4206240"/>
            <a:ext cx="105457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Verifiquen ustedes que y(0)=1 y y'(0)=0.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Raíz Repetida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pic>
        <p:nvPicPr>
          <p:cNvPr id="5" name="Image 0" descr="build/eq_light/ex2a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2216"/>
            <a:ext cx="10545775" cy="821969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749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la ecuación característica, identifiquen qué tipo de raíz tienen, y hallen la solución particular. Resuélvanlo en su cuaderno — la solución está en la siguiente diapositiva.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Raíz Repetida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2743200"/>
          </a:xfrm>
          <a:prstGeom prst="roundRect">
            <a:avLst>
              <a:gd name="adj" fmla="val 2667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(r−3)²=0 ⟹ raíz doble r=3. Con raíz repetida, la solución general es y=(C₁+C₂x)e³ˣ. Aplicando las condiciones iniciales, C₁=2, C₂=−5:</a:t>
            </a:r>
            <a:endParaRPr lang="en-US" sz="1450" dirty="0"/>
          </a:p>
        </p:txBody>
      </p:sp>
      <p:pic>
        <p:nvPicPr>
          <p:cNvPr id="6" name="Image 0" descr="build/eq_light/ex2a_s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96970" y="2788920"/>
            <a:ext cx="3197755" cy="64008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Raíces Complejas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pic>
        <p:nvPicPr>
          <p:cNvPr id="5" name="Image 0" descr="build/eq_light/ex2b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43926"/>
            <a:ext cx="10545775" cy="79854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749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Mismo proceso: encuentren la característica, sus raíces, y la solución particular. Resuélvanlo en su cuaderno — la solución está en la siguiente diapositiva.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Raíces Complejas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3108960"/>
          </a:xfrm>
          <a:prstGeom prst="roundRect">
            <a:avLst>
              <a:gd name="adj" fmla="val 2353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r²+4r+13=0 ⟹ r=−2±3i. Solución general: y=e⁻²ˣ(C₁cos3x+C₂sin3x). Aplicando las condiciones iniciales, C₁=0, C₂=1:</a:t>
            </a:r>
            <a:endParaRPr lang="en-US" sz="1450" dirty="0"/>
          </a:p>
        </p:txBody>
      </p:sp>
      <p:pic>
        <p:nvPicPr>
          <p:cNvPr id="6" name="Image 0" descr="build/eq_light/ex2b_so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74488" y="2788920"/>
            <a:ext cx="3242719" cy="64008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937760"/>
            <a:ext cx="11094415" cy="594360"/>
          </a:xfrm>
          <a:prstGeom prst="roundRect">
            <a:avLst>
              <a:gd name="adj" fmla="val 12308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937760"/>
            <a:ext cx="106372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Guarden esta última ecuación en la memoria — va a reaparecer.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CAMBIO DE FAMILIA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— La Misma Idea, Otra Apuesta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4415" cy="137160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3736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GENERAL</a:t>
            </a:r>
            <a:endParaRPr lang="en-US" sz="1300" dirty="0"/>
          </a:p>
        </p:txBody>
      </p:sp>
      <p:pic>
        <p:nvPicPr>
          <p:cNvPr id="6" name="Image 0" descr="build/eq_light/ce_gene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92580" y="2057400"/>
            <a:ext cx="5606535" cy="777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31089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coeficiente de cada derivada es una potencia de x que coincide con el orden de la derivada.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3657600"/>
            <a:ext cx="11094415" cy="1737360"/>
          </a:xfrm>
          <a:prstGeom prst="roundRect">
            <a:avLst>
              <a:gd name="adj" fmla="val 4211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22960" y="379476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APUESTA Y LA ECUACIÓN AUXILIAR</a:t>
            </a:r>
            <a:endParaRPr lang="en-US" sz="1300" dirty="0"/>
          </a:p>
        </p:txBody>
      </p:sp>
      <p:pic>
        <p:nvPicPr>
          <p:cNvPr id="10" name="Image 1" descr="build/eq_light/ce_ansatz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4128622"/>
            <a:ext cx="1645920" cy="612435"/>
          </a:xfrm>
          <a:prstGeom prst="rect">
            <a:avLst/>
          </a:prstGeom>
        </p:spPr>
      </p:pic>
      <p:pic>
        <p:nvPicPr>
          <p:cNvPr id="11" name="Image 2" descr="build/eq_light/ce_au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4114800"/>
            <a:ext cx="5514535" cy="6400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22960" y="4892040"/>
            <a:ext cx="105457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Factorizando xᵐ —nunca cero para x&gt;0—: los mismos tres casos de siempre, ahora con potencias y logaritmos de x.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4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— Ejemplo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1094415" cy="1280160"/>
          </a:xfrm>
          <a:prstGeom prst="roundRect">
            <a:avLst>
              <a:gd name="adj" fmla="val 5714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ce_ex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338357"/>
            <a:ext cx="10545775" cy="80968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7490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la ecuación auxiliar, sus raíces, y la solución particular. Resuélvanlo en su cuaderno — la solución está en la siguiente diapositiva.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— Ejemplo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3566160"/>
          </a:xfrm>
          <a:prstGeom prst="roundRect">
            <a:avLst>
              <a:gd name="adj" fmla="val 2564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8288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ECUACIÓN AUXILIAR Y RAÍCES</a:t>
            </a:r>
            <a:endParaRPr lang="en-US" sz="1300" dirty="0"/>
          </a:p>
        </p:txBody>
      </p:sp>
      <p:pic>
        <p:nvPicPr>
          <p:cNvPr id="6" name="Image 0" descr="build/eq_light/ce_ex_step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9404" y="2148840"/>
            <a:ext cx="7852886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22960" y="2834640"/>
            <a:ext cx="105457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raíces complejas m=α±βi (α=0, β=2): y=xᵅ[C₁cos(β ln x)+C₂sin(β ln x)]. Evaluando en x=1 (ln 1=0) con y(1)=1, y'(1)=4: C₁=1, C₂=2.</a:t>
            </a:r>
            <a:endParaRPr lang="en-US" sz="1300" dirty="0"/>
          </a:p>
        </p:txBody>
      </p:sp>
      <p:pic>
        <p:nvPicPr>
          <p:cNvPr id="8" name="Image 1" descr="build/eq_light/ce_ex_so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92445" y="3703320"/>
            <a:ext cx="5206805" cy="54864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DEL ANULADOR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¿Por Qué No Basta con Adivinar?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nonhomog_gener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59603" y="1828800"/>
            <a:ext cx="5672488" cy="77724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30175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saben construir yᶜ. Falta yₚ. Podrían adivinar su forma a ojo —polinomio para polinomio, exponencial para exponencial— pero adivinar falla en cuanto el forzamiento se complica.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3977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3977640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método del anulador convierte ese tanteo en álgebra pura: tratamos D=d/dx como un símbolo algebraico, y buscamos un operador que ANIQUILE —convierta en cero— la función g(x) del lado derecho.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BLOQUES BÁSICOS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Operadores D y la Tabla de Anuladores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68680" y="1691640"/>
            <a:ext cx="665664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Polinomio de grado k (hasta xᵏ)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205289" y="1691640"/>
            <a:ext cx="411772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Dᵏ⁺¹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27432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1F5F9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743200"/>
            <a:ext cx="665664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Exponencial eʳˣ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205289" y="2743200"/>
            <a:ext cx="411772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(D−r)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37947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3794760"/>
            <a:ext cx="665664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eᵅˣcos βx  o  eᵅˣsin βx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205289" y="3794760"/>
            <a:ext cx="411772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D²−2αD+(α²+β²)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4892040"/>
            <a:ext cx="11094415" cy="960120"/>
          </a:xfrm>
          <a:prstGeom prst="roundRect">
            <a:avLst>
              <a:gd name="adj" fmla="val 7619"/>
            </a:avLst>
          </a:prstGeom>
          <a:solidFill>
            <a:srgbClr val="ECFDF5"/>
          </a:solidFill>
          <a:ln w="12700">
            <a:solidFill>
              <a:srgbClr val="0478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" y="4892040"/>
            <a:ext cx="106372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0478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una suma de términos, multiplican —componen— los operadores de cada uno. Aquí regresa la superposición para no homogéneas de la Sesión 9: cada anulador se encarga de su propio término.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ALGORITMO COMPLETO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Algoritmo del Anulador, Paso a Paso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87188" cy="1783080"/>
          </a:xfrm>
          <a:prstGeom prst="roundRect">
            <a:avLst>
              <a:gd name="adj" fmla="val 5128"/>
            </a:avLst>
          </a:prstGeom>
          <a:solidFill>
            <a:srgbClr val="F1F5F9"/>
          </a:solidFill>
          <a:ln/>
        </p:spPr>
      </p:sp>
      <p:sp>
        <p:nvSpPr>
          <p:cNvPr id="5" name="Shape 3"/>
          <p:cNvSpPr/>
          <p:nvPr/>
        </p:nvSpPr>
        <p:spPr>
          <a:xfrm>
            <a:off x="777240" y="178308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78308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yᶜ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de la homogénea asociada — ya saben hacerlo.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55868" y="1600200"/>
            <a:ext cx="5387188" cy="1783080"/>
          </a:xfrm>
          <a:prstGeom prst="roundRect">
            <a:avLst>
              <a:gd name="adj" fmla="val 5128"/>
            </a:avLst>
          </a:prstGeom>
          <a:solidFill>
            <a:srgbClr val="F1F5F9"/>
          </a:solidFill>
          <a:ln/>
        </p:spPr>
      </p:sp>
      <p:sp>
        <p:nvSpPr>
          <p:cNvPr id="10" name="Shape 8"/>
          <p:cNvSpPr/>
          <p:nvPr/>
        </p:nvSpPr>
        <p:spPr>
          <a:xfrm>
            <a:off x="6484468" y="178308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84468" y="1783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33108" y="178308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Anulen g(x)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530188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un operador anulador y apliquenlo a AMBOS lados de la ecuación completa.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5387188" cy="1783080"/>
          </a:xfrm>
          <a:prstGeom prst="roundRect">
            <a:avLst>
              <a:gd name="adj" fmla="val 5128"/>
            </a:avLst>
          </a:prstGeom>
          <a:solidFill>
            <a:srgbClr val="F1F5F9"/>
          </a:solidFill>
          <a:ln/>
        </p:spPr>
      </p:sp>
      <p:sp>
        <p:nvSpPr>
          <p:cNvPr id="15" name="Shape 13"/>
          <p:cNvSpPr/>
          <p:nvPr/>
        </p:nvSpPr>
        <p:spPr>
          <a:xfrm>
            <a:off x="777240" y="384048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7240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325880" y="384048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Resuelvan y eliminen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822960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Resuelvan la ecuación de orden mayor; eliminen los términos que ya están en yᶜ.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55868" y="3657600"/>
            <a:ext cx="5387188" cy="1783080"/>
          </a:xfrm>
          <a:prstGeom prst="roundRect">
            <a:avLst>
              <a:gd name="adj" fmla="val 5128"/>
            </a:avLst>
          </a:prstGeom>
          <a:solidFill>
            <a:srgbClr val="F1F5F9"/>
          </a:solidFill>
          <a:ln/>
        </p:spPr>
      </p:sp>
      <p:sp>
        <p:nvSpPr>
          <p:cNvPr id="20" name="Shape 18"/>
          <p:cNvSpPr/>
          <p:nvPr/>
        </p:nvSpPr>
        <p:spPr>
          <a:xfrm>
            <a:off x="6484468" y="3840480"/>
            <a:ext cx="384048" cy="38404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E749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84468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033108" y="3840480"/>
            <a:ext cx="43813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5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Sustituyan y despejen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530188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Sustituyan la forma restante (yₚ) en la ecuación ORIGINAL para hallar los coeficientes.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Anulador (Planteamiento)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1188720"/>
          </a:xfrm>
          <a:prstGeom prst="roundRect">
            <a:avLst>
              <a:gd name="adj" fmla="val 6154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an_set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78262" y="1828800"/>
            <a:ext cx="5635171" cy="9144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306324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777240" y="306324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¿Cuál es yᶜ? [característica (r−2)(r+1)=0 ⟹ yᶜ=C₁e²ˣ+C₂e⁻ˣ]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48640" y="3931920"/>
            <a:ext cx="11094415" cy="777240"/>
          </a:xfrm>
          <a:prstGeom prst="roundRect">
            <a:avLst>
              <a:gd name="adj" fmla="val 9412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77240" y="3931920"/>
            <a:ext cx="106372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operador aniquila 4x²? [D³, porque x² es un polinomio de grado 2]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48640" y="484632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Apliquen D³ a ambos lados, identifiquen qué términos ya están en yᶜ, y propongan la forma de yₚ con coeficientes por determinar. Resuélvanlo en su cuaderno — la solución está en la siguiente diapositiva.</a:t>
            </a:r>
            <a:endParaRPr lang="en-US" sz="1350" dirty="0"/>
          </a:p>
        </p:txBody>
      </p:sp>
      <p:sp>
        <p:nvSpPr>
          <p:cNvPr id="11" name="Text 8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PIZARRÓN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 — Anulador (Solución)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11094415" cy="4023360"/>
          </a:xfrm>
          <a:prstGeom prst="roundRect">
            <a:avLst>
              <a:gd name="adj" fmla="val 2273"/>
            </a:avLst>
          </a:prstGeom>
          <a:solidFill>
            <a:srgbClr val="F1F5F9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8308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RECAPITULANDO yᶜ</a:t>
            </a:r>
            <a:endParaRPr lang="en-US" sz="1300" dirty="0"/>
          </a:p>
        </p:txBody>
      </p:sp>
      <p:pic>
        <p:nvPicPr>
          <p:cNvPr id="6" name="Image 0" descr="build/eq_light/an_y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103120"/>
            <a:ext cx="3194761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389120" y="1783080"/>
            <a:ext cx="69796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yₚ (SIN LOS TÉRMINOS YA EN yᶜ)</a:t>
            </a:r>
            <a:endParaRPr lang="en-US" sz="1300" dirty="0"/>
          </a:p>
        </p:txBody>
      </p:sp>
      <p:pic>
        <p:nvPicPr>
          <p:cNvPr id="8" name="Image 1" descr="build/eq_light/an_yp_for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0" y="2103120"/>
            <a:ext cx="3051761" cy="50292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22960" y="2788920"/>
            <a:ext cx="1054577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Sustituyendo en la ecuación original y agrupando por potencias de x: de x², −2C=4; de x¹, −2C−2B=0; de x⁰, 2C−B−2A=0.</a:t>
            </a:r>
            <a:endParaRPr lang="en-US" sz="1350" dirty="0"/>
          </a:p>
        </p:txBody>
      </p:sp>
      <p:pic>
        <p:nvPicPr>
          <p:cNvPr id="10" name="Image 2" descr="build/eq_light/an_coeff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8523" y="3337560"/>
            <a:ext cx="4554650" cy="50292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822960" y="3977640"/>
            <a:ext cx="1054577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particular:</a:t>
            </a:r>
            <a:endParaRPr lang="en-US" sz="1400" dirty="0"/>
          </a:p>
        </p:txBody>
      </p:sp>
      <p:sp>
        <p:nvSpPr>
          <p:cNvPr id="12" name="Text 7"/>
          <p:cNvSpPr/>
          <p:nvPr/>
        </p:nvSpPr>
        <p:spPr>
          <a:xfrm>
            <a:off x="822960" y="4297680"/>
            <a:ext cx="1054577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20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yₚ = −3 + 2x − 2x²</a:t>
            </a:r>
            <a:endParaRPr lang="en-US" sz="2000" dirty="0"/>
          </a:p>
        </p:txBody>
      </p:sp>
      <p:sp>
        <p:nvSpPr>
          <p:cNvPr id="13" name="Text 8"/>
          <p:cNvSpPr/>
          <p:nvPr/>
        </p:nvSpPr>
        <p:spPr>
          <a:xfrm>
            <a:off x="822960" y="4800600"/>
            <a:ext cx="10545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SOLUCIÓN GENERAL COMPLETA</a:t>
            </a:r>
            <a:endParaRPr lang="en-US" sz="1300" dirty="0"/>
          </a:p>
        </p:txBody>
      </p:sp>
      <p:pic>
        <p:nvPicPr>
          <p:cNvPr id="14" name="Image 3" descr="build/eq_light/an_fina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1080" y="5120640"/>
            <a:ext cx="5429534" cy="50292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6" name="Text 10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REAL — PLANTEAMIENTO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Masa-Resorte-Amortiguador, Ahora Forzado</a:t>
            </a:r>
            <a:endParaRPr lang="en-US" sz="2900" dirty="0"/>
          </a:p>
        </p:txBody>
      </p:sp>
      <p:pic>
        <p:nvPicPr>
          <p:cNvPr id="4" name="Image 0" descr="build/img_light/msd_forc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1072" y="1737360"/>
            <a:ext cx="4286121" cy="237744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859664" y="1600200"/>
            <a:ext cx="4783391" cy="777240"/>
          </a:xfrm>
          <a:prstGeom prst="roundRect">
            <a:avLst>
              <a:gd name="adj" fmla="val 9412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6" name="Image 1" descr="build/eq_light/msd_setu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3102" y="1737360"/>
            <a:ext cx="3556514" cy="50292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859664" y="2606040"/>
            <a:ext cx="4783391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misma ecuación característica que en la Diapositiva 13 — ahora con una fuerza constante empujando el sistema.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548640" y="484632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77240" y="4846320"/>
            <a:ext cx="106372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5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Encuentren xᶜ, el anulador de la constante, la forma de xₚ, y la solución completa. Resuélvanlo en su cuaderno — la solución está en la siguiente diapositiva.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CASO REAL — SOLUCIÓN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Masa-Resorte-Amortiguador, Ahora Forzado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94415" cy="914400"/>
          </a:xfrm>
          <a:prstGeom prst="roundRect">
            <a:avLst>
              <a:gd name="adj" fmla="val 8000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pic>
        <p:nvPicPr>
          <p:cNvPr id="5" name="Image 0" descr="build/eq_light/msd_x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07326" y="1828800"/>
            <a:ext cx="5977043" cy="640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788920"/>
            <a:ext cx="1109441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anulador de la constante 26 es D; aplicando el algoritmo completo, la forma de xₚ es simplemente una constante, y sustituyendo se obtiene xₚ=2. La solución general:</a:t>
            </a:r>
            <a:endParaRPr lang="en-US" sz="1450" dirty="0"/>
          </a:p>
        </p:txBody>
      </p:sp>
      <p:pic>
        <p:nvPicPr>
          <p:cNvPr id="7" name="Image 1" descr="build/eq_light/msd_fi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1194" y="3611880"/>
            <a:ext cx="5889308" cy="548640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4343400"/>
            <a:ext cx="11094415" cy="1600200"/>
          </a:xfrm>
          <a:prstGeom prst="roundRect">
            <a:avLst>
              <a:gd name="adj" fmla="val 4571"/>
            </a:avLst>
          </a:prstGeom>
          <a:solidFill>
            <a:srgbClr val="F5F3FF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777240" y="4343400"/>
            <a:ext cx="10637215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6D28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importar C₁ y C₂, el término exponencial decae a cero cuando t→∞: el sistema termina asentándose en un NUEVO EQUILIBRIO, desplazado 2 unidades. xᶜ es la respuesta transitoria que se apaga; xₚ es hacia dónde se dirige el sistema a largo plazo.</a:t>
            </a:r>
            <a:endParaRPr lang="en-US" sz="1300" dirty="0"/>
          </a:p>
        </p:txBody>
      </p:sp>
      <p:sp>
        <p:nvSpPr>
          <p:cNvPr id="10" name="Text 6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11" name="Text 7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ANTES DE SEGUIR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Errores Comunes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371600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 no es coeficientes constantes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sustitución es y=xᵐ, no y=eʳˣ — son ecuaciones distintas, con trucos distintos; no las mezclen.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255868" y="16002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6484468" y="1783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078828" y="17830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Olvidar revisar contra yᶜ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530188" y="24688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término de la solución de orden mayor ya está en yᶜ y no lo eliminan, el sistema de coeficientes no va a tener solución.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371600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Anular solo un lado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anulador debe aplicarse a AMBOS lados de la ecuación — no solo al lado derecho.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255868" y="3657600"/>
            <a:ext cx="5387188" cy="1783080"/>
          </a:xfrm>
          <a:prstGeom prst="roundRect">
            <a:avLst>
              <a:gd name="adj" fmla="val 4103"/>
            </a:avLst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21" name="Text 19"/>
          <p:cNvSpPr/>
          <p:nvPr/>
        </p:nvSpPr>
        <p:spPr>
          <a:xfrm>
            <a:off x="6484468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⚠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78828" y="3840480"/>
            <a:ext cx="43356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Olvidar que Cauchy-Euler asume x&gt;0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530188" y="4526280"/>
            <a:ext cx="483854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2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x&lt;0 se necesitan ajustes con |x| que no cubrimos hoy.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097280" y="4114800"/>
            <a:ext cx="4023360" cy="4023360"/>
          </a:xfrm>
          <a:prstGeom prst="ellipse">
            <a:avLst/>
          </a:prstGeom>
          <a:solidFill>
            <a:srgbClr val="0891B2">
              <a:alpha val="1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65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64008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Arsenal de Orden Superior, Completo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90824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8" name="Text 6"/>
          <p:cNvSpPr/>
          <p:nvPr/>
        </p:nvSpPr>
        <p:spPr>
          <a:xfrm>
            <a:off x="3390824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CAUCHY-EULER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233008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10" name="Text 8"/>
          <p:cNvSpPr/>
          <p:nvPr/>
        </p:nvSpPr>
        <p:spPr>
          <a:xfrm>
            <a:off x="6233008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ANULADOR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9075191" y="1600200"/>
            <a:ext cx="2567864" cy="457200"/>
          </a:xfrm>
          <a:prstGeom prst="roundRect">
            <a:avLst>
              <a:gd name="adj" fmla="val 20000"/>
            </a:avLst>
          </a:prstGeom>
          <a:solidFill>
            <a:srgbClr val="E2E8F0"/>
          </a:solidFill>
          <a:ln/>
        </p:spPr>
      </p:sp>
      <p:sp>
        <p:nvSpPr>
          <p:cNvPr id="12" name="Text 10"/>
          <p:cNvSpPr/>
          <p:nvPr/>
        </p:nvSpPr>
        <p:spPr>
          <a:xfrm>
            <a:off x="9075191" y="1600200"/>
            <a:ext cx="25678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FORZADO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48640" y="2423160"/>
            <a:ext cx="11094415" cy="2194560"/>
          </a:xfrm>
          <a:prstGeom prst="roundRect">
            <a:avLst>
              <a:gd name="adj" fmla="val 3333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265176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fabrican soluciones completas: homogéneas con coeficientes constantes, Cauchy-Euler, y no homogéneas cuando el forzamiento es un polinomio, una exponencial, un seno o coseno — o una combinación de esos.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914400" y="3611880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 el anulador tiene un límite: solo funciona cuando existe un anulador, y funciones como tan x o ln x simplemente no tienen uno.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914400" y="4846320"/>
            <a:ext cx="10362895" cy="502920"/>
          </a:xfrm>
          <a:prstGeom prst="roundRect">
            <a:avLst>
              <a:gd name="adj" fmla="val 14545"/>
            </a:avLst>
          </a:prstGeom>
          <a:solidFill>
            <a:srgbClr val="ECFEFF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846320"/>
            <a:ext cx="103628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b="1" dirty="0">
                <a:solidFill>
                  <a:srgbClr val="0E74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  →  VARIACIÓN DE PARÁMETROS Y SISTEMAS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14400" y="5486400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método que funciona para cualquier forzamiento, y cómo resolver sistemas completos de ecuaciones diferenciales lineales.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652881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10 · CÁLCULO III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94415" y="6528816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2026-09-22T04:19:15Z</dcterms:created>
  <dcterms:modified xsi:type="dcterms:W3CDTF">2026-09-22T04:19:15Z</dcterms:modified>
</cp:coreProperties>
</file>