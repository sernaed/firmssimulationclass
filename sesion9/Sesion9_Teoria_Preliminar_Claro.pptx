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1371600"/>
            <a:ext cx="4754880" cy="4754880"/>
          </a:xfrm>
          <a:prstGeom prst="ellipse">
            <a:avLst/>
          </a:prstGeom>
          <a:ln w="31750">
            <a:solidFill>
              <a:srgbClr val="0891B2">
                <a:alpha val="14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365760"/>
            <a:ext cx="2743200" cy="2743200"/>
          </a:xfrm>
          <a:prstGeom prst="ellipse">
            <a:avLst/>
          </a:prstGeom>
          <a:ln w="31750">
            <a:solidFill>
              <a:srgbClr val="7C3AED">
                <a:alpha val="16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554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III · SESIÓN 9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0574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 Preliminar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29718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Ecuaciones Lineales de </a:t>
            </a:r>
            <a:pPr indent="0" marL="0">
              <a:buNone/>
            </a:pPr>
            <a:r>
              <a:rPr lang="en-US" sz="24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 Superior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5212080"/>
            <a:ext cx="4160520" cy="457200"/>
          </a:xfrm>
          <a:prstGeom prst="roundRect">
            <a:avLst>
              <a:gd name="adj" fmla="val 20000"/>
            </a:avLst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521208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ARSENAL ANALÍTICO: SESIONES 1–8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892040" y="5212080"/>
            <a:ext cx="3246120" cy="457200"/>
          </a:xfrm>
          <a:prstGeom prst="roundRect">
            <a:avLst>
              <a:gd name="adj" fmla="val 20000"/>
            </a:avLst>
          </a:prstGeom>
          <a:solidFill>
            <a:srgbClr val="ECFEFF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92040" y="52120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PVI → PVF → WRONSKIANO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321040" y="5212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5F3FF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0" y="5212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LAS REGLAS PRIMERO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REPASO RELÁMPAGO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Euler a Orden Superior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64328" cy="1828800"/>
          </a:xfrm>
          <a:prstGeom prst="roundRect">
            <a:avLst>
              <a:gd name="adj" fmla="val 4000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ÁLGEBRA EXACTA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240280"/>
            <a:ext cx="48156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Separables, lineales, exactas, homogéneas, Bernoulli. Todas de primer orden — solo aparece y'.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78728" y="1691640"/>
            <a:ext cx="5364328" cy="182880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/>
        </p:spPr>
      </p:sp>
      <p:sp>
        <p:nvSpPr>
          <p:cNvPr id="8" name="Text 6"/>
          <p:cNvSpPr/>
          <p:nvPr/>
        </p:nvSpPr>
        <p:spPr>
          <a:xfrm>
            <a:off x="6553048" y="187452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APROXIMACIÓN NUMÉRICA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53048" y="2240280"/>
            <a:ext cx="48156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Método de Euler, para cuando no hay fórmula cerrada.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88620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886200"/>
            <a:ext cx="106372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subimos un escalón: ecuaciones de orden n. Pero antes de fabricar soluciones —eso es la Sesión 10—, necesitamos las reglas: ¿cuándo existe una solución? ¿cuándo es única?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DE VALOR INICIAL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PVI, Generalizado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1051560"/>
          </a:xfrm>
          <a:prstGeom prst="roundRect">
            <a:avLst>
              <a:gd name="adj" fmla="val 8696"/>
            </a:avLst>
          </a:prstGeom>
          <a:solidFill>
            <a:srgbClr val="F1F5F9"/>
          </a:solidFill>
          <a:ln/>
        </p:spPr>
      </p:sp>
      <p:pic>
        <p:nvPicPr>
          <p:cNvPr id="5" name="Image 0" descr="build/eq_light/pvi_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86994" y="1783080"/>
            <a:ext cx="7417707" cy="7772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2880360"/>
            <a:ext cx="11094415" cy="1051560"/>
          </a:xfrm>
          <a:prstGeom prst="roundRect">
            <a:avLst>
              <a:gd name="adj" fmla="val 8696"/>
            </a:avLst>
          </a:prstGeom>
          <a:solidFill>
            <a:srgbClr val="ECFEFF"/>
          </a:solidFill>
          <a:ln/>
        </p:spPr>
      </p:sp>
      <p:pic>
        <p:nvPicPr>
          <p:cNvPr id="7" name="Image 1" descr="build/eq_light/pvi_conditio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045818"/>
            <a:ext cx="10545775" cy="72064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48640" y="41605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Necesitan una condición por cada derivada, hasta la (n−1)-ésima, todas evaluadas en el mismo punto x₀. Para segundo orden: posición y velocidad iniciales. Para tercer orden, agregan la aceleración inicial.</a:t>
            </a:r>
            <a:endParaRPr lang="en-US" sz="1450" dirty="0"/>
          </a:p>
        </p:txBody>
      </p:sp>
      <p:sp>
        <p:nvSpPr>
          <p:cNvPr id="9" name="Shape 5"/>
          <p:cNvSpPr/>
          <p:nvPr/>
        </p:nvSpPr>
        <p:spPr>
          <a:xfrm>
            <a:off x="548640" y="507492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77240" y="507492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Ingenieros: cuenten las condiciones antes de empezar — si les faltan o les sobran, algo está mal planteado.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GARANTÍA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Teorema de Existencia y Unicidad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2743200"/>
          </a:xfrm>
          <a:prstGeom prst="roundRect">
            <a:avLst>
              <a:gd name="adj" fmla="val 2667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92024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TEOREMA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286000"/>
            <a:ext cx="104543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Sean aₙ(x), …, a₀(x) y g(x) continuas en un intervalo I, con aₙ(x)≠0 para toda x en I. Si x₀ está en I, el problema de valor inicial tiene una solución — y es única — en todo el intervalo I.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868680" y="3703320"/>
            <a:ext cx="5090008" cy="502920"/>
          </a:xfrm>
          <a:prstGeom prst="roundRect">
            <a:avLst>
              <a:gd name="adj" fmla="val 18182"/>
            </a:avLst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3703320"/>
            <a:ext cx="5090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HIPÓTESIS 1: COEFICIENTES CONTINUOS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33008" y="3703320"/>
            <a:ext cx="5090008" cy="502920"/>
          </a:xfrm>
          <a:prstGeom prst="roundRect">
            <a:avLst>
              <a:gd name="adj" fmla="val 18182"/>
            </a:avLst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6233008" y="3703320"/>
            <a:ext cx="5090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HIPÓTESIS 2: aₙ(x) ≠ 0 EN TODO 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489204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489204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segunda hipótesis —aₙ(x) nunca cero— es la que más se les va a olvidar, y es exactamente donde viven la mayoría de las trampas de examen.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PVF — Un Mundo Distinto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3246120"/>
          </a:xfrm>
          <a:prstGeom prst="roundRect">
            <a:avLst>
              <a:gd name="adj" fmla="val 2817"/>
            </a:avLst>
          </a:prstGeom>
          <a:solidFill>
            <a:srgbClr val="F1F5F9"/>
          </a:solidFill>
          <a:ln/>
        </p:spPr>
      </p:sp>
      <p:pic>
        <p:nvPicPr>
          <p:cNvPr id="5" name="Image 0" descr="build/img_light/ivp_vs_bv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70585" y="1783080"/>
            <a:ext cx="5850525" cy="2148840"/>
          </a:xfrm>
          <a:prstGeom prst="rect">
            <a:avLst/>
          </a:prstGeom>
        </p:spPr>
      </p:pic>
      <p:pic>
        <p:nvPicPr>
          <p:cNvPr id="6" name="Image 1" descr="build/eq_light/pvf_conditio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0119" y="4023360"/>
            <a:ext cx="6471458" cy="685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074920"/>
            <a:ext cx="11094415" cy="1280160"/>
          </a:xfrm>
          <a:prstGeom prst="roundRect">
            <a:avLst>
              <a:gd name="adj" fmla="val 5714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77240" y="5074920"/>
            <a:ext cx="106372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teorema de existencia y unicidad NO aplica a un PVF. Puede tener solución única, ninguna, o infinitas — la deflexión de una viga o el pandeo de una columna se modelan así, y lo van a resolver en la Sesión 10.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CLÁSICO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PVF con Tres Personalidades</a:t>
            </a:r>
            <a:endParaRPr lang="en-US" sz="2900" dirty="0"/>
          </a:p>
        </p:txBody>
      </p:sp>
      <p:pic>
        <p:nvPicPr>
          <p:cNvPr id="4" name="Image 0" descr="build/eq_light/bvp_ode_s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7209300" cy="502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2194560"/>
            <a:ext cx="3515258" cy="1600200"/>
          </a:xfrm>
          <a:prstGeom prst="roundRect">
            <a:avLst>
              <a:gd name="adj" fmla="val 4571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5800" y="2331720"/>
            <a:ext cx="32409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∞ SOLUCIONES</a:t>
            </a:r>
            <a:endParaRPr lang="en-US" sz="1250" dirty="0"/>
          </a:p>
        </p:txBody>
      </p:sp>
      <p:pic>
        <p:nvPicPr>
          <p:cNvPr id="7" name="Image 1" descr="build/eq_light/bvp_cas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668667"/>
            <a:ext cx="3240938" cy="42338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85800" y="3154680"/>
            <a:ext cx="32409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⟹ C₂sin(2π)=0 → cualquier C₂</a:t>
            </a:r>
            <a:endParaRPr lang="en-US" sz="1150" dirty="0"/>
          </a:p>
        </p:txBody>
      </p:sp>
      <p:sp>
        <p:nvSpPr>
          <p:cNvPr id="9" name="Shape 5"/>
          <p:cNvSpPr/>
          <p:nvPr/>
        </p:nvSpPr>
        <p:spPr>
          <a:xfrm>
            <a:off x="4338218" y="2194560"/>
            <a:ext cx="3515258" cy="1600200"/>
          </a:xfrm>
          <a:prstGeom prst="roundRect">
            <a:avLst>
              <a:gd name="adj" fmla="val 4571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4475378" y="2331720"/>
            <a:ext cx="32409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SOLUCIÓN</a:t>
            </a:r>
            <a:endParaRPr lang="en-US" sz="1250" dirty="0"/>
          </a:p>
        </p:txBody>
      </p:sp>
      <p:pic>
        <p:nvPicPr>
          <p:cNvPr id="11" name="Image 2" descr="build/eq_light/bvp_case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78" y="2668667"/>
            <a:ext cx="3240938" cy="42338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475378" y="3154680"/>
            <a:ext cx="32409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⟹ C₂sin(2π)=1 → imposible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8127797" y="2194560"/>
            <a:ext cx="3515258" cy="1600200"/>
          </a:xfrm>
          <a:prstGeom prst="roundRect">
            <a:avLst>
              <a:gd name="adj" fmla="val 4571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8264957" y="2331720"/>
            <a:ext cx="32409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ÚNICA</a:t>
            </a:r>
            <a:endParaRPr lang="en-US" sz="1250" dirty="0"/>
          </a:p>
        </p:txBody>
      </p:sp>
      <p:pic>
        <p:nvPicPr>
          <p:cNvPr id="15" name="Image 3" descr="build/eq_light/bvp_case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7" y="2668667"/>
            <a:ext cx="3240938" cy="423385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264957" y="3154680"/>
            <a:ext cx="32409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⟹ C₂sin(π/2)=0 → C₂=0</a:t>
            </a:r>
            <a:endParaRPr lang="en-US" sz="1150" dirty="0"/>
          </a:p>
        </p:txBody>
      </p:sp>
      <p:sp>
        <p:nvSpPr>
          <p:cNvPr id="17" name="Shape 11"/>
          <p:cNvSpPr/>
          <p:nvPr/>
        </p:nvSpPr>
        <p:spPr>
          <a:xfrm>
            <a:off x="548640" y="4069080"/>
            <a:ext cx="11094415" cy="2331720"/>
          </a:xfrm>
          <a:prstGeom prst="roundRect">
            <a:avLst>
              <a:gd name="adj" fmla="val 3922"/>
            </a:avLst>
          </a:prstGeom>
          <a:solidFill>
            <a:srgbClr val="F1F5F9"/>
          </a:solidFill>
          <a:ln/>
        </p:spPr>
      </p:sp>
      <p:pic>
        <p:nvPicPr>
          <p:cNvPr id="18" name="Image 4" descr="build/img_light/bvp_famil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9243" y="4206240"/>
            <a:ext cx="2673209" cy="169164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822960" y="589788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Personalidad uno, visualizada: infinitas curvas distintas pasando por los mismos dos puntos.</a:t>
            </a:r>
            <a:endParaRPr lang="en-US" sz="1200" dirty="0"/>
          </a:p>
        </p:txBody>
      </p:sp>
      <p:sp>
        <p:nvSpPr>
          <p:cNvPr id="20" name="Text 13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COMBINANDO SOLUCIONES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Principio de Superposición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1371600"/>
          </a:xfrm>
          <a:prstGeom prst="roundRect">
            <a:avLst>
              <a:gd name="adj" fmla="val 5333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5" name="Image 0" descr="build/eq_light/superposition_hom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64985"/>
            <a:ext cx="10545775" cy="102490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3375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y₁, y₂, …, yₖ son soluciones de la MISMA ecuación homogénea, entonces cualquier combinación lineal de ellas también es solución. Pueden verificarlo sustituyendo directamente.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434340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434340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es la razón por la que, en la Sesión 10, nunca vamos a buscar 'la' solución — vamos a buscar varias soluciones simples y combinarlas.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DEPENDENCIA E INDEPENDENCIA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¿Son Genuinamente Distintas?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64328" cy="3017520"/>
          </a:xfrm>
          <a:prstGeom prst="roundRect">
            <a:avLst>
              <a:gd name="adj" fmla="val 3030"/>
            </a:avLst>
          </a:prstGeom>
          <a:solidFill>
            <a:srgbClr val="F1F5F9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</a:t>
            </a:r>
            <a:endParaRPr lang="en-US" sz="1300" dirty="0"/>
          </a:p>
        </p:txBody>
      </p:sp>
      <p:pic>
        <p:nvPicPr>
          <p:cNvPr id="6" name="Image 0" descr="build/eq_light/lin_dep_de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82862"/>
            <a:ext cx="4815688" cy="46347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926080"/>
            <a:ext cx="48156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conjunto es LINEALMENTE DEPENDIENTE si existen constantes, no todas cero, que hacen esa suma igual a cero para toda x. Si la única forma es con todas en cero, son INDEPENDIENTES.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78728" y="1691640"/>
            <a:ext cx="5364328" cy="3017520"/>
          </a:xfrm>
          <a:prstGeom prst="roundRect">
            <a:avLst>
              <a:gd name="adj" fmla="val 2424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53048" y="187452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EJEMPLO — DEPENDIENTES</a:t>
            </a:r>
            <a:endParaRPr lang="en-US" sz="1300" dirty="0"/>
          </a:p>
        </p:txBody>
      </p:sp>
      <p:pic>
        <p:nvPicPr>
          <p:cNvPr id="10" name="Image 1" descr="build/eq_light/lin_dep_examp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3048" y="2339765"/>
            <a:ext cx="4815688" cy="395389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553048" y="2926080"/>
            <a:ext cx="48156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f₁=x y f₂=5x son dependientes: reciclan la misma información. En cambio, f₁=x y f₂=x² son independientes — no hay forma de anular esa combinación salvo con ambas constantes en cero.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ATAJO ALGEBRAICO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Wronskiano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5" name="Image 0" descr="build/eq_light/wronskian_de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12800" y="1828800"/>
            <a:ext cx="5966094" cy="7772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0175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Teorema: si y₁, …, yₙ son soluciones de la MISMA ecuación lineal homogénea, son linealmente independientes en un intervalo si y solo si su Wronskiano nunca se anula ahí.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402336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402336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El Wronskiano solo es una prueba confiable cuando las funciones ya son soluciones de la misma ecuación — para funciones cualesquiera, un Wronskiano cero no garantiza dependencia.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Calculando un Wronskiano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3200400"/>
          </a:xfrm>
          <a:prstGeom prst="roundRect">
            <a:avLst>
              <a:gd name="adj" fmla="val 2857"/>
            </a:avLst>
          </a:prstGeom>
          <a:solidFill>
            <a:srgbClr val="F1F5F9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SOLUCIONES DE y''−9y=0</a:t>
            </a:r>
            <a:endParaRPr lang="en-US" sz="1300" dirty="0"/>
          </a:p>
        </p:txBody>
      </p:sp>
      <p:pic>
        <p:nvPicPr>
          <p:cNvPr id="6" name="Image 0" descr="build/eq_light/wronskian_ex_set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8968" y="2240280"/>
            <a:ext cx="4493759" cy="5943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971800"/>
            <a:ext cx="10545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Derivando: y₁'=3e³ˣ, y₂'=−3e⁻³ˣ. El Wronskiano:</a:t>
            </a:r>
            <a:endParaRPr lang="en-US" sz="1450" dirty="0"/>
          </a:p>
        </p:txBody>
      </p:sp>
      <p:pic>
        <p:nvPicPr>
          <p:cNvPr id="8" name="Image 1" descr="build/eq_light/wronskian_ex_cal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8278" y="3337560"/>
            <a:ext cx="6835140" cy="5943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406908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e³ˣ·e⁻³ˣ=1 para toda x, el resultado es −6 sin importar x — nunca es cero. Son linealmente independientes en toda la recta real: forman un conjunto fundamental de soluciones.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SE JUNTA AQUÍ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Conjunto Fundamental y Solución General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1371600"/>
          </a:xfrm>
          <a:prstGeom prst="roundRect">
            <a:avLst>
              <a:gd name="adj" fmla="val 5333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5" name="Image 0" descr="build/eq_light/general_sol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69746"/>
            <a:ext cx="10545775" cy="101538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3375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conjunto fundamental de soluciones de una ED lineal homogénea de orden n es exactamente eso: n soluciones, linealmente independientes entre sí, de esa misma ecuación.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425196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4251960"/>
            <a:ext cx="10637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y₁,…,yₙ es un conjunto fundamental, esta combinación ES la solución general — combina todas las soluciones posibles, ninguna se les escapa.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ECUACIONES NO HOMOGÉNEAS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General: yᶜ + yₚ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1005840"/>
          </a:xfrm>
          <a:prstGeom prst="roundRect">
            <a:avLst>
              <a:gd name="adj" fmla="val 7273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5" name="Image 0" descr="build/eq_light/yc_y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3149" y="1645920"/>
            <a:ext cx="3965396" cy="1005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2880360"/>
            <a:ext cx="5364328" cy="1965960"/>
          </a:xfrm>
          <a:prstGeom prst="roundRect">
            <a:avLst>
              <a:gd name="adj" fmla="val 4651"/>
            </a:avLst>
          </a:prstGeom>
          <a:solidFill>
            <a:srgbClr val="F1F5F9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306324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 COMPLEMENTARIA yᶜ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22960" y="3429000"/>
            <a:ext cx="48156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general de la ecuación homogénea asociada — todo lo que ya construimos hoy.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278728" y="2880360"/>
            <a:ext cx="5364328" cy="1965960"/>
          </a:xfrm>
          <a:prstGeom prst="roundRect">
            <a:avLst>
              <a:gd name="adj" fmla="val 3721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53048" y="306324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PARTICULAR yₚ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553048" y="3429000"/>
            <a:ext cx="48156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 función, sin constantes libres, que satisface la ecuación completa con su lado derecho.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ÚLTIMA PIEZA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Superposición para No Homogéneas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94415" cy="1737360"/>
          </a:xfrm>
          <a:prstGeom prst="roundRect">
            <a:avLst>
              <a:gd name="adj" fmla="val 5263"/>
            </a:avLst>
          </a:prstGeom>
          <a:solidFill>
            <a:srgbClr val="F1F5F9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965960"/>
            <a:ext cx="103628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yₚ₁ es solución particular cuando el lado derecho es g₁(x), y yₚ₂ es solución particular cuando el lado derecho es g₂(x), entonces yₚ₁+yₚ₂ es solución particular cuando el lado derecho es g₁(x)+g₂(x).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37490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749040"/>
            <a:ext cx="106372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forzamiento tiene varios términos distintos, resuelven cada uno por separado y suman. Esa es exactamente la lógica detrás del método del anulador que aprenden en la Sesión 10.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LOS MÉTODOS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Comunes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457200" cy="4572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371600" y="17830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Confundir PVI con PVF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PVI de orden n siempre tiene solución única bajo continuidad; un PVF no tiene esa garantía — revisen el problema completo.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55868" y="16002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84468" y="1783080"/>
            <a:ext cx="457200" cy="4572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6484468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078828" y="17830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Wronskiano fuera de contexto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0188" y="24688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detecta independencia entre soluciones de la MISMA ecuación — no lo usen como prueba general para funciones arbitrarias.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6576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3840480"/>
            <a:ext cx="457200" cy="4572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371600" y="38404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yᶜ+yₚ mal entendido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2960" y="45262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yᶜ debe ser la solución general de la homogénea completa, con sus n constantes — no una solución particular más.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55868" y="36576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84468" y="3840480"/>
            <a:ext cx="457200" cy="4572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21" name="Text 19"/>
          <p:cNvSpPr/>
          <p:nvPr/>
        </p:nvSpPr>
        <p:spPr>
          <a:xfrm>
            <a:off x="6484468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078828" y="38404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Contar mal las condiciones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30188" y="45262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PVI de orden n necesita exactamente n condiciones, ni una más ni una menos, todas en el mismo punto x₀.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4114800"/>
            <a:ext cx="4023360" cy="4023360"/>
          </a:xfrm>
          <a:prstGeom prst="ellipse">
            <a:avLst/>
          </a:prstGeom>
          <a:solidFill>
            <a:srgbClr val="0891B2">
              <a:alpha val="1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SESIÓN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Reglas del Juego, Completas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EXISTENCIA Y UNICIDAD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90824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3390824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INDEPENDENCIA LINEAL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3008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6233008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WRONSKIANO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9075191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E2E8F0"/>
          </a:solidFill>
          <a:ln/>
        </p:spPr>
      </p:sp>
      <p:sp>
        <p:nvSpPr>
          <p:cNvPr id="12" name="Text 10"/>
          <p:cNvSpPr/>
          <p:nvPr/>
        </p:nvSpPr>
        <p:spPr>
          <a:xfrm>
            <a:off x="9075191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yᶜ + yₚ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2423160"/>
            <a:ext cx="11094415" cy="2834640"/>
          </a:xfrm>
          <a:prstGeom prst="roundRect">
            <a:avLst>
              <a:gd name="adj" fmla="val 2581"/>
            </a:avLst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65176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fórmula todavía — eso fue a propósito. Antes de fabricar soluciones necesitábamos saber cuándo existen, cuándo son únicas, y cómo se combinan para formar la solución general, homogénea o no.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14400" y="3611880"/>
            <a:ext cx="10362895" cy="502920"/>
          </a:xfrm>
          <a:prstGeom prst="roundRect">
            <a:avLst>
              <a:gd name="adj" fmla="val 14545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3611880"/>
            <a:ext cx="10362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  →  MÉTODOS DE SOLUCIÓN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14400" y="425196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a fabricar, de forma completamente mecánica, conjuntos fundamentales de soluciones para ecuaciones con coeficientes constantes — y van a resolver su primer caso real con valores en la frontera.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2026-09-17T03:43:43Z</dcterms:created>
  <dcterms:modified xsi:type="dcterms:W3CDTF">2026-09-17T03:43:43Z</dcterms:modified>
</cp:coreProperties>
</file>