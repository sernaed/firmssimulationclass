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0" y="-1371600"/>
            <a:ext cx="4754880" cy="4754880"/>
          </a:xfrm>
          <a:prstGeom prst="ellipse">
            <a:avLst/>
          </a:prstGeom>
          <a:ln w="31750">
            <a:solidFill>
              <a:srgbClr val="0891B2">
                <a:alpha val="14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875520" y="365760"/>
            <a:ext cx="2743200" cy="2743200"/>
          </a:xfrm>
          <a:prstGeom prst="ellipse">
            <a:avLst/>
          </a:prstGeom>
          <a:ln w="31750">
            <a:solidFill>
              <a:srgbClr val="7C3AED">
                <a:alpha val="1600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55448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5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CÁLCULO III · SESIÓN 8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2057400"/>
            <a:ext cx="10515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Métodos Numéricos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548640" y="301752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</a:t>
            </a:r>
            <a:pPr indent="0" marL="0">
              <a:buNone/>
            </a:pPr>
            <a:r>
              <a:rPr lang="en-US" sz="24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Método de Euler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548640" y="5212080"/>
            <a:ext cx="3977640" cy="457200"/>
          </a:xfrm>
          <a:prstGeom prst="roundRect">
            <a:avLst>
              <a:gd name="adj" fmla="val 20000"/>
            </a:avLst>
          </a:prstGeom>
          <a:solidFill>
            <a:srgbClr val="E2E8F0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5212080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ARSENAL ANALÍTICO: SESIONES 1–7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709160" y="5212080"/>
            <a:ext cx="2606040" cy="457200"/>
          </a:xfrm>
          <a:prstGeom prst="roundRect">
            <a:avLst>
              <a:gd name="adj" fmla="val 20000"/>
            </a:avLst>
          </a:prstGeom>
          <a:solidFill>
            <a:srgbClr val="ECFEFF"/>
          </a:solidFill>
          <a:ln w="15875">
            <a:solidFill>
              <a:srgbClr val="0891B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09160" y="521208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ALGORITMO NUEVO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7498080" y="5212080"/>
            <a:ext cx="3611880" cy="457200"/>
          </a:xfrm>
          <a:prstGeom prst="roundRect">
            <a:avLst>
              <a:gd name="adj" fmla="val 20000"/>
            </a:avLst>
          </a:prstGeom>
          <a:solidFill>
            <a:srgbClr val="F5F3FF"/>
          </a:solidFill>
          <a:ln w="15875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498080" y="5212080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APROXIMAR, NO RESOLVER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8 · CÁLCULO III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REPASO RELÁMPAGO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Sesiones 1–6: Tres Casos, Tres Soluciones Exactas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515258" cy="1554480"/>
          </a:xfrm>
          <a:prstGeom prst="roundRect">
            <a:avLst>
              <a:gd name="adj" fmla="val 5294"/>
            </a:avLst>
          </a:prstGeom>
          <a:solidFill>
            <a:srgbClr val="F1F5F9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828800"/>
            <a:ext cx="351525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000000"/>
                </a:solidFill>
              </a:rPr>
              <a:t>🧪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640080" y="2560320"/>
            <a:ext cx="33323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Carbono-14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338218" y="1600200"/>
            <a:ext cx="3515258" cy="1554480"/>
          </a:xfrm>
          <a:prstGeom prst="roundRect">
            <a:avLst>
              <a:gd name="adj" fmla="val 5294"/>
            </a:avLst>
          </a:prstGeom>
          <a:solidFill>
            <a:srgbClr val="F1F5F9"/>
          </a:solidFill>
          <a:ln/>
        </p:spPr>
      </p:sp>
      <p:sp>
        <p:nvSpPr>
          <p:cNvPr id="8" name="Text 6"/>
          <p:cNvSpPr/>
          <p:nvPr/>
        </p:nvSpPr>
        <p:spPr>
          <a:xfrm>
            <a:off x="4338218" y="1828800"/>
            <a:ext cx="351525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000000"/>
                </a:solidFill>
              </a:rPr>
              <a:t>🔬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4429658" y="2560320"/>
            <a:ext cx="33323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 forense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127797" y="1600200"/>
            <a:ext cx="3515258" cy="1554480"/>
          </a:xfrm>
          <a:prstGeom prst="roundRect">
            <a:avLst>
              <a:gd name="adj" fmla="val 5294"/>
            </a:avLst>
          </a:prstGeom>
          <a:solidFill>
            <a:srgbClr val="F1F5F9"/>
          </a:solidFill>
          <a:ln/>
        </p:spPr>
      </p:sp>
      <p:sp>
        <p:nvSpPr>
          <p:cNvPr id="11" name="Text 9"/>
          <p:cNvSpPr/>
          <p:nvPr/>
        </p:nvSpPr>
        <p:spPr>
          <a:xfrm>
            <a:off x="8127797" y="1828800"/>
            <a:ext cx="351525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000000"/>
                </a:solidFill>
              </a:rPr>
              <a:t>🪂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8219237" y="2560320"/>
            <a:ext cx="33323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Paracaidista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48640" y="3520440"/>
            <a:ext cx="11094415" cy="1417320"/>
          </a:xfrm>
          <a:prstGeom prst="roundRect">
            <a:avLst>
              <a:gd name="adj" fmla="val 5161"/>
            </a:avLst>
          </a:prstGeom>
          <a:solidFill>
            <a:srgbClr val="ECFEFF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68680" y="3703320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YA RESUELTOS — CON FÓRMULA CERRADA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68680" y="4023360"/>
            <a:ext cx="104543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Hoy tomamos dos de estos mismos casos y fingimos, por un momento, no conocer el atajo algebraico — para comparar la aproximación numérica contra la respuesta exacta que ya tienen en su cuaderno. Así sabremos, con certeza, qué tan buena es esta nueva herramienta.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8 · CÁLCULO III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IDEA GEOMÉTRICA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Sigan la Brújula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5623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🧭  UNA ECUACIÓN DIFERENCIAL ES UNA BRÚJULA</a:t>
            </a:r>
            <a:endParaRPr lang="en-US" sz="1300" dirty="0"/>
          </a:p>
        </p:txBody>
      </p:sp>
      <p:pic>
        <p:nvPicPr>
          <p:cNvPr id="5" name="Image 0" descr="build/eq_light/slope_de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965960"/>
            <a:ext cx="2037283" cy="5029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2606040"/>
            <a:ext cx="5623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cada punto del plano, y' = f(x,y) da la pendiente de la curva solución que pasa por ahí.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48640" y="3337560"/>
            <a:ext cx="384048" cy="38404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891B2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48640" y="33375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1115568" y="3355848"/>
            <a:ext cx="5056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Párense en su punto inicial y lean la brújula.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548640" y="3931920"/>
            <a:ext cx="384048" cy="38404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891B2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48640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1115568" y="3950208"/>
            <a:ext cx="5056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Caminen en línea recta un paso h en esa dirección.</a:t>
            </a:r>
            <a:endParaRPr lang="en-US" sz="1350" dirty="0"/>
          </a:p>
        </p:txBody>
      </p:sp>
      <p:sp>
        <p:nvSpPr>
          <p:cNvPr id="13" name="Shape 10"/>
          <p:cNvSpPr/>
          <p:nvPr/>
        </p:nvSpPr>
        <p:spPr>
          <a:xfrm>
            <a:off x="548640" y="4526280"/>
            <a:ext cx="384048" cy="38404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891B2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48640" y="4526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1115568" y="4544568"/>
            <a:ext cx="5056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llegar, vuelvan a leer la brújula — y repitan.</a:t>
            </a:r>
            <a:endParaRPr lang="en-US" sz="1350" dirty="0"/>
          </a:p>
        </p:txBody>
      </p:sp>
      <p:sp>
        <p:nvSpPr>
          <p:cNvPr id="16" name="Shape 13"/>
          <p:cNvSpPr/>
          <p:nvPr/>
        </p:nvSpPr>
        <p:spPr>
          <a:xfrm>
            <a:off x="6537960" y="1600200"/>
            <a:ext cx="5105095" cy="4160520"/>
          </a:xfrm>
          <a:prstGeom prst="roundRect">
            <a:avLst>
              <a:gd name="adj" fmla="val 2198"/>
            </a:avLst>
          </a:prstGeom>
          <a:solidFill>
            <a:srgbClr val="F1F5F9"/>
          </a:solidFill>
          <a:ln/>
        </p:spPr>
      </p:sp>
      <p:pic>
        <p:nvPicPr>
          <p:cNvPr id="17" name="Image 1" descr="build/img_light/slope_fiel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0189" y="1783080"/>
            <a:ext cx="4560638" cy="3429000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6766560" y="5257800"/>
            <a:ext cx="4647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Cian</a:t>
            </a:r>
            <a:pPr algn="ctr"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poligonal de Euler   ·   </a:t>
            </a:r>
            <a:pPr algn="ctr" indent="0" marL="0">
              <a:buNone/>
            </a:pPr>
            <a:r>
              <a:rPr lang="en-US" sz="125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Violeta</a:t>
            </a:r>
            <a:pPr algn="ctr"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curva exacta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8 · CÁLCULO III</a:t>
            </a:r>
            <a:endParaRPr lang="en-US" sz="900" dirty="0"/>
          </a:p>
        </p:txBody>
      </p:sp>
      <p:sp>
        <p:nvSpPr>
          <p:cNvPr id="20" name="Text 16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DERIVACIÓN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Taylor al Método de Euler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84048" cy="38404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891B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691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115568" y="1709928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serie de Taylor alrededor de x nos da: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1115568" y="2148840"/>
            <a:ext cx="9921240" cy="868680"/>
          </a:xfrm>
          <a:prstGeom prst="roundRect">
            <a:avLst>
              <a:gd name="adj" fmla="val 8421"/>
            </a:avLst>
          </a:prstGeom>
          <a:solidFill>
            <a:srgbClr val="F1F5F9"/>
          </a:solidFill>
          <a:ln/>
        </p:spPr>
      </p:sp>
      <p:pic>
        <p:nvPicPr>
          <p:cNvPr id="8" name="Image 0" descr="build/eq_light/taylor_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84163" y="2148840"/>
            <a:ext cx="6384049" cy="86868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48640" y="3246120"/>
            <a:ext cx="384048" cy="38404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891B2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48640" y="3246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1115568" y="3264408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Euler trunca a primer orden y sustituye y'(x) = f(x,y(x)) directamente:</a:t>
            </a:r>
            <a:endParaRPr lang="en-US" sz="1450" dirty="0"/>
          </a:p>
        </p:txBody>
      </p:sp>
      <p:sp>
        <p:nvSpPr>
          <p:cNvPr id="12" name="Shape 9"/>
          <p:cNvSpPr/>
          <p:nvPr/>
        </p:nvSpPr>
        <p:spPr>
          <a:xfrm>
            <a:off x="1115568" y="3703320"/>
            <a:ext cx="9921240" cy="868680"/>
          </a:xfrm>
          <a:prstGeom prst="roundRect">
            <a:avLst>
              <a:gd name="adj" fmla="val 8421"/>
            </a:avLst>
          </a:prstGeom>
          <a:solidFill>
            <a:srgbClr val="ECFEFF"/>
          </a:solidFill>
          <a:ln/>
        </p:spPr>
      </p:sp>
      <p:pic>
        <p:nvPicPr>
          <p:cNvPr id="13" name="Image 1" descr="build/eq_light/taylor_trunc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7678" y="3703320"/>
            <a:ext cx="7657019" cy="868680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548640" y="4846320"/>
            <a:ext cx="11094415" cy="566928"/>
          </a:xfrm>
          <a:prstGeom prst="roundRect">
            <a:avLst>
              <a:gd name="adj" fmla="val 12903"/>
            </a:avLst>
          </a:prstGeom>
          <a:solidFill>
            <a:srgbClr val="ECFDF5"/>
          </a:solidFill>
          <a:ln w="12700">
            <a:solidFill>
              <a:srgbClr val="047857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777240" y="4846320"/>
            <a:ext cx="106372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47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MÉTODO DE ORDEN 1 — todo lo que se tira es h²⁄2·y''(x) en adelante: error local O(h²), error acumulado O(h).</a:t>
            </a:r>
            <a:endParaRPr lang="en-US" sz="1350" dirty="0"/>
          </a:p>
        </p:txBody>
      </p:sp>
      <p:sp>
        <p:nvSpPr>
          <p:cNvPr id="16" name="Text 12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8 · CÁLCULO III</a:t>
            </a:r>
            <a:endParaRPr lang="en-US" sz="900" dirty="0"/>
          </a:p>
        </p:txBody>
      </p:sp>
      <p:sp>
        <p:nvSpPr>
          <p:cNvPr id="17" name="Text 13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ALGORITMO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Líneas, Ningún Atajo Algebraico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120640" cy="2651760"/>
          </a:xfrm>
          <a:prstGeom prst="roundRect">
            <a:avLst>
              <a:gd name="adj" fmla="val 2759"/>
            </a:avLst>
          </a:prstGeom>
          <a:solidFill>
            <a:srgbClr val="ECFEFF"/>
          </a:solidFill>
          <a:ln w="12700">
            <a:solidFill>
              <a:srgbClr val="0891B2"/>
            </a:solidFill>
            <a:prstDash val="solid"/>
          </a:ln>
        </p:spPr>
      </p:sp>
      <p:pic>
        <p:nvPicPr>
          <p:cNvPr id="5" name="Image 0" descr="build/eq_light/euler_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1028" y="1965960"/>
            <a:ext cx="4555864" cy="822960"/>
          </a:xfrm>
          <a:prstGeom prst="rect">
            <a:avLst/>
          </a:prstGeom>
        </p:spPr>
      </p:pic>
      <p:pic>
        <p:nvPicPr>
          <p:cNvPr id="6" name="Image 1" descr="build/eq_light/euler_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167089"/>
            <a:ext cx="4572000" cy="523822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822960" y="40233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n = 0, 1, 2, … hasta el punto que les interesa.</a:t>
            </a:r>
            <a:endParaRPr lang="en-US" sz="1250" dirty="0"/>
          </a:p>
        </p:txBody>
      </p:sp>
      <p:sp>
        <p:nvSpPr>
          <p:cNvPr id="8" name="Shape 4"/>
          <p:cNvSpPr/>
          <p:nvPr/>
        </p:nvSpPr>
        <p:spPr>
          <a:xfrm>
            <a:off x="6035040" y="1691640"/>
            <a:ext cx="384048" cy="38404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7C3AED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6035040" y="1691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6"/>
          <p:cNvSpPr/>
          <p:nvPr/>
        </p:nvSpPr>
        <p:spPr>
          <a:xfrm>
            <a:off x="6601968" y="1719072"/>
            <a:ext cx="504108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 (x₀, y₀) y un paso h</a:t>
            </a:r>
            <a:endParaRPr lang="en-US" sz="1500" dirty="0"/>
          </a:p>
        </p:txBody>
      </p:sp>
      <p:sp>
        <p:nvSpPr>
          <p:cNvPr id="11" name="Shape 7"/>
          <p:cNvSpPr/>
          <p:nvPr/>
        </p:nvSpPr>
        <p:spPr>
          <a:xfrm>
            <a:off x="6035040" y="2313432"/>
            <a:ext cx="384048" cy="38404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7C3AED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035040" y="23134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6601968" y="2340864"/>
            <a:ext cx="504108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Evaluar la pendiente f(xₙ, yₙ)</a:t>
            </a:r>
            <a:endParaRPr lang="en-US" sz="1500" dirty="0"/>
          </a:p>
        </p:txBody>
      </p:sp>
      <p:sp>
        <p:nvSpPr>
          <p:cNvPr id="14" name="Shape 10"/>
          <p:cNvSpPr/>
          <p:nvPr/>
        </p:nvSpPr>
        <p:spPr>
          <a:xfrm>
            <a:off x="6035040" y="2935224"/>
            <a:ext cx="384048" cy="38404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7C3AED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6035040" y="2935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2"/>
          <p:cNvSpPr/>
          <p:nvPr/>
        </p:nvSpPr>
        <p:spPr>
          <a:xfrm>
            <a:off x="6601968" y="2962656"/>
            <a:ext cx="504108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Avanzar: xₙ₊₁, yₙ₊₁</a:t>
            </a:r>
            <a:endParaRPr lang="en-US" sz="1500" dirty="0"/>
          </a:p>
        </p:txBody>
      </p:sp>
      <p:sp>
        <p:nvSpPr>
          <p:cNvPr id="17" name="Shape 13"/>
          <p:cNvSpPr/>
          <p:nvPr/>
        </p:nvSpPr>
        <p:spPr>
          <a:xfrm>
            <a:off x="6035040" y="3557016"/>
            <a:ext cx="384048" cy="38404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7C3AED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6035040" y="35570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9" name="Text 15"/>
          <p:cNvSpPr/>
          <p:nvPr/>
        </p:nvSpPr>
        <p:spPr>
          <a:xfrm>
            <a:off x="6601968" y="3584448"/>
            <a:ext cx="504108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Repetir hasta llegar al punto deseado</a:t>
            </a:r>
            <a:endParaRPr lang="en-US" sz="1500" dirty="0"/>
          </a:p>
        </p:txBody>
      </p:sp>
      <p:sp>
        <p:nvSpPr>
          <p:cNvPr id="20" name="Shape 16"/>
          <p:cNvSpPr/>
          <p:nvPr/>
        </p:nvSpPr>
        <p:spPr>
          <a:xfrm>
            <a:off x="548640" y="4846320"/>
            <a:ext cx="11094415" cy="566928"/>
          </a:xfrm>
          <a:prstGeom prst="roundRect">
            <a:avLst>
              <a:gd name="adj" fmla="val 12903"/>
            </a:avLst>
          </a:prstGeom>
          <a:solidFill>
            <a:srgbClr val="F5F3FF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777240" y="4846320"/>
            <a:ext cx="106372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hay integrales ni sustituciones ingeniosas — solo evaluar f y sumar, una y otra vez. Mecánico y repetitivo: perfecto para una computadora... o un equipo trabajando en cadena.</a:t>
            </a:r>
            <a:endParaRPr lang="en-US" sz="1300" dirty="0"/>
          </a:p>
        </p:txBody>
      </p:sp>
      <p:sp>
        <p:nvSpPr>
          <p:cNvPr id="22" name="Text 18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8 · CÁLCULO III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 4 · SESIÓN 6, REVISITADO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Paracaidista, Otra Vez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364328" cy="2331720"/>
          </a:xfrm>
          <a:prstGeom prst="roundRect">
            <a:avLst>
              <a:gd name="adj" fmla="val 3922"/>
            </a:avLst>
          </a:prstGeom>
          <a:solidFill>
            <a:srgbClr val="F1F5F9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874520"/>
            <a:ext cx="4815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PVI · 80 KG DE MASA</a:t>
            </a:r>
            <a:endParaRPr lang="en-US" sz="1300" dirty="0"/>
          </a:p>
        </p:txBody>
      </p:sp>
      <p:pic>
        <p:nvPicPr>
          <p:cNvPr id="6" name="Image 0" descr="build/eq_light/pvi_para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335748"/>
            <a:ext cx="4815688" cy="81490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" y="3337560"/>
            <a:ext cx="48156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Velocidad de caída, con resistencia del aire proporcional a v.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6278728" y="1691640"/>
            <a:ext cx="5364328" cy="2331720"/>
          </a:xfrm>
          <a:prstGeom prst="roundRect">
            <a:avLst>
              <a:gd name="adj" fmla="val 3137"/>
            </a:avLst>
          </a:prstGeom>
          <a:solidFill>
            <a:srgbClr val="F5F3FF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553048" y="1874520"/>
            <a:ext cx="4815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🎭  FINJAMOS QUE NO EXISTE</a:t>
            </a:r>
            <a:endParaRPr lang="en-US" sz="1300" dirty="0"/>
          </a:p>
        </p:txBody>
      </p:sp>
      <p:pic>
        <p:nvPicPr>
          <p:cNvPr id="10" name="Image 1" descr="build/eq_light/exact_parac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3048" y="2347850"/>
            <a:ext cx="4815688" cy="653539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6553048" y="3200400"/>
            <a:ext cx="48156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 conocen esta fórmula (velocidad terminal 39.2 m/s). Hoy la escondemos.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548640" y="4343400"/>
            <a:ext cx="11094415" cy="777240"/>
          </a:xfrm>
          <a:prstGeom prst="roundRect">
            <a:avLst>
              <a:gd name="adj" fmla="val 9412"/>
            </a:avLst>
          </a:prstGeom>
          <a:solidFill>
            <a:srgbClr val="ECFEFF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77240" y="4343400"/>
            <a:ext cx="106372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Vamos a construir la trayectoria de velocidad paso a paso, con h = 1 segundo, sin usar el atajo algebraico de arriba.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8 · CÁLCULO III</a:t>
            </a:r>
            <a:endParaRPr lang="en-US" sz="900" dirty="0"/>
          </a:p>
        </p:txBody>
      </p:sp>
      <p:sp>
        <p:nvSpPr>
          <p:cNvPr id="15" name="Text 11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MANOS A LA OBRA · h = 1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Aplicando Euler, Paso a Paso</a:t>
            </a:r>
            <a:endParaRPr lang="en-US" sz="2900" dirty="0"/>
          </a:p>
        </p:txBody>
      </p:sp>
      <p:pic>
        <p:nvPicPr>
          <p:cNvPr id="4" name="Image 0" descr="build/eq_light/euler_parac_ste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54480"/>
            <a:ext cx="6180358" cy="5943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2286000"/>
            <a:ext cx="6492240" cy="457200"/>
          </a:xfrm>
          <a:prstGeom prst="roundRect">
            <a:avLst>
              <a:gd name="adj" fmla="val 12000"/>
            </a:avLst>
          </a:prstGeom>
          <a:solidFill>
            <a:srgbClr val="ECFEFF"/>
          </a:solidFill>
          <a:ln/>
        </p:spPr>
      </p:sp>
      <p:sp>
        <p:nvSpPr>
          <p:cNvPr id="6" name="Text 3"/>
          <p:cNvSpPr/>
          <p:nvPr/>
        </p:nvSpPr>
        <p:spPr>
          <a:xfrm>
            <a:off x="548640" y="2286000"/>
            <a:ext cx="1428293" cy="457200"/>
          </a:xfrm>
          <a:prstGeom prst="rect">
            <a:avLst/>
          </a:prstGeom>
          <a:noFill/>
          <a:ln/>
        </p:spPr>
        <p:txBody>
          <a:bodyPr wrap="square" lIns="0" tIns="12700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1976933" y="2286000"/>
            <a:ext cx="2207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 (s)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4184294" y="2286000"/>
            <a:ext cx="285658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vₙ (m/s)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48640" y="2743200"/>
            <a:ext cx="1428293" cy="402336"/>
          </a:xfrm>
          <a:prstGeom prst="rect">
            <a:avLst/>
          </a:prstGeom>
          <a:noFill/>
          <a:ln/>
        </p:spPr>
        <p:txBody>
          <a:bodyPr wrap="square" lIns="0" tIns="12700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1976933" y="2743200"/>
            <a:ext cx="220736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4184294" y="2743200"/>
            <a:ext cx="285658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548640" y="3145536"/>
            <a:ext cx="6492240" cy="402336"/>
          </a:xfrm>
          <a:prstGeom prst="rect">
            <a:avLst/>
          </a:prstGeom>
          <a:solidFill>
            <a:srgbClr val="F1F5F9">
              <a:alpha val="60000"/>
            </a:srgbClr>
          </a:solidFill>
          <a:ln/>
        </p:spPr>
      </p:sp>
      <p:sp>
        <p:nvSpPr>
          <p:cNvPr id="13" name="Text 10"/>
          <p:cNvSpPr/>
          <p:nvPr/>
        </p:nvSpPr>
        <p:spPr>
          <a:xfrm>
            <a:off x="548640" y="3145536"/>
            <a:ext cx="1428293" cy="402336"/>
          </a:xfrm>
          <a:prstGeom prst="rect">
            <a:avLst/>
          </a:prstGeom>
          <a:noFill/>
          <a:ln/>
        </p:spPr>
        <p:txBody>
          <a:bodyPr wrap="square" lIns="0" tIns="12700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50" dirty="0"/>
          </a:p>
        </p:txBody>
      </p:sp>
      <p:sp>
        <p:nvSpPr>
          <p:cNvPr id="14" name="Text 11"/>
          <p:cNvSpPr/>
          <p:nvPr/>
        </p:nvSpPr>
        <p:spPr>
          <a:xfrm>
            <a:off x="1976933" y="3145536"/>
            <a:ext cx="220736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4184294" y="3145536"/>
            <a:ext cx="285658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9.80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548640" y="3547872"/>
            <a:ext cx="1428293" cy="402336"/>
          </a:xfrm>
          <a:prstGeom prst="rect">
            <a:avLst/>
          </a:prstGeom>
          <a:noFill/>
          <a:ln/>
        </p:spPr>
        <p:txBody>
          <a:bodyPr wrap="square" lIns="0" tIns="12700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50" dirty="0"/>
          </a:p>
        </p:txBody>
      </p:sp>
      <p:sp>
        <p:nvSpPr>
          <p:cNvPr id="17" name="Text 14"/>
          <p:cNvSpPr/>
          <p:nvPr/>
        </p:nvSpPr>
        <p:spPr>
          <a:xfrm>
            <a:off x="1976933" y="3547872"/>
            <a:ext cx="220736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50" dirty="0"/>
          </a:p>
        </p:txBody>
      </p:sp>
      <p:sp>
        <p:nvSpPr>
          <p:cNvPr id="18" name="Text 15"/>
          <p:cNvSpPr/>
          <p:nvPr/>
        </p:nvSpPr>
        <p:spPr>
          <a:xfrm>
            <a:off x="4184294" y="3547872"/>
            <a:ext cx="285658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17.15</a:t>
            </a:r>
            <a:endParaRPr lang="en-US" sz="1350" dirty="0"/>
          </a:p>
        </p:txBody>
      </p:sp>
      <p:sp>
        <p:nvSpPr>
          <p:cNvPr id="19" name="Shape 16"/>
          <p:cNvSpPr/>
          <p:nvPr/>
        </p:nvSpPr>
        <p:spPr>
          <a:xfrm>
            <a:off x="548640" y="3950208"/>
            <a:ext cx="6492240" cy="402336"/>
          </a:xfrm>
          <a:prstGeom prst="rect">
            <a:avLst/>
          </a:prstGeom>
          <a:solidFill>
            <a:srgbClr val="F1F5F9">
              <a:alpha val="60000"/>
            </a:srgbClr>
          </a:solidFill>
          <a:ln/>
        </p:spPr>
      </p:sp>
      <p:sp>
        <p:nvSpPr>
          <p:cNvPr id="20" name="Text 17"/>
          <p:cNvSpPr/>
          <p:nvPr/>
        </p:nvSpPr>
        <p:spPr>
          <a:xfrm>
            <a:off x="548640" y="3950208"/>
            <a:ext cx="1428293" cy="402336"/>
          </a:xfrm>
          <a:prstGeom prst="rect">
            <a:avLst/>
          </a:prstGeom>
          <a:noFill/>
          <a:ln/>
        </p:spPr>
        <p:txBody>
          <a:bodyPr wrap="square" lIns="0" tIns="12700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50" dirty="0"/>
          </a:p>
        </p:txBody>
      </p:sp>
      <p:sp>
        <p:nvSpPr>
          <p:cNvPr id="21" name="Text 18"/>
          <p:cNvSpPr/>
          <p:nvPr/>
        </p:nvSpPr>
        <p:spPr>
          <a:xfrm>
            <a:off x="1976933" y="3950208"/>
            <a:ext cx="220736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50" dirty="0"/>
          </a:p>
        </p:txBody>
      </p:sp>
      <p:sp>
        <p:nvSpPr>
          <p:cNvPr id="22" name="Text 19"/>
          <p:cNvSpPr/>
          <p:nvPr/>
        </p:nvSpPr>
        <p:spPr>
          <a:xfrm>
            <a:off x="4184294" y="3950208"/>
            <a:ext cx="285658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22.66</a:t>
            </a:r>
            <a:endParaRPr lang="en-US" sz="1350" dirty="0"/>
          </a:p>
        </p:txBody>
      </p:sp>
      <p:sp>
        <p:nvSpPr>
          <p:cNvPr id="23" name="Text 20"/>
          <p:cNvSpPr/>
          <p:nvPr/>
        </p:nvSpPr>
        <p:spPr>
          <a:xfrm>
            <a:off x="548640" y="4352544"/>
            <a:ext cx="1428293" cy="402336"/>
          </a:xfrm>
          <a:prstGeom prst="rect">
            <a:avLst/>
          </a:prstGeom>
          <a:noFill/>
          <a:ln/>
        </p:spPr>
        <p:txBody>
          <a:bodyPr wrap="square" lIns="0" tIns="12700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50" dirty="0"/>
          </a:p>
        </p:txBody>
      </p:sp>
      <p:sp>
        <p:nvSpPr>
          <p:cNvPr id="24" name="Text 21"/>
          <p:cNvSpPr/>
          <p:nvPr/>
        </p:nvSpPr>
        <p:spPr>
          <a:xfrm>
            <a:off x="1976933" y="4352544"/>
            <a:ext cx="220736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50" dirty="0"/>
          </a:p>
        </p:txBody>
      </p:sp>
      <p:sp>
        <p:nvSpPr>
          <p:cNvPr id="25" name="Text 22"/>
          <p:cNvSpPr/>
          <p:nvPr/>
        </p:nvSpPr>
        <p:spPr>
          <a:xfrm>
            <a:off x="4184294" y="4352544"/>
            <a:ext cx="285658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26.80</a:t>
            </a:r>
            <a:endParaRPr lang="en-US" sz="1350" dirty="0"/>
          </a:p>
        </p:txBody>
      </p:sp>
      <p:sp>
        <p:nvSpPr>
          <p:cNvPr id="26" name="Shape 23"/>
          <p:cNvSpPr/>
          <p:nvPr/>
        </p:nvSpPr>
        <p:spPr>
          <a:xfrm>
            <a:off x="548640" y="4754880"/>
            <a:ext cx="6492240" cy="402336"/>
          </a:xfrm>
          <a:prstGeom prst="rect">
            <a:avLst/>
          </a:prstGeom>
          <a:solidFill>
            <a:srgbClr val="F1F5F9">
              <a:alpha val="60000"/>
            </a:srgbClr>
          </a:solidFill>
          <a:ln/>
        </p:spPr>
      </p:sp>
      <p:sp>
        <p:nvSpPr>
          <p:cNvPr id="27" name="Text 24"/>
          <p:cNvSpPr/>
          <p:nvPr/>
        </p:nvSpPr>
        <p:spPr>
          <a:xfrm>
            <a:off x="548640" y="4754880"/>
            <a:ext cx="1428293" cy="402336"/>
          </a:xfrm>
          <a:prstGeom prst="rect">
            <a:avLst/>
          </a:prstGeom>
          <a:noFill/>
          <a:ln/>
        </p:spPr>
        <p:txBody>
          <a:bodyPr wrap="square" lIns="0" tIns="12700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50" dirty="0"/>
          </a:p>
        </p:txBody>
      </p:sp>
      <p:sp>
        <p:nvSpPr>
          <p:cNvPr id="28" name="Text 25"/>
          <p:cNvSpPr/>
          <p:nvPr/>
        </p:nvSpPr>
        <p:spPr>
          <a:xfrm>
            <a:off x="1976933" y="4754880"/>
            <a:ext cx="220736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50" dirty="0"/>
          </a:p>
        </p:txBody>
      </p:sp>
      <p:sp>
        <p:nvSpPr>
          <p:cNvPr id="29" name="Text 26"/>
          <p:cNvSpPr/>
          <p:nvPr/>
        </p:nvSpPr>
        <p:spPr>
          <a:xfrm>
            <a:off x="4184294" y="4754880"/>
            <a:ext cx="285658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29.90</a:t>
            </a:r>
            <a:endParaRPr lang="en-US" sz="1350" dirty="0"/>
          </a:p>
        </p:txBody>
      </p:sp>
      <p:sp>
        <p:nvSpPr>
          <p:cNvPr id="30" name="Shape 27"/>
          <p:cNvSpPr/>
          <p:nvPr/>
        </p:nvSpPr>
        <p:spPr>
          <a:xfrm>
            <a:off x="7406640" y="1554480"/>
            <a:ext cx="4236415" cy="3931920"/>
          </a:xfrm>
          <a:prstGeom prst="roundRect">
            <a:avLst>
              <a:gd name="adj" fmla="val 2326"/>
            </a:avLst>
          </a:prstGeom>
          <a:solidFill>
            <a:srgbClr val="F1F5F9"/>
          </a:solidFill>
          <a:ln/>
        </p:spPr>
      </p:sp>
      <p:sp>
        <p:nvSpPr>
          <p:cNvPr id="31" name="Text 28"/>
          <p:cNvSpPr/>
          <p:nvPr/>
        </p:nvSpPr>
        <p:spPr>
          <a:xfrm>
            <a:off x="7680960" y="1783080"/>
            <a:ext cx="3687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🏃  CARRERA DE RELEVOS</a:t>
            </a:r>
            <a:endParaRPr lang="en-US" sz="1300" dirty="0"/>
          </a:p>
        </p:txBody>
      </p:sp>
      <p:sp>
        <p:nvSpPr>
          <p:cNvPr id="32" name="Text 29"/>
          <p:cNvSpPr/>
          <p:nvPr/>
        </p:nvSpPr>
        <p:spPr>
          <a:xfrm>
            <a:off x="7680960" y="2148840"/>
            <a:ext cx="368777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paso solo necesita el resultado del paso anterior. Dividan la sala en 5 equipos — cada uno calcula un paso y se pasa el resultado al siguiente, como una carrera de relevos.</a:t>
            </a:r>
            <a:endParaRPr lang="en-US" sz="1350" dirty="0"/>
          </a:p>
        </p:txBody>
      </p:sp>
      <p:sp>
        <p:nvSpPr>
          <p:cNvPr id="33" name="Text 30"/>
          <p:cNvSpPr/>
          <p:nvPr/>
        </p:nvSpPr>
        <p:spPr>
          <a:xfrm>
            <a:off x="7680960" y="3566160"/>
            <a:ext cx="36877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último equipo entrega la velocidad estimada a los 5 segundos.</a:t>
            </a:r>
            <a:endParaRPr lang="en-US" sz="1350" dirty="0"/>
          </a:p>
        </p:txBody>
      </p:sp>
      <p:sp>
        <p:nvSpPr>
          <p:cNvPr id="34" name="Text 31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8 · CÁLCULO III</a:t>
            </a:r>
            <a:endParaRPr lang="en-US" sz="900" dirty="0"/>
          </a:p>
        </p:txBody>
      </p:sp>
      <p:sp>
        <p:nvSpPr>
          <p:cNvPr id="35" name="Text 32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MOMENTO DE LA VERDAD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Euler vs. Solución Exacta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6309360" cy="457200"/>
          </a:xfrm>
          <a:prstGeom prst="roundRect">
            <a:avLst>
              <a:gd name="adj" fmla="val 12000"/>
            </a:avLst>
          </a:prstGeom>
          <a:solidFill>
            <a:srgbClr val="ECFEFF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600200"/>
            <a:ext cx="1009498" cy="457200"/>
          </a:xfrm>
          <a:prstGeom prst="rect">
            <a:avLst/>
          </a:prstGeom>
          <a:noFill/>
          <a:ln/>
        </p:spPr>
        <p:txBody>
          <a:bodyPr wrap="square" lIns="0" tIns="12700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558138" y="1600200"/>
            <a:ext cx="176662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Euler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324758" y="1600200"/>
            <a:ext cx="176662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Exacta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091379" y="1600200"/>
            <a:ext cx="176662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2057400"/>
            <a:ext cx="1009498" cy="365760"/>
          </a:xfrm>
          <a:prstGeom prst="rect">
            <a:avLst/>
          </a:prstGeom>
          <a:noFill/>
          <a:ln/>
        </p:spPr>
        <p:txBody>
          <a:bodyPr wrap="square" lIns="0" tIns="12700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1558138" y="2057400"/>
            <a:ext cx="176662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324758" y="2057400"/>
            <a:ext cx="176662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5091379" y="2057400"/>
            <a:ext cx="176662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48640" y="2423160"/>
            <a:ext cx="6309360" cy="365760"/>
          </a:xfrm>
          <a:prstGeom prst="rect">
            <a:avLst/>
          </a:prstGeom>
          <a:solidFill>
            <a:srgbClr val="F1F5F9">
              <a:alpha val="60000"/>
            </a:srgbClr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2423160"/>
            <a:ext cx="1009498" cy="365760"/>
          </a:xfrm>
          <a:prstGeom prst="rect">
            <a:avLst/>
          </a:prstGeom>
          <a:noFill/>
          <a:ln/>
        </p:spPr>
        <p:txBody>
          <a:bodyPr wrap="square" lIns="0" tIns="12700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1558138" y="2423160"/>
            <a:ext cx="176662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9.80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3324758" y="2423160"/>
            <a:ext cx="176662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8.67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5091379" y="2423160"/>
            <a:ext cx="176662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+1.13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548640" y="2788920"/>
            <a:ext cx="1009498" cy="365760"/>
          </a:xfrm>
          <a:prstGeom prst="rect">
            <a:avLst/>
          </a:prstGeom>
          <a:noFill/>
          <a:ln/>
        </p:spPr>
        <p:txBody>
          <a:bodyPr wrap="square" lIns="0" tIns="12700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1558138" y="2788920"/>
            <a:ext cx="176662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17.15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3324758" y="2788920"/>
            <a:ext cx="176662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15.43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5091379" y="2788920"/>
            <a:ext cx="176662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+1.72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548640" y="3154680"/>
            <a:ext cx="6309360" cy="365760"/>
          </a:xfrm>
          <a:prstGeom prst="rect">
            <a:avLst/>
          </a:prstGeom>
          <a:solidFill>
            <a:srgbClr val="F1F5F9">
              <a:alpha val="60000"/>
            </a:srgbClr>
          </a:solidFill>
          <a:ln/>
        </p:spPr>
      </p:sp>
      <p:sp>
        <p:nvSpPr>
          <p:cNvPr id="23" name="Text 21"/>
          <p:cNvSpPr/>
          <p:nvPr/>
        </p:nvSpPr>
        <p:spPr>
          <a:xfrm>
            <a:off x="548640" y="3154680"/>
            <a:ext cx="1009498" cy="365760"/>
          </a:xfrm>
          <a:prstGeom prst="rect">
            <a:avLst/>
          </a:prstGeom>
          <a:noFill/>
          <a:ln/>
        </p:spPr>
        <p:txBody>
          <a:bodyPr wrap="square" lIns="0" tIns="12700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1558138" y="3154680"/>
            <a:ext cx="176662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22.66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3324758" y="3154680"/>
            <a:ext cx="176662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20.68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5091379" y="3154680"/>
            <a:ext cx="176662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+1.98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548640" y="3520440"/>
            <a:ext cx="1009498" cy="365760"/>
          </a:xfrm>
          <a:prstGeom prst="rect">
            <a:avLst/>
          </a:prstGeom>
          <a:noFill/>
          <a:ln/>
        </p:spPr>
        <p:txBody>
          <a:bodyPr wrap="square" lIns="0" tIns="12700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1558138" y="3520440"/>
            <a:ext cx="176662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26.80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3324758" y="3520440"/>
            <a:ext cx="176662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24.78</a:t>
            </a:r>
            <a:endParaRPr lang="en-US" sz="1350" dirty="0"/>
          </a:p>
        </p:txBody>
      </p:sp>
      <p:sp>
        <p:nvSpPr>
          <p:cNvPr id="30" name="Text 28"/>
          <p:cNvSpPr/>
          <p:nvPr/>
        </p:nvSpPr>
        <p:spPr>
          <a:xfrm>
            <a:off x="5091379" y="3520440"/>
            <a:ext cx="176662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+2.02</a:t>
            </a:r>
            <a:endParaRPr lang="en-US" sz="1350" dirty="0"/>
          </a:p>
        </p:txBody>
      </p:sp>
      <p:sp>
        <p:nvSpPr>
          <p:cNvPr id="31" name="Shape 29"/>
          <p:cNvSpPr/>
          <p:nvPr/>
        </p:nvSpPr>
        <p:spPr>
          <a:xfrm>
            <a:off x="548640" y="3886200"/>
            <a:ext cx="6309360" cy="365760"/>
          </a:xfrm>
          <a:prstGeom prst="rect">
            <a:avLst/>
          </a:prstGeom>
          <a:solidFill>
            <a:srgbClr val="F1F5F9">
              <a:alpha val="60000"/>
            </a:srgbClr>
          </a:solidFill>
          <a:ln/>
        </p:spPr>
      </p:sp>
      <p:sp>
        <p:nvSpPr>
          <p:cNvPr id="32" name="Text 30"/>
          <p:cNvSpPr/>
          <p:nvPr/>
        </p:nvSpPr>
        <p:spPr>
          <a:xfrm>
            <a:off x="548640" y="3886200"/>
            <a:ext cx="1009498" cy="365760"/>
          </a:xfrm>
          <a:prstGeom prst="rect">
            <a:avLst/>
          </a:prstGeom>
          <a:noFill/>
          <a:ln/>
        </p:spPr>
        <p:txBody>
          <a:bodyPr wrap="square" lIns="0" tIns="12700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50" dirty="0"/>
          </a:p>
        </p:txBody>
      </p:sp>
      <p:sp>
        <p:nvSpPr>
          <p:cNvPr id="33" name="Text 31"/>
          <p:cNvSpPr/>
          <p:nvPr/>
        </p:nvSpPr>
        <p:spPr>
          <a:xfrm>
            <a:off x="1558138" y="3886200"/>
            <a:ext cx="176662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29.90</a:t>
            </a:r>
            <a:endParaRPr lang="en-US" sz="1350" dirty="0"/>
          </a:p>
        </p:txBody>
      </p:sp>
      <p:sp>
        <p:nvSpPr>
          <p:cNvPr id="34" name="Text 32"/>
          <p:cNvSpPr/>
          <p:nvPr/>
        </p:nvSpPr>
        <p:spPr>
          <a:xfrm>
            <a:off x="3324758" y="3886200"/>
            <a:ext cx="176662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27.97</a:t>
            </a:r>
            <a:endParaRPr lang="en-US" sz="1350" dirty="0"/>
          </a:p>
        </p:txBody>
      </p:sp>
      <p:sp>
        <p:nvSpPr>
          <p:cNvPr id="35" name="Text 33"/>
          <p:cNvSpPr/>
          <p:nvPr/>
        </p:nvSpPr>
        <p:spPr>
          <a:xfrm>
            <a:off x="5091379" y="3886200"/>
            <a:ext cx="176662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+1.93</a:t>
            </a:r>
            <a:endParaRPr lang="en-US" sz="1350" dirty="0"/>
          </a:p>
        </p:txBody>
      </p:sp>
      <p:sp>
        <p:nvSpPr>
          <p:cNvPr id="36" name="Shape 34"/>
          <p:cNvSpPr/>
          <p:nvPr/>
        </p:nvSpPr>
        <p:spPr>
          <a:xfrm>
            <a:off x="7223760" y="1600200"/>
            <a:ext cx="4419295" cy="2423160"/>
          </a:xfrm>
          <a:prstGeom prst="roundRect">
            <a:avLst>
              <a:gd name="adj" fmla="val 3774"/>
            </a:avLst>
          </a:prstGeom>
          <a:solidFill>
            <a:srgbClr val="F1F5F9"/>
          </a:solidFill>
          <a:ln/>
        </p:spPr>
      </p:sp>
      <p:pic>
        <p:nvPicPr>
          <p:cNvPr id="37" name="Image 0" descr="build/img_light/concavi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58242" y="1737360"/>
            <a:ext cx="2750332" cy="2148840"/>
          </a:xfrm>
          <a:prstGeom prst="rect">
            <a:avLst/>
          </a:prstGeom>
        </p:spPr>
      </p:pic>
      <p:sp>
        <p:nvSpPr>
          <p:cNvPr id="38" name="Shape 35"/>
          <p:cNvSpPr/>
          <p:nvPr/>
        </p:nvSpPr>
        <p:spPr>
          <a:xfrm>
            <a:off x="548640" y="4434840"/>
            <a:ext cx="11094415" cy="1005840"/>
          </a:xfrm>
          <a:prstGeom prst="roundRect">
            <a:avLst>
              <a:gd name="adj" fmla="val 7273"/>
            </a:avLst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777240" y="4434840"/>
            <a:ext cx="106372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Euler siempre sobreestima aquí, y el error crece antes de estabilizarse. La curva v(t) es cóncava hacia abajo — la recta tangente de Euler siempre se escapa por arriba de una curva cóncava hacia abajo. El signo del error está directamente ligado a la segunda derivada que descartamos en Taylor.</a:t>
            </a:r>
            <a:endParaRPr lang="en-US" sz="1350" dirty="0"/>
          </a:p>
        </p:txBody>
      </p:sp>
      <p:sp>
        <p:nvSpPr>
          <p:cNvPr id="40" name="Text 37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8 · CÁLCULO III</a:t>
            </a:r>
            <a:endParaRPr lang="en-US" sz="900" dirty="0"/>
          </a:p>
        </p:txBody>
      </p:sp>
      <p:sp>
        <p:nvSpPr>
          <p:cNvPr id="41" name="Text 38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TRADE-OFF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Precio de la Precisión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577840" cy="3063240"/>
          </a:xfrm>
          <a:prstGeom prst="roundRect">
            <a:avLst>
              <a:gd name="adj" fmla="val 2985"/>
            </a:avLst>
          </a:prstGeom>
          <a:solidFill>
            <a:srgbClr val="F1F5F9"/>
          </a:solidFill>
          <a:ln/>
        </p:spPr>
      </p:sp>
      <p:pic>
        <p:nvPicPr>
          <p:cNvPr id="5" name="Image 0" descr="build/img_light/step_tradeof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82900" y="1737360"/>
            <a:ext cx="3709319" cy="27889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492240" y="1600200"/>
            <a:ext cx="5150815" cy="1417320"/>
          </a:xfrm>
          <a:prstGeom prst="roundRect">
            <a:avLst>
              <a:gd name="adj" fmla="val 5161"/>
            </a:avLst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766560" y="1764792"/>
            <a:ext cx="46021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 GRANDE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766560" y="2057400"/>
            <a:ext cx="46021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Pocos pasos, poca aritmética — pero el error es grande.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6492240" y="3246120"/>
            <a:ext cx="5150815" cy="1417320"/>
          </a:xfrm>
          <a:prstGeom prst="roundRect">
            <a:avLst>
              <a:gd name="adj" fmla="val 5161"/>
            </a:avLst>
          </a:prstGeom>
          <a:solidFill>
            <a:srgbClr val="ECFEFF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766560" y="3410712"/>
            <a:ext cx="46021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 CHICO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6766560" y="3703320"/>
            <a:ext cx="46021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Muchos pasos, más aritmética — pero el error es pequeño.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548640" y="4892040"/>
            <a:ext cx="11094415" cy="530352"/>
          </a:xfrm>
          <a:prstGeom prst="roundRect">
            <a:avLst>
              <a:gd name="adj" fmla="val 13793"/>
            </a:avLst>
          </a:prstGeom>
          <a:solidFill>
            <a:srgbClr val="F5F3FF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77240" y="4892040"/>
            <a:ext cx="1063721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error acumulado es O(h) — reducirlo 10× cuesta aproximadamente 10× más pasos. Nadie regala precisión infinita gratis.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8 · CÁLCULO III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JUGAR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Solver Interactivo de la Plataforma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🎛️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097280" y="1709928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Elige un modelo preconstruido (paracaidista, forense) o tu propia f(x,y)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2441448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🔧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097280" y="2459736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Ajusta x₀, y₀, el paso h y el número de pasos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3191256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📈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1097280" y="3209544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Gráfica en vivo: poligonal de Euler vs. curva exacta, cuando existe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" y="3941064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📋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097280" y="3959352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Tabla completa con el error en cada paso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949440" y="1691640"/>
            <a:ext cx="4693615" cy="3794760"/>
          </a:xfrm>
          <a:prstGeom prst="roundRect">
            <a:avLst>
              <a:gd name="adj" fmla="val 1928"/>
            </a:avLst>
          </a:prstGeom>
          <a:solidFill>
            <a:srgbClr val="ECFDF5"/>
          </a:solidFill>
          <a:ln w="12700">
            <a:solidFill>
              <a:srgbClr val="04785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223760" y="1920240"/>
            <a:ext cx="41449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47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SU RETO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223760" y="2286000"/>
            <a:ext cx="414497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Encuentren el valor de h más grande que mantenga el error por debajo del 1%, gastando el menor número de pasos posible.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7223760" y="3749040"/>
            <a:ext cx="414497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hay una sola respuesta correcta — hay un balance, y lo van a encontrar experimentando, no adivinando.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8 · CÁLCULO III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CONFIAR EN LA CALCULADORA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🧭  Ojo de Analista — Errores Comunes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387188" cy="1783080"/>
          </a:xfrm>
          <a:prstGeom prst="roundRect">
            <a:avLst>
              <a:gd name="adj" fmla="val 4103"/>
            </a:avLst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783080"/>
            <a:ext cx="457200" cy="457200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⚠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371600" y="1783080"/>
            <a:ext cx="43356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Euler nunca es gratis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22960" y="2468880"/>
            <a:ext cx="48385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paso arrastra error, y se acumula. Un resultado sin saber su orden de magnitud de error es una adivinanza con más decimales.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255868" y="1600200"/>
            <a:ext cx="5387188" cy="1783080"/>
          </a:xfrm>
          <a:prstGeom prst="roundRect">
            <a:avLst>
              <a:gd name="adj" fmla="val 4103"/>
            </a:avLst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84468" y="1783080"/>
            <a:ext cx="457200" cy="457200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11" name="Text 9"/>
          <p:cNvSpPr/>
          <p:nvPr/>
        </p:nvSpPr>
        <p:spPr>
          <a:xfrm>
            <a:off x="6484468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⚠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7078828" y="1783080"/>
            <a:ext cx="43356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 grande vs. h chico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30188" y="2468880"/>
            <a:ext cx="48385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Rápido pero impreciso, o preciso pero caro — repórtenme siempre con qué h obtuvieron su resultado.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3657600"/>
            <a:ext cx="5387188" cy="1783080"/>
          </a:xfrm>
          <a:prstGeom prst="roundRect">
            <a:avLst>
              <a:gd name="adj" fmla="val 4103"/>
            </a:avLst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77240" y="3840480"/>
            <a:ext cx="457200" cy="457200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16" name="Text 14"/>
          <p:cNvSpPr/>
          <p:nvPr/>
        </p:nvSpPr>
        <p:spPr>
          <a:xfrm>
            <a:off x="777240" y="3840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⚠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371600" y="3840480"/>
            <a:ext cx="43356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Euler es, a propósito, el más simple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22960" y="4526280"/>
            <a:ext cx="48385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la práctica casi nadie lo usa solo: existen primos mejorados, como Euler Mejorado o Runge-Kutta.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255868" y="3657600"/>
            <a:ext cx="5387188" cy="1783080"/>
          </a:xfrm>
          <a:prstGeom prst="roundRect">
            <a:avLst>
              <a:gd name="adj" fmla="val 4103"/>
            </a:avLst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84468" y="3840480"/>
            <a:ext cx="457200" cy="457200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21" name="Text 19"/>
          <p:cNvSpPr/>
          <p:nvPr/>
        </p:nvSpPr>
        <p:spPr>
          <a:xfrm>
            <a:off x="6484468" y="3840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⚠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7078828" y="3840480"/>
            <a:ext cx="43356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Nunca sustituye existencia y unicidad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530188" y="4526280"/>
            <a:ext cx="48385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el PVI no garantiza solución única (Sesión 2), tampoco tiene sentido aproximarla.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8 · CÁLCULO III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EN EQUIPO · BOLETO DE SALIDA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Caso Forense, Versión Numérica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364328" cy="2423160"/>
          </a:xfrm>
          <a:prstGeom prst="roundRect">
            <a:avLst>
              <a:gd name="adj" fmla="val 3774"/>
            </a:avLst>
          </a:prstGeom>
          <a:solidFill>
            <a:srgbClr val="F1F5F9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874520"/>
            <a:ext cx="4815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PVI</a:t>
            </a:r>
            <a:endParaRPr lang="en-US" sz="1300" dirty="0"/>
          </a:p>
        </p:txBody>
      </p:sp>
      <p:pic>
        <p:nvPicPr>
          <p:cNvPr id="6" name="Image 0" descr="build/eq_light/pvi_foren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411868"/>
            <a:ext cx="4815688" cy="34262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" y="3200400"/>
            <a:ext cx="48156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álgebra exacta, ya saben que a la hora t = 1 la temperatura es T(1) = 33.4 °C.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278728" y="1691640"/>
            <a:ext cx="5364328" cy="2423160"/>
          </a:xfrm>
          <a:prstGeom prst="roundRect">
            <a:avLst>
              <a:gd name="adj" fmla="val 3019"/>
            </a:avLst>
          </a:prstGeom>
          <a:solidFill>
            <a:srgbClr val="ECFEFF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553048" y="1874520"/>
            <a:ext cx="4815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 TAREA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6553048" y="2176272"/>
            <a:ext cx="48156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Usen Euler con h = 0.25 (cuatro pasos hasta t = 1):</a:t>
            </a:r>
            <a:endParaRPr lang="en-US" sz="1350" dirty="0"/>
          </a:p>
        </p:txBody>
      </p:sp>
      <p:pic>
        <p:nvPicPr>
          <p:cNvPr id="11" name="Image 1" descr="build/eq_light/euler_forense_ste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3048" y="2673680"/>
            <a:ext cx="4815688" cy="40421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553048" y="3200400"/>
            <a:ext cx="48156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Calculen T₄ y compárenlo contra los 33.4 °C exactos.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548640" y="4343400"/>
            <a:ext cx="11094415" cy="1005840"/>
          </a:xfrm>
          <a:prstGeom prst="roundRect">
            <a:avLst>
              <a:gd name="adj" fmla="val 7273"/>
            </a:avLst>
          </a:prstGeom>
          <a:solidFill>
            <a:srgbClr val="F5F3FF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777240" y="4343400"/>
            <a:ext cx="106372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 ¿Por qué tan preciso esta vez, si con el paracaidista el error fue mucho más grande con el mismo número de pasos? Discútanlo en equipo — la respuesta tiene que ver con qué tan curvada es cada función. 🪙 Quien la responda bien se lleva Tokens extra.</a:t>
            </a:r>
            <a:endParaRPr lang="en-US" sz="1350" dirty="0"/>
          </a:p>
        </p:txBody>
      </p:sp>
      <p:sp>
        <p:nvSpPr>
          <p:cNvPr id="15" name="Text 11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8 · CÁLCULO III</a:t>
            </a:r>
            <a:endParaRPr lang="en-US" sz="900" dirty="0"/>
          </a:p>
        </p:txBody>
      </p:sp>
      <p:sp>
        <p:nvSpPr>
          <p:cNvPr id="16" name="Text 12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097280" y="4114800"/>
            <a:ext cx="4023360" cy="4023360"/>
          </a:xfrm>
          <a:prstGeom prst="ellipse">
            <a:avLst/>
          </a:prstGeom>
          <a:solidFill>
            <a:srgbClr val="0891B2">
              <a:alpha val="1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SESIÓN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Compartimentos, Un Solo Ingeniero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5364328" cy="1371600"/>
          </a:xfrm>
          <a:prstGeom prst="roundRect">
            <a:avLst>
              <a:gd name="adj" fmla="val 5333"/>
            </a:avLst>
          </a:prstGeom>
          <a:solidFill>
            <a:srgbClr val="ECFEFF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783080"/>
            <a:ext cx="4815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ÁLGEBRA EXACTA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22960" y="2103120"/>
            <a:ext cx="48156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cuando existe fórmula cerrada: separables, lineales, exactas, homogéneas, Bernoulli.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78728" y="1600200"/>
            <a:ext cx="5364328" cy="1371600"/>
          </a:xfrm>
          <a:prstGeom prst="roundRect">
            <a:avLst>
              <a:gd name="adj" fmla="val 5333"/>
            </a:avLst>
          </a:prstGeom>
          <a:solidFill>
            <a:srgbClr val="F5F3FF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53048" y="1783080"/>
            <a:ext cx="4815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APROXIMACIÓN NUMÉRICA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553048" y="2103120"/>
            <a:ext cx="48156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cuando no la hay: el Método de Euler, y sus primos más precisos.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3246120"/>
            <a:ext cx="11094415" cy="2651760"/>
          </a:xfrm>
          <a:prstGeom prst="roundRect">
            <a:avLst>
              <a:gd name="adj" fmla="val 2759"/>
            </a:avLst>
          </a:prstGeom>
          <a:solidFill>
            <a:srgbClr val="EFF6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3456432"/>
            <a:ext cx="10362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PERO LA FRONTERA SIGUE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14400" y="3794760"/>
            <a:ext cx="103628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Ambos compartimentos son ingeniería real — un buen ingeniero sabe cuál usar y, sobre todo, sabe cuánto confiar en cada uno.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914400" y="4434840"/>
            <a:ext cx="10362895" cy="502920"/>
          </a:xfrm>
          <a:prstGeom prst="roundRect">
            <a:avLst>
              <a:gd name="adj" fmla="val 14545"/>
            </a:avLst>
          </a:prstGeom>
          <a:solidFill>
            <a:srgbClr val="ECFEFF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4434840"/>
            <a:ext cx="103628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PRÓXIMA SESIÓN  →  ECUACIONES DE ORDEN SUPERIOR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914400" y="5074920"/>
            <a:ext cx="103628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Cuando el fenómeno depende de la aceleración o la vibración, van a necesitar una teoría nueva para saber cuántas soluciones independientes buscar.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8 · CÁLCULO III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2026-09-16T19:17:28Z</dcterms:created>
  <dcterms:modified xsi:type="dcterms:W3CDTF">2026-09-16T19:17:28Z</dcterms:modified>
</cp:coreProperties>
</file>