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Solución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Constantes y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(SESIÓN 9) → MÉTODOS (HOY)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669280" y="5212080"/>
            <a:ext cx="5605272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5212080"/>
            <a:ext cx="560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TÉCNICAS EN 90 MINUTOS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 de 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 a elegir al azar a cuatro personas, una por pregunta, por lista.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85536" y="242316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85536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un polinomio de grado k?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85536" y="242316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85536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eʳˣ?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85536" y="242316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85536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 xeʳˣ, ¿por qué (D−r) ya no basta?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4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85536" y="242316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885536" y="24231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g(x)=3x+e²ˣ, ¿cómo aniquilan toda la suma?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Teoría al Método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874520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05805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soluciones linealmente independientes ⇒ solución general. El Wronskiano nos deja verificarlo.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38218" y="169164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87452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6818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115458" y="1874520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66818" y="2560320"/>
            <a:ext cx="305805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una ecuación no homogénea: función complementaria más solución particular.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515258" cy="2651760"/>
          </a:xfrm>
          <a:prstGeom prst="roundRect">
            <a:avLst>
              <a:gd name="adj" fmla="val 3448"/>
            </a:avLst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87452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6397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905037" y="1874520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356397" y="2560320"/>
            <a:ext cx="305805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resolvemos cada uno por separado y sumamos.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57200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convertimos estas tres ideas en algoritmos concretos.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— El Proceso General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ya conocen una solución y₁, ¿cómo consiguen una segunda, independiente?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21408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9659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y₂=u(x)y₁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8803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3035808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35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71600" y="28803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Sustituyen: los términos con u se cancelan solos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950208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3950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7947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una ecuación de primer orden para u′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48640" y="47091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864608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48646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371600" y="4709160"/>
            <a:ext cx="10271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Resuelven, integran, y multiplican por y₁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siempre, pero son dos integrales y bastante álgebra intermedia — laboriosa.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— El Atajo Exponencial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coeficientes constantes, hay un atajo total: en vez de buscar una segunda solución a partir de la primera, adivinan todas a la vez.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42316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CARACTERÍSTICA</a:t>
            </a:r>
            <a:endParaRPr lang="en-US" sz="1800" dirty="0"/>
          </a:p>
        </p:txBody>
      </p:sp>
      <p:pic>
        <p:nvPicPr>
          <p:cNvPr id="7" name="Image 0" descr="build/eq_light/ansatz_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871273"/>
            <a:ext cx="2011680" cy="749694"/>
          </a:xfrm>
          <a:prstGeom prst="rect">
            <a:avLst/>
          </a:prstGeom>
        </p:spPr>
      </p:pic>
      <p:pic>
        <p:nvPicPr>
          <p:cNvPr id="8" name="Image 1" descr="build/eq_light/char_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2927031"/>
            <a:ext cx="8259775" cy="63817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3794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eʳˣ —que nunca es cero— queda pura álgebra: la ecuación característica.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CARACTERÍSTICA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800" dirty="0"/>
          </a:p>
        </p:txBody>
      </p:sp>
      <p:pic>
        <p:nvPicPr>
          <p:cNvPr id="7" name="Image 0" descr="build/eq_light/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342228"/>
            <a:ext cx="3149498" cy="4478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21098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800" dirty="0"/>
          </a:p>
        </p:txBody>
      </p:sp>
      <p:pic>
        <p:nvPicPr>
          <p:cNvPr id="11" name="Image 1" descr="build/eq_light/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322870"/>
            <a:ext cx="3149498" cy="4865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8310677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800" dirty="0"/>
          </a:p>
        </p:txBody>
      </p:sp>
      <p:pic>
        <p:nvPicPr>
          <p:cNvPr id="15" name="Image 2" descr="build/eq_light/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412092"/>
            <a:ext cx="3149498" cy="30813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98348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98348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memoricen las tres formas — las van a usar el resto del curso.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ex1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9562"/>
            <a:ext cx="10545775" cy="8072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sus raíces, la solución general, y usen las condiciones iniciales para hallar la solución particular.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566160"/>
          </a:xfrm>
          <a:prstGeom prst="roundRect">
            <a:avLst>
              <a:gd name="adj" fmla="val 2564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CARACTERÍSTICA Y RAÍCES</a:t>
            </a:r>
            <a:endParaRPr lang="en-US" sz="1800" dirty="0"/>
          </a:p>
        </p:txBody>
      </p:sp>
      <p:pic>
        <p:nvPicPr>
          <p:cNvPr id="6" name="Image 0" descr="build/eq_light/ex1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041" y="2194560"/>
            <a:ext cx="6231613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y=C₁e²ˣ+C₂e³ˣ y las condiciones iniciales: C₁+C₂=1, 2C₁+3C₂=0 ⟹ C₁=3, C₂=−2. La solución particular:</a:t>
            </a:r>
            <a:endParaRPr lang="en-US" sz="1800" dirty="0"/>
          </a:p>
        </p:txBody>
      </p:sp>
      <p:pic>
        <p:nvPicPr>
          <p:cNvPr id="8" name="Image 1" descr="build/eq_light/ex1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590" y="3749040"/>
            <a:ext cx="2808514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4348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Verifiquen ustedes que y(0)=1 y y'(0)=0.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5" name="Image 0" descr="build/eq_light/ex2a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2216"/>
            <a:ext cx="10545775" cy="8219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identifiquen qué tipo de raíz tienen, y hallen la solución particular.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9260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(r−3)²=0 ⟹ raíz doble r=3. Con raíz repetida, la solución general es y=(C₁+C₂x)e³ˣ. Aplicando las condiciones iniciales, C₁=2, C₂=−5:</a:t>
            </a:r>
            <a:endParaRPr lang="en-US" sz="1800" dirty="0"/>
          </a:p>
        </p:txBody>
      </p:sp>
      <p:pic>
        <p:nvPicPr>
          <p:cNvPr id="6" name="Image 0" descr="build/eq_light/ex2a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6970" y="2926080"/>
            <a:ext cx="3197755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Image 0" descr="build/eq_light/ex2b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43926"/>
            <a:ext cx="10545775" cy="7985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proceso: encuentren la característica, sus raíces, y la solución particular.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r²+4r+13=0 ⟹ r=−2±3i. Solución general: y=e⁻²ˣ(C₁cos3x+C₂sin3x). Aplicando las condiciones iniciales, C₁=0, C₂=1:</a:t>
            </a:r>
            <a:endParaRPr lang="en-US" sz="1800" dirty="0"/>
          </a:p>
        </p:txBody>
      </p:sp>
      <p:pic>
        <p:nvPicPr>
          <p:cNvPr id="6" name="Image 0" descr="build/eq_light/ex2b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4488" y="2926080"/>
            <a:ext cx="3242719" cy="640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98348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98348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Guarden esta última ecuación en la memoria — va a reaparecer.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FAMILIA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La Misma Idea, Otra Apuesta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</a:t>
            </a:r>
            <a:endParaRPr lang="en-US" sz="1800" dirty="0"/>
          </a:p>
        </p:txBody>
      </p:sp>
      <p:pic>
        <p:nvPicPr>
          <p:cNvPr id="6" name="Image 0" descr="build/eq_light/ce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57478" y="2103120"/>
            <a:ext cx="5276738" cy="731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154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cada derivada es una potencia de x que coincide con el orden de la derivada.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794760"/>
            <a:ext cx="11094415" cy="1920240"/>
          </a:xfrm>
          <a:prstGeom prst="roundRect">
            <a:avLst>
              <a:gd name="adj" fmla="val 381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93192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AUXILIAR</a:t>
            </a:r>
            <a:endParaRPr lang="en-US" sz="1800" dirty="0"/>
          </a:p>
        </p:txBody>
      </p:sp>
      <p:pic>
        <p:nvPicPr>
          <p:cNvPr id="10" name="Image 1" descr="build/eq_light/ce_ansa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311502"/>
            <a:ext cx="1645920" cy="612435"/>
          </a:xfrm>
          <a:prstGeom prst="rect">
            <a:avLst/>
          </a:prstGeom>
        </p:spPr>
      </p:pic>
      <p:pic>
        <p:nvPicPr>
          <p:cNvPr id="11" name="Image 2" descr="build/eq_light/ce_au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4297680"/>
            <a:ext cx="5514535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502920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xᵐ —nunca cero para x&gt;0—: los mismos tres casos de siempre, ahora con potencias y logaritmos de x.</a:t>
            </a:r>
            <a:endParaRPr lang="en-US" sz="18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AUXILIAR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800" dirty="0"/>
          </a:p>
        </p:txBody>
      </p:sp>
      <p:pic>
        <p:nvPicPr>
          <p:cNvPr id="7" name="Image 0" descr="build/eq_light/ce_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340098"/>
            <a:ext cx="3149498" cy="452123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521098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800" dirty="0"/>
          </a:p>
        </p:txBody>
      </p:sp>
      <p:pic>
        <p:nvPicPr>
          <p:cNvPr id="11" name="Image 1" descr="build/eq_light/ce_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348520"/>
            <a:ext cx="3149498" cy="4352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3063240"/>
          </a:xfrm>
          <a:prstGeom prst="roundRect">
            <a:avLst>
              <a:gd name="adj" fmla="val 2388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8310677" y="2240280"/>
            <a:ext cx="31494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800" dirty="0"/>
          </a:p>
        </p:txBody>
      </p:sp>
      <p:pic>
        <p:nvPicPr>
          <p:cNvPr id="15" name="Image 2" descr="build/eq_light/ce_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432965"/>
            <a:ext cx="3149498" cy="266391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98348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98348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Comparen estas tres fórmulas con las de la Diapositiva 9 — misma estructura: solo cambian eʳˣ→xᵐ y x→ln x.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ce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8357"/>
            <a:ext cx="10545775" cy="8096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auxiliar, sus raíces, y la solución particular.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749040"/>
          </a:xfrm>
          <a:prstGeom prst="roundRect">
            <a:avLst>
              <a:gd name="adj" fmla="val 2439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AUXILIAR Y RAÍCES</a:t>
            </a:r>
            <a:endParaRPr lang="en-US" sz="1800" dirty="0"/>
          </a:p>
        </p:txBody>
      </p:sp>
      <p:pic>
        <p:nvPicPr>
          <p:cNvPr id="6" name="Image 0" descr="build/eq_light/ce_ex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9404" y="2194560"/>
            <a:ext cx="7852886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8036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raíces complejas m=α±βi (α=0, β=2): y=xᵅ[C₁cos(β ln x)+C₂sin(β ln x)]. Evaluando en x=1 (ln 1=0) con y(1)=1, y'(1)=4: C₁=1, C₂=2.</a:t>
            </a:r>
            <a:endParaRPr lang="en-US" sz="1800" dirty="0"/>
          </a:p>
        </p:txBody>
      </p:sp>
      <p:pic>
        <p:nvPicPr>
          <p:cNvPr id="8" name="Image 1" descr="build/eq_light/ce_ex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445" y="3886200"/>
            <a:ext cx="5206805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Basta con Adivinar?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nonhomog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9603" y="1828800"/>
            <a:ext cx="5672488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saben construir yᶜ. Falta yₚ. Podrían adivinar su forma a ojo —polinomio para polinomio, exponencial para exponencial— pero adivinar falla en cuanto el forzamiento se complica.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06908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069080"/>
            <a:ext cx="106372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 convierte ese tanteo en álgebra pura: tratamos D=d/dx como un símbolo algebraico, y buscamos un operador que ANIQUILE —convierta en cero— la función g(x) del lado derecho.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BÁSICOS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D y la Tabla de Anuladores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Polinomio de grado k (hasta xᵏ)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205289" y="169164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Dᵏ⁺¹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4320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Exponencial eʳˣ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205289" y="274320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79476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eᵅˣcos βx  o  eᵅˣsin βx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05289" y="379476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D²−2αD+(α²+β²)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920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una suma de términos, multiplican —componen— los operadores de cada uno. Aquí regresa la superposición para no homogéneas de la Sesión 9: cada anulador se encarga de su propio término.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COMPLETO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del Anulador, Paso a Paso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103120"/>
          </a:xfrm>
          <a:prstGeom prst="roundRect">
            <a:avLst>
              <a:gd name="adj" fmla="val 4348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25880" y="1737360"/>
            <a:ext cx="440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yᶜ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 la homogénea asociada — ya saben hacerlo.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2103120"/>
          </a:xfrm>
          <a:prstGeom prst="roundRect">
            <a:avLst>
              <a:gd name="adj" fmla="val 4348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6461608" y="178308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1608" y="17830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10248" y="1737360"/>
            <a:ext cx="440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Anulen g(x)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07328" y="24688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un operador anulador y apliquenlo a AMBOS lados de la ecuación completa.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10048" cy="2103120"/>
          </a:xfrm>
          <a:prstGeom prst="roundRect">
            <a:avLst>
              <a:gd name="adj" fmla="val 4348"/>
            </a:avLst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411480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25880" y="4069080"/>
            <a:ext cx="440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y eliminen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la ecuación de orden mayor; eliminen los términos que ya están en yᶜ.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33008" y="3931920"/>
            <a:ext cx="5410048" cy="2103120"/>
          </a:xfrm>
          <a:prstGeom prst="roundRect">
            <a:avLst>
              <a:gd name="adj" fmla="val 4348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6461608" y="4114800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61608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10248" y="4069080"/>
            <a:ext cx="440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y despejen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07328" y="480060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la forma restante (yₚ) en la ecuación ORIGINAL para hallar los coeficientes.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an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0900" y="1783080"/>
            <a:ext cx="4789896" cy="777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288036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28803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yᶜ? [característica (r−2)(r+1)=0 ⟹ yᶜ=C₁e²ˣ+C₂e⁻ˣ]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3703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703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4x²? [D³, porque x² es un polinomio de grado 2]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48640" y="45262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Apliquen D³ a ambos lados, identifiquen qué términos ya están en yᶜ, y propongan la forma de yₚ con coeficientes por determinar. Resuélvanlo en su cuaderno — la solución está en la siguiente diapositiva.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(Solución)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 yᶜ</a:t>
            </a:r>
            <a:endParaRPr lang="en-US" sz="1800" dirty="0"/>
          </a:p>
        </p:txBody>
      </p:sp>
      <p:pic>
        <p:nvPicPr>
          <p:cNvPr id="5" name="Image 0" descr="build/eq_light/an_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3194761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760720" y="1600200"/>
            <a:ext cx="58823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yₚ</a:t>
            </a:r>
            <a:endParaRPr lang="en-US" sz="1800" dirty="0"/>
          </a:p>
        </p:txBody>
      </p:sp>
      <p:pic>
        <p:nvPicPr>
          <p:cNvPr id="7" name="Image 1" descr="build/eq_light/an_yp_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965960"/>
            <a:ext cx="3051761" cy="5029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8640" y="26974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Sustituyendo en la ecuación original y agrupando por potencias de x: de x², −2C=4; de x¹, −2C−2B=0; de x⁰, 2C−B−2A=0.</a:t>
            </a:r>
            <a:endParaRPr lang="en-US" sz="1800" dirty="0"/>
          </a:p>
        </p:txBody>
      </p:sp>
      <p:pic>
        <p:nvPicPr>
          <p:cNvPr id="9" name="Image 2" descr="build/eq_light/an_coeff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23" y="3520440"/>
            <a:ext cx="4554650" cy="50292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particular: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548640" y="4572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yₚ = −3 + 2x − 2x²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548640" y="516636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GENERAL COMPLETA</a:t>
            </a:r>
            <a:endParaRPr lang="en-US" sz="1800" dirty="0"/>
          </a:p>
        </p:txBody>
      </p:sp>
      <p:pic>
        <p:nvPicPr>
          <p:cNvPr id="13" name="Image 3" descr="build/eq_light/an_fin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080" y="5486400"/>
            <a:ext cx="5429534" cy="5029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5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Física a la Ecuación Diferencial</a:t>
            </a:r>
            <a:endParaRPr lang="en-US" sz="2900" dirty="0"/>
          </a:p>
        </p:txBody>
      </p:sp>
      <p:pic>
        <p:nvPicPr>
          <p:cNvPr id="4" name="Image 0" descr="build/img_light/msd_forc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6845" y="1645920"/>
            <a:ext cx="4352687" cy="2468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637776" y="1824228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37776" y="18242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232136" y="1645920"/>
            <a:ext cx="44109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Newton: la fuerza neta es masa por aceleración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637776" y="2711196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37776" y="27111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232136" y="2532888"/>
            <a:ext cx="44109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resorte y el amortiguador se oponen al movimiento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637776" y="3598164"/>
            <a:ext cx="420624" cy="42062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37776" y="35981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7232136" y="3419856"/>
            <a:ext cx="44109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fuerza aplicada es constante: F₀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4343400"/>
            <a:ext cx="11094415" cy="1874520"/>
          </a:xfrm>
          <a:prstGeom prst="roundRect">
            <a:avLst>
              <a:gd name="adj" fmla="val 4878"/>
            </a:avLst>
          </a:prstGeom>
          <a:solidFill>
            <a:srgbClr val="F1F5F9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48056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LEY DE NEWTON</a:t>
            </a:r>
            <a:endParaRPr lang="en-US" sz="1800" dirty="0"/>
          </a:p>
        </p:txBody>
      </p:sp>
      <p:pic>
        <p:nvPicPr>
          <p:cNvPr id="16" name="Image 1" descr="build/eq_light/msd_newt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272" y="4846320"/>
            <a:ext cx="5023104" cy="685800"/>
          </a:xfrm>
          <a:prstGeom prst="rect">
            <a:avLst/>
          </a:prstGeom>
        </p:spPr>
      </p:pic>
      <p:pic>
        <p:nvPicPr>
          <p:cNvPr id="17" name="Image 2" descr="build/eq_light/msd_set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5975" y="4846320"/>
            <a:ext cx="4849792" cy="6858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2960" y="557784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m=1, c=4, k=13, F₀=26 — la parte homogénea es la misma ecuación característica de la Diapositiva 14.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PLANTEAMIENTO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msd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62653" y="2194560"/>
            <a:ext cx="646639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6576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xᶜ, el anulador de la constante, la forma de xₚ, y la solución completa. Resuélvanlo en su cuaderno — la solución está en la siguiente diapositiva.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SOLUCIÓN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msd_x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7326" y="1828800"/>
            <a:ext cx="5977043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7889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 la constante 26 es D; aplicando el algoritmo completo, la forma de xₚ es simplemente una constante, y sustituyendo se obtiene xₚ=2. La solución general:</a:t>
            </a:r>
            <a:endParaRPr lang="en-US" sz="1800" dirty="0"/>
          </a:p>
        </p:txBody>
      </p:sp>
      <p:pic>
        <p:nvPicPr>
          <p:cNvPr id="7" name="Image 1" descr="build/eq_light/msd_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194" y="3657600"/>
            <a:ext cx="5889308" cy="5486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38912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389120"/>
            <a:ext cx="106372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importar C₁ y C₂, el término exponencial decae a cero cuando t→∞: el sistema termina asentándose en un NUEVO EQUILIBRIO, desplazado 2 unidades. xᶜ es la respuesta transitoria que se apaga; xₚ es hacia dónde se dirige el sistema a largo plazo.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410048" cy="2103120"/>
          </a:xfrm>
          <a:prstGeom prst="roundRect">
            <a:avLst>
              <a:gd name="adj" fmla="val 347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no es coeficientes constantes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sustitución es y=xᵐ, no y=eʳˣ — son ecuaciones distintas, con trucos distintos; no las mezclen.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5410048" cy="2103120"/>
          </a:xfrm>
          <a:prstGeom prst="roundRect">
            <a:avLst>
              <a:gd name="adj" fmla="val 347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6160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6160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55968" y="173736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revisar contra yᶜ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507328" y="246888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término de la solución de orden mayor ya está en yᶜ y no lo eliminan, el sistema de coeficientes no va a tener solución.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10048" cy="2103120"/>
          </a:xfrm>
          <a:prstGeom prst="roundRect">
            <a:avLst>
              <a:gd name="adj" fmla="val 347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406908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solo un lado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480060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debe aplicarse a AMBOS lados de la ecuación — no solo al lado derecho.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233008" y="3931920"/>
            <a:ext cx="5410048" cy="2103120"/>
          </a:xfrm>
          <a:prstGeom prst="roundRect">
            <a:avLst>
              <a:gd name="adj" fmla="val 3478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61608" y="411480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6160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55968" y="406908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que Cauchy-Euler asume x&gt;0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07328" y="4800600"/>
            <a:ext cx="48614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x&lt;0 se necesitan ajustes con |x| que no cubrimos hoy.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47472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Arsenal de Orden Superior, Completo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548640"/>
          </a:xfrm>
          <a:prstGeom prst="roundRect">
            <a:avLst>
              <a:gd name="adj" fmla="val 16667"/>
            </a:avLst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548640"/>
          </a:xfrm>
          <a:prstGeom prst="roundRect">
            <a:avLst>
              <a:gd name="adj" fmla="val 16667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548640"/>
          </a:xfrm>
          <a:prstGeom prst="roundRect">
            <a:avLst>
              <a:gd name="adj" fmla="val 16667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ANULADOR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548640"/>
          </a:xfrm>
          <a:prstGeom prst="roundRect">
            <a:avLst>
              <a:gd name="adj" fmla="val 16667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FORZADO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2331720"/>
            <a:ext cx="11094415" cy="2331720"/>
          </a:xfrm>
          <a:prstGeom prst="roundRect">
            <a:avLst>
              <a:gd name="adj" fmla="val 3137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560320"/>
            <a:ext cx="10362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fabrican soluciones completas: homogéneas con coeficientes constantes, Cauchy-Euler, y no homogéneas cuando el forzamiento es un polinomio, una exponencial, un seno o coseno — o una combinación de esos.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14400" y="361188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el anulador tiene un límite: solo funciona cuando existe un anulador, y funciones como tan x o ln x simplemente no tienen uno.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14400" y="4846320"/>
            <a:ext cx="10362895" cy="594360"/>
          </a:xfrm>
          <a:prstGeom prst="roundRect">
            <a:avLst>
              <a:gd name="adj" fmla="val 12308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1036289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VARIACIÓN DE PARÁMETROS Y SISTEMAS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14400" y="557784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método que funciona para cualquier forzamiento, y cómo resolver sistemas completos de ecuaciones diferenciales lineales.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2026-09-22T05:08:33Z</dcterms:created>
  <dcterms:modified xsi:type="dcterms:W3CDTF">2026-09-22T05:08:33Z</dcterms:modified>
</cp:coreProperties>
</file>