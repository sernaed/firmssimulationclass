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891B2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7C3AED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10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Solución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Constantes y </a:t>
            </a:r>
            <a:pPr indent="0" marL="0">
              <a:buNone/>
            </a:pPr>
            <a:r>
              <a:rPr lang="en-US" sz="2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(SESIÓN 9) → MÉTODOS (HOY)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0" y="5212080"/>
            <a:ext cx="5605272" cy="45720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5212080"/>
            <a:ext cx="560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TÉCNICAS EN 90 MINUTOS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1 de 4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 a elegir al azar a cuatro personas, una por pregunta, por lista.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un polinomio de grado k?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2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eʳˣ?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3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tengo xeʳˣ, ¿por qué (D−r) ya no basta?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4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g(x)=3x+e²ˣ, ¿cómo aniquilan toda la suma?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498348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Elegidos al azar, por lista. Si nadie contesta ninguna, hay que repasar la tarea antes de seguir — todo lo de hoy la da por sabida.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Teoría al Método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745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soluciones linealmente independientes ⇒ solución general. El Wronskiano nos deja verificarlo.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38218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4566818" y="18745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681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69738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6818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una ecuación no homogénea: función complementaria más solución particular.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/>
        </p:spPr>
      </p:sp>
      <p:sp>
        <p:nvSpPr>
          <p:cNvPr id="15" name="Shape 13"/>
          <p:cNvSpPr/>
          <p:nvPr/>
        </p:nvSpPr>
        <p:spPr>
          <a:xfrm>
            <a:off x="8356397" y="18745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6397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59317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56397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resolvemos cada uno por separado y sumamos.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convertimos estas tres ideas en algoritmos concretos.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SOLUCIÓN A TODAS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Orden y la Apuesta Exponencial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240280"/>
          </a:xfrm>
          <a:prstGeom prst="roundRect">
            <a:avLst>
              <a:gd name="adj" fmla="val 4082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GENERAL: REDUCCIÓN DE ORDEN, EN CUATRO PASOS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Proponen y₂=u(x)y₁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16554" y="21031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1655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16554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Sustituyen: los términos con u se cancelan solos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0148" y="21031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0148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0148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una ecuación de 1er orden para u′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03741" y="21031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03741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903741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Resuelven, integran, y multiplican por y₁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32918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siempre, pero son dos integrales y bastante álgebra intermedia — laboriosa.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14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ATAJO: COEFICIENTES CONSTANTES</a:t>
            </a:r>
            <a:endParaRPr lang="en-US" sz="1300" dirty="0"/>
          </a:p>
        </p:txBody>
      </p:sp>
      <p:pic>
        <p:nvPicPr>
          <p:cNvPr id="21" name="Image 0" descr="build/eq_light/ansatz_si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59830"/>
            <a:ext cx="1828800" cy="681540"/>
          </a:xfrm>
          <a:prstGeom prst="rect">
            <a:avLst/>
          </a:prstGeom>
        </p:spPr>
      </p:pic>
      <p:pic>
        <p:nvPicPr>
          <p:cNvPr id="22" name="Image 1" descr="build/eq_light/char_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4474446"/>
            <a:ext cx="8442655" cy="652309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822960" y="521208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eʳˣ —que nunca es cero— queda pura álgebra: la ecuación característica.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CARACTERÍSTICA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Casos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&gt; 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reales distintas</a:t>
            </a:r>
            <a:endParaRPr lang="en-US" sz="1200" dirty="0"/>
          </a:p>
        </p:txBody>
      </p:sp>
      <p:pic>
        <p:nvPicPr>
          <p:cNvPr id="7" name="Image 0" descr="build/eq_light/case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5068"/>
            <a:ext cx="3149498" cy="4478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38218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1098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= 0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21098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200" dirty="0"/>
          </a:p>
        </p:txBody>
      </p:sp>
      <p:pic>
        <p:nvPicPr>
          <p:cNvPr id="11" name="Image 1" descr="build/eq_light/case_repe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3185710"/>
            <a:ext cx="3149498" cy="4865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127797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10677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&lt; 0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8310677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 conjugadas</a:t>
            </a:r>
            <a:endParaRPr lang="en-US" sz="1200" dirty="0"/>
          </a:p>
        </p:txBody>
      </p:sp>
      <p:pic>
        <p:nvPicPr>
          <p:cNvPr id="15" name="Image 2" descr="build/eq_light/case_compl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3274932"/>
            <a:ext cx="3149498" cy="30813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77240" y="484632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memoricen las tres formas — las van a usar el resto del curso.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ex1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9562"/>
            <a:ext cx="10545775" cy="8072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característica, sus raíces, la solución general, y usen las condiciones iniciales para hallar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246120"/>
          </a:xfrm>
          <a:prstGeom prst="roundRect">
            <a:avLst>
              <a:gd name="adj" fmla="val 2817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CARACTERÍSTICA Y RAÍCES</a:t>
            </a:r>
            <a:endParaRPr lang="en-US" sz="1300" dirty="0"/>
          </a:p>
        </p:txBody>
      </p:sp>
      <p:pic>
        <p:nvPicPr>
          <p:cNvPr id="6" name="Image 0" descr="build/eq_light/ex1_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041" y="2148840"/>
            <a:ext cx="6231613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y=C₁e²ˣ+C₂e³ˣ y las condiciones iniciales: C₁+C₂=1, 2C₁+3C₂=0 ⟹ C₁=3, C₂=−2. La solución particular:</a:t>
            </a:r>
            <a:endParaRPr lang="en-US" sz="1350" dirty="0"/>
          </a:p>
        </p:txBody>
      </p:sp>
      <p:pic>
        <p:nvPicPr>
          <p:cNvPr id="8" name="Image 1" descr="build/eq_light/ex1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590" y="3520440"/>
            <a:ext cx="2808514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2062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Verifiquen ustedes que y(0)=1 y y'(0)=0.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Raíz Repetida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5" name="Image 0" descr="build/eq_light/ex2a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2216"/>
            <a:ext cx="10545775" cy="8219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característica, identifiquen qué tipo de raíz tienen, y hallen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Raíz Repetida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(r−3)²=0 ⟹ raíz doble r=3. Con raíz repetida, la solución general es y=(C₁+C₂x)e³ˣ. Aplicando las condiciones iniciales, C₁=2, C₂=−5:</a:t>
            </a:r>
            <a:endParaRPr lang="en-US" sz="1450" dirty="0"/>
          </a:p>
        </p:txBody>
      </p:sp>
      <p:pic>
        <p:nvPicPr>
          <p:cNvPr id="6" name="Image 0" descr="build/eq_light/ex2a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6970" y="2788920"/>
            <a:ext cx="3197755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Complejas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Image 0" descr="build/eq_light/ex2b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43926"/>
            <a:ext cx="10545775" cy="7985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proceso: encuentren la característica, sus raíces, y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Complejas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108960"/>
          </a:xfrm>
          <a:prstGeom prst="roundRect">
            <a:avLst>
              <a:gd name="adj" fmla="val 2353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r²+4r+13=0 ⟹ r=−2±3i. Solución general: y=e⁻²ˣ(C₁cos3x+C₂sin3x). Aplicando las condiciones iniciales, C₁=0, C₂=1:</a:t>
            </a:r>
            <a:endParaRPr lang="en-US" sz="1450" dirty="0"/>
          </a:p>
        </p:txBody>
      </p:sp>
      <p:pic>
        <p:nvPicPr>
          <p:cNvPr id="6" name="Image 0" descr="build/eq_light/ex2b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4488" y="2788920"/>
            <a:ext cx="3242719" cy="640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9377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93776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Guarden esta última ecuación en la memoria — va a reaparecer.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FAMILIA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La Misma Idea, Otra Apuesta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GENERAL</a:t>
            </a:r>
            <a:endParaRPr lang="en-US" sz="1300" dirty="0"/>
          </a:p>
        </p:txBody>
      </p:sp>
      <p:pic>
        <p:nvPicPr>
          <p:cNvPr id="6" name="Image 0" descr="build/eq_light/ce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2580" y="2057400"/>
            <a:ext cx="5606535" cy="777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1089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coeficiente de cada derivada es una potencia de x que coincide con el orden de la derivada.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7947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APUESTA Y LA ECUACIÓN AUXILIAR</a:t>
            </a:r>
            <a:endParaRPr lang="en-US" sz="1300" dirty="0"/>
          </a:p>
        </p:txBody>
      </p:sp>
      <p:pic>
        <p:nvPicPr>
          <p:cNvPr id="10" name="Image 1" descr="build/eq_light/ce_ansat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128622"/>
            <a:ext cx="1645920" cy="612435"/>
          </a:xfrm>
          <a:prstGeom prst="rect">
            <a:avLst/>
          </a:prstGeom>
        </p:spPr>
      </p:pic>
      <p:pic>
        <p:nvPicPr>
          <p:cNvPr id="11" name="Image 2" descr="build/eq_light/ce_au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4114800"/>
            <a:ext cx="5514535" cy="6400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48920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xᵐ —nunca cero para x&gt;0—: los mismos tres casos de siempre, ahora con potencias y logaritmos de x.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AUXILIAR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Los Tres Casos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&gt; 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reales distintas</a:t>
            </a:r>
            <a:endParaRPr lang="en-US" sz="1200" dirty="0"/>
          </a:p>
        </p:txBody>
      </p:sp>
      <p:pic>
        <p:nvPicPr>
          <p:cNvPr id="7" name="Image 0" descr="build/eq_light/ce_case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2938"/>
            <a:ext cx="3149498" cy="45212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38218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1098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= 0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21098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200" dirty="0"/>
          </a:p>
        </p:txBody>
      </p:sp>
      <p:pic>
        <p:nvPicPr>
          <p:cNvPr id="11" name="Image 1" descr="build/eq_light/ce_case_repe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3211360"/>
            <a:ext cx="3149498" cy="4352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127797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10677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&lt; 0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8310677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 conjugadas</a:t>
            </a:r>
            <a:endParaRPr lang="en-US" sz="1200" dirty="0"/>
          </a:p>
        </p:txBody>
      </p:sp>
      <p:pic>
        <p:nvPicPr>
          <p:cNvPr id="15" name="Image 2" descr="build/eq_light/ce_case_compl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3295805"/>
            <a:ext cx="3149498" cy="266391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77240" y="484632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Comparen estas tres fórmulas con las de la Diapositiva 8 — misma estructura: solo cambian eʳˣ→xᵐ y x→ln x.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ce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8357"/>
            <a:ext cx="10545775" cy="8096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auxiliar, sus raíces, y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566160"/>
          </a:xfrm>
          <a:prstGeom prst="roundRect">
            <a:avLst>
              <a:gd name="adj" fmla="val 2564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AUXILIAR Y RAÍCES</a:t>
            </a:r>
            <a:endParaRPr lang="en-US" sz="1300" dirty="0"/>
          </a:p>
        </p:txBody>
      </p:sp>
      <p:pic>
        <p:nvPicPr>
          <p:cNvPr id="6" name="Image 0" descr="build/eq_light/ce_ex_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9404" y="2148840"/>
            <a:ext cx="7852886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raíces complejas m=α±βi (α=0, β=2): y=xᵅ[C₁cos(β ln x)+C₂sin(β ln x)]. Evaluando en x=1 (ln 1=0) con y(1)=1, y'(1)=4: C₁=1, C₂=2.</a:t>
            </a:r>
            <a:endParaRPr lang="en-US" sz="1300" dirty="0"/>
          </a:p>
        </p:txBody>
      </p:sp>
      <p:pic>
        <p:nvPicPr>
          <p:cNvPr id="8" name="Image 1" descr="build/eq_light/ce_ex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445" y="3703320"/>
            <a:ext cx="5206805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Basta con Adivinar?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nonhomog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9603" y="1828800"/>
            <a:ext cx="5672488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saben construir yᶜ. Falta yₚ. Podrían adivinar su forma a ojo —polinomio para polinomio, exponencial para exponencial— pero adivinar falla en cuanto el forzamiento se complica.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39776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 convierte ese tanteo en álgebra pura: tratamos D=d/dx como un símbolo algebraico, y buscamos un operador que ANIQUILE —convierta en cero— la función g(x) del lado derecho.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BLOQUES BÁSICOS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D y la Tabla de Anuladores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Polinomio de grado k (hasta xᵏ)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05289" y="169164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Dᵏ⁺¹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4320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Exponencial eʳˣ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05289" y="274320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(D−r)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79476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eᵅˣcos βx  o  eᵅˣsin βx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05289" y="379476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D²−2αD+(α²+β²)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89204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una suma de términos, multiplican —componen— los operadores de cada uno. Aquí regresa la superposición para no homogéneas de la Sesión 9: cada anulador se encarga de su propio término.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COMPLETO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del Anulador, Paso a Paso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7830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yᶜ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de la homogénea asociada — ya saben hacerlo.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6484468" y="17830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446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33108" y="17830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Anulen g(x)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un operador anulador y apliquenlo a AMBOS lados de la ecuación completa.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8404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38404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y eliminen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la ecuación de orden mayor; eliminen los términos que ya están en yᶜ.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4468" y="38404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84468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33108" y="38404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y despejen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la forma restante (yₚ) en la ecuación ORIGINAL para hallar los coeficientes.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an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8262" y="1828800"/>
            <a:ext cx="5635171" cy="914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3063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30632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yᶜ? [característica (r−2)(r+1)=0 ⟹ yᶜ=C₁e²ˣ+C₂e⁻ˣ]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93192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4x²? [D³, porque x² es un polinomio de grado 2]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48463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Apliquen D³ a ambos lados, identifiquen qué términos ya están en yᶜ, y propongan la forma de yₚ con coeficientes por determinar. Resuélvanlo en su cuaderno — la solución está en la siguiente diapositiva.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4023360"/>
          </a:xfrm>
          <a:prstGeom prst="roundRect">
            <a:avLst>
              <a:gd name="adj" fmla="val 2273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RECAPITULANDO yᶜ</a:t>
            </a:r>
            <a:endParaRPr lang="en-US" sz="1300" dirty="0"/>
          </a:p>
        </p:txBody>
      </p:sp>
      <p:pic>
        <p:nvPicPr>
          <p:cNvPr id="6" name="Image 0" descr="build/eq_light/an_y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3194761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389120" y="1783080"/>
            <a:ext cx="6979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yₚ (SIN LOS TÉRMINOS YA EN yᶜ)</a:t>
            </a:r>
            <a:endParaRPr lang="en-US" sz="1300" dirty="0"/>
          </a:p>
        </p:txBody>
      </p:sp>
      <p:pic>
        <p:nvPicPr>
          <p:cNvPr id="8" name="Image 1" descr="build/eq_light/an_yp_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103120"/>
            <a:ext cx="3051761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78892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Sustituyendo en la ecuación original y agrupando por potencias de x: de x², −2C=4; de x¹, −2C−2B=0; de x⁰, 2C−B−2A=0.</a:t>
            </a:r>
            <a:endParaRPr lang="en-US" sz="1350" dirty="0"/>
          </a:p>
        </p:txBody>
      </p:sp>
      <p:pic>
        <p:nvPicPr>
          <p:cNvPr id="10" name="Image 2" descr="build/eq_light/an_coeff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523" y="3337560"/>
            <a:ext cx="4554650" cy="5029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397764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particular: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22960" y="42976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yₚ = −3 + 2x − 2x²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822960" y="4800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GENERAL COMPLETA</a:t>
            </a:r>
            <a:endParaRPr lang="en-US" sz="1300" dirty="0"/>
          </a:p>
        </p:txBody>
      </p:sp>
      <p:pic>
        <p:nvPicPr>
          <p:cNvPr id="14" name="Image 3" descr="build/eq_light/an_fin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080" y="5120640"/>
            <a:ext cx="5429534" cy="5029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 — PLANTEAMIENTO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pic>
        <p:nvPicPr>
          <p:cNvPr id="4" name="Image 0" descr="build/img_light/msd_forc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072" y="1737360"/>
            <a:ext cx="4286121" cy="2377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9664" y="1600200"/>
            <a:ext cx="4783391" cy="777240"/>
          </a:xfrm>
          <a:prstGeom prst="roundRect">
            <a:avLst>
              <a:gd name="adj" fmla="val 9412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6" name="Image 1" descr="build/eq_light/msd_set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3102" y="1737360"/>
            <a:ext cx="3556514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9664" y="2606040"/>
            <a:ext cx="47833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misma ecuación característica que en la Diapositiva 13 — ahora con una fuerza constante empujando el sistema.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484632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" y="484632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xᶜ, el anulador de la constante, la forma de xₚ, y la solución completa. Resuélvanlo en su cuaderno — la solución está en la siguiente diapositiva.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 — SOLUCIÓN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msd_x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7326" y="1828800"/>
            <a:ext cx="5977043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7889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 la constante 26 es D; aplicando el algoritmo completo, la forma de xₚ es simplemente una constante, y sustituyendo se obtiene xₚ=2. La solución general:</a:t>
            </a:r>
            <a:endParaRPr lang="en-US" sz="1450" dirty="0"/>
          </a:p>
        </p:txBody>
      </p:sp>
      <p:pic>
        <p:nvPicPr>
          <p:cNvPr id="7" name="Image 1" descr="build/eq_light/msd_f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194" y="3611880"/>
            <a:ext cx="5889308" cy="5486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343400"/>
            <a:ext cx="11094415" cy="1600200"/>
          </a:xfrm>
          <a:prstGeom prst="roundRect">
            <a:avLst>
              <a:gd name="adj" fmla="val 457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" y="434340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importar C₁ y C₂, el término exponencial decae a cero cuando t→∞: el sistema termina asentándose en un NUEVO EQUILIBRIO, desplazado 2 unidades. xᶜ es la respuesta transitoria que se apaga; xₚ es hacia dónde se dirige el sistema a largo plazo.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SEGUIR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no es coeficientes constantes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sustitución es y=xᵐ, no y=eʳˣ — son ecuaciones distintas, con trucos distintos; no las mezclen.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revisar contra yᶜ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término de la solución de orden mayor ya está en yᶜ y no lo eliminan, el sistema de coeficientes no va a tener solución.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Anular solo un lado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debe aplicarse a AMBOS lados de la ecuación — no solo al lado derecho.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que Cauchy-Euler asume x&gt;0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x&lt;0 se necesitan ajustes con |x| que no cubrimos hoy.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Arsenal de Orden Superior, Completo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ANULADOR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FORZADO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11094415" cy="219456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5176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fabrican soluciones completas: homogéneas con coeficientes constantes, Cauchy-Euler, y no homogéneas cuando el forzamiento es un polinomio, una exponencial, un seno o coseno — o una combinación de esos.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36118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el anulador tiene un límite: solo funciona cuando existe un anulador, y funciones como tan x o ln x simplemente no tienen uno.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14400" y="484632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VARIACIÓN DE PARÁMETROS Y SISTEMAS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4400" y="54864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método que funciona para cualquier forzamiento, y cómo resolver sistemas completos de ecuaciones diferenciales lineales.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2026-09-22T04:44:16Z</dcterms:created>
  <dcterms:modified xsi:type="dcterms:W3CDTF">2026-09-22T04:44:16Z</dcterms:modified>
</cp:coreProperties>
</file>