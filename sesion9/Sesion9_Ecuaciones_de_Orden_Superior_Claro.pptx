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891B2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7C3AED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69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Lineales de Orden Superior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Característica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ANALÍTICO: SESIONES 1–8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5212080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5212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ORDEN → ORDEN 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5212080"/>
            <a:ext cx="3429000" cy="4572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5212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ADIVINAR LA FORMA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Euler a Orden Superior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EXACTA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Separables, lineales, exactas, homogéneas, Bernoulli. Todas de primer orden — solo aparece y'.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64328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NUMÉRICA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48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Euler, para cuando no hay fórmula cerrada.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subimos un escalón: ecuaciones donde aparece y''. Lejos de ser más difíciles, tienen una de las técnicas más elegantes y mecánicas del curso.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de Orden Superior</a:t>
            </a:r>
            <a:endParaRPr lang="en-US" sz="2900" dirty="0"/>
          </a:p>
        </p:txBody>
      </p:sp>
      <p:pic>
        <p:nvPicPr>
          <p:cNvPr id="4" name="Image 0" descr="build/eq_light/general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972" y="1645920"/>
            <a:ext cx="7459751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6974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88036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derivada más alta que aparece — hoy, orden 2 en adelante.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8218" y="26974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4566818" y="288036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66818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 sus derivadas a la primera potencia, sin productos entre ellas.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27797" y="26974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8356397" y="288036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6397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lado derecho g(x) es cero, y los coeficientes son constantes.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434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PRINCIPIO DE SUPERPOSICIÓN — si y₁ y y₂ son soluciones, C₁y₁ + C₂y₂ también lo es. Por eso vamos a poder combinar soluciones simples en una solución general.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 Exponencial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7099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Apostamos a que la solución tiene esta forma, para algún r desconocido: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15568" y="2148840"/>
            <a:ext cx="9921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pic>
        <p:nvPicPr>
          <p:cNvPr id="8" name="Image 0" descr="build/eq_light/ansatz_deriv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157" y="2148840"/>
            <a:ext cx="8426062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32644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Sustituyendo en ay''+by'+cy=0 y factorizando eʳˣ (que nunca es cero), queda pura álgebra: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15568" y="379476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/>
        </p:spPr>
      </p:sp>
      <p:pic>
        <p:nvPicPr>
          <p:cNvPr id="13" name="Image 1" descr="build/eq_light/characteristic_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13" y="3794760"/>
            <a:ext cx="4754150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93776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9377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ECUACIÓN CARACTERÍSTICA — resolverla en r es resolver la ecuación diferencial completa.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CAMINOS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Raíces, Tres Familias de Solución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SIGNO DEL DISCRIMINANTE  b² − 4ac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5258" cy="3337560"/>
          </a:xfrm>
          <a:prstGeom prst="roundRect">
            <a:avLst>
              <a:gd name="adj" fmla="val 219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</a:t>
            </a:r>
            <a:endParaRPr lang="en-US" sz="1500" dirty="0"/>
          </a:p>
        </p:txBody>
      </p:sp>
      <p:pic>
        <p:nvPicPr>
          <p:cNvPr id="8" name="Image 0" descr="build/eq_light/case1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9468"/>
            <a:ext cx="3149498" cy="4478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8218" y="2011680"/>
            <a:ext cx="3515258" cy="3337560"/>
          </a:xfrm>
          <a:prstGeom prst="roundRect">
            <a:avLst>
              <a:gd name="adj" fmla="val 219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38218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21098" y="274320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500" dirty="0"/>
          </a:p>
        </p:txBody>
      </p:sp>
      <p:pic>
        <p:nvPicPr>
          <p:cNvPr id="12" name="Image 1" descr="build/eq_light/case2_gene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4100110"/>
            <a:ext cx="3149498" cy="4865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27797" y="2011680"/>
            <a:ext cx="3515258" cy="3337560"/>
          </a:xfrm>
          <a:prstGeom prst="roundRect">
            <a:avLst>
              <a:gd name="adj" fmla="val 2192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7797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310677" y="274320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 Conjugadas</a:t>
            </a:r>
            <a:endParaRPr lang="en-US" sz="1500" dirty="0"/>
          </a:p>
        </p:txBody>
      </p:sp>
      <p:pic>
        <p:nvPicPr>
          <p:cNvPr id="16" name="Image 2" descr="build/eq_light/case3_gene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4189332"/>
            <a:ext cx="3149498" cy="3081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Masa-Resorte-Amortiguador</a:t>
            </a:r>
            <a:endParaRPr lang="en-US" sz="2900" dirty="0"/>
          </a:p>
        </p:txBody>
      </p:sp>
      <p:pic>
        <p:nvPicPr>
          <p:cNvPr id="4" name="Image 0" descr="build/img_light/msd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34" y="1600200"/>
            <a:ext cx="3718853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pic>
        <p:nvPicPr>
          <p:cNvPr id="6" name="Image 1" descr="build/eq_light/msd_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24" y="4251960"/>
            <a:ext cx="3886872" cy="548640"/>
          </a:xfrm>
          <a:prstGeom prst="rect">
            <a:avLst/>
          </a:prstGeom>
        </p:spPr>
      </p:pic>
      <p:pic>
        <p:nvPicPr>
          <p:cNvPr id="7" name="Image 2" descr="build/eq_light/msd_ch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230" y="4846320"/>
            <a:ext cx="3149459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35040" y="1600200"/>
            <a:ext cx="5608015" cy="1325880"/>
          </a:xfrm>
          <a:prstGeom prst="roundRect">
            <a:avLst>
              <a:gd name="adj" fmla="val 6207"/>
            </a:avLst>
          </a:prstGeom>
          <a:solidFill>
            <a:srgbClr val="F1F5F9"/>
          </a:solidFill>
          <a:ln/>
        </p:spPr>
      </p:sp>
      <p:sp>
        <p:nvSpPr>
          <p:cNvPr id="9" name="Text 4"/>
          <p:cNvSpPr/>
          <p:nvPr/>
        </p:nvSpPr>
        <p:spPr>
          <a:xfrm>
            <a:off x="6263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223760" y="1764792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Sobreamortiguado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223760" y="213055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al equilibrio sin oscilar — lento.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035040" y="3035808"/>
            <a:ext cx="5608015" cy="1325880"/>
          </a:xfrm>
          <a:prstGeom prst="roundRect">
            <a:avLst>
              <a:gd name="adj" fmla="val 6207"/>
            </a:avLst>
          </a:prstGeom>
          <a:solidFill>
            <a:srgbClr val="F1F5F9"/>
          </a:solidFill>
          <a:ln/>
        </p:spPr>
      </p:sp>
      <p:sp>
        <p:nvSpPr>
          <p:cNvPr id="13" name="Text 8"/>
          <p:cNvSpPr/>
          <p:nvPr/>
        </p:nvSpPr>
        <p:spPr>
          <a:xfrm>
            <a:off x="6263640" y="32186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223760" y="320040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Críticamente amortiguado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223760" y="3566160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sin oscilar en el menor tiempo posible.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4471416"/>
            <a:ext cx="5608015" cy="1325880"/>
          </a:xfrm>
          <a:prstGeom prst="roundRect">
            <a:avLst>
              <a:gd name="adj" fmla="val 6207"/>
            </a:avLst>
          </a:prstGeom>
          <a:solidFill>
            <a:srgbClr val="F1F5F9"/>
          </a:solidFill>
          <a:ln/>
        </p:spPr>
      </p:sp>
      <p:sp>
        <p:nvSpPr>
          <p:cNvPr id="17" name="Text 12"/>
          <p:cNvSpPr/>
          <p:nvPr/>
        </p:nvSpPr>
        <p:spPr>
          <a:xfrm>
            <a:off x="6263640" y="46542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223760" y="463600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Subamortiguado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223760" y="5001768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 mientras la amplitud decae exponencialmente.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 · 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Planteamiento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/>
        </p:spPr>
      </p:sp>
      <p:pic>
        <p:nvPicPr>
          <p:cNvPr id="5" name="Image 0" descr="build/eq_light/ex1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56682"/>
            <a:ext cx="10545775" cy="8072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3776472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la ecuación característica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4343400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Factoricen y hallen r₁, r₂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88289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5568" y="4910328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las dos condiciones iniciales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557784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Trabajen los pasos en su cuaderno — la solución completa está en la siguiente diapositiva.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 · 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Solución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CARACTERÍSTICA</a:t>
            </a:r>
            <a:endParaRPr lang="en-US" sz="1300" dirty="0"/>
          </a:p>
        </p:txBody>
      </p:sp>
      <p:pic>
        <p:nvPicPr>
          <p:cNvPr id="6" name="Image 0" descr="build/eq_light/ex1_ch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302133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 como (r−2)(r−3)=0 → r₁=2, r₂=3.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y(0)=1 y y'(0)=0: C₁+C₂=1 y 2C₁+3C₂=0. Resolviendo el sistema, C₁=3, C₂=−2.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PARTICULAR</a:t>
            </a:r>
            <a:endParaRPr lang="en-US" sz="1300" dirty="0"/>
          </a:p>
        </p:txBody>
      </p:sp>
      <p:pic>
        <p:nvPicPr>
          <p:cNvPr id="11" name="Image 1" descr="build/eq_light/ex1_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79" y="2331720"/>
            <a:ext cx="3806024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48" y="3291840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Verifiquen: y(0)=3−2=1 ✓, y'(0)=6−6=0 ✓. Así confirman que no se perdió un signo en el camino.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Solución Perdida</a:t>
            </a:r>
            <a:endParaRPr lang="en-US" sz="2900" dirty="0"/>
          </a:p>
        </p:txBody>
      </p:sp>
      <p:pic>
        <p:nvPicPr>
          <p:cNvPr id="4" name="Image 0" descr="build/eq_light/ex2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69852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5364328" cy="2423160"/>
          </a:xfrm>
          <a:prstGeom prst="roundRect">
            <a:avLst>
              <a:gd name="adj" fmla="val 3019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¿POR QUÉ NO BASTA CON e³ˣ?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r²−6r+9=0 es (r−3)²=0 — raíz doble. Con una sola exponencial tendrían una constante para dos condiciones iniciales: imposible en general. La segunda solución independiente es x·e³ˣ.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2286000"/>
            <a:ext cx="5364328" cy="2423160"/>
          </a:xfrm>
          <a:prstGeom prst="roundRect">
            <a:avLst>
              <a:gd name="adj" fmla="val 3019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 Y PARTICULAR</a:t>
            </a:r>
            <a:endParaRPr lang="en-US" sz="1300" dirty="0"/>
          </a:p>
        </p:txBody>
      </p:sp>
      <p:pic>
        <p:nvPicPr>
          <p:cNvPr id="10" name="Image 1" descr="build/eq_light/case2_gene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834640"/>
            <a:ext cx="3255264" cy="502920"/>
          </a:xfrm>
          <a:prstGeom prst="rect">
            <a:avLst/>
          </a:prstGeom>
        </p:spPr>
      </p:pic>
      <p:pic>
        <p:nvPicPr>
          <p:cNvPr id="11" name="Image 2" descr="build/eq_light/ex2_s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3429000"/>
            <a:ext cx="2575888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53048" y="402336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y(0)=2, y'(0)=1: C₁=2, C₂=−5.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8920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77240" y="4892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REGLA DE ORO — raíz repetida siempre implica multiplicar por x en la segunda solución.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 Euler</a:t>
            </a:r>
            <a:endParaRPr lang="en-US" sz="2900" dirty="0"/>
          </a:p>
        </p:txBody>
      </p:sp>
      <p:pic>
        <p:nvPicPr>
          <p:cNvPr id="4" name="Image 0" descr="build/eq_light/ex3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1207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5364328" cy="26517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CARACTERÍSTICA</a:t>
            </a:r>
            <a:endParaRPr lang="en-US" sz="1300" dirty="0"/>
          </a:p>
        </p:txBody>
      </p:sp>
      <p:pic>
        <p:nvPicPr>
          <p:cNvPr id="7" name="Image 1" descr="build/eq_light/ex3_ch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77848"/>
            <a:ext cx="4815688" cy="4622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5661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EULER</a:t>
            </a:r>
            <a:endParaRPr lang="en-US" sz="1300" dirty="0"/>
          </a:p>
        </p:txBody>
      </p:sp>
      <p:pic>
        <p:nvPicPr>
          <p:cNvPr id="9" name="Image 2" descr="build/eq_light/euler_formu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3226816" cy="548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78728" y="2286000"/>
            <a:ext cx="5364328" cy="2651760"/>
          </a:xfrm>
          <a:prstGeom prst="roundRect">
            <a:avLst>
              <a:gd name="adj" fmla="val 2759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553048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 Y PARTICULAR</a:t>
            </a:r>
            <a:endParaRPr lang="en-US" sz="1300" dirty="0"/>
          </a:p>
        </p:txBody>
      </p:sp>
      <p:pic>
        <p:nvPicPr>
          <p:cNvPr id="12" name="Image 3" descr="build/eq_light/case3_gene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2850525"/>
            <a:ext cx="4815688" cy="471149"/>
          </a:xfrm>
          <a:prstGeom prst="rect">
            <a:avLst/>
          </a:prstGeom>
        </p:spPr>
      </p:pic>
      <p:pic>
        <p:nvPicPr>
          <p:cNvPr id="13" name="Image 4" descr="build/eq_light/ex3_s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180" y="3520440"/>
            <a:ext cx="2847422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53048" y="420624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α=−2, β=3, y(0)=0, y'(0)=3: C₁=0, C₂=1. Oscilación con amplitud decayendo — el subamortiguado de hace un momento.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CERRANDO EL CÍRCULO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Regímenes, Uno al Lado del Otro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3840480"/>
          </a:xfrm>
          <a:prstGeom prst="roundRect">
            <a:avLst>
              <a:gd name="adj" fmla="val 2381"/>
            </a:avLst>
          </a:prstGeom>
          <a:solidFill>
            <a:srgbClr val="F1F5F9"/>
          </a:solidFill>
          <a:ln/>
        </p:spPr>
      </p:sp>
      <p:pic>
        <p:nvPicPr>
          <p:cNvPr id="5" name="Image 0" descr="build/img_light/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949" y="1783080"/>
            <a:ext cx="7903797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9377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Ámbar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sobreamortiguado   ·   </a:t>
            </a:r>
            <a:pPr algn="ct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crítico   ·   </a:t>
            </a:r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Cian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subamortiguado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de Analista — 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 sin el factor 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C₁eʳˣ+C₂eʳˣ es en realidad una sola constante (C₁+C₂) — no pueden satisfacer dos condiciones iniciales independientes.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eᵅˣ en raíces complejas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real de la raíz controla la envolvente de crecimiento o decaimiento — sin ella, la oscilación nunca cambia de amplitud.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y'(0) sin derivar primero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y'(0) es una condición sobre la derivada, no sobre y — es el error más común de esta técnica.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Faltar condiciones iniciales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ED de orden n necesita exactamente n condiciones para fijar sus n constantes.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Casos Completos — Pero Solo el Sistema Libre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DISTINTAS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94415" cy="292608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363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TIENE UN LÍMITE HONESTO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trabajamos con el lado derecho igual a cero — el sistema masa-resorte-amortiguador libre, sin ninguna fuerza externa empujándolo.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11480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ECUACIONES NO HOMOGÉNEAS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una fuerza periódica empuja el sistema — como el paso sincronizado de miles de peatones sobre un puente? La solución de hoy se vuelve solo una pieza de una respuesta más grande.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2026-09-16T21:36:38Z</dcterms:created>
  <dcterms:modified xsi:type="dcterms:W3CDTF">2026-09-16T21:36:38Z</dcterms:modified>
</cp:coreProperties>
</file>