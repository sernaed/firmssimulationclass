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834640"/>
            <a:ext cx="5029200" cy="5029200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-1691640" y="4617720"/>
            <a:ext cx="4114800" cy="41148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4" name="Shape 2"/>
          <p:cNvSpPr/>
          <p:nvPr/>
        </p:nvSpPr>
        <p:spPr>
          <a:xfrm>
            <a:off x="4160520" y="1051560"/>
            <a:ext cx="3840480" cy="384048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/>
        </p:spPr>
      </p:sp>
      <p:sp>
        <p:nvSpPr>
          <p:cNvPr id="5" name="Text 3"/>
          <p:cNvSpPr/>
          <p:nvPr/>
        </p:nvSpPr>
        <p:spPr>
          <a:xfrm>
            <a:off x="4160520" y="10515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III  •  SESIÓN 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1072591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Ecuaciones Exactas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toda la ecuación ya es, en secreto, la derivada de algo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435608" y="3429000"/>
            <a:ext cx="9326880" cy="2926080"/>
          </a:xfrm>
          <a:prstGeom prst="roundRect">
            <a:avLst>
              <a:gd name="adj" fmla="val 312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92808" y="365760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Sesión 4 preguntamos: ¿y si ninguna técnica aplica directamente? Hoy conocemos una tercera forma de leer una ecuación diferencial: como la diferencial completa de una función escondida f(x,y), y aprenderemos a reconstruirla.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194560" y="4754880"/>
            <a:ext cx="77724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47548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defRPr sz="3200">
                <a:solidFill>
                  <a:srgbClr val="4338CA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m:t>M(x,y)</m:t>
                    </m:r>
                    <m:r>
                      <m:t>dx+N(x,y)</m:t>
                    </m:r>
                    <m:r>
                      <m:t>dy=0</m:t>
                    </m:r>
                  </m:oMath>
                </a14:m>
              </mc:Choice>
              <mc:Fallback>
                <a:r>
                  <a:rPr lang="es-MX" sz="3200">
                    <a:solidFill>
                      <a:srgbClr val="4338CA"/>
                    </a:solidFill>
                  </a:rPr>
                  <a:t>M(x,y)\,dx + N(x,y)\,dy = 0</a:t>
                </a:r>
              </mc:Fallback>
            </mc:AlternateContent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1521440" y="64465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971800" cy="384048"/>
          </a:xfrm>
          <a:prstGeom prst="roundRect">
            <a:avLst>
              <a:gd name="adj" fmla="val 50000"/>
            </a:avLst>
          </a:prstGeom>
          <a:solidFill>
            <a:srgbClr val="CFFAF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TÉCNICAS DE 1ER ORDEN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una Ecuación Exacta?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M dx + N dy es la diferencial completa de una función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11091672" cy="1965960"/>
          </a:xfrm>
          <a:prstGeom prst="roundRect">
            <a:avLst>
              <a:gd name="adj" fmla="val 465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24028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  <a:defRPr sz="1450">
                <a:solidFill>
                  <a:srgbClr val="334155"/>
                </a:solidFill>
              </a:defRPr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una función f(x,y) es  </a:t>
            </a:r>
            <a:pPr indent="0" marL="0">
              <a:lnSpc>
                <a:spcPct val="130000"/>
              </a:lnSpc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m:t>df=</m:t>
                    </m:r>
                    <m:f>
                      <m:fPr>
                        <m:type m:val="bar"/>
                      </m:fPr>
                      <m:num>
                        <m:r>
                          <m:t>∂f</m:t>
                        </m:r>
                      </m:num>
                      <m:den>
                        <m:r>
                          <m:t>∂x</m:t>
                        </m:r>
                      </m:den>
                    </m:f>
                    <m:r>
                      <m:t>dx+</m:t>
                    </m:r>
                    <m:f>
                      <m:fPr>
                        <m:type m:val="bar"/>
                      </m:fPr>
                      <m:num>
                        <m:r>
                          <m:t>∂f</m:t>
                        </m:r>
                      </m:num>
                      <m:den>
                        <m:r>
                          <m:t>∂y</m:t>
                        </m:r>
                      </m:den>
                    </m:f>
                    <m:r>
                      <m:t>dy</m:t>
                    </m:r>
                  </m:oMath>
                </a14:m>
              </mc:Choice>
              <mc:Fallback>
                <a:r>
                  <a:rPr lang="es-MX" sz="1450">
                    <a:solidFill>
                      <a:srgbClr val="334155"/>
                    </a:solidFill>
                  </a:rPr>
                  <a:t>df = \frac{\partial f}{\partial x}dx + \frac{\partial f}{\partial y}dy</a:t>
                </a:r>
              </mc:Fallback>
            </mc:AlternateContent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Decimos que  </a:t>
            </a:r>
            <a:pPr indent="0" marL="0">
              <a:lnSpc>
                <a:spcPct val="130000"/>
              </a:lnSpc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m:t>M</m:t>
                    </m:r>
                    <m:r>
                      <m:t>dx+N</m:t>
                    </m:r>
                    <m:r>
                      <m:t>dy=0</m:t>
                    </m:r>
                  </m:oMath>
                </a14:m>
              </mc:Choice>
              <mc:Fallback>
                <a:r>
                  <a:rPr lang="es-MX" sz="1450">
                    <a:solidFill>
                      <a:srgbClr val="334155"/>
                    </a:solidFill>
                  </a:rPr>
                  <a:t>M\,dx+N\,dy=0</a:t>
                </a:r>
              </mc:Fallback>
            </mc:AlternateContent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es </a:t>
            </a:r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exacta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 el lado izquierdo es df para alguna f.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exactitud: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749040" y="2971800"/>
            <a:ext cx="33832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297180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defRPr sz="2000">
                <a:solidFill>
                  <a:srgbClr val="0E7490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f>
                      <m:fPr>
                        <m:type m:val="bar"/>
                      </m:fPr>
                      <m:num>
                        <m:r>
                          <m:t>∂M</m:t>
                        </m:r>
                      </m:num>
                      <m:den>
                        <m:r>
                          <m:t>∂y</m:t>
                        </m:r>
                      </m:den>
                    </m:f>
                    <m: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∂N</m:t>
                        </m:r>
                      </m:num>
                      <m:den>
                        <m:r>
                          <m:t>∂x</m:t>
                        </m:r>
                      </m:den>
                    </m:f>
                  </m:oMath>
                </a14:m>
              </mc:Choice>
              <mc:Fallback>
                <a:r>
                  <a:rPr lang="es-MX" sz="2000">
                    <a:solidFill>
                      <a:srgbClr val="0E7490"/>
                    </a:solidFill>
                  </a:rPr>
                  <a:t>\frac{\partial M}{\partial y} = \frac{\partial N}{\partial x}</a:t>
                </a:r>
              </mc:Fallback>
            </mc:AlternateContent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434340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45445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544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454456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es exacta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7240" y="5120640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80000"/>
              </a:lnSpc>
              <a:buNone/>
              <a:defRPr sz="1250">
                <a:solidFill>
                  <a:srgbClr val="065F46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m:t>y</m:t>
                    </m:r>
                    <m:r>
                      <m:t>dx+x</m:t>
                    </m:r>
                    <m:r>
                      <m:t>dy=0</m:t>
                    </m:r>
                  </m:oMath>
                </a14:m>
              </mc:Choice>
              <mc:Fallback>
                <a:r>
                  <a:rPr lang="es-MX" sz="1250">
                    <a:solidFill>
                      <a:srgbClr val="065F46"/>
                    </a:solidFill>
                  </a:rPr>
                  <a:t>y\,dx+x\,dy=0</a:t>
                </a:r>
              </mc:Fallback>
            </mc:AlternateContent>
            <a:pPr indent="0" marL="0">
              <a:lnSpc>
                <a:spcPct val="180000"/>
              </a:lnSpc>
              <a:buNone/>
            </a:pPr>
            <a:r>
              <a:rPr lang="en-US" sz="12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lnSpc>
                <a:spcPct val="180000"/>
              </a:lnSpc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sSub>
                      <m:e>
                        <m:r>
                          <m:t>M</m:t>
                        </m:r>
                      </m:e>
                      <m:sub>
                        <m:r>
                          <m:t>y</m:t>
                        </m:r>
                      </m:sub>
                    </m:sSub>
                    <m:r>
                      <m:t>=1=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x</m:t>
                        </m:r>
                      </m:sub>
                    </m:sSub>
                  </m:oMath>
                </a14:m>
              </mc:Choice>
              <mc:Fallback>
                <a:r>
                  <a:rPr lang="es-MX" sz="1250">
                    <a:solidFill>
                      <a:srgbClr val="065F46"/>
                    </a:solidFill>
                  </a:rPr>
                  <a:t>M_y=1=N_x</a:t>
                </a:r>
              </mc:Fallback>
            </mc:AlternateContent>
            <a:endParaRPr lang="en-US" sz="1250" dirty="0"/>
          </a:p>
          <a:p>
            <a:pPr indent="0" marL="0">
              <a:lnSpc>
                <a:spcPct val="180000"/>
              </a:lnSpc>
              <a:buNone/>
              <a:defRPr sz="1250">
                <a:solidFill>
                  <a:srgbClr val="065F46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m:t>(2x+y)dx+(x+2y)dy=0</m:t>
                    </m:r>
                  </m:oMath>
                </a14:m>
              </mc:Choice>
              <mc:Fallback>
                <a:r>
                  <a:rPr lang="es-MX" sz="1200">
                    <a:solidFill>
                      <a:srgbClr val="065F46"/>
                    </a:solidFill>
                  </a:rPr>
                  <a:t>(2x+y)dx+(x+2y)dy=0</a:t>
                </a:r>
              </mc:Fallback>
            </mc:AlternateContent>
            <a:pPr indent="0" marL="0">
              <a:lnSpc>
                <a:spcPct val="180000"/>
              </a:lnSpc>
              <a:buNone/>
            </a:pPr>
            <a:r>
              <a:rPr lang="en-US" sz="12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lnSpc>
                <a:spcPct val="180000"/>
              </a:lnSpc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sSub>
                      <m:e>
                        <m:r>
                          <m:t>M</m:t>
                        </m:r>
                      </m:e>
                      <m:sub>
                        <m:r>
                          <m:t>y</m:t>
                        </m:r>
                      </m:sub>
                    </m:sSub>
                    <m:r>
                      <m:t>=1=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x</m:t>
                        </m:r>
                      </m:sub>
                    </m:sSub>
                  </m:oMath>
                </a14:m>
              </mc:Choice>
              <mc:Fallback>
                <a:r>
                  <a:rPr lang="es-MX" sz="1250">
                    <a:solidFill>
                      <a:srgbClr val="065F46"/>
                    </a:solidFill>
                  </a:rPr>
                  <a:t>M_y=1=N_x</a:t>
                </a:r>
              </mc:Fallback>
            </mc:AlternateContent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91072" y="434340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E4E6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19672" y="45445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519672" y="4544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14032" y="454456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exacta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19672" y="5120640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80000"/>
              </a:lnSpc>
              <a:buNone/>
              <a:defRPr sz="1250">
                <a:solidFill>
                  <a:srgbClr val="9F1239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m:t>y</m:t>
                    </m:r>
                    <m:r>
                      <m:t>dx−x</m:t>
                    </m:r>
                    <m:r>
                      <m:t>dy=0</m:t>
                    </m:r>
                  </m:oMath>
                </a14:m>
              </mc:Choice>
              <mc:Fallback>
                <a:r>
                  <a:rPr lang="es-MX" sz="1250">
                    <a:solidFill>
                      <a:srgbClr val="9F1239"/>
                    </a:solidFill>
                  </a:rPr>
                  <a:t>y\,dx-x\,dy=0</a:t>
                </a:r>
              </mc:Fallback>
            </mc:AlternateContent>
            <a:pPr indent="0" marL="0">
              <a:lnSpc>
                <a:spcPct val="180000"/>
              </a:lnSpc>
              <a:buNone/>
            </a:pPr>
            <a:r>
              <a:rPr lang="en-US" sz="125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lnSpc>
                <a:spcPct val="180000"/>
              </a:lnSpc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sSub>
                      <m:e>
                        <m:r>
                          <m:t>M</m:t>
                        </m:r>
                      </m:e>
                      <m:sub>
                        <m:r>
                          <m:t>y</m:t>
                        </m:r>
                      </m:sub>
                    </m:sSub>
                    <m:r>
                      <m:t>=1,</m:t>
                    </m:r>
                    <m:r>
                      <m:rPr>
                        <m:sty m:val="p"/>
                      </m:rPr>
                      <m:t> 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x</m:t>
                        </m:r>
                      </m:sub>
                    </m:sSub>
                    <m:r>
                      <m:t>=−1</m:t>
                    </m:r>
                  </m:oMath>
                </a14:m>
              </mc:Choice>
              <mc:Fallback>
                <a:r>
                  <a:rPr lang="es-MX" sz="1250">
                    <a:solidFill>
                      <a:srgbClr val="9F1239"/>
                    </a:solidFill>
                  </a:rPr>
                  <a:t>M_y=1,\ N_x=-1</a:t>
                </a:r>
              </mc:Fallback>
            </mc:AlternateContent>
            <a:endParaRPr lang="en-US" sz="1250" dirty="0"/>
          </a:p>
          <a:p>
            <a:pPr indent="0" marL="0">
              <a:lnSpc>
                <a:spcPct val="180000"/>
              </a:lnSpc>
              <a:buNone/>
              <a:defRPr sz="1250">
                <a:solidFill>
                  <a:srgbClr val="9F1239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dx+xy</m:t>
                    </m:r>
                    <m:r>
                      <m:t>dy=0</m:t>
                    </m:r>
                  </m:oMath>
                </a14:m>
              </mc:Choice>
              <mc:Fallback>
                <a:r>
                  <a:rPr lang="es-MX" sz="1250">
                    <a:solidFill>
                      <a:srgbClr val="9F1239"/>
                    </a:solidFill>
                  </a:rPr>
                  <a:t>x^2\,dx+xy\,dy=0</a:t>
                </a:r>
              </mc:Fallback>
            </mc:AlternateContent>
            <a:pPr indent="0" marL="0">
              <a:lnSpc>
                <a:spcPct val="180000"/>
              </a:lnSpc>
              <a:buNone/>
            </a:pPr>
            <a:r>
              <a:rPr lang="en-US" sz="125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lnSpc>
                <a:spcPct val="180000"/>
              </a:lnSpc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sSub>
                      <m:e>
                        <m:r>
                          <m:t>M</m:t>
                        </m:r>
                      </m:e>
                      <m:sub>
                        <m:r>
                          <m:t>y</m:t>
                        </m:r>
                      </m:sub>
                    </m:sSub>
                    <m:r>
                      <m:t>=0,</m:t>
                    </m:r>
                    <m:r>
                      <m:rPr>
                        <m:sty m:val="p"/>
                      </m:rPr>
                      <m:t> 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x</m:t>
                        </m:r>
                      </m:sub>
                    </m:sSub>
                    <m:r>
                      <m:t>=y</m:t>
                    </m:r>
                  </m:oMath>
                </a14:m>
              </mc:Choice>
              <mc:Fallback>
                <a:r>
                  <a:rPr lang="es-MX" sz="1250">
                    <a:solidFill>
                      <a:srgbClr val="9F1239"/>
                    </a:solidFill>
                  </a:rPr>
                  <a:t>M_y=0,\ N_x=y</a:t>
                </a:r>
              </mc:Fallback>
            </mc:AlternateContent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521440" y="64465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CON CÁLCULO III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Secreto: Campos Vectoriales Conservativos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2103120"/>
          </a:xfrm>
          <a:prstGeom prst="roundRect">
            <a:avLst>
              <a:gd name="adj" fmla="val 4348"/>
            </a:avLst>
          </a:prstGeom>
          <a:solidFill>
            <a:srgbClr val="E0E7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  <a:defRPr sz="1600">
                <a:solidFill>
                  <a:srgbClr val="3730A3"/>
                </a:solidFill>
              </a:defRPr>
            </a:pPr>
            <a:r>
              <a:rPr lang="en-US" sz="15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Piensa en  </a:t>
            </a:r>
            <a:pPr indent="0" marL="0">
              <a:lnSpc>
                <a:spcPct val="130000"/>
              </a:lnSpc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m:t>𝐅(x,y)=</m:t>
                    </m:r>
                    <m:d>
                      <m:dPr>
                        <m:sepChr m:val=""/>
                      </m:dPr>
                      <m:e>
                        <m:r>
                          <m:t>M</m:t>
                        </m:r>
                        <m:r>
                          <m:t>(</m:t>
                        </m:r>
                        <m:r>
                          <m:t>x</m:t>
                        </m:r>
                        <m:r>
                          <m:t>,</m:t>
                        </m:r>
                        <m:r>
                          <m:t>y</m:t>
                        </m:r>
                        <m:r>
                          <m:t>)</m:t>
                        </m:r>
                        <m:r>
                          <m:t>,</m:t>
                        </m:r>
                        <m:r>
                          <m:t>N</m:t>
                        </m:r>
                        <m:r>
                          <m:t>(</m:t>
                        </m:r>
                        <m:r>
                          <m:t>x</m:t>
                        </m:r>
                        <m:r>
                          <m:t>,</m:t>
                        </m:r>
                        <m:r>
                          <m:t>y</m:t>
                        </m:r>
                        <m:r>
                          <m:t>)</m:t>
                        </m:r>
                      </m:e>
                    </m:d>
                  </m:oMath>
                </a14:m>
              </mc:Choice>
              <mc:Fallback>
                <a:r>
                  <a:rPr lang="es-MX" sz="1600">
                    <a:solidFill>
                      <a:srgbClr val="3730A3"/>
                    </a:solidFill>
                  </a:rPr>
                  <a:t>\mathbf{F}(x,y) = \left(M(x,y),\,N(x,y)\right)</a:t>
                </a:r>
              </mc:Fallback>
            </mc:AlternateContent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como un campo vectorial. Decir que M dx+N dy=0 es exacta es exactamente decir que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es conservativo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  <a:defRPr sz="1800">
                <a:solidFill>
                  <a:srgbClr val="3730A3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m:t>𝐅=∇f=</m:t>
                    </m:r>
                    <m:d>
                      <m:dPr>
                        <m:sepChr m:val=","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∂f</m:t>
                            </m:r>
                          </m:num>
                          <m:den>
                            <m:r>
                              <m:t>∂x</m:t>
                            </m:r>
                          </m:den>
                        </m:f>
                      </m:e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∂f</m:t>
                            </m:r>
                          </m:num>
                          <m:den>
                            <m:r>
                              <m:t>∂y</m:t>
                            </m:r>
                          </m:den>
                        </m:f>
                      </m:e>
                    </m:d>
                  </m:oMath>
                </a14:m>
              </mc:Choice>
              <mc:Fallback>
                <a:r>
                  <a:rPr lang="es-MX" sz="1800">
                    <a:solidFill>
                      <a:srgbClr val="3730A3"/>
                    </a:solidFill>
                  </a:rPr>
                  <a:t>\mathbf{F} = \nabla f = \left(\frac{\partial f}{\partial x},\,\frac{\partial f}{\partial y}\right)</a:t>
                </a:r>
              </mc:Fallback>
            </mc:AlternateContent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1089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es la función potencial de F.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977640"/>
            <a:ext cx="11091672" cy="2331720"/>
          </a:xfrm>
          <a:prstGeom prst="roundRect">
            <a:avLst>
              <a:gd name="adj" fmla="val 392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1605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  <a:defRPr sz="1500">
                <a:solidFill>
                  <a:srgbClr val="0F172A"/>
                </a:solidFill>
              </a:defRPr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 </a:t>
            </a:r>
            <a:pPr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sSub>
                      <m:e>
                        <m:r>
                          <m:t>M</m:t>
                        </m:r>
                      </m:e>
                      <m:sub>
                        <m:r>
                          <m:t>y</m:t>
                        </m:r>
                      </m:sub>
                    </m:sSub>
                    <m:r>
                      <m:t>=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x</m:t>
                        </m:r>
                      </m:sub>
                    </m:sSub>
                  </m:oMath>
                </a14:m>
              </mc:Choice>
              <mc:Fallback>
                <a:r>
                  <a:rPr lang="es-MX" sz="1500">
                    <a:solidFill>
                      <a:srgbClr val="0F172A"/>
                    </a:solidFill>
                  </a:rPr>
                  <a:t>M_y = N_x</a:t>
                </a:r>
              </mc:Fallback>
            </mc:AlternateContent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es justo la condición correcta?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457200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  <a:defRPr sz="1800">
                <a:solidFill>
                  <a:srgbClr val="334155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f>
                      <m:fPr>
                        <m:type m:val="bar"/>
                      </m:fPr>
                      <m:num>
                        <m:r>
                          <m:t>∂M</m:t>
                        </m:r>
                      </m:num>
                      <m:den>
                        <m:r>
                          <m:t>∂y</m:t>
                        </m:r>
                      </m:den>
                    </m:f>
                    <m:r>
                      <m:t>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∂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f</m:t>
                        </m:r>
                      </m:num>
                      <m:den>
                        <m:r>
                          <m:t>∂y</m:t>
                        </m:r>
                        <m:r>
                          <m:t>∂x</m:t>
                        </m:r>
                      </m:den>
                    </m:f>
                    <m:r>
                      <m:t>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∂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t>f</m:t>
                        </m:r>
                      </m:num>
                      <m:den>
                        <m:r>
                          <m:t>∂x</m:t>
                        </m:r>
                        <m:r>
                          <m:t>∂y</m:t>
                        </m:r>
                      </m:den>
                    </m:f>
                    <m: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∂N</m:t>
                        </m:r>
                      </m:num>
                      <m:den>
                        <m:r>
                          <m:t>∂x</m:t>
                        </m:r>
                      </m:den>
                    </m:f>
                  </m:oMath>
                </a14:m>
              </mc:Choice>
              <mc:Fallback>
                <a:r>
                  <a:rPr lang="es-MX" sz="1800">
                    <a:solidFill>
                      <a:srgbClr val="334155"/>
                    </a:solidFill>
                  </a:rPr>
                  <a:t>\frac{\partial M}{\partial y} = \frac{\partial^2 f}{\partial y\,\partial x} = \frac{\partial^2 f}{\partial x\,\partial y} = \frac{\partial N}{\partial x}</a:t>
                </a:r>
              </mc:Fallback>
            </mc:AlternateContent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516636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derivadas parciales mixtas siempre son iguales (teorema de Clairaut) — por eso el criterio de exactitud no es una coincidencia algebraica, sino una consecuencia directa del cálculo de varias variables. Y las soluciones f(x,y)=C son, literalmente, las curvas de nivel de la función potencial.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521440" y="64465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DE SOLUCIÓN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General de Solución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Reconstruyendo f(x,y) a partir de sus derivadas parciales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2331720"/>
            <a:ext cx="457200" cy="457200"/>
          </a:xfrm>
          <a:prstGeom prst="ellipse">
            <a:avLst/>
          </a:prstGeom>
          <a:solidFill>
            <a:srgbClr val="CFFAFE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3317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49808" y="292608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  <a:defRPr sz="1100">
                <a:solidFill>
                  <a:srgbClr val="475569"/>
                </a:solidFill>
              </a:defRPr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</a:t>
            </a:r>
            <a:pPr indent="0" marL="0">
              <a:lnSpc>
                <a:spcPct val="120000"/>
              </a:lnSpc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sSub>
                      <m:e>
                        <m:r>
                          <m:t>M</m:t>
                        </m:r>
                      </m:e>
                      <m:sub>
                        <m:r>
                          <m:t>y</m:t>
                        </m:r>
                      </m:sub>
                    </m:sSub>
                  </m:oMath>
                </a14:m>
              </mc:Choice>
              <mc:Fallback>
                <a:r>
                  <a:rPr lang="es-MX" sz="1100">
                    <a:solidFill>
                      <a:srgbClr val="475569"/>
                    </a:solidFill>
                  </a:rPr>
                  <a:t>M_y</a:t>
                </a:r>
              </mc:Fallback>
            </mc:AlternateContent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pPr indent="0" marL="0">
              <a:lnSpc>
                <a:spcPct val="120000"/>
              </a:lnSpc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sSub>
                      <m:e>
                        <m:r>
                          <m:t>N</m:t>
                        </m:r>
                      </m:e>
                      <m:sub>
                        <m:r>
                          <m:t>x</m:t>
                        </m:r>
                      </m:sub>
                    </m:sSub>
                  </m:oMath>
                </a14:m>
              </mc:Choice>
              <mc:Fallback>
                <a:r>
                  <a:rPr lang="es-MX" sz="1100">
                    <a:solidFill>
                      <a:srgbClr val="475569"/>
                    </a:solidFill>
                  </a:rPr>
                  <a:t>N_x</a:t>
                </a:r>
              </mc:Fallback>
            </mc:AlternateContent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Si son iguales, la ecuación es exacta.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28416" y="21488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9584" y="2331720"/>
            <a:ext cx="457200" cy="457200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13" name="Text 11"/>
          <p:cNvSpPr/>
          <p:nvPr/>
        </p:nvSpPr>
        <p:spPr>
          <a:xfrm>
            <a:off x="3529584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59936" y="23317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M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529584" y="292608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f(x,y) = ∫M dx + g(y), tratando y como constante.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08192" y="21488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2331720"/>
            <a:ext cx="457200" cy="457200"/>
          </a:xfrm>
          <a:prstGeom prst="ellipse">
            <a:avLst/>
          </a:prstGeom>
          <a:solidFill>
            <a:srgbClr val="FEF3C7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39712" y="23317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Derivar e igualar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09360" y="292608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∂f/∂y = N. Despeja g'(y) y luego g(y).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887968" y="21488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89136" y="2331720"/>
            <a:ext cx="457200" cy="457200"/>
          </a:xfrm>
          <a:prstGeom prst="ellipse">
            <a:avLst/>
          </a:prstGeom>
          <a:solidFill>
            <a:srgbClr val="FFE4E6"/>
          </a:solidFill>
          <a:ln/>
        </p:spPr>
      </p:sp>
      <p:sp>
        <p:nvSpPr>
          <p:cNvPr id="23" name="Text 21"/>
          <p:cNvSpPr/>
          <p:nvPr/>
        </p:nvSpPr>
        <p:spPr>
          <a:xfrm>
            <a:off x="9089136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19488" y="23317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Ensamblar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089136" y="292608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implícita es f(x,y) = C.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251960"/>
            <a:ext cx="11091672" cy="2148840"/>
          </a:xfrm>
          <a:prstGeom prst="roundRect">
            <a:avLst>
              <a:gd name="adj" fmla="val 3830"/>
            </a:avLst>
          </a:prstGeom>
          <a:solidFill>
            <a:srgbClr val="D1FAE5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4434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Nota práctica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68680" y="484632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  <a:defRPr sz="1400">
                <a:solidFill>
                  <a:srgbClr val="065F46"/>
                </a:solidFill>
              </a:defRPr>
            </a:pPr>
            <a:r>
              <a:rPr lang="en-US" sz="13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puedes empezar integrando N respecto a y:  </a:t>
            </a:r>
            <a:pPr indent="0" marL="0">
              <a:lnSpc>
                <a:spcPct val="130000"/>
              </a:lnSpc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m:t>f(x,y)=∫N</m:t>
                    </m:r>
                    <m:r>
                      <m:t>dy+h(x)</m:t>
                    </m:r>
                  </m:oMath>
                </a14:m>
              </mc:Choice>
              <mc:Fallback>
                <a:r>
                  <a:rPr lang="es-MX" sz="1400">
                    <a:solidFill>
                      <a:srgbClr val="065F46"/>
                    </a:solidFill>
                  </a:rPr>
                  <a:t>f(x,y) = \int N\,dy + h(x)</a:t>
                </a:r>
              </mc:Fallback>
            </mc:AlternateContent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Elige el camino con la integral más sencilla — ambos llegan a la misma f.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68680" y="553212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paso 3 siempre debe cancelar toda la x que quede — si no lo hace, la ecuación no era exacta y cometiste un error en el paso 1.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521440" y="64465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834640"/>
            <a:ext cx="4937760" cy="4937760"/>
          </a:xfrm>
          <a:prstGeom prst="ellipse">
            <a:avLst/>
          </a:prstGeom>
          <a:solidFill>
            <a:srgbClr val="FEF3C7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</a:t>
            </a:r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Resuélvanlo en el Pizarrón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280160" y="2743200"/>
            <a:ext cx="9628632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2743200"/>
            <a:ext cx="962863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defRPr sz="3400">
                <a:solidFill>
                  <a:srgbClr val="B45309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m:t>2xy</m:t>
                    </m:r>
                    <m:r>
                      <m:t>dx+(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−1)</m:t>
                    </m:r>
                    <m:r>
                      <m:t>dy=0</m:t>
                    </m:r>
                  </m:oMath>
                </a14:m>
              </mc:Choice>
              <mc:Fallback>
                <a:r>
                  <a:rPr lang="es-MX" sz="3400">
                    <a:solidFill>
                      <a:srgbClr val="B45309"/>
                    </a:solidFill>
                  </a:rPr>
                  <a:t>2xy\,dx + (x^2-1)\,dy = 0</a:t>
                </a:r>
              </mc:Fallback>
            </mc:AlternateContent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737360" y="4709160"/>
            <a:ext cx="87142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que es exacta y encuentra la solución general.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521440" y="64465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 Directa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  <a:defRPr sz="1700">
                <a:solidFill>
                  <a:srgbClr val="B45309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m:t>2xy</m:t>
                    </m:r>
                    <m:r>
                      <m:t>dx+(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−1)</m:t>
                    </m:r>
                    <m:r>
                      <m:t>dy=0</m:t>
                    </m:r>
                  </m:oMath>
                </a14:m>
              </mc:Choice>
              <mc:Fallback>
                <a:r>
                  <a:rPr lang="es-MX" sz="1700">
                    <a:solidFill>
                      <a:srgbClr val="B45309"/>
                    </a:solidFill>
                  </a:rPr>
                  <a:t>2xy\,dx + (x^2-1)\,dy = 0</a:t>
                </a:r>
              </mc:Fallback>
            </mc:AlternateContent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349240" cy="3749040"/>
          </a:xfrm>
          <a:prstGeom prst="roundRect">
            <a:avLst>
              <a:gd name="adj" fmla="val 243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468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exactitud: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8803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  <a:defRPr sz="1700">
                <a:solidFill>
                  <a:srgbClr val="334155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sSub>
                      <m:e>
                        <m:r>
                          <m:t>M</m:t>
                        </m:r>
                      </m:e>
                      <m:sub>
                        <m:r>
                          <m:t>y</m:t>
                        </m:r>
                      </m:sub>
                    </m:sSub>
                    <m:r>
                      <m:t>=2x=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x</m:t>
                        </m:r>
                      </m:sub>
                    </m:sSub>
                    <m:r>
                      <m:t>✓</m:t>
                    </m:r>
                  </m:oMath>
                </a14:m>
              </mc:Choice>
              <mc:Fallback>
                <a:r>
                  <a:rPr lang="es-MX" sz="1700">
                    <a:solidFill>
                      <a:srgbClr val="334155"/>
                    </a:solidFill>
                  </a:rPr>
                  <a:t>M_y = 2x = N_x \;\checkmark</a:t>
                </a:r>
              </mc:Fallback>
            </mc:AlternateContent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M respecto a x: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8862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  <a:defRPr sz="1500">
                <a:solidFill>
                  <a:srgbClr val="334155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m:t>f(x,y)=∫2xy</m:t>
                    </m:r>
                    <m:r>
                      <m:t>dx=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y+g(y)</m:t>
                    </m:r>
                  </m:oMath>
                </a14:m>
              </mc:Choice>
              <mc:Fallback>
                <a:r>
                  <a:rPr lang="es-MX" sz="1500">
                    <a:solidFill>
                      <a:srgbClr val="334155"/>
                    </a:solidFill>
                  </a:rPr>
                  <a:t>f(x,y) = \int 2xy\,dx = x^2y + g(y)</a:t>
                </a:r>
              </mc:Fallback>
            </mc:AlternateContent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4480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Derivar respecto a y e igualar a N: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8920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  <a:defRPr sz="1450">
                <a:solidFill>
                  <a:srgbClr val="334155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+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′</m:t>
                        </m:r>
                      </m:sup>
                    </m:sSup>
                    <m:r>
                      <m:t>(y)=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−1</m:t>
                    </m:r>
                    <m:r>
                      <m:t>⇒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′</m:t>
                        </m:r>
                      </m:sup>
                    </m:sSup>
                    <m:r>
                      <m:t>(y)=−1</m:t>
                    </m:r>
                  </m:oMath>
                </a14:m>
              </mc:Choice>
              <mc:Fallback>
                <a:r>
                  <a:rPr lang="es-MX" sz="1450">
                    <a:solidFill>
                      <a:srgbClr val="334155"/>
                    </a:solidFill>
                  </a:rPr>
                  <a:t>x^2+g'(y) = x^2-1 \;\Rightarrow\; g'(y)=-1</a:t>
                </a:r>
              </mc:Fallback>
            </mc:AlternateContent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68680" y="53949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  <a:defRPr sz="1600">
                <a:solidFill>
                  <a:srgbClr val="334155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m:t>g(y)=−y</m:t>
                    </m:r>
                  </m:oMath>
                </a14:m>
              </mc:Choice>
              <mc:Fallback>
                <a:r>
                  <a:rPr lang="es-MX" sz="1600">
                    <a:solidFill>
                      <a:srgbClr val="334155"/>
                    </a:solidFill>
                  </a:rPr>
                  <a:t>g(y) = -y</a:t>
                </a:r>
              </mc:Fallback>
            </mc:AlternateContent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91072" y="2194560"/>
            <a:ext cx="5349240" cy="3749040"/>
          </a:xfrm>
          <a:prstGeom prst="roundRect">
            <a:avLst>
              <a:gd name="adj" fmla="val 2439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11112" y="2468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Ensamblando f(x,y) = C: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611112" y="2971800"/>
            <a:ext cx="470916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11112" y="297180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defRPr sz="3200">
                <a:solidFill>
                  <a:srgbClr val="B45309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y−y=C</m:t>
                    </m:r>
                  </m:oMath>
                </a14:m>
              </mc:Choice>
              <mc:Fallback>
                <a:r>
                  <a:rPr lang="es-MX" sz="3200">
                    <a:solidFill>
                      <a:srgbClr val="B45309"/>
                    </a:solidFill>
                  </a:rPr>
                  <a:t>x^2y - y = C</a:t>
                </a:r>
              </mc:Fallback>
            </mc:AlternateContent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611112" y="4251960"/>
            <a:ext cx="4709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la x que desapareció en el paso 3 (∂f/∂y = x²+g'(y) coincidió perfectamente con N = x²-1): esa cancelación confirma que la ecuación realmente era exacta.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834640"/>
            <a:ext cx="4937760" cy="4937760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</a:t>
            </a:r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Resuélvanlo en el Pizarrón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280160" y="2743200"/>
            <a:ext cx="9628632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2743200"/>
            <a:ext cx="962863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defRPr sz="2400">
                <a:solidFill>
                  <a:srgbClr val="6D28D9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m:t>(2xy−</m:t>
                    </m:r>
                    <m:sSup>
                      <m:e>
                        <m:r>
                          <m:rPr>
                            <m:sty m:val="p"/>
                          </m:rPr>
                          <m:t>sec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x)</m:t>
                    </m:r>
                    <m:r>
                      <m:t>dx+(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+2y)</m:t>
                    </m:r>
                    <m:r>
                      <m:t>dy=0,</m:t>
                    </m:r>
                    <m:r>
                      <m:t>y(0)=3</m:t>
                    </m:r>
                  </m:oMath>
                </a14:m>
              </mc:Choice>
              <mc:Fallback>
                <a:r>
                  <a:rPr lang="es-MX" sz="2400">
                    <a:solidFill>
                      <a:srgbClr val="6D28D9"/>
                    </a:solidFill>
                  </a:rPr>
                  <a:t>(2xy-\sec^2 x)\,dx + (x^2+2y)\,dy = 0,\quad y(0)=3</a:t>
                </a:r>
              </mc:Fallback>
            </mc:AlternateContent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737360" y="4709160"/>
            <a:ext cx="87142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 la solución del PVI.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521440" y="64465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PVI Exacto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  <a:defRPr sz="1500">
                <a:solidFill>
                  <a:srgbClr val="6D28D9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m:t>(2xy−</m:t>
                    </m:r>
                    <m:sSup>
                      <m:e>
                        <m:r>
                          <m:rPr>
                            <m:sty m:val="p"/>
                          </m:rPr>
                          <m:t>sec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x)</m:t>
                    </m:r>
                    <m:r>
                      <m:t>dx+(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+2y)</m:t>
                    </m:r>
                    <m:r>
                      <m:t>dy=0,</m:t>
                    </m:r>
                    <m:r>
                      <m:t>y(0)=3</m:t>
                    </m:r>
                  </m:oMath>
                </a14:m>
              </mc:Choice>
              <mc:Fallback>
                <a:r>
                  <a:rPr lang="es-MX" sz="1500">
                    <a:solidFill>
                      <a:srgbClr val="6D28D9"/>
                    </a:solidFill>
                  </a:rPr>
                  <a:t>(2xy-\sec^2 x)\,dx + (x^2+2y)\,dy = 0,\quad y(0)=3</a:t>
                </a:r>
              </mc:Fallback>
            </mc:AlternateContent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349240" cy="3794760"/>
          </a:xfrm>
          <a:prstGeom prst="roundRect">
            <a:avLst>
              <a:gd name="adj" fmla="val 241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4231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exactitud: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  <a:defRPr sz="1700">
                <a:solidFill>
                  <a:srgbClr val="334155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sSub>
                      <m:e>
                        <m:r>
                          <m:t>M</m:t>
                        </m:r>
                      </m:e>
                      <m:sub>
                        <m:r>
                          <m:t>y</m:t>
                        </m:r>
                      </m:sub>
                    </m:sSub>
                    <m:r>
                      <m:t>=2x=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x</m:t>
                        </m:r>
                      </m:sub>
                    </m:sSub>
                    <m:r>
                      <m:t>✓</m:t>
                    </m:r>
                  </m:oMath>
                </a14:m>
              </mc:Choice>
              <mc:Fallback>
                <a:r>
                  <a:rPr lang="es-MX" sz="1700">
                    <a:solidFill>
                      <a:srgbClr val="334155"/>
                    </a:solidFill>
                  </a:rPr>
                  <a:t>M_y = 2x = N_x \;\checkmark</a:t>
                </a:r>
              </mc:Fallback>
            </mc:AlternateContent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429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M respecto a x: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8404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  <a:defRPr sz="1350">
                <a:solidFill>
                  <a:srgbClr val="334155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m:t>f=∫(2xy−</m:t>
                    </m:r>
                    <m:sSup>
                      <m:e>
                        <m:r>
                          <m:rPr>
                            <m:sty m:val="p"/>
                          </m:rPr>
                          <m:t>sec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x)</m:t>
                    </m:r>
                    <m:r>
                      <m:t>dx=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y−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x+g(y)</m:t>
                    </m:r>
                  </m:oMath>
                </a14:m>
              </mc:Choice>
              <mc:Fallback>
                <a:r>
                  <a:rPr lang="es-MX" sz="1350">
                    <a:solidFill>
                      <a:srgbClr val="334155"/>
                    </a:solidFill>
                  </a:rPr>
                  <a:t>f = \int (2xy-\sec^2x)\,dx = x^2y-\tan x + g(y)</a:t>
                </a:r>
              </mc:Fallback>
            </mc:AlternateContent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68680" y="4434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Derivar e igualar a N: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8463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  <a:defRPr sz="1450">
                <a:solidFill>
                  <a:srgbClr val="334155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+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′</m:t>
                        </m:r>
                      </m:sup>
                    </m:sSup>
                    <m:r>
                      <m:t>(y)=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+2y</m:t>
                    </m:r>
                    <m:r>
                      <m:t>⇒</m:t>
                    </m:r>
                    <m:r>
                      <m:t>g(y)=</m:t>
                    </m:r>
                    <m:sSup>
                      <m:e>
                        <m:r>
                          <m:t>y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es-MX" sz="1450">
                    <a:solidFill>
                      <a:srgbClr val="334155"/>
                    </a:solidFill>
                  </a:rPr>
                  <a:t>x^2+g'(y)=x^2+2y \;\Rightarrow\; g(y)=y^2</a:t>
                </a:r>
              </mc:Fallback>
            </mc:AlternateContent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68680" y="53949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  <a:defRPr sz="1500">
                <a:solidFill>
                  <a:srgbClr val="334155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m:t>f(x,y)=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y−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x+</m:t>
                    </m:r>
                    <m:sSup>
                      <m:e>
                        <m:r>
                          <m:t>y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=C</m:t>
                    </m:r>
                  </m:oMath>
                </a14:m>
              </mc:Choice>
              <mc:Fallback>
                <a:r>
                  <a:rPr lang="es-MX" sz="1500">
                    <a:solidFill>
                      <a:srgbClr val="334155"/>
                    </a:solidFill>
                  </a:rPr>
                  <a:t>f(x,y) = x^2y - \tan x + y^2 = C</a:t>
                </a:r>
              </mc:Fallback>
            </mc:AlternateContent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91072" y="2148840"/>
            <a:ext cx="5349240" cy="3794760"/>
          </a:xfrm>
          <a:prstGeom prst="roundRect">
            <a:avLst>
              <a:gd name="adj" fmla="val 2410"/>
            </a:avLst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11112" y="24231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  <a:defRPr sz="1450">
                <a:solidFill>
                  <a:srgbClr val="5B21B6"/>
                </a:solidFill>
              </a:defRPr>
            </a:pPr>
            <a:r>
              <a:rPr lang="en-US" sz="14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PVI (0, 3):  </a:t>
            </a:r>
            <a:pPr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m:t>0−0+9=C⇒C=9</m:t>
                    </m:r>
                  </m:oMath>
                </a14:m>
              </mc:Choice>
              <mc:Fallback>
                <a:r>
                  <a:rPr lang="es-MX" sz="1450">
                    <a:solidFill>
                      <a:srgbClr val="5B21B6"/>
                    </a:solidFill>
                  </a:rPr>
                  <a:t>0-0+9=C \Rightarrow C=9</a:t>
                </a:r>
              </mc:Fallback>
            </mc:AlternateContent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611112" y="3017520"/>
            <a:ext cx="470916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11112" y="301752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defRPr sz="2400">
                <a:solidFill>
                  <a:srgbClr val="6D28D9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y−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x+</m:t>
                    </m:r>
                    <m:sSup>
                      <m:e>
                        <m:r>
                          <m:t>y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=9</m:t>
                    </m:r>
                  </m:oMath>
                </a14:m>
              </mc:Choice>
              <mc:Fallback>
                <a:r>
                  <a:rPr lang="es-MX" sz="2400">
                    <a:solidFill>
                      <a:srgbClr val="6D28D9"/>
                    </a:solidFill>
                  </a:rPr>
                  <a:t>x^2y - \tan x + y^2 = 9</a:t>
                </a:r>
              </mc:Fallback>
            </mc:AlternateContent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611112" y="4297680"/>
            <a:ext cx="4709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 solución implícita, no despejamos y explícitamente — pero la curva x²y−tan x+y²=9 que pasa por (0,3) está completamente determinada.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FFE4E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NO ES EXACTA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Integrantes para Ecuaciones No Exactas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  <a:defRPr sz="1700">
                <a:solidFill>
                  <a:srgbClr val="BE123C"/>
                </a:solidFill>
              </a:defRPr>
            </a:pPr>
            <a:r>
              <a:rPr lang="en-US" sz="170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veces un multiplicador μ arregla lo que </a:t>
            </a:r>
            <a:pPr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sSub>
                      <m:e>
                        <m:r>
                          <m:t>M</m:t>
                        </m:r>
                      </m:e>
                      <m:sub>
                        <m:r>
                          <m:t>y</m:t>
                        </m:r>
                      </m:sub>
                    </m:sSub>
                    <m:r>
                      <m:t>≠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x</m:t>
                        </m:r>
                      </m:sub>
                    </m:sSub>
                  </m:oMath>
                </a14:m>
              </mc:Choice>
              <mc:Fallback>
                <a:r>
                  <a:rPr lang="es-MX" sz="1700">
                    <a:solidFill>
                      <a:srgbClr val="BE123C"/>
                    </a:solidFill>
                  </a:rPr>
                  <a:t>M_y \neq N_x</a:t>
                </a:r>
              </mc:Fallback>
            </mc:AlternateContent>
            <a:pPr indent="0" marL="0">
              <a:buNone/>
            </a:pPr>
            <a:r>
              <a:rPr lang="en-US" sz="170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rompió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28600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  <a:defRPr sz="1600">
                <a:solidFill>
                  <a:srgbClr val="334155"/>
                </a:solidFill>
              </a:defRPr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Buscamos μ tal que  </a:t>
            </a:r>
            <a:pPr indent="0" marL="0">
              <a:lnSpc>
                <a:spcPct val="130000"/>
              </a:lnSpc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m:t>μM</m:t>
                    </m:r>
                    <m:r>
                      <m:t>dx+μN</m:t>
                    </m:r>
                    <m:r>
                      <m:t>dy=0</m:t>
                    </m:r>
                  </m:oMath>
                </a14:m>
              </mc:Choice>
              <mc:Fallback>
                <a:r>
                  <a:rPr lang="es-MX" sz="1600">
                    <a:solidFill>
                      <a:srgbClr val="334155"/>
                    </a:solidFill>
                  </a:rPr>
                  <a:t>\mu M\,dx + \mu N\,dy = 0</a:t>
                </a:r>
              </mc:Fallback>
            </mc:AlternateContent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SÍ sea exacta. No siempre existe uno simple, pero hay dos casos comunes: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5349240" cy="2880360"/>
          </a:xfrm>
          <a:prstGeom prst="roundRect">
            <a:avLst>
              <a:gd name="adj" fmla="val 3175"/>
            </a:avLst>
          </a:prstGeom>
          <a:solidFill>
            <a:srgbClr val="FFE4E6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611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  <a:defRPr sz="1500">
                <a:solidFill>
                  <a:srgbClr val="9F1239"/>
                </a:solidFill>
              </a:defRPr>
            </a:pPr>
            <a:r>
              <a:rPr lang="en-US" sz="150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 </a:t>
            </a:r>
            <a:pPr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f>
                      <m:fPr>
                        <m:type m:val="bar"/>
                      </m:fPr>
                      <m:num>
                        <m:argPr>
                          <m:scrLvl m:val="0"/>
                        </m:argPr>
                        <m:sSub>
                          <m:e>
                            <m:argPr>
                              <m:scrLvl m:val="0"/>
                            </m:argPr>
                            <m:r>
                              <m:t>M</m:t>
                            </m:r>
                          </m:e>
                          <m:sub>
                            <m:argPr>
                              <m:scrLvl m:val="0"/>
                            </m:argPr>
                            <m:r>
                              <m:t>y</m:t>
                            </m:r>
                          </m:sub>
                        </m:sSub>
                        <m:r>
                          <m:t>−</m:t>
                        </m:r>
                        <m:sSub>
                          <m:e>
                            <m:argPr>
                              <m:scrLvl m:val="0"/>
                            </m:argPr>
                            <m:r>
                              <m:t>N</m:t>
                            </m:r>
                          </m:e>
                          <m:sub>
                            <m:argPr>
                              <m:scrLvl m:val="0"/>
                            </m:argPr>
                            <m:r>
                              <m:t>x</m:t>
                            </m:r>
                          </m:sub>
                        </m:sSub>
                      </m:num>
                      <m:den>
                        <m:argPr>
                          <m:scrLvl m:val="0"/>
                        </m:argPr>
                        <m:r>
                          <m:t>N</m:t>
                        </m:r>
                      </m:den>
                    </m:f>
                  </m:oMath>
                </a14:m>
              </mc:Choice>
              <mc:Fallback>
                <a:r>
                  <a:rPr lang="es-MX" sz="1500">
                    <a:solidFill>
                      <a:srgbClr val="9F1239"/>
                    </a:solidFill>
                  </a:rPr>
                  <a:t>\dfrac{M_y-N_x}{N}</a:t>
                </a:r>
              </mc:Fallback>
            </mc:AlternateContent>
            <a:pPr indent="0" marL="0">
              <a:buNone/>
            </a:pPr>
            <a:r>
              <a:rPr lang="en-US" sz="150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depende SOLO de x: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4114800"/>
            <a:ext cx="47091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11480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defRPr sz="2000">
                <a:solidFill>
                  <a:srgbClr val="BE123C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m:t>μ(x)=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∫</m:t>
                        </m:r>
                        <m:f>
                          <m:fPr>
                            <m:type m:val="bar"/>
                          </m:fPr>
                          <m:num>
                            <m:sSub>
                              <m:e>
                                <m:r>
                                  <m:t>M</m:t>
                                </m:r>
                              </m:e>
                              <m:sub>
                                <m:r>
                                  <m:t>y</m:t>
                                </m:r>
                              </m:sub>
                            </m:sSub>
                            <m:r>
                              <m:t>−</m:t>
                            </m:r>
                            <m:sSub>
                              <m:e>
                                <m:r>
                                  <m:t>N</m:t>
                                </m:r>
                              </m:e>
                              <m:sub>
                                <m:r>
                                  <m:t>x</m:t>
                                </m:r>
                              </m:sub>
                            </m:sSub>
                          </m:num>
                          <m:den>
                            <m:r>
                              <m:t>N</m:t>
                            </m:r>
                          </m:den>
                        </m:f>
                        <m:r>
                          <m:t>dx</m:t>
                        </m:r>
                      </m:sup>
                    </m:sSup>
                  </m:oMath>
                </a14:m>
              </mc:Choice>
              <mc:Fallback>
                <a:r>
                  <a:rPr lang="es-MX" sz="2000">
                    <a:solidFill>
                      <a:srgbClr val="BE123C"/>
                    </a:solidFill>
                  </a:rPr>
                  <a:t>\mu(x)=e^{\int \frac{M_y-N_x}{N}\,dx}</a:t>
                </a:r>
              </mc:Fallback>
            </mc:AlternateContent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" y="51206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 toda la ecuación por μ(x) y verifica que ahora sí sea exacta.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91072" y="3429000"/>
            <a:ext cx="5349240" cy="2880360"/>
          </a:xfrm>
          <a:prstGeom prst="roundRect">
            <a:avLst>
              <a:gd name="adj" fmla="val 3175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11112" y="3611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  <a:defRPr sz="1500">
                <a:solidFill>
                  <a:srgbClr val="065F46"/>
                </a:solidFill>
              </a:defRPr>
            </a:pPr>
            <a:r>
              <a:rPr lang="en-US" sz="15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 </a:t>
            </a:r>
            <a:pPr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f>
                      <m:fPr>
                        <m:type m:val="bar"/>
                      </m:fPr>
                      <m:num>
                        <m:argPr>
                          <m:scrLvl m:val="0"/>
                        </m:argPr>
                        <m:sSub>
                          <m:e>
                            <m:argPr>
                              <m:scrLvl m:val="0"/>
                            </m:argPr>
                            <m:r>
                              <m:t>N</m:t>
                            </m:r>
                          </m:e>
                          <m:sub>
                            <m:argPr>
                              <m:scrLvl m:val="0"/>
                            </m:argPr>
                            <m:r>
                              <m:t>x</m:t>
                            </m:r>
                          </m:sub>
                        </m:sSub>
                        <m:r>
                          <m:t>−</m:t>
                        </m:r>
                        <m:sSub>
                          <m:e>
                            <m:argPr>
                              <m:scrLvl m:val="0"/>
                            </m:argPr>
                            <m:r>
                              <m:t>M</m:t>
                            </m:r>
                          </m:e>
                          <m:sub>
                            <m:argPr>
                              <m:scrLvl m:val="0"/>
                            </m:argPr>
                            <m:r>
                              <m:t>y</m:t>
                            </m:r>
                          </m:sub>
                        </m:sSub>
                      </m:num>
                      <m:den>
                        <m:argPr>
                          <m:scrLvl m:val="0"/>
                        </m:argPr>
                        <m:r>
                          <m:t>M</m:t>
                        </m:r>
                      </m:den>
                    </m:f>
                  </m:oMath>
                </a14:m>
              </mc:Choice>
              <mc:Fallback>
                <a:r>
                  <a:rPr lang="es-MX" sz="1500">
                    <a:solidFill>
                      <a:srgbClr val="065F46"/>
                    </a:solidFill>
                  </a:rPr>
                  <a:t>\dfrac{N_x-M_y}{M}</a:t>
                </a:r>
              </mc:Fallback>
            </mc:AlternateContent>
            <a:pPr indent="0" marL="0">
              <a:buNone/>
            </a:pPr>
            <a:r>
              <a:rPr lang="en-US" sz="15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depende SOLO de y: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611112" y="4114800"/>
            <a:ext cx="47091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11112" y="411480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defRPr sz="2000">
                <a:solidFill>
                  <a:srgbClr val="047857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m:t>μ(y)=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∫</m:t>
                        </m:r>
                        <m:f>
                          <m:fPr>
                            <m:type m:val="bar"/>
                          </m:fPr>
                          <m:num>
                            <m:sSub>
                              <m:e>
                                <m:r>
                                  <m:t>N</m:t>
                                </m:r>
                              </m:e>
                              <m:sub>
                                <m:r>
                                  <m:t>x</m:t>
                                </m:r>
                              </m:sub>
                            </m:sSub>
                            <m:r>
                              <m:t>−</m:t>
                            </m:r>
                            <m:sSub>
                              <m:e>
                                <m:r>
                                  <m:t>M</m:t>
                                </m:r>
                              </m:e>
                              <m:sub>
                                <m:r>
                                  <m:t>y</m:t>
                                </m:r>
                              </m:sub>
                            </m:sSub>
                          </m:num>
                          <m:den>
                            <m:r>
                              <m:t>M</m:t>
                            </m:r>
                          </m:den>
                        </m:f>
                        <m:r>
                          <m:t>dy</m:t>
                        </m:r>
                      </m:sup>
                    </m:sSup>
                  </m:oMath>
                </a14:m>
              </mc:Choice>
              <mc:Fallback>
                <a:r>
                  <a:rPr lang="es-MX" sz="2000">
                    <a:solidFill>
                      <a:srgbClr val="047857"/>
                    </a:solidFill>
                  </a:rPr>
                  <a:t>\mu(y)=e^{\int \frac{N_x-M_y}{M}\,dy}</a:t>
                </a:r>
              </mc:Fallback>
            </mc:AlternateContent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611112" y="51206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idea, pero el multiplicador depende de y en lugar de x.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834640"/>
            <a:ext cx="4937760" cy="4937760"/>
          </a:xfrm>
          <a:prstGeom prst="ellipse">
            <a:avLst/>
          </a:prstGeom>
          <a:solidFill>
            <a:srgbClr val="CFFAF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CFFAF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</a:t>
            </a:r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Resuélvanlo en el Pizarrón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280160" y="2743200"/>
            <a:ext cx="9628632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2743200"/>
            <a:ext cx="962863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defRPr sz="3200">
                <a:solidFill>
                  <a:srgbClr val="0E7490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m:t>(xy−1)</m:t>
                    </m:r>
                    <m:r>
                      <m:t>dx+(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−xy)</m:t>
                    </m:r>
                    <m:r>
                      <m:t>dy=0</m:t>
                    </m:r>
                  </m:oMath>
                </a14:m>
              </mc:Choice>
              <mc:Fallback>
                <a:r>
                  <a:rPr lang="es-MX" sz="3200">
                    <a:solidFill>
                      <a:srgbClr val="0E7490"/>
                    </a:solidFill>
                  </a:rPr>
                  <a:t>(xy-1)\,dx + (x^2-xy)\,dy = 0</a:t>
                </a:r>
              </mc:Fallback>
            </mc:AlternateContent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737360" y="4709160"/>
            <a:ext cx="87142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exacta. Encuentra un factor integrante y resuélvela.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521440" y="64465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CFFAF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Integrante μ(x)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  <a:defRPr sz="1700">
                <a:solidFill>
                  <a:srgbClr val="0E7490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m:t>(xy−1)</m:t>
                    </m:r>
                    <m:r>
                      <m:t>dx+(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−xy)</m:t>
                    </m:r>
                    <m:r>
                      <m:t>dy=0</m:t>
                    </m:r>
                  </m:oMath>
                </a14:m>
              </mc:Choice>
              <mc:Fallback>
                <a:r>
                  <a:rPr lang="es-MX" sz="1700">
                    <a:solidFill>
                      <a:srgbClr val="0E7490"/>
                    </a:solidFill>
                  </a:rPr>
                  <a:t>(xy-1)\,dx + (x^2-xy)\,dy = 0</a:t>
                </a:r>
              </mc:Fallback>
            </mc:AlternateContent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349240" cy="3794760"/>
          </a:xfrm>
          <a:prstGeom prst="roundRect">
            <a:avLst>
              <a:gd name="adj" fmla="val 241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4231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  <a:defRPr sz="1400">
                <a:solidFill>
                  <a:srgbClr val="0F172A"/>
                </a:solidFill>
              </a:defRPr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exacta:  </a:t>
            </a:r>
            <a:pPr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sSub>
                      <m:e>
                        <m:r>
                          <m:t>M</m:t>
                        </m:r>
                      </m:e>
                      <m:sub>
                        <m:r>
                          <m:t>y</m:t>
                        </m:r>
                      </m:sub>
                    </m:sSub>
                    <m:r>
                      <m:t>=x,</m:t>
                    </m:r>
                    <m:r>
                      <m:rPr>
                        <m:sty m:val="p"/>
                      </m:rPr>
                      <m:t> 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x</m:t>
                        </m:r>
                      </m:sub>
                    </m:sSub>
                    <m:r>
                      <m:t>=2x−y</m:t>
                    </m:r>
                  </m:oMath>
                </a14:m>
              </mc:Choice>
              <mc:Fallback>
                <a:r>
                  <a:rPr lang="es-MX" sz="1400">
                    <a:solidFill>
                      <a:srgbClr val="0F172A"/>
                    </a:solidFill>
                  </a:rPr>
                  <a:t>M_y=x,\ N_x=2x-y</a:t>
                </a:r>
              </mc:Fallback>
            </mc:AlternateContent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9260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  <a:defRPr sz="1500">
                <a:solidFill>
                  <a:srgbClr val="334155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f>
                      <m:fPr>
                        <m:type m:val="bar"/>
                      </m:fPr>
                      <m:num>
                        <m:sSub>
                          <m:e>
                            <m:r>
                              <m:t>M</m:t>
                            </m:r>
                          </m:e>
                          <m:sub>
                            <m:r>
                              <m:t>y</m:t>
                            </m:r>
                          </m:sub>
                        </m:sSub>
                        <m:r>
                          <m:t>−</m:t>
                        </m:r>
                        <m:sSub>
                          <m:e>
                            <m:r>
                              <m:t>N</m:t>
                            </m:r>
                          </m:e>
                          <m:sub>
                            <m:r>
                              <m:t>x</m:t>
                            </m:r>
                          </m:sub>
                        </m:sSub>
                      </m:num>
                      <m:den>
                        <m:r>
                          <m:t>N</m:t>
                        </m:r>
                      </m:den>
                    </m:f>
                    <m: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y−x</m:t>
                        </m:r>
                      </m:num>
                      <m:den>
                        <m:r>
                          <m:t>x(x−y)</m:t>
                        </m:r>
                      </m:den>
                    </m:f>
                    <m:r>
                      <m:t>=−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</m:den>
                    </m:f>
                  </m:oMath>
                </a14:m>
              </mc:Choice>
              <mc:Fallback>
                <a:r>
                  <a:rPr lang="es-MX" sz="1500">
                    <a:solidFill>
                      <a:srgbClr val="334155"/>
                    </a:solidFill>
                  </a:rPr>
                  <a:t>\frac{M_y-N_x}{N} = \frac{y-x}{x(x-y)} = -\frac{1}{x}</a:t>
                </a:r>
              </mc:Fallback>
            </mc:AlternateContent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3566160"/>
            <a:ext cx="429768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56616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defRPr sz="2000">
                <a:solidFill>
                  <a:srgbClr val="0E7490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m:t>μ(x)=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−∫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t>x</m:t>
                            </m:r>
                          </m:den>
                        </m:f>
                        <m:r>
                          <m:t>dx</m:t>
                        </m:r>
                      </m:sup>
                    </m:sSup>
                    <m: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</m:den>
                    </m:f>
                  </m:oMath>
                </a14:m>
              </mc:Choice>
              <mc:Fallback>
                <a:r>
                  <a:rPr lang="es-MX" sz="2000">
                    <a:solidFill>
                      <a:srgbClr val="0E7490"/>
                    </a:solidFill>
                  </a:rPr>
                  <a:t>\mu(x) = e^{-\int \frac{1}{x}dx} = \frac{1}{x}</a:t>
                </a:r>
              </mc:Fallback>
            </mc:AlternateContent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68680" y="4480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multiplicar por 1/x: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68680" y="48463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  <a:defRPr sz="1500">
                <a:solidFill>
                  <a:srgbClr val="334155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f>
                      <m:fPr>
                        <m:type m:val="bar"/>
                      </m:fPr>
                      <m:num>
                        <m:r>
                          <m:t>xy−1</m:t>
                        </m:r>
                      </m:num>
                      <m:den>
                        <m:r>
                          <m:t>x</m:t>
                        </m:r>
                      </m:den>
                    </m:f>
                    <m:r>
                      <m:t>dx+(x−y)</m:t>
                    </m:r>
                    <m:r>
                      <m:t>dy=0</m:t>
                    </m:r>
                  </m:oMath>
                </a14:m>
              </mc:Choice>
              <mc:Fallback>
                <a:r>
                  <a:rPr lang="es-MX" sz="1500">
                    <a:solidFill>
                      <a:srgbClr val="334155"/>
                    </a:solidFill>
                  </a:rPr>
                  <a:t>\frac{xy-1}{x}\,dx + (x-y)\,dy = 0</a:t>
                </a:r>
              </mc:Fallback>
            </mc:AlternateContent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53492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  <a:defRPr sz="1350">
                <a:solidFill>
                  <a:srgbClr val="334155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sSub>
                      <m:e>
                        <m:r>
                          <m:t>M</m:t>
                        </m:r>
                      </m:e>
                      <m:sub>
                        <m:r>
                          <m:t>y</m:t>
                        </m:r>
                      </m:sub>
                    </m:sSub>
                    <m:r>
                      <m:t>=1=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x</m:t>
                        </m:r>
                      </m:sub>
                    </m:sSub>
                    <m:r>
                      <m:t>✓</m:t>
                    </m:r>
                    <m:r>
                      <m:rPr>
                        <m:nor/>
                      </m:rPr>
                      <m:t> (ya exacta)</m:t>
                    </m:r>
                  </m:oMath>
                </a14:m>
              </mc:Choice>
              <mc:Fallback>
                <a:r>
                  <a:rPr lang="es-MX" sz="1350">
                    <a:solidFill>
                      <a:srgbClr val="334155"/>
                    </a:solidFill>
                  </a:rPr>
                  <a:t>M_y=1=N_x \;\checkmark\text{ (ya exacta)}</a:t>
                </a:r>
              </mc:Fallback>
            </mc:AlternateContent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91072" y="2148840"/>
            <a:ext cx="5349240" cy="3794760"/>
          </a:xfrm>
          <a:prstGeom prst="roundRect">
            <a:avLst>
              <a:gd name="adj" fmla="val 2410"/>
            </a:avLst>
          </a:prstGeom>
          <a:solidFill>
            <a:srgbClr val="CFFAFE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11112" y="24231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Resolviendo como exacta: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11112" y="2834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  <a:defRPr sz="1300">
                <a:solidFill>
                  <a:srgbClr val="155E63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m:t>f=∫</m:t>
                    </m:r>
                    <m:f>
                      <m:fPr>
                        <m:type m:val="bar"/>
                      </m:fPr>
                      <m:num>
                        <m:r>
                          <m:t>xy−1</m:t>
                        </m:r>
                      </m:num>
                      <m:den>
                        <m:r>
                          <m:t>x</m:t>
                        </m:r>
                      </m:den>
                    </m:f>
                    <m:r>
                      <m:t>dx=xy−</m:t>
                    </m:r>
                    <m:r>
                      <m:rPr>
                        <m:sty m:val="p"/>
                      </m:rPr>
                      <m:t>ln</m:t>
                    </m:r>
                    <m:r>
                      <m:t>|x|+g(y)</m:t>
                    </m:r>
                  </m:oMath>
                </a14:m>
              </mc:Choice>
              <mc:Fallback>
                <a:r>
                  <a:rPr lang="es-MX" sz="1300">
                    <a:solidFill>
                      <a:srgbClr val="155E63"/>
                    </a:solidFill>
                  </a:rPr>
                  <a:t>f=\int \frac{xy-1}{x}\,dx = xy-\ln|x|+g(y)</a:t>
                </a:r>
              </mc:Fallback>
            </mc:AlternateContent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11112" y="33832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  <a:defRPr sz="1350">
                <a:solidFill>
                  <a:srgbClr val="155E63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m:t>x+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′</m:t>
                        </m:r>
                      </m:sup>
                    </m:sSup>
                    <m:r>
                      <m:t>(y)=x−y</m:t>
                    </m:r>
                    <m:r>
                      <m:t>⇒</m:t>
                    </m:r>
                    <m:r>
                      <m:t>g(y)=−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y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</mc:Choice>
              <mc:Fallback>
                <a:r>
                  <a:rPr lang="es-MX" sz="1350">
                    <a:solidFill>
                      <a:srgbClr val="155E63"/>
                    </a:solidFill>
                  </a:rPr>
                  <a:t>x+g'(y)=x-y \;\Rightarrow\; g(y)=-\frac{y^2}{2}</a:t>
                </a:r>
              </mc:Fallback>
            </mc:AlternateContent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11112" y="3977640"/>
            <a:ext cx="47091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11112" y="397764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defRPr sz="2000">
                <a:solidFill>
                  <a:srgbClr val="0E7490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m:t>xy−</m:t>
                    </m:r>
                    <m:r>
                      <m:rPr>
                        <m:sty m:val="p"/>
                      </m:rPr>
                      <m:t>ln</m:t>
                    </m:r>
                    <m:r>
                      <m:t>|x|−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y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num>
                      <m:den>
                        <m:r>
                          <m:t>2</m:t>
                        </m:r>
                      </m:den>
                    </m:f>
                    <m:r>
                      <m:t>=C</m:t>
                    </m:r>
                  </m:oMath>
                </a14:m>
              </mc:Choice>
              <mc:Fallback>
                <a:r>
                  <a:rPr lang="es-MX" sz="2000">
                    <a:solidFill>
                      <a:srgbClr val="0E7490"/>
                    </a:solidFill>
                  </a:rPr>
                  <a:t>xy - \ln|x| - \frac{y^2}{2} = C</a:t>
                </a:r>
              </mc:Fallback>
            </mc:AlternateContent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611112" y="507492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5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Válida para x &gt; 0 (o x &lt; 0), ya que μ(x)=1/x exige x ≠ 0.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521440" y="64465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834640"/>
            <a:ext cx="4937760" cy="4937760"/>
          </a:xfrm>
          <a:prstGeom prst="ellipse">
            <a:avLst/>
          </a:prstGeom>
          <a:solidFill>
            <a:srgbClr val="FFE4E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FFE4E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</a:t>
            </a:r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Resuélvanlo en el Pizarrón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280160" y="2743200"/>
            <a:ext cx="9628632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2743200"/>
            <a:ext cx="962863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defRPr sz="3200">
                <a:solidFill>
                  <a:srgbClr val="BE123C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m:t>dx+</m:t>
                    </m:r>
                    <m:f>
                      <m:fPr>
                        <m:type m:val="bar"/>
                      </m:fPr>
                      <m:num>
                        <m:r>
                          <m:t>x−y</m:t>
                        </m:r>
                        <m:r>
                          <m:rPr>
                            <m:sty m:val="p"/>
                          </m:rPr>
                          <m:t>sin</m:t>
                        </m:r>
                        <m:r>
                          <m:t>y</m:t>
                        </m:r>
                      </m:num>
                      <m:den>
                        <m:r>
                          <m:t>y</m:t>
                        </m:r>
                      </m:den>
                    </m:f>
                    <m:r>
                      <m:t>dy=0</m:t>
                    </m:r>
                  </m:oMath>
                </a14:m>
              </mc:Choice>
              <mc:Fallback>
                <a:r>
                  <a:rPr lang="es-MX" sz="3200">
                    <a:solidFill>
                      <a:srgbClr val="BE123C"/>
                    </a:solidFill>
                  </a:rPr>
                  <a:t>dx + \frac{x-y\sin y}{y}\,dy = 0</a:t>
                </a:r>
              </mc:Fallback>
            </mc:AlternateContent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737360" y="4709160"/>
            <a:ext cx="87142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exacta. Encuentra un factor integrante y resuélvela.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521440" y="64465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FFE4E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Integrante μ(y)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  <a:defRPr sz="1700">
                <a:solidFill>
                  <a:srgbClr val="BE123C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m:t>dx+</m:t>
                    </m:r>
                    <m:f>
                      <m:fPr>
                        <m:type m:val="bar"/>
                      </m:fPr>
                      <m:num>
                        <m:r>
                          <m:t>x−y</m:t>
                        </m:r>
                        <m:r>
                          <m:rPr>
                            <m:sty m:val="p"/>
                          </m:rPr>
                          <m:t>sin</m:t>
                        </m:r>
                        <m:r>
                          <m:t>y</m:t>
                        </m:r>
                      </m:num>
                      <m:den>
                        <m:r>
                          <m:t>y</m:t>
                        </m:r>
                      </m:den>
                    </m:f>
                    <m:r>
                      <m:t>dy=0</m:t>
                    </m:r>
                  </m:oMath>
                </a14:m>
              </mc:Choice>
              <mc:Fallback>
                <a:r>
                  <a:rPr lang="es-MX" sz="1700">
                    <a:solidFill>
                      <a:srgbClr val="BE123C"/>
                    </a:solidFill>
                  </a:rPr>
                  <a:t>dx + \frac{x-y\sin y}{y}\,dy = 0</a:t>
                </a:r>
              </mc:Fallback>
            </mc:AlternateContent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349240" cy="3794760"/>
          </a:xfrm>
          <a:prstGeom prst="roundRect">
            <a:avLst>
              <a:gd name="adj" fmla="val 241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4231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  <a:defRPr sz="1400">
                <a:solidFill>
                  <a:srgbClr val="0F172A"/>
                </a:solidFill>
              </a:defRPr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exacta:  </a:t>
            </a:r>
            <a:pPr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sSub>
                      <m:e>
                        <m:r>
                          <m:t>M</m:t>
                        </m:r>
                      </m:e>
                      <m:sub>
                        <m:r>
                          <m:t>y</m:t>
                        </m:r>
                      </m:sub>
                    </m:sSub>
                    <m:r>
                      <m:t>=0,</m:t>
                    </m:r>
                    <m:r>
                      <m:rPr>
                        <m:sty m:val="p"/>
                      </m:rPr>
                      <m:t> 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x</m:t>
                        </m:r>
                      </m:sub>
                    </m:sSub>
                    <m: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y</m:t>
                        </m:r>
                      </m:den>
                    </m:f>
                  </m:oMath>
                </a14:m>
              </mc:Choice>
              <mc:Fallback>
                <a:r>
                  <a:rPr lang="es-MX" sz="1400">
                    <a:solidFill>
                      <a:srgbClr val="0F172A"/>
                    </a:solidFill>
                  </a:rPr>
                  <a:t>M_y=0,\ N_x=\frac{1}{y}</a:t>
                </a:r>
              </mc:Fallback>
            </mc:AlternateContent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9260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  <a:defRPr sz="1500">
                <a:solidFill>
                  <a:srgbClr val="334155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f>
                      <m:fPr>
                        <m:type m:val="bar"/>
                      </m:fPr>
                      <m:num>
                        <m:sSub>
                          <m:e>
                            <m:r>
                              <m:t>N</m:t>
                            </m:r>
                          </m:e>
                          <m:sub>
                            <m:r>
                              <m:t>x</m:t>
                            </m:r>
                          </m:sub>
                        </m:sSub>
                        <m:r>
                          <m:t>−</m:t>
                        </m:r>
                        <m:sSub>
                          <m:e>
                            <m:r>
                              <m:t>M</m:t>
                            </m:r>
                          </m:e>
                          <m:sub>
                            <m:r>
                              <m:t>y</m:t>
                            </m:r>
                          </m:sub>
                        </m:sSub>
                      </m:num>
                      <m:den>
                        <m:r>
                          <m:t>M</m:t>
                        </m:r>
                      </m:den>
                    </m:f>
                    <m:r>
                      <m:t>=</m:t>
                    </m:r>
                    <m:f>
                      <m:fPr>
                        <m:type m:val="bar"/>
                      </m:fPr>
                      <m:num>
                        <m:f>
                          <m:fPr>
                            <m:type m:val="lin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t>y</m:t>
                            </m:r>
                          </m:den>
                        </m:f>
                      </m:num>
                      <m:den>
                        <m:r>
                          <m:t>1</m:t>
                        </m:r>
                      </m:den>
                    </m:f>
                    <m: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y</m:t>
                        </m:r>
                      </m:den>
                    </m:f>
                  </m:oMath>
                </a14:m>
              </mc:Choice>
              <mc:Fallback>
                <a:r>
                  <a:rPr lang="es-MX" sz="1500">
                    <a:solidFill>
                      <a:srgbClr val="334155"/>
                    </a:solidFill>
                  </a:rPr>
                  <a:t>\frac{N_x-M_y}{M} = \frac{1/y}{1} = \frac{1}{y}</a:t>
                </a:r>
              </mc:Fallback>
            </mc:AlternateContent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3566160"/>
            <a:ext cx="429768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56616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defRPr sz="2000">
                <a:solidFill>
                  <a:srgbClr val="BE123C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m:t>μ(y)=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∫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t>y</m:t>
                            </m:r>
                          </m:den>
                        </m:f>
                        <m:r>
                          <m:t>dy</m:t>
                        </m:r>
                      </m:sup>
                    </m:sSup>
                    <m:r>
                      <m:t>=y</m:t>
                    </m:r>
                  </m:oMath>
                </a14:m>
              </mc:Choice>
              <mc:Fallback>
                <a:r>
                  <a:rPr lang="es-MX" sz="2000">
                    <a:solidFill>
                      <a:srgbClr val="BE123C"/>
                    </a:solidFill>
                  </a:rPr>
                  <a:t>\mu(y) = e^{\int \frac{1}{y}dy} = y</a:t>
                </a:r>
              </mc:Fallback>
            </mc:AlternateContent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68680" y="4480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multiplicar por y: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68680" y="48463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  <a:defRPr sz="1600">
                <a:solidFill>
                  <a:srgbClr val="334155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m:t>y</m:t>
                    </m:r>
                    <m:r>
                      <m:t>dx+(x−y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y)</m:t>
                    </m:r>
                    <m:r>
                      <m:t>dy=0</m:t>
                    </m:r>
                  </m:oMath>
                </a14:m>
              </mc:Choice>
              <mc:Fallback>
                <a:r>
                  <a:rPr lang="es-MX" sz="1600">
                    <a:solidFill>
                      <a:srgbClr val="334155"/>
                    </a:solidFill>
                  </a:rPr>
                  <a:t>y\,dx + (x-y\sin y)\,dy = 0</a:t>
                </a:r>
              </mc:Fallback>
            </mc:AlternateContent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53949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  <a:defRPr sz="1350">
                <a:solidFill>
                  <a:srgbClr val="334155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sSub>
                      <m:e>
                        <m:r>
                          <m:t>M</m:t>
                        </m:r>
                      </m:e>
                      <m:sub>
                        <m:r>
                          <m:t>y</m:t>
                        </m:r>
                      </m:sub>
                    </m:sSub>
                    <m:r>
                      <m:t>=1=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x</m:t>
                        </m:r>
                      </m:sub>
                    </m:sSub>
                    <m:r>
                      <m:t>✓</m:t>
                    </m:r>
                    <m:r>
                      <m:rPr>
                        <m:nor/>
                      </m:rPr>
                      <m:t> (ya exacta)</m:t>
                    </m:r>
                  </m:oMath>
                </a14:m>
              </mc:Choice>
              <mc:Fallback>
                <a:r>
                  <a:rPr lang="es-MX" sz="1350">
                    <a:solidFill>
                      <a:srgbClr val="334155"/>
                    </a:solidFill>
                  </a:rPr>
                  <a:t>M_y=1=N_x \;\checkmark\text{ (ya exacta)}</a:t>
                </a:r>
              </mc:Fallback>
            </mc:AlternateContent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91072" y="2148840"/>
            <a:ext cx="5349240" cy="3794760"/>
          </a:xfrm>
          <a:prstGeom prst="roundRect">
            <a:avLst>
              <a:gd name="adj" fmla="val 2410"/>
            </a:avLst>
          </a:prstGeom>
          <a:solidFill>
            <a:srgbClr val="FFE4E6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11112" y="24231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Resolviendo como exacta: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11112" y="28346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  <a:defRPr sz="1500">
                <a:solidFill>
                  <a:srgbClr val="9F1239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m:t>f=∫y</m:t>
                    </m:r>
                    <m:r>
                      <m:t>dx=xy+g(y)</m:t>
                    </m:r>
                  </m:oMath>
                </a14:m>
              </mc:Choice>
              <mc:Fallback>
                <a:r>
                  <a:rPr lang="es-MX" sz="1500">
                    <a:solidFill>
                      <a:srgbClr val="9F1239"/>
                    </a:solidFill>
                  </a:rPr>
                  <a:t>f=\int y\,dx = xy+g(y)</a:t>
                </a:r>
              </mc:Fallback>
            </mc:AlternateContent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11112" y="3291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  <a:defRPr sz="1200">
                <a:solidFill>
                  <a:srgbClr val="94A3B8"/>
                </a:solidFill>
              </a:defRPr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partes:  </a:t>
            </a:r>
            <a:pPr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m:t>∫y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y</m:t>
                    </m:r>
                    <m:r>
                      <m:t>dy=−y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y+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y</m:t>
                    </m:r>
                  </m:oMath>
                </a14:m>
              </mc:Choice>
              <mc:Fallback>
                <a:r>
                  <a:rPr lang="es-MX" sz="1200">
                    <a:solidFill>
                      <a:srgbClr val="94A3B8"/>
                    </a:solidFill>
                  </a:rPr>
                  <a:t>\int y\sin y\,dy = -y\cos y+\sin y</a:t>
                </a:r>
              </mc:Fallback>
            </mc:AlternateContent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11112" y="37033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  <a:defRPr sz="1250">
                <a:solidFill>
                  <a:srgbClr val="9F1239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m:t>x+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′</m:t>
                        </m:r>
                      </m:sup>
                    </m:sSup>
                    <m:r>
                      <m:t>(y)=x−y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y</m:t>
                    </m:r>
                    <m:r>
                      <m:t>⇒</m:t>
                    </m:r>
                    <m:r>
                      <m:t>g(y)=y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y−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y</m:t>
                    </m:r>
                  </m:oMath>
                </a14:m>
              </mc:Choice>
              <mc:Fallback>
                <a:r>
                  <a:rPr lang="es-MX" sz="1250">
                    <a:solidFill>
                      <a:srgbClr val="9F1239"/>
                    </a:solidFill>
                  </a:rPr>
                  <a:t>x+g'(y)=x-y\sin y \;\Rightarrow\; g(y)=y\cos y-\sin y</a:t>
                </a:r>
              </mc:Fallback>
            </mc:AlternateContent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611112" y="4343400"/>
            <a:ext cx="47091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11112" y="434340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defRPr sz="1900">
                <a:solidFill>
                  <a:srgbClr val="BE123C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m:t>xy+y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y−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y=C</m:t>
                    </m:r>
                  </m:oMath>
                </a14:m>
              </mc:Choice>
              <mc:Fallback>
                <a:r>
                  <a:rPr lang="es-MX" sz="1900">
                    <a:solidFill>
                      <a:srgbClr val="BE123C"/>
                    </a:solidFill>
                  </a:rPr>
                  <a:t>xy + y\cos y - \sin y = C</a:t>
                </a:r>
              </mc:Fallback>
            </mc:AlternateContent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1521440" y="64465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834640"/>
            <a:ext cx="4937760" cy="4937760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</a:t>
            </a:r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Resuélvanlo en el Pizarrón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280160" y="2743200"/>
            <a:ext cx="9628632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2743200"/>
            <a:ext cx="962863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defRPr sz="2600">
                <a:solidFill>
                  <a:srgbClr val="047857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m:t>(3xy+</m:t>
                    </m:r>
                    <m:sSup>
                      <m:e>
                        <m:r>
                          <m:t>y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)</m:t>
                    </m:r>
                    <m:r>
                      <m:t>dx+(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+xy)</m:t>
                    </m:r>
                    <m:r>
                      <m:t>dy=0,</m:t>
                    </m:r>
                    <m:r>
                      <m:t>y(1)=1</m:t>
                    </m:r>
                  </m:oMath>
                </a14:m>
              </mc:Choice>
              <mc:Fallback>
                <a:r>
                  <a:rPr lang="es-MX" sz="2600">
                    <a:solidFill>
                      <a:srgbClr val="047857"/>
                    </a:solidFill>
                  </a:rPr>
                  <a:t>(3xy+y^2)\,dx + (x^2+xy)\,dy = 0,\quad y(1)=1</a:t>
                </a:r>
              </mc:Fallback>
            </mc:AlternateContent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737360" y="4709160"/>
            <a:ext cx="87142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 un factor integrante y resuelve el PVI.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521440" y="64465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Camino Completo: μ, Exactitud y PVI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  <a:defRPr sz="1600">
                <a:solidFill>
                  <a:srgbClr val="047857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m:t>(3xy+</m:t>
                    </m:r>
                    <m:sSup>
                      <m:e>
                        <m:r>
                          <m:t>y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)</m:t>
                    </m:r>
                    <m:r>
                      <m:t>dx+(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+xy)</m:t>
                    </m:r>
                    <m:r>
                      <m:t>dy=0,</m:t>
                    </m:r>
                    <m:r>
                      <m:t>y(1)=1</m:t>
                    </m:r>
                  </m:oMath>
                </a14:m>
              </mc:Choice>
              <mc:Fallback>
                <a:r>
                  <a:rPr lang="es-MX" sz="1600">
                    <a:solidFill>
                      <a:srgbClr val="047857"/>
                    </a:solidFill>
                  </a:rPr>
                  <a:t>(3xy+y^2)\,dx + (x^2+xy)\,dy = 0,\quad y(1)=1</a:t>
                </a:r>
              </mc:Fallback>
            </mc:AlternateContent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349240" cy="3794760"/>
          </a:xfrm>
          <a:prstGeom prst="roundRect">
            <a:avLst>
              <a:gd name="adj" fmla="val 241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4231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  <a:defRPr sz="1300">
                <a:solidFill>
                  <a:srgbClr val="0F172A"/>
                </a:solidFill>
              </a:defRPr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exacta:  </a:t>
            </a:r>
            <a:pPr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sSub>
                      <m:e>
                        <m:r>
                          <m:t>M</m:t>
                        </m:r>
                      </m:e>
                      <m:sub>
                        <m:r>
                          <m:t>y</m:t>
                        </m:r>
                      </m:sub>
                    </m:sSub>
                    <m:r>
                      <m:t>=3x+2y,</m:t>
                    </m:r>
                    <m:r>
                      <m:rPr>
                        <m:sty m:val="p"/>
                      </m:rPr>
                      <m:t> 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x</m:t>
                        </m:r>
                      </m:sub>
                    </m:sSub>
                    <m:r>
                      <m:t>=2x+y</m:t>
                    </m:r>
                  </m:oMath>
                </a14:m>
              </mc:Choice>
              <mc:Fallback>
                <a:r>
                  <a:rPr lang="es-MX" sz="1300">
                    <a:solidFill>
                      <a:srgbClr val="0F172A"/>
                    </a:solidFill>
                  </a:rPr>
                  <a:t>M_y=3x+2y,\ N_x=2x+y</a:t>
                </a:r>
              </mc:Fallback>
            </mc:AlternateContent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9260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  <a:defRPr sz="1500">
                <a:solidFill>
                  <a:srgbClr val="334155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f>
                      <m:fPr>
                        <m:type m:val="bar"/>
                      </m:fPr>
                      <m:num>
                        <m:sSub>
                          <m:e>
                            <m:r>
                              <m:t>M</m:t>
                            </m:r>
                          </m:e>
                          <m:sub>
                            <m:r>
                              <m:t>y</m:t>
                            </m:r>
                          </m:sub>
                        </m:sSub>
                        <m:r>
                          <m:t>−</m:t>
                        </m:r>
                        <m:sSub>
                          <m:e>
                            <m:r>
                              <m:t>N</m:t>
                            </m:r>
                          </m:e>
                          <m:sub>
                            <m:r>
                              <m:t>x</m:t>
                            </m:r>
                          </m:sub>
                        </m:sSub>
                      </m:num>
                      <m:den>
                        <m:r>
                          <m:t>N</m:t>
                        </m:r>
                      </m:den>
                    </m:f>
                    <m: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x+y</m:t>
                        </m:r>
                      </m:num>
                      <m:den>
                        <m:r>
                          <m:t>x(x+y)</m:t>
                        </m:r>
                      </m:den>
                    </m:f>
                    <m: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</m:den>
                    </m:f>
                  </m:oMath>
                </a14:m>
              </mc:Choice>
              <mc:Fallback>
                <a:r>
                  <a:rPr lang="es-MX" sz="1500">
                    <a:solidFill>
                      <a:srgbClr val="334155"/>
                    </a:solidFill>
                  </a:rPr>
                  <a:t>\frac{M_y-N_x}{N} = \frac{x+y}{x(x+y)} = \frac{1}{x}</a:t>
                </a:r>
              </mc:Fallback>
            </mc:AlternateContent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3566160"/>
            <a:ext cx="41148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56616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defRPr sz="2000">
                <a:solidFill>
                  <a:srgbClr val="047857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m:t>μ(x)=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∫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</m:num>
                          <m:den>
                            <m:r>
                              <m:t>x</m:t>
                            </m:r>
                          </m:den>
                        </m:f>
                        <m:r>
                          <m:t>dx</m:t>
                        </m:r>
                      </m:sup>
                    </m:sSup>
                    <m:r>
                      <m:t>=x</m:t>
                    </m:r>
                  </m:oMath>
                </a14:m>
              </mc:Choice>
              <mc:Fallback>
                <a:r>
                  <a:rPr lang="es-MX" sz="2000">
                    <a:solidFill>
                      <a:srgbClr val="047857"/>
                    </a:solidFill>
                  </a:rPr>
                  <a:t>\mu(x) = e^{\int \frac{1}{x}dx} = x</a:t>
                </a:r>
              </mc:Fallback>
            </mc:AlternateContent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68680" y="4434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multiplicar por x: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68680" y="48006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  <a:defRPr sz="1300">
                <a:solidFill>
                  <a:srgbClr val="334155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m:t>(3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y+x</m:t>
                    </m:r>
                    <m:sSup>
                      <m:e>
                        <m:r>
                          <m:t>y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)dx+(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y)dy=0</m:t>
                    </m:r>
                  </m:oMath>
                </a14:m>
              </mc:Choice>
              <mc:Fallback>
                <a:r>
                  <a:rPr lang="es-MX" sz="1300">
                    <a:solidFill>
                      <a:srgbClr val="334155"/>
                    </a:solidFill>
                  </a:rPr>
                  <a:t>(3x^2y+xy^2)dx+(x^3+x^2y)dy=0</a:t>
                </a:r>
              </mc:Fallback>
            </mc:AlternateContent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53492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  <a:defRPr sz="1400">
                <a:solidFill>
                  <a:srgbClr val="334155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sSub>
                      <m:e>
                        <m:r>
                          <m:t>M</m:t>
                        </m:r>
                      </m:e>
                      <m:sub>
                        <m:r>
                          <m:t>y</m:t>
                        </m:r>
                      </m:sub>
                    </m:sSub>
                    <m:r>
                      <m:t>=3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+2xy=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x</m:t>
                        </m:r>
                      </m:sub>
                    </m:sSub>
                    <m:r>
                      <m:t>✓</m:t>
                    </m:r>
                  </m:oMath>
                </a14:m>
              </mc:Choice>
              <mc:Fallback>
                <a:r>
                  <a:rPr lang="es-MX" sz="1400">
                    <a:solidFill>
                      <a:srgbClr val="334155"/>
                    </a:solidFill>
                  </a:rPr>
                  <a:t>M_y=3x^2+2xy=N_x \;\checkmark</a:t>
                </a:r>
              </mc:Fallback>
            </mc:AlternateContent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91072" y="2148840"/>
            <a:ext cx="5349240" cy="3794760"/>
          </a:xfrm>
          <a:prstGeom prst="roundRect">
            <a:avLst>
              <a:gd name="adj" fmla="val 2410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11112" y="2423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Resolviendo y aplicando el PVI: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11112" y="2834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  <a:defRPr sz="1700">
                <a:solidFill>
                  <a:srgbClr val="065F46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m:t>f=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t>y+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t>y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num>
                      <m:den>
                        <m:r>
                          <m:t>2</m:t>
                        </m:r>
                      </m:den>
                    </m:f>
                    <m:r>
                      <m:t>=C</m:t>
                    </m:r>
                  </m:oMath>
                </a14:m>
              </mc:Choice>
              <mc:Fallback>
                <a:r>
                  <a:rPr lang="es-MX" sz="1700">
                    <a:solidFill>
                      <a:srgbClr val="065F46"/>
                    </a:solidFill>
                  </a:rPr>
                  <a:t>f = x^3y+\frac{x^2y^2}{2} = C</a:t>
                </a:r>
              </mc:Fallback>
            </mc:AlternateContent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611112" y="34290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  <a:defRPr sz="1400">
                <a:solidFill>
                  <a:srgbClr val="065F46"/>
                </a:solidFill>
              </a:defRPr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PVI (1, 1):  </a:t>
            </a:r>
            <a:pPr indent="0" marL="0"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m:t>1+</m:t>
                    </m:r>
                    <m:f>
                      <m:fPr>
                        <m:type m:val="bar"/>
                      </m:fPr>
                      <m:num>
                        <m:argPr>
                          <m:scrLvl m:val="0"/>
                        </m:argPr>
                        <m:r>
                          <m:t>1</m:t>
                        </m:r>
                      </m:num>
                      <m:den>
                        <m:argPr>
                          <m:scrLvl m:val="0"/>
                        </m:argPr>
                        <m:r>
                          <m:t>2</m:t>
                        </m:r>
                      </m:den>
                    </m:f>
                    <m:r>
                      <m:t>=C⇒C=</m:t>
                    </m:r>
                    <m:f>
                      <m:fPr>
                        <m:type m:val="bar"/>
                      </m:fPr>
                      <m:num>
                        <m:argPr>
                          <m:scrLvl m:val="0"/>
                        </m:argPr>
                        <m:r>
                          <m:t>3</m:t>
                        </m:r>
                      </m:num>
                      <m:den>
                        <m:argPr>
                          <m:scrLvl m:val="0"/>
                        </m:argPr>
                        <m:r>
                          <m:t>2</m:t>
                        </m:r>
                      </m:den>
                    </m:f>
                  </m:oMath>
                </a14:m>
              </mc:Choice>
              <mc:Fallback>
                <a:r>
                  <a:rPr lang="es-MX" sz="1400">
                    <a:solidFill>
                      <a:srgbClr val="065F46"/>
                    </a:solidFill>
                  </a:rPr>
                  <a:t>1+\tfrac{1}{2}=C \Rightarrow C=\tfrac{3}{2}</a:t>
                </a:r>
              </mc:Fallback>
            </mc:AlternateContent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11112" y="4023360"/>
            <a:ext cx="47091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11112" y="402336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defRPr sz="2600">
                <a:solidFill>
                  <a:srgbClr val="047857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t>y+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sSup>
                      <m:e>
                        <m:r>
                          <m:t>y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=3</m:t>
                    </m:r>
                  </m:oMath>
                </a14:m>
              </mc:Choice>
              <mc:Fallback>
                <a:r>
                  <a:rPr lang="es-MX" sz="2600">
                    <a:solidFill>
                      <a:srgbClr val="047857"/>
                    </a:solidFill>
                  </a:rPr>
                  <a:t>2x^3y + x^2y^2 = 3</a:t>
                </a:r>
              </mc:Fallback>
            </mc:AlternateContent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611112" y="507492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Reconocer, corregir, resolver y anclar con el PVI — las cuatro habilidades de la sesión en un solo problema.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521440" y="64465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103120"/>
            <a:ext cx="4572000" cy="457200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la Sesión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9456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🧭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60120" y="28803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Criterio de Exactitud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33756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truco algebraico — es el teorema de Clairaut disfrazado. Reconoce campos conservativos.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0" y="196596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19456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🧩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754880" y="28803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Reconstruir f(x,y)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00600" y="333756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M, deriva respecto a y, iguala con N. La x que se cancela confirma tu trabajo.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366760" y="196596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219456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🔧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549640" y="28803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Falla, Repara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95360" y="333756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factor integrante μ(x) o μ(y) puede rescatar una ecuación que no nació exacta.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70916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EDE9FE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709160"/>
            <a:ext cx="1036015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Próximo paso de las Firmas:  </a:t>
            </a:r>
            <a:pPr algn="ctr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dominamos separables, lineales y exactas. ¿Qué hacemos cuando la ecuación no encaja en ninguna categoría? En la próxima sesión veremos sustituciones — ecuaciones homogéneas y de Bernoulli — para transformar lo desconocido en algo que ya sabemos resolver.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2026-08-24T18:02:16Z</dcterms:created>
  <dcterms:modified xsi:type="dcterms:W3CDTF">2026-08-24T18:02:16Z</dcterms:modified>
</cp:coreProperties>
</file>