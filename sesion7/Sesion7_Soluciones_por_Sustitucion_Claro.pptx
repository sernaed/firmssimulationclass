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31750">
            <a:solidFill>
              <a:srgbClr val="0891B2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"/>
            <a:ext cx="2743200" cy="2743200"/>
          </a:xfrm>
          <a:prstGeom prst="ellipse">
            <a:avLst/>
          </a:prstGeom>
          <a:ln w="31750">
            <a:solidFill>
              <a:srgbClr val="7C3AED">
                <a:alpha val="16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 ·  SESIÓN 7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por Sustitución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</a:t>
            </a:r>
            <a:pPr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Homogéneas</a:t>
            </a:r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 </a:t>
            </a:r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74904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5212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SESIONES 1–6 COMPLETAS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521208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5212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SUSTITUCIONES NUEVAS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52360" y="52120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0" y="5212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MÉTODOS NUMÉRICOS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LA SESIÓN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las Sustituciones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espíritu, distinto disfraz: cambiamos de variable para revelar una ecuación que ya sabemos resolver.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331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con dy/dx = f(y/x)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233172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2331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 y = vx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2331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separable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con y' + Py = Qyⁿ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97764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389120" y="397764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26280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 w = y¹⁻ⁿ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97764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229600" y="397764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66760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lineal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5321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aprenden una técnica de integración nueva — aprenden a reconocer el patrón y elegir el disfraz correcto.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SUSTITUCIÓN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Homogéneas — Identificación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ecuación de primer orden es homogénea cuando el lado derecho depende únicamente de la razón y/x: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6" name="Image 0" descr="C:\Users\SPARTAN PC\AppData\Local\Temp\claude\E--Teaching--claude-worktrees-clase-metodos-numericos-e8ee1b\3ca1516f-d7e0-40da-959c-3465758c9c10\scratchpad\pptx_sesion7\eq_light\s3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348" y="2331720"/>
            <a:ext cx="2227623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aparece x o y por separado — solo su cociente.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40880" y="1508760"/>
            <a:ext cx="4602175" cy="356616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0" y="1783080"/>
            <a:ext cx="4053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CRITERIO DE DETECTIVE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148840"/>
            <a:ext cx="4053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forma M(x,y)dx + N(x,y)dy = 0, si M y N son homogéneas del mismo grado n:</a:t>
            </a:r>
            <a:endParaRPr lang="en-US" sz="1350" dirty="0"/>
          </a:p>
        </p:txBody>
      </p:sp>
      <p:pic>
        <p:nvPicPr>
          <p:cNvPr id="11" name="Image 1" descr="C:\Users\SPARTAN PC\AppData\Local\Temp\claude\E--Teaching--claude-worktrees-clase-metodos-numericos-e8ee1b\3ca1516f-d7e0-40da-959c-3465758c9c10\scratchpad\pptx_sesion7\eq_light\s3_gr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017520"/>
            <a:ext cx="4053535" cy="32991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3794760"/>
            <a:ext cx="4053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…la ecuación es homogénea. Analistas: este es su primer filtro antes de invertir tiempo en álgebra.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HOMOGÉNEAS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Sustitución y = vx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00200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v = y/x, es decir y = vx. Como v depende de x, derivamos con regla del producto: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43000" y="2240280"/>
            <a:ext cx="10500055" cy="868680"/>
          </a:xfrm>
          <a:prstGeom prst="roundRect">
            <a:avLst>
              <a:gd name="adj" fmla="val 947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8" name="Image 0" descr="C:\Users\SPARTAN PC\AppData\Local\Temp\claude\E--Teaching--claude-worktrees-clase-metodos-numericos-e8ee1b\3ca1516f-d7e0-40da-959c-3465758c9c10\scratchpad\pptx_sesion7\eq_light\s4_s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3909" y="2240280"/>
            <a:ext cx="4618237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429000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Sustituimos en la ecuación original. Como f solo depende de v, los dos términos v se simplifican: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143000" y="4069080"/>
            <a:ext cx="10500055" cy="868680"/>
          </a:xfrm>
          <a:prstGeom prst="roundRect">
            <a:avLst>
              <a:gd name="adj" fmla="val 947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13" name="Image 1" descr="C:\Users\SPARTAN PC\AppData\Local\Temp\claude\E--Teaching--claude-worktrees-clase-metodos-numericos-e8ee1b\3ca1516f-d7e0-40da-959c-3465758c9c10\scratchpad\pptx_sesion7\eq_light\s4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947" y="4069080"/>
            <a:ext cx="5566162" cy="868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5212080"/>
            <a:ext cx="11094415" cy="5029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4360" y="521208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 SEPARABLE — resuelvan en v y x, luego regresen con v = y/x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114800"/>
            <a:ext cx="3840480" cy="3840480"/>
          </a:xfrm>
          <a:prstGeom prst="ellipse">
            <a:avLst/>
          </a:prstGeom>
          <a:ln w="31750">
            <a:solidFill>
              <a:srgbClr val="0891B2">
                <a:alpha val="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HOMOGÉNEAS EN ACCIÓN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Planteamiento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4415" cy="1691640"/>
          </a:xfrm>
          <a:prstGeom prst="roundRect">
            <a:avLst>
              <a:gd name="adj" fmla="val 4865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6" name="Image 0" descr="C:\Users\SPARTAN PC\AppData\Local\Temp\claude\E--Teaching--claude-worktrees-clase-metodos-numericos-e8ee1b\3ca1516f-d7e0-40da-959c-3465758c9c10\scratchpad\pptx_sesion7\eq_light\s5_e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009" y="1920240"/>
            <a:ext cx="8061678" cy="1325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Verificar el grado de M y 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858768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15968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61688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Sustituir  y = vx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626096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83296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29016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Resolver en v, x y regresar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617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Trabajen los pasos en el pizarrón, en equipo — la solución completa está en la siguiente diapositiva.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HOMOGÉNEAS EN ACCIÓN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Solución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502920"/>
          </a:xfrm>
          <a:prstGeom prst="roundRect">
            <a:avLst>
              <a:gd name="adj" fmla="val 1636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C:\Users\SPARTAN PC\AppData\Local\Temp\claude\E--Teaching--claude-worktrees-clase-metodos-numericos-e8ee1b\3ca1516f-d7e0-40da-959c-3465758c9c10\scratchpad\pptx_sesion7\eq_light\s5_e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057878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88175" y="1417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y N son homogéneas de grado 2 ✓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231343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286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Despejamos dy/dx</a:t>
            </a:r>
            <a:endParaRPr lang="en-US" sz="1100" dirty="0"/>
          </a:p>
        </p:txBody>
      </p:sp>
      <p:pic>
        <p:nvPicPr>
          <p:cNvPr id="11" name="Image 1" descr="C:\Users\SPARTAN PC\AppData\Local\Temp\claude\E--Teaching--claude-worktrees-clase-metodos-numericos-e8ee1b\3ca1516f-d7e0-40da-959c-3465758c9c10\scratchpad\pptx_sesion7\eq_light\s5_ste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966" y="2606040"/>
            <a:ext cx="1471147" cy="6217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72200" y="2148840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36792" y="231343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3679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2286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Sustituimos y = vx</a:t>
            </a:r>
            <a:endParaRPr lang="en-US" sz="1100" dirty="0"/>
          </a:p>
        </p:txBody>
      </p:sp>
      <p:pic>
        <p:nvPicPr>
          <p:cNvPr id="16" name="Image 2" descr="C:\Users\SPARTAN PC\AppData\Local\Temp\claude\E--Teaching--claude-worktrees-clase-metodos-numericos-e8ee1b\3ca1516f-d7e0-40da-959c-3465758c9c10\scratchpad\pptx_sesion7\eq_light\s5_ste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274" y="2606040"/>
            <a:ext cx="2381652" cy="62179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3547872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13232" y="3712464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1323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234440" y="36850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términos v se cancelan → separamos</a:t>
            </a:r>
            <a:endParaRPr lang="en-US" sz="1100" dirty="0"/>
          </a:p>
        </p:txBody>
      </p:sp>
      <p:pic>
        <p:nvPicPr>
          <p:cNvPr id="21" name="Image 3" descr="C:\Users\SPARTAN PC\AppData\Local\Temp\claude\E--Teaching--claude-worktrees-clase-metodos-numericos-e8ee1b\3ca1516f-d7e0-40da-959c-3465758c9c10\scratchpad\pptx_sesion7\eq_light\s5_ste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006" y="4005072"/>
            <a:ext cx="3693068" cy="6217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72200" y="3547872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336792" y="3712464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33679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0" y="36850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Integramos ambos lados</a:t>
            </a:r>
            <a:endParaRPr lang="en-US" sz="1100" dirty="0"/>
          </a:p>
        </p:txBody>
      </p:sp>
      <p:pic>
        <p:nvPicPr>
          <p:cNvPr id="26" name="Image 4" descr="C:\Users\SPARTAN PC\AppData\Local\Temp\claude\E--Teaching--claude-worktrees-clase-metodos-numericos-e8ee1b\3ca1516f-d7e0-40da-959c-3465758c9c10\scratchpad\pptx_sesion7\eq_light\s5_step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707" y="4005072"/>
            <a:ext cx="2322786" cy="62179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48640" y="4992624"/>
            <a:ext cx="11094415" cy="594360"/>
          </a:xfrm>
          <a:prstGeom prst="roundRect">
            <a:avLst>
              <a:gd name="adj" fmla="val 13846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22960" y="499262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300" dirty="0"/>
          </a:p>
        </p:txBody>
      </p:sp>
      <p:pic>
        <p:nvPicPr>
          <p:cNvPr id="29" name="Image 5" descr="C:\Users\SPARTAN PC\AppData\Local\Temp\claude\E--Teaching--claude-worktrees-clase-metodos-numericos-e8ee1b\3ca1516f-d7e0-40da-959c-3465758c9c10\scratchpad\pptx_sesion7\eq_light\s5_fin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4992624"/>
            <a:ext cx="3092873" cy="59436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· 8-10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en Equipo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640080" cy="640080"/>
          </a:xfrm>
          <a:prstGeom prst="ellipse">
            <a:avLst/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Verifiquen primero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Confirmen que la ecuación es homogénea antes de sustituir.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990088"/>
            <a:ext cx="640080" cy="640080"/>
          </a:xfrm>
          <a:prstGeom prst="ellipse">
            <a:avLst/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990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953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Apliquen la sustitución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vx, deriven, y resuelvan la ecuación separable.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224528"/>
            <a:ext cx="640080" cy="640080"/>
          </a:xfrm>
          <a:prstGeom prst="ellipse">
            <a:avLst/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87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Prepárense para explicar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puede pasar al pizarrón a defender un paso.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1554480"/>
            <a:ext cx="6430975" cy="3657600"/>
          </a:xfrm>
          <a:prstGeom prst="roundRect">
            <a:avLst>
              <a:gd name="adj" fmla="val 225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86400" y="1828800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300" dirty="0"/>
          </a:p>
        </p:txBody>
      </p:sp>
      <p:pic>
        <p:nvPicPr>
          <p:cNvPr id="21" name="Image 0" descr="C:\Users\SPARTAN PC\AppData\Local\Temp\claude\E--Teaching--claude-worktrees-clase-metodos-numericos-e8ee1b\3ca1516f-d7e0-40da-959c-3465758c9c10\scratchpad\pptx_sesion7\eq_light\s6_e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978" y="2194560"/>
            <a:ext cx="4399178" cy="7772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486400" y="315468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32120" y="3154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8–10 MINUTOS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0" y="3703320"/>
            <a:ext cx="5882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Apliquen y = vx y resuelvan hasta llegar a la solución general. Un representante al azar explica un paso específico.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0" y="4572000"/>
            <a:ext cx="5882335" cy="54864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623560" y="4572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(profesor):</a:t>
            </a:r>
            <a:endParaRPr lang="en-US" sz="1050" dirty="0"/>
          </a:p>
        </p:txBody>
      </p:sp>
      <p:pic>
        <p:nvPicPr>
          <p:cNvPr id="27" name="Image 1" descr="C:\Users\SPARTAN PC\AppData\Local\Temp\claude\E--Teaching--claude-worktrees-clase-metodos-numericos-e8ee1b\3ca1516f-d7e0-40da-959c-3465758c9c10\scratchpad\pptx_sesion7\eq_light\s6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00"/>
            <a:ext cx="2450592" cy="54864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457200"/>
            <a:ext cx="5669280" cy="5669280"/>
          </a:xfrm>
          <a:prstGeom prst="ellipse">
            <a:avLst/>
          </a:prstGeom>
          <a:ln w="3175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331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NO ES HOMOGÉNEA…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…PERO TAMPOCO ES LINEAL?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segunda sustitución — diseñada para cuando aparece una potencia molesta de 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SUSTITUCIÓN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de Bernoulli — Definición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ecuación de Bernoulli tiene la forma: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035040" cy="960120"/>
          </a:xfrm>
          <a:prstGeom prst="roundRect">
            <a:avLst>
              <a:gd name="adj" fmla="val 857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6" name="Image 0" descr="C:\Users\SPARTAN PC\AppData\Local\Temp\claude\E--Teaching--claude-worktrees-clase-metodos-numericos-e8ee1b\3ca1516f-d7e0-40da-959c-3465758c9c10\scratchpad\pptx_sesion7\eq_light\s8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74523"/>
            <a:ext cx="5486400" cy="742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exponente n es lo que rompe la linealidad — y exactamente lo que vamos a neutralizar.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040880" y="1508760"/>
            <a:ext cx="4602175" cy="356616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0" y="1783080"/>
            <a:ext cx="4053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 ≠ 0, 1 ?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19456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 = 0, la ecuación ya es lineal: y' + Py = Q.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74320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 = 1, se reduce a y' + (P−Q)y = 0, también lineal.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3337560"/>
            <a:ext cx="4053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ambos casos ya la resolvían desde la Sesión 4 — Bernoulli solo importa cuando n aporta algo nuevo.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DE BERNOULLI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Sustitución w = y¹⁻ⁿ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08760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Dividimos toda la ecuación entre yⁿ: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1874520"/>
            <a:ext cx="10500055" cy="566928"/>
          </a:xfrm>
          <a:prstGeom prst="roundRect">
            <a:avLst>
              <a:gd name="adj" fmla="val 1451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8" name="Image 0" descr="C:\Users\SPARTAN PC\AppData\Local\Temp\claude\E--Teaching--claude-worktrees-clase-metodos-numericos-e8ee1b\3ca1516f-d7e0-40da-959c-3465758c9c10\scratchpad\pptx_sesion7\eq_light\s9_div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424" y="1874520"/>
            <a:ext cx="3443207" cy="5669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606040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w = y¹⁻ⁿ y derivamos: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43000" y="2971800"/>
            <a:ext cx="10500055" cy="566928"/>
          </a:xfrm>
          <a:prstGeom prst="roundRect">
            <a:avLst>
              <a:gd name="adj" fmla="val 1451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13" name="Image 1" descr="C:\Users\SPARTAN PC\AppData\Local\Temp\claude\E--Teaching--claude-worktrees-clase-metodos-numericos-e8ee1b\3ca1516f-d7e0-40da-959c-3465758c9c10\scratchpad\pptx_sesion7\eq_light\s9_s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675" y="2971800"/>
            <a:ext cx="4192705" cy="5669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3703320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completa colapsa a una forma lineal en w: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143000" y="4069080"/>
            <a:ext cx="10500055" cy="566928"/>
          </a:xfrm>
          <a:prstGeom prst="roundRect">
            <a:avLst>
              <a:gd name="adj" fmla="val 14516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18" name="Image 2" descr="C:\Users\SPARTAN PC\AppData\Local\Temp\claude\E--Teaching--claude-worktrees-clase-metodos-numericos-e8ee1b\3ca1516f-d7e0-40da-959c-3465758c9c10\scratchpad\pptx_sesion7\eq_light\s9_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649" y="4069080"/>
            <a:ext cx="4624758" cy="56692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" y="4892040"/>
            <a:ext cx="11094415" cy="5029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94360" y="489204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 LINEAL EN w — mismo factor integrante μ(x) de la Sesión 4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no es una técnica nueva — es un disfraz sobre una técnica que ya dominan.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3840480" cy="3840480"/>
          </a:xfrm>
          <a:prstGeom prst="ellipse">
            <a:avLst/>
          </a:prstGeom>
          <a:ln w="3175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EN ACCIÓN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Planteamiento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4415" cy="1691640"/>
          </a:xfrm>
          <a:prstGeom prst="roundRect">
            <a:avLst>
              <a:gd name="adj" fmla="val 486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pic>
        <p:nvPicPr>
          <p:cNvPr id="6" name="Image 0" descr="C:\Users\SPARTAN PC\AppData\Local\Temp\claude\E--Teaching--claude-worktrees-clase-metodos-numericos-e8ee1b\3ca1516f-d7e0-40da-959c-3465758c9c10\scratchpad\pptx_sesion7\eq_light\s10_e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6451" y="1920240"/>
            <a:ext cx="4738793" cy="1325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Identificar 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858768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15968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61688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Dividir entre yⁿ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626096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83296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29016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Definir  w = y¹⁻ⁿ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617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Trabajen los pasos en el pizarrón, en equipo — la solución completa está en la siguiente diapositiva.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EN ACCIÓN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Solución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502920"/>
          </a:xfrm>
          <a:prstGeom prst="roundRect">
            <a:avLst>
              <a:gd name="adj" fmla="val 16364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C:\Users\SPARTAN PC\AppData\Local\Temp\claude\E--Teaching--claude-worktrees-clase-metodos-numericos-e8ee1b\3ca1516f-d7e0-40da-959c-3465758c9c10\scratchpad\pptx_sesion7\eq_light\s10_e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1797473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16975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  →  w = y⁻¹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38728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226771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249424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Dividimos entre y² y definimos w</a:t>
            </a:r>
            <a:endParaRPr lang="en-US" sz="1100" dirty="0"/>
          </a:p>
        </p:txBody>
      </p:sp>
      <p:pic>
        <p:nvPicPr>
          <p:cNvPr id="11" name="Image 1" descr="C:\Users\SPARTAN PC\AppData\Local\Temp\claude\E--Teaching--claude-worktrees-clase-metodos-numericos-e8ee1b\3ca1516f-d7e0-40da-959c-3465758c9c10\scratchpad\pptx_sesion7\eq_light\s10_ste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17520"/>
            <a:ext cx="3081528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3400" y="2103120"/>
            <a:ext cx="3538728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07992" y="226771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07992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2249424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lineal en w + factor integrante</a:t>
            </a:r>
            <a:endParaRPr lang="en-US" sz="1100" dirty="0"/>
          </a:p>
        </p:txBody>
      </p:sp>
      <p:pic>
        <p:nvPicPr>
          <p:cNvPr id="16" name="Image 2" descr="C:\Users\SPARTAN PC\AppData\Local\Temp\claude\E--Teaching--claude-worktrees-clase-metodos-numericos-e8ee1b\3ca1516f-d7e0-40da-959c-3465758c9c10\scratchpad\pptx_sesion7\eq_light\s10_ste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59745"/>
            <a:ext cx="3081528" cy="481311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38160" y="2103120"/>
            <a:ext cx="3538728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02752" y="226771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302752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823960" y="2249424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Integramos y despejamos w</a:t>
            </a:r>
            <a:endParaRPr lang="en-US" sz="1100" dirty="0"/>
          </a:p>
        </p:txBody>
      </p:sp>
      <p:pic>
        <p:nvPicPr>
          <p:cNvPr id="21" name="Image 3" descr="C:\Users\SPARTAN PC\AppData\Local\Temp\claude\E--Teaching--claude-worktrees-clase-metodos-numericos-e8ee1b\3ca1516f-d7e0-40da-959c-3465758c9c10\scratchpad\pptx_sesion7\eq_light\s10_ste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957847"/>
            <a:ext cx="3081528" cy="48510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48640" y="3931920"/>
            <a:ext cx="11094415" cy="6858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296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300" dirty="0"/>
          </a:p>
        </p:txBody>
      </p:sp>
      <p:pic>
        <p:nvPicPr>
          <p:cNvPr id="24" name="Image 4" descr="C:\Users\SPARTAN PC\AppData\Local\Temp\claude\E--Teaching--claude-worktrees-clase-metodos-numericos-e8ee1b\3ca1516f-d7e0-40da-959c-3465758c9c10\scratchpad\pptx_sesion7\eq_light\s10_fin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3931920"/>
            <a:ext cx="1482436" cy="6858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309360" y="3931920"/>
            <a:ext cx="5608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proceso mecánico de la Sesión 4 — solo tuvimos que disfrazar el problema primero.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PARCIAL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Ojo de Analista — Errores Comunes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dividir entre yⁿ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ese paso, w nunca aparece limpio en Bernoulli.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556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las dos sustituciones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774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y/x es para homogéneas; w = y¹⁻ⁿ es para Bernoulli. No son intercambiables.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95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verificar el grado antes de y = vx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177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 y N no son homogéneas del mismo grado, la sustitución no simplifica nada.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794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995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la solución y = 0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6177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dividir entre yⁿ en Bernoulli, asumen y ≠ 0 — repórtenla como solución adicional.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LICITACIÓN EN VIVO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Identifica la Técnica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ecuaciones · 30 segundos cada una · su equipo grita la técnica y la sustitución (si aplica)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C:\Users\SPARTAN PC\AppData\Local\Temp\claude\E--Teaching--claude-worktrees-clase-metodos-numericos-e8ee1b\3ca1516f-d7e0-40da-959c-3465758c9c10\scratchpad\pptx_sesion7\eq_light\li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752" y="2468880"/>
            <a:ext cx="1760607" cy="731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07208" y="1965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944368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0" name="Image 1" descr="C:\Users\SPARTAN PC\AppData\Local\Temp\claude\E--Teaching--claude-worktrees-clase-metodos-numericos-e8ee1b\3ca1516f-d7e0-40da-959c-3465758c9c10\scratchpad\pptx_sesion7\eq_light\li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575754"/>
            <a:ext cx="1810512" cy="51777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65776" y="1965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202936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3" name="Image 2" descr="C:\Users\SPARTAN PC\AppData\Local\Temp\claude\E--Teaching--claude-worktrees-clase-metodos-numericos-e8ee1b\3ca1516f-d7e0-40da-959c-3465758c9c10\scratchpad\pptx_sesion7\eq_light\li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685604"/>
            <a:ext cx="1810512" cy="29807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324344" y="1965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461504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16" name="Image 3" descr="C:\Users\SPARTAN PC\AppData\Local\Temp\claude\E--Teaching--claude-worktrees-clase-metodos-numericos-e8ee1b\3ca1516f-d7e0-40da-959c-3465758c9c10\scratchpad\pptx_sesion7\eq_light\lic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2561355"/>
            <a:ext cx="1810512" cy="54657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582912" y="1965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9720072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19" name="Image 4" descr="C:\Users\SPARTAN PC\AppData\Local\Temp\claude\E--Teaching--claude-worktrees-clase-metodos-numericos-e8ee1b\3ca1516f-d7e0-40da-959c-3465758c9c10\scratchpad\pptx_sesion7\eq_light\lic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1847" y="2468880"/>
            <a:ext cx="1446963" cy="7315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48640" y="3703320"/>
            <a:ext cx="11094415" cy="914400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868680" y="37033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El equipo más rápido y preciso en las 5 rondas se lleva el bote completo de Tokens.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(profesor): 1 Homogénea · 2 Lineal · 3 Exacta · 4 Bernoulli · 5 Separable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023360" cy="4023360"/>
          </a:xfrm>
          <a:prstGeom prst="ellipse">
            <a:avLst/>
          </a:prstGeom>
          <a:ln w="31750">
            <a:solidFill>
              <a:srgbClr val="0891B2">
                <a:alpha val="1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Arsenal de Primer Orden Está Completo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77440" y="1554480"/>
            <a:ext cx="621792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23160" y="155448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4612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27448" y="155448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73168" y="155448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53328" y="155448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99048" y="155448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78624" y="155448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24344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05672" y="155448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51392" y="15544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11094415" cy="2651760"/>
          </a:xfrm>
          <a:prstGeom prst="roundRect">
            <a:avLst>
              <a:gd name="adj" fmla="val 310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4290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TIENE UN LÍMITE HONESTO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7947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ecuaciones — muchas modelando fenómenos reales — para las que ninguna sustitución conocida produce una fórmula cerrada.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4526280"/>
            <a:ext cx="7863840" cy="50292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4526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→  MÉTODOS NUMÉRICOS: MÉTODO DE EULER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663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 poder jugar con el algoritmo directamente en la plataforma.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2026-09-14T23:45:22Z</dcterms:created>
  <dcterms:modified xsi:type="dcterms:W3CDTF">2026-09-14T23:45:22Z</dcterms:modified>
</cp:coreProperties>
</file>