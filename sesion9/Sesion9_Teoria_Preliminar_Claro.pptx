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371600"/>
            <a:ext cx="4754880" cy="4754880"/>
          </a:xfrm>
          <a:prstGeom prst="ellipse">
            <a:avLst/>
          </a:prstGeom>
          <a:ln w="31750">
            <a:solidFill>
              <a:srgbClr val="0891B2">
                <a:alpha val="1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65760"/>
            <a:ext cx="2743200" cy="2743200"/>
          </a:xfrm>
          <a:prstGeom prst="ellipse">
            <a:avLst/>
          </a:prstGeom>
          <a:ln w="31750">
            <a:solidFill>
              <a:srgbClr val="7C3AED">
                <a:alpha val="1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III · SESIÓN 9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Preliminar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Ecuaciones Lineales de </a:t>
            </a:r>
            <a:pPr indent="0" marL="0">
              <a:buNone/>
            </a:pPr>
            <a:r>
              <a:rPr lang="en-US" sz="2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Superior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4160520" cy="45720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2120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ARSENAL ANALÍTICO: SESIONES 1–8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92040" y="5212080"/>
            <a:ext cx="3246120" cy="457200"/>
          </a:xfrm>
          <a:prstGeom prst="roundRect">
            <a:avLst>
              <a:gd name="adj" fmla="val 20000"/>
            </a:avLst>
          </a:prstGeom>
          <a:solidFill>
            <a:srgbClr val="ECFEFF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52120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PVI → PVF → WRONSKIANO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321040" y="5212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5212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LAS REGLAS PRIMERO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RELÁMPAGO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Euler a Orden Superior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4328" cy="1828800"/>
          </a:xfrm>
          <a:prstGeom prst="roundRect">
            <a:avLst>
              <a:gd name="adj" fmla="val 4000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ÁLGEBRA EXACTA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Separables, lineales, exactas, homogéneas, Bernoulli. Todas de primer orden — solo aparece y'.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8728" y="1691640"/>
            <a:ext cx="5364328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6553048" y="187452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APROXIMACIÓN NUMÉRICA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53048" y="224028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de Euler, para cuando no hay fórmula cerrada.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86200"/>
            <a:ext cx="106372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subimos un escalón: ecuaciones de orden n. Pero antes de fabricar soluciones —eso es la Sesión 10—, necesitamos las reglas: ¿cuándo existe una solución? ¿cuándo es única?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DE VALOR INICIAL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PVI, Generalizado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</p:spPr>
      </p:sp>
      <p:pic>
        <p:nvPicPr>
          <p:cNvPr id="5" name="Image 0" descr="build/eq_light/pvi_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6994" y="1783080"/>
            <a:ext cx="7417707" cy="777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88036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ECFEFF"/>
          </a:solidFill>
          <a:ln/>
        </p:spPr>
      </p:sp>
      <p:pic>
        <p:nvPicPr>
          <p:cNvPr id="7" name="Image 1" descr="build/eq_light/pvi_condi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045818"/>
            <a:ext cx="10545775" cy="7206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1605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Necesitan una condición por cada derivada, hasta la (n−1)-ésima, todas evaluadas en el mismo punto x₀. Para segundo orden: posición y velocidad iniciales. Para tercer orden, agregan la aceleración inicial.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548640" y="507492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7240" y="507492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Ingenieros: cuenten las condiciones antes de empezar — si les faltan o les sobran, algo está mal planteado.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GARANTÍA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Teorema de Existencia y Unicidad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2743200"/>
          </a:xfrm>
          <a:prstGeom prst="roundRect">
            <a:avLst>
              <a:gd name="adj" fmla="val 2667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104543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aₙ(x), …, a₀(x) y g(x) continuas en un intervalo I, con aₙ(x)≠0 para toda x en I. Si x₀ está en I, el problema de valor inicial tiene una solución — y es única — en todo el intervalo I.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68680" y="3703320"/>
            <a:ext cx="5090008" cy="502920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703320"/>
            <a:ext cx="509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1: COEFICIENTES CONTINUOS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3008" y="3703320"/>
            <a:ext cx="5090008" cy="502920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6233008" y="3703320"/>
            <a:ext cx="509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2: aₙ(x) ≠ 0 EN TODO 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89204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segunda hipótesis —aₙ(x) nunca cero— es la que más se les va a olvidar, y es exactamente donde viven la mayoría de las trampas de examen.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PVF — Un Mundo Distinto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3246120"/>
          </a:xfrm>
          <a:prstGeom prst="roundRect">
            <a:avLst>
              <a:gd name="adj" fmla="val 2817"/>
            </a:avLst>
          </a:prstGeom>
          <a:solidFill>
            <a:srgbClr val="F1F5F9"/>
          </a:solidFill>
          <a:ln/>
        </p:spPr>
      </p:sp>
      <p:pic>
        <p:nvPicPr>
          <p:cNvPr id="5" name="Image 0" descr="build/img_light/ivp_vs_bv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0585" y="1783080"/>
            <a:ext cx="5850525" cy="2148840"/>
          </a:xfrm>
          <a:prstGeom prst="rect">
            <a:avLst/>
          </a:prstGeom>
        </p:spPr>
      </p:pic>
      <p:pic>
        <p:nvPicPr>
          <p:cNvPr id="6" name="Image 1" descr="build/eq_light/pvf_condi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119" y="4023360"/>
            <a:ext cx="6471458" cy="685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5074920"/>
            <a:ext cx="11094415" cy="1280160"/>
          </a:xfrm>
          <a:prstGeom prst="roundRect">
            <a:avLst>
              <a:gd name="adj" fmla="val 5714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7240" y="5074920"/>
            <a:ext cx="106372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teorema de existencia y unicidad NO aplica a un PVF. Puede tener solución única, ninguna, o infinitas — la deflexión de una viga o el pandeo de una columna se modelan así, y lo van a resolver en la Sesión 10.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CLÁSICO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PVF con Tres Personalidades</a:t>
            </a:r>
            <a:endParaRPr lang="en-US" sz="2900" dirty="0"/>
          </a:p>
        </p:txBody>
      </p:sp>
      <p:pic>
        <p:nvPicPr>
          <p:cNvPr id="4" name="Image 0" descr="build/eq_light/bvp_ode_s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20930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219456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2331720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SOLUCIONES</a:t>
            </a:r>
            <a:endParaRPr lang="en-US" sz="1250" dirty="0"/>
          </a:p>
        </p:txBody>
      </p:sp>
      <p:pic>
        <p:nvPicPr>
          <p:cNvPr id="7" name="Image 1" descr="build/eq_light/bvp_cas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32697"/>
            <a:ext cx="3240938" cy="30680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338218" y="219456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475378" y="2331720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SOLUCIÓN</a:t>
            </a:r>
            <a:endParaRPr lang="en-US" sz="1250" dirty="0"/>
          </a:p>
        </p:txBody>
      </p:sp>
      <p:pic>
        <p:nvPicPr>
          <p:cNvPr id="10" name="Image 2" descr="build/eq_light/bvp_cas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378" y="2932697"/>
            <a:ext cx="3240938" cy="306807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127797" y="219456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8264957" y="2331720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ÚNICA</a:t>
            </a:r>
            <a:endParaRPr lang="en-US" sz="1250" dirty="0"/>
          </a:p>
        </p:txBody>
      </p:sp>
      <p:pic>
        <p:nvPicPr>
          <p:cNvPr id="13" name="Image 3" descr="build/eq_light/bvp_case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957" y="2938239"/>
            <a:ext cx="3240938" cy="295722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48640" y="3886200"/>
            <a:ext cx="11094415" cy="251460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/>
        </p:spPr>
      </p:sp>
      <p:pic>
        <p:nvPicPr>
          <p:cNvPr id="15" name="Image 4" descr="build/img_light/bvp_famil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4745" y="4023360"/>
            <a:ext cx="2962204" cy="18745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22960" y="589788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Personalidad uno, visualizada: infinitas curvas distintas pasando por los mismos dos puntos.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COMBINANDO SOLUCIONES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Principio de Superposición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5" name="Image 0" descr="build/eq_light/superposition_hom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64985"/>
            <a:ext cx="10545775" cy="10249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3375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y₁, y₂, …, yₖ son soluciones de la MISMA ecuación homogénea, entonces cualquier combinación lineal de ellas también es solución. Pueden verificarlo sustituyendo directamente.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434340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43434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es la razón por la que, en la Sesión 10, nunca vamos a buscar 'la' solución — vamos a buscar varias soluciones simples y combinarlas.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E INDEPENDENCIA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¿Son Genuinamente Distintas?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4328" cy="3017520"/>
          </a:xfrm>
          <a:prstGeom prst="roundRect">
            <a:avLst>
              <a:gd name="adj" fmla="val 3030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300" dirty="0"/>
          </a:p>
        </p:txBody>
      </p:sp>
      <p:pic>
        <p:nvPicPr>
          <p:cNvPr id="6" name="Image 0" descr="build/eq_light/lin_dep_d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82862"/>
            <a:ext cx="4815688" cy="4634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26080"/>
            <a:ext cx="48156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conjunto es LINEALMENTE DEPENDIENTE si existen constantes, no todas cero, que hacen esa suma igual a cero para toda x. Si la única forma es con todas en cero, son INDEPENDIENTES.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78728" y="1691640"/>
            <a:ext cx="5364328" cy="3017520"/>
          </a:xfrm>
          <a:prstGeom prst="roundRect">
            <a:avLst>
              <a:gd name="adj" fmla="val 2424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53048" y="187452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EJEMPLO — DEPENDIENTES</a:t>
            </a:r>
            <a:endParaRPr lang="en-US" sz="1300" dirty="0"/>
          </a:p>
        </p:txBody>
      </p:sp>
      <p:pic>
        <p:nvPicPr>
          <p:cNvPr id="10" name="Image 1" descr="build/eq_light/lin_dep_exam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048" y="2339765"/>
            <a:ext cx="4815688" cy="39538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53048" y="2926080"/>
            <a:ext cx="48156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f₁=x y f₂=5x son dependientes: reciclan la misma información. En cambio, f₁=x y f₂=x² son independientes — no hay forma de anular esa combinación salvo con ambas constantes en cero.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ATAJO ALGEBRAICO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Wronskiano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5" name="Image 0" descr="build/eq_light/wronskian_d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2800" y="1828800"/>
            <a:ext cx="5966094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017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Teorema: si y₁, …, yₙ son soluciones de la MISMA ecuación lineal homogénea, son linealmente independientes en un intervalo si y solo si su Wronskiano nunca se anula ahí.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402336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El Wronskiano solo es una prueba confiable cuando las funciones ya son soluciones de la misma ecuación — para funciones cualesquiera, un Wronskiano cero no garantiza dependencia.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PIZARRÓN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Calculando un Wronskiano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320040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DE y''−9y=0</a:t>
            </a:r>
            <a:endParaRPr lang="en-US" sz="1300" dirty="0"/>
          </a:p>
        </p:txBody>
      </p:sp>
      <p:pic>
        <p:nvPicPr>
          <p:cNvPr id="6" name="Image 0" descr="build/eq_light/wronskian_ex_set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8968" y="2240280"/>
            <a:ext cx="4493759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7180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Derivando: y₁'=3e³ˣ, y₂'=−3e⁻³ˣ. El Wronskiano:</a:t>
            </a:r>
            <a:endParaRPr lang="en-US" sz="1450" dirty="0"/>
          </a:p>
        </p:txBody>
      </p:sp>
      <p:pic>
        <p:nvPicPr>
          <p:cNvPr id="8" name="Image 1" descr="build/eq_light/wronskian_ex_cal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278" y="3337560"/>
            <a:ext cx="6835140" cy="59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406908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e³ˣ·e⁻³ˣ=1 para toda x, el resultado es −6 sin importar x — nunca es cero. Son linealmente independientes en toda la recta real: forman un conjunto fundamental de soluciones.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 JUNTA AQUÍ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Fundamental y Solución General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5" name="Image 0" descr="build/eq_light/general_s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69746"/>
            <a:ext cx="10545775" cy="10153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3375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conjunto fundamental de soluciones de una ED lineal homogénea de orden n es exactamente eso: n soluciones, linealmente independientes entre sí, de esa misma ecuación.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425196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425196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y₁,…,yₙ es un conjunto fundamental, esta combinación ES la solución general — combina todas las soluciones posibles, ninguna se les escapa.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ECUACIONES NO HOMOGÉNEAS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General: yᶜ + yₚ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5" name="Image 0" descr="build/eq_light/yc_y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3149" y="1645920"/>
            <a:ext cx="3965396" cy="1005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880360"/>
            <a:ext cx="5364328" cy="1965960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306324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COMPLEMENTARIA yᶜ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4815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general de la ecuación homogénea asociada — todo lo que ya construimos hoy.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78728" y="2880360"/>
            <a:ext cx="5364328" cy="1965960"/>
          </a:xfrm>
          <a:prstGeom prst="roundRect">
            <a:avLst>
              <a:gd name="adj" fmla="val 3721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53048" y="306324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PARTICULAR yₚ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53048" y="3429000"/>
            <a:ext cx="4815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función, sin constantes libres, que satisface la ecuación completa con su lado derecho.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ÚLTIMA PIEZA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Superposición para No Homogéneas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4415" cy="1737360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yₚ₁ es solución particular cuando el lado derecho es g₁(x), y yₚ₂ es solución particular cuando el lado derecho es g₂(x), entonces yₚ₁+yₚ₂ es solución particular cuando el lado derecho es g₁(x)+g₂(x).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749040"/>
            <a:ext cx="106372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forzamiento tiene varios términos distintos, resuelven cada uno por separado y suman. Esa es exactamente la lógica detrás del método del anulador que aprenden en la Sesión 10.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LOS MÉTODOS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Comunes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87188" cy="1783080"/>
          </a:xfrm>
          <a:prstGeom prst="roundRect">
            <a:avLst>
              <a:gd name="adj" fmla="val 4103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433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PVI con PVF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PVI de orden n siempre tiene solución única bajo continuidad; un PVF no tiene esa garantía — revisen el problema completo.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5868" y="1600200"/>
            <a:ext cx="5387188" cy="1783080"/>
          </a:xfrm>
          <a:prstGeom prst="roundRect">
            <a:avLst>
              <a:gd name="adj" fmla="val 4103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84468" y="1783080"/>
            <a:ext cx="457200" cy="457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648446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78828" y="1783080"/>
            <a:ext cx="433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Wronskiano fuera de contexto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0188" y="24688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detecta independencia entre soluciones de la MISMA ecuación — no lo usen como prueba general para funciones arbitrarias.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387188" cy="1783080"/>
          </a:xfrm>
          <a:prstGeom prst="roundRect">
            <a:avLst>
              <a:gd name="adj" fmla="val 4103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840480"/>
            <a:ext cx="433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yᶜ+yₚ mal entendido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5262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yᶜ debe ser la solución general de la homogénea completa, con sus n constantes — no una solución particular más.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5868" y="3657600"/>
            <a:ext cx="5387188" cy="1783080"/>
          </a:xfrm>
          <a:prstGeom prst="roundRect">
            <a:avLst>
              <a:gd name="adj" fmla="val 4103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84468" y="3840480"/>
            <a:ext cx="457200" cy="457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6484468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78828" y="3840480"/>
            <a:ext cx="433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mal las condiciones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0188" y="45262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PVI de orden n necesita exactamente n condiciones, ni una más ni una menos, todas en el mismo punto x₀.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114800"/>
            <a:ext cx="4023360" cy="402336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del Juego, Completas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567864" cy="45720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EXISTENCIA Y UNICIDAD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90824" y="1600200"/>
            <a:ext cx="2567864" cy="45720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3390824" y="160020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 LINEAL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3008" y="1600200"/>
            <a:ext cx="2567864" cy="45720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6233008" y="160020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WRONSKIANO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075191" y="1600200"/>
            <a:ext cx="2567864" cy="45720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9075191" y="160020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yᶜ + yₚ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423160"/>
            <a:ext cx="11094415" cy="2834640"/>
          </a:xfrm>
          <a:prstGeom prst="roundRect">
            <a:avLst>
              <a:gd name="adj" fmla="val 2581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65176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fórmula todavía — eso fue a propósito. Antes de fabricar soluciones necesitábamos saber cuándo existen, cuándo son únicas, y cómo se combinan para formar la solución general, homogénea o no.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10362895" cy="502920"/>
          </a:xfrm>
          <a:prstGeom prst="roundRect">
            <a:avLst>
              <a:gd name="adj" fmla="val 14545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  →  MÉTODOS DE SOLUCIÓN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425196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a fabricar, de forma completamente mecánica, conjuntos fundamentales de soluciones para ecuaciones con coeficientes constantes — y van a resolver su primer caso real con valores en la frontera.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2026-09-17T03:35:54Z</dcterms:created>
  <dcterms:modified xsi:type="dcterms:W3CDTF">2026-09-17T03:35:54Z</dcterms:modified>
</cp:coreProperties>
</file>