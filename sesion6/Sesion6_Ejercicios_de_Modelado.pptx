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72" r:id="rId2"/>
    <p:sldId id="273" r:id="rId3"/>
    <p:sldId id="274" r:id="rId4"/>
    <p:sldId id="275" r:id="rId5"/>
    <p:sldId id="276" r:id="rId6"/>
    <p:sldId id="277" r:id="rId7"/>
    <p:sldId id="278" r:id="rId8"/>
    <p:sldId id="279" r:id="rId9"/>
    <p:sldId id="280" r:id="rId10"/>
    <p:sldId id="281" r:id="rId11"/>
    <p:sldId id="282" r:id="rId12"/>
    <p:sldId id="283" r:id="rId13"/>
    <p:sldId id="284" r:id="rId14"/>
    <p:sldId id="285" r:id="rId15"/>
    <p:sldId id="286"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8" d="100"/>
          <a:sy n="108" d="100"/>
        </p:scale>
        <p:origin x="180"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869680" y="-2834640"/>
            <a:ext cx="5029200" cy="5029200"/>
          </a:xfrm>
          <a:prstGeom prst="ellipse">
            <a:avLst/>
          </a:prstGeom>
          <a:solidFill>
            <a:srgbClr val="0E7490"/>
          </a:solidFill>
          <a:ln/>
        </p:spPr>
        <p:txBody>
          <a:bodyPr/>
          <a:lstStyle/>
          <a:p>
            <a:endParaRPr lang="es-MX"/>
          </a:p>
        </p:txBody>
      </p:sp>
      <p:sp>
        <p:nvSpPr>
          <p:cNvPr id="3" name="Shape 1"/>
          <p:cNvSpPr/>
          <p:nvPr/>
        </p:nvSpPr>
        <p:spPr>
          <a:xfrm>
            <a:off x="-1691640" y="4617720"/>
            <a:ext cx="4114800" cy="4114800"/>
          </a:xfrm>
          <a:prstGeom prst="ellipse">
            <a:avLst/>
          </a:prstGeom>
          <a:solidFill>
            <a:srgbClr val="6D28D9"/>
          </a:solidFill>
          <a:ln/>
        </p:spPr>
        <p:txBody>
          <a:bodyPr/>
          <a:lstStyle/>
          <a:p>
            <a:endParaRPr lang="es-MX"/>
          </a:p>
        </p:txBody>
      </p:sp>
      <p:sp>
        <p:nvSpPr>
          <p:cNvPr id="4" name="Shape 2"/>
          <p:cNvSpPr/>
          <p:nvPr/>
        </p:nvSpPr>
        <p:spPr>
          <a:xfrm>
            <a:off x="4160520" y="1051560"/>
            <a:ext cx="3840480" cy="384048"/>
          </a:xfrm>
          <a:prstGeom prst="roundRect">
            <a:avLst>
              <a:gd name="adj" fmla="val 50000"/>
            </a:avLst>
          </a:prstGeom>
          <a:solidFill>
            <a:srgbClr val="CFFAFE"/>
          </a:solidFill>
          <a:ln/>
        </p:spPr>
        <p:txBody>
          <a:bodyPr/>
          <a:lstStyle/>
          <a:p>
            <a:endParaRPr lang="es-MX"/>
          </a:p>
        </p:txBody>
      </p:sp>
      <p:sp>
        <p:nvSpPr>
          <p:cNvPr id="5" name="Text 3"/>
          <p:cNvSpPr/>
          <p:nvPr/>
        </p:nvSpPr>
        <p:spPr>
          <a:xfrm>
            <a:off x="4160520" y="1051560"/>
            <a:ext cx="3840480" cy="384048"/>
          </a:xfrm>
          <a:prstGeom prst="rect">
            <a:avLst/>
          </a:prstGeom>
          <a:noFill/>
          <a:ln/>
        </p:spPr>
        <p:txBody>
          <a:bodyPr wrap="square" rtlCol="0" anchor="ctr"/>
          <a:lstStyle/>
          <a:p>
            <a:pPr marL="0" indent="0" algn="ctr">
              <a:buNone/>
            </a:pPr>
            <a:r>
              <a:rPr lang="en-US" sz="1300" b="1" kern="0" spc="100" dirty="0">
                <a:solidFill>
                  <a:srgbClr val="0E7490"/>
                </a:solidFill>
                <a:latin typeface="Calibri" pitchFamily="34" charset="0"/>
                <a:ea typeface="Calibri" pitchFamily="34" charset="-122"/>
                <a:cs typeface="Calibri" pitchFamily="34" charset="-120"/>
              </a:rPr>
              <a:t>CÁLCULO III  •  SESIÓN 6</a:t>
            </a:r>
            <a:endParaRPr lang="en-US" sz="1300" dirty="0"/>
          </a:p>
        </p:txBody>
      </p:sp>
      <p:sp>
        <p:nvSpPr>
          <p:cNvPr id="6" name="Text 4"/>
          <p:cNvSpPr/>
          <p:nvPr/>
        </p:nvSpPr>
        <p:spPr>
          <a:xfrm>
            <a:off x="731520" y="1691640"/>
            <a:ext cx="10725912" cy="1051560"/>
          </a:xfrm>
          <a:prstGeom prst="rect">
            <a:avLst/>
          </a:prstGeom>
          <a:noFill/>
          <a:ln/>
        </p:spPr>
        <p:txBody>
          <a:bodyPr wrap="square" rtlCol="0" anchor="t"/>
          <a:lstStyle/>
          <a:p>
            <a:pPr marL="0" indent="0" algn="ctr">
              <a:buNone/>
            </a:pPr>
            <a:r>
              <a:rPr lang="en-US" sz="4200" b="1" dirty="0">
                <a:solidFill>
                  <a:srgbClr val="0F172A"/>
                </a:solidFill>
                <a:latin typeface="Calibri" pitchFamily="34" charset="0"/>
                <a:ea typeface="Calibri" pitchFamily="34" charset="-122"/>
                <a:cs typeface="Calibri" pitchFamily="34" charset="-120"/>
              </a:rPr>
              <a:t>Taller de Modelado Integrador</a:t>
            </a:r>
            <a:endParaRPr lang="en-US" sz="4200" dirty="0"/>
          </a:p>
        </p:txBody>
      </p:sp>
      <p:sp>
        <p:nvSpPr>
          <p:cNvPr id="7" name="Text 5"/>
          <p:cNvSpPr/>
          <p:nvPr/>
        </p:nvSpPr>
        <p:spPr>
          <a:xfrm>
            <a:off x="731520" y="2697480"/>
            <a:ext cx="10725912" cy="731520"/>
          </a:xfrm>
          <a:prstGeom prst="rect">
            <a:avLst/>
          </a:prstGeom>
          <a:noFill/>
          <a:ln/>
        </p:spPr>
        <p:txBody>
          <a:bodyPr wrap="square" rtlCol="0" anchor="t"/>
          <a:lstStyle/>
          <a:p>
            <a:pPr marL="0" indent="0" algn="ctr">
              <a:buNone/>
            </a:pPr>
            <a:r>
              <a:rPr lang="en-US" sz="1900" dirty="0">
                <a:solidFill>
                  <a:srgbClr val="0E7490"/>
                </a:solidFill>
                <a:latin typeface="Calibri" pitchFamily="34" charset="0"/>
                <a:ea typeface="Calibri" pitchFamily="34" charset="-122"/>
                <a:cs typeface="Calibri" pitchFamily="34" charset="-120"/>
              </a:rPr>
              <a:t>Cinco sesiones, un mismo lenguaje: convertir un fenómeno real en una ecuación diferencial</a:t>
            </a:r>
            <a:endParaRPr lang="en-US" sz="1900" dirty="0"/>
          </a:p>
        </p:txBody>
      </p:sp>
      <p:sp>
        <p:nvSpPr>
          <p:cNvPr id="8" name="Shape 6"/>
          <p:cNvSpPr/>
          <p:nvPr/>
        </p:nvSpPr>
        <p:spPr>
          <a:xfrm>
            <a:off x="1435608" y="3429000"/>
            <a:ext cx="9326880" cy="3200400"/>
          </a:xfrm>
          <a:prstGeom prst="roundRect">
            <a:avLst>
              <a:gd name="adj" fmla="val 3125"/>
            </a:avLst>
          </a:prstGeom>
          <a:solidFill>
            <a:srgbClr val="F1F5F9"/>
          </a:solidFill>
          <a:ln w="12700">
            <a:solidFill>
              <a:srgbClr val="E2E8F0"/>
            </a:solidFill>
            <a:prstDash val="solid"/>
          </a:ln>
        </p:spPr>
        <p:txBody>
          <a:bodyPr/>
          <a:lstStyle/>
          <a:p>
            <a:endParaRPr lang="es-MX"/>
          </a:p>
        </p:txBody>
      </p:sp>
      <p:sp>
        <p:nvSpPr>
          <p:cNvPr id="9" name="Text 7"/>
          <p:cNvSpPr/>
          <p:nvPr/>
        </p:nvSpPr>
        <p:spPr>
          <a:xfrm>
            <a:off x="1892808" y="3657600"/>
            <a:ext cx="8412480" cy="1280160"/>
          </a:xfrm>
          <a:prstGeom prst="rect">
            <a:avLst/>
          </a:prstGeom>
          <a:noFill/>
          <a:ln/>
        </p:spPr>
        <p:txBody>
          <a:bodyPr wrap="square" rtlCol="0" anchor="t"/>
          <a:lstStyle/>
          <a:p>
            <a:pPr marL="0" indent="0" algn="ctr">
              <a:lnSpc>
                <a:spcPct val="125000"/>
              </a:lnSpc>
              <a:buNone/>
            </a:pPr>
            <a:r>
              <a:rPr lang="en-US" sz="1500" dirty="0">
                <a:solidFill>
                  <a:srgbClr val="334155"/>
                </a:solidFill>
                <a:latin typeface="Calibri" pitchFamily="34" charset="0"/>
                <a:ea typeface="Calibri" pitchFamily="34" charset="-122"/>
                <a:cs typeface="Calibri" pitchFamily="34" charset="-120"/>
              </a:rPr>
              <a:t>Ya dominamos cuatro herramientas para resolver ecuaciones diferenciales de primer orden — separables, lineales y exactas — siempre ancladas a una condición inicial. Hoy no aprenden una técnica nueva: ponemos a prueba a las Firmas Consultoras con problemas reales de ingeniería donde ustedes deciden qué herramienta usar, no nosotros.</a:t>
            </a:r>
            <a:endParaRPr lang="en-US" sz="1500" dirty="0"/>
          </a:p>
        </p:txBody>
      </p:sp>
      <p:sp>
        <p:nvSpPr>
          <p:cNvPr id="10" name="Shape 8"/>
          <p:cNvSpPr/>
          <p:nvPr/>
        </p:nvSpPr>
        <p:spPr>
          <a:xfrm>
            <a:off x="2194560" y="5074920"/>
            <a:ext cx="7772400" cy="1371600"/>
          </a:xfrm>
          <a:prstGeom prst="roundRect">
            <a:avLst>
              <a:gd name="adj" fmla="val 4667"/>
            </a:avLst>
          </a:prstGeom>
          <a:solidFill>
            <a:srgbClr val="FFFFFF"/>
          </a:solidFill>
          <a:ln w="12700">
            <a:solidFill>
              <a:srgbClr val="CBD5E1"/>
            </a:solidFill>
            <a:prstDash val="solid"/>
          </a:ln>
        </p:spPr>
        <p:txBody>
          <a:bodyPr/>
          <a:lstStyle/>
          <a:p>
            <a:endParaRPr lang="es-MX"/>
          </a:p>
        </p:txBody>
      </p:sp>
      <mc:AlternateContent xmlns:mc="http://schemas.openxmlformats.org/markup-compatibility/2006">
        <mc:Choice xmlns:a14="http://schemas.microsoft.com/office/drawing/2010/main" Requires="a14">
          <p:sp>
            <p:nvSpPr>
              <p:cNvPr id="11" name="Text 9"/>
              <p:cNvSpPr/>
              <p:nvPr/>
            </p:nvSpPr>
            <p:spPr>
              <a:xfrm>
                <a:off x="2194560" y="5074920"/>
                <a:ext cx="7772400" cy="1371600"/>
              </a:xfrm>
              <a:prstGeom prst="rect">
                <a:avLst/>
              </a:prstGeom>
              <a:noFill/>
              <a:ln/>
            </p:spPr>
            <p:txBody>
              <a:bodyPr wrap="square" rtlCol="0" anchor="ctr"/>
              <a:lstStyle/>
              <a:p>
                <a:pPr marL="0" indent="0" algn="ctr">
                  <a:buNone/>
                  <a:defRPr sz="3200">
                    <a:solidFill>
                      <a:srgbClr val="4338CA"/>
                    </a:solidFill>
                  </a:defRPr>
                </a:pPr>
                <a14:m>
                  <m:oMathPara xmlns:m="http://schemas.openxmlformats.org/officeDocument/2006/math">
                    <m:oMath>
                      <m:f>
                        <m:fPr>
                          <m:ctrlPr>
                            <a:rPr>
                              <a:latin typeface="Cambria Math" panose="02040503050406030204" pitchFamily="18" charset="0"/>
                            </a:rPr>
                          </m:ctrlPr>
                        </m:fPr>
                        <m:num>
                          <m:r>
                            <a:rPr>
                              <a:latin typeface="Cambria Math" panose="02040503050406030204" pitchFamily="18" charset="0"/>
                            </a:rPr>
                            <m:t>𝑑𝑦</m:t>
                          </m:r>
                        </m:num>
                        <m:den>
                          <m:r>
                            <a:rPr>
                              <a:latin typeface="Cambria Math" panose="02040503050406030204" pitchFamily="18" charset="0"/>
                            </a:rPr>
                            <m:t>𝑑𝑥</m:t>
                          </m:r>
                        </m:den>
                      </m:f>
                      <m:r>
                        <a:rPr>
                          <a:latin typeface="Cambria Math" panose="02040503050406030204" pitchFamily="18" charset="0"/>
                        </a:rPr>
                        <m:t>=</m:t>
                      </m:r>
                      <m:r>
                        <a:rPr>
                          <a:latin typeface="Cambria Math" panose="02040503050406030204" pitchFamily="18" charset="0"/>
                        </a:rPr>
                        <m:t>𝑓</m:t>
                      </m:r>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m:t>
                      </m:r>
                      <m:r>
                        <a:rPr>
                          <a:latin typeface="Cambria Math" panose="02040503050406030204" pitchFamily="18" charset="0"/>
                        </a:rPr>
                        <m:t>𝑦</m:t>
                      </m:r>
                      <m:r>
                        <a:rPr>
                          <a:latin typeface="Cambria Math" panose="02040503050406030204" pitchFamily="18" charset="0"/>
                        </a:rPr>
                        <m:t>), </m:t>
                      </m:r>
                      <m:r>
                        <a:rPr>
                          <a:latin typeface="Cambria Math" panose="02040503050406030204" pitchFamily="18" charset="0"/>
                        </a:rPr>
                        <m:t>𝑦</m:t>
                      </m:r>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0</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𝑦</m:t>
                          </m:r>
                        </m:e>
                        <m:sub>
                          <m:r>
                            <a:rPr>
                              <a:latin typeface="Cambria Math" panose="02040503050406030204" pitchFamily="18" charset="0"/>
                            </a:rPr>
                            <m:t>0</m:t>
                          </m:r>
                        </m:sub>
                      </m:sSub>
                    </m:oMath>
                  </m:oMathPara>
                </a14:m>
                <a:endParaRPr lang="en-US" sz="3200" dirty="0"/>
              </a:p>
            </p:txBody>
          </p:sp>
        </mc:Choice>
        <mc:Fallback>
          <p:sp>
            <p:nvSpPr>
              <p:cNvPr id="11" name="Text 9"/>
              <p:cNvSpPr>
                <a:spLocks noRot="1" noChangeAspect="1" noMove="1" noResize="1" noEditPoints="1" noAdjustHandles="1" noChangeArrowheads="1" noChangeShapeType="1" noTextEdit="1"/>
              </p:cNvSpPr>
              <p:nvPr/>
            </p:nvSpPr>
            <p:spPr>
              <a:xfrm>
                <a:off x="2194560" y="5074920"/>
                <a:ext cx="7772400" cy="1371600"/>
              </a:xfrm>
              <a:prstGeom prst="rect">
                <a:avLst/>
              </a:prstGeom>
              <a:blipFill>
                <a:blip r:embed="rId2"/>
                <a:stretch>
                  <a:fillRect/>
                </a:stretch>
              </a:blipFill>
              <a:ln/>
            </p:spPr>
            <p:txBody>
              <a:bodyPr/>
              <a:lstStyle/>
              <a:p>
                <a:r>
                  <a:rPr lang="es-MX">
                    <a:noFill/>
                  </a:rPr>
                  <a:t> </a:t>
                </a:r>
              </a:p>
            </p:txBody>
          </p:sp>
        </mc:Fallback>
      </mc:AlternateContent>
      <p:sp>
        <p:nvSpPr>
          <p:cNvPr id="12" name="Text 10"/>
          <p:cNvSpPr/>
          <p:nvPr/>
        </p:nvSpPr>
        <p:spPr>
          <a:xfrm>
            <a:off x="11521440" y="6446520"/>
            <a:ext cx="457200" cy="292608"/>
          </a:xfrm>
          <a:prstGeom prst="rect">
            <a:avLst/>
          </a:prstGeom>
          <a:noFill/>
          <a:ln/>
        </p:spPr>
        <p:txBody>
          <a:bodyPr wrap="square" rtlCol="0" anchor="ctr"/>
          <a:lstStyle/>
          <a:p>
            <a:pPr marL="0" indent="0" algn="r">
              <a:buNone/>
            </a:pPr>
            <a:r>
              <a:rPr lang="en-US" sz="1200" dirty="0">
                <a:solidFill>
                  <a:srgbClr val="475569"/>
                </a:solidFill>
                <a:latin typeface="Calibri" pitchFamily="34" charset="0"/>
                <a:ea typeface="Calibri" pitchFamily="34" charset="-122"/>
                <a:cs typeface="Calibri" pitchFamily="34" charset="-120"/>
              </a:rPr>
              <a:t>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3086100" cy="384048"/>
          </a:xfrm>
          <a:prstGeom prst="roundRect">
            <a:avLst>
              <a:gd name="adj" fmla="val 50000"/>
            </a:avLst>
          </a:prstGeom>
          <a:solidFill>
            <a:srgbClr val="CFFAFE"/>
          </a:solidFill>
          <a:ln/>
        </p:spPr>
        <p:txBody>
          <a:bodyPr/>
          <a:lstStyle/>
          <a:p>
            <a:endParaRPr lang="es-MX"/>
          </a:p>
        </p:txBody>
      </p:sp>
      <p:sp>
        <p:nvSpPr>
          <p:cNvPr id="3" name="Text 1"/>
          <p:cNvSpPr/>
          <p:nvPr/>
        </p:nvSpPr>
        <p:spPr>
          <a:xfrm>
            <a:off x="548640" y="365760"/>
            <a:ext cx="3086100" cy="384048"/>
          </a:xfrm>
          <a:prstGeom prst="rect">
            <a:avLst/>
          </a:prstGeom>
          <a:noFill/>
          <a:ln/>
        </p:spPr>
        <p:txBody>
          <a:bodyPr wrap="square" rtlCol="0" anchor="ctr"/>
          <a:lstStyle/>
          <a:p>
            <a:pPr marL="0" indent="0" algn="ctr">
              <a:buNone/>
            </a:pPr>
            <a:r>
              <a:rPr lang="en-US" sz="1300" b="1" kern="0" spc="100" dirty="0">
                <a:solidFill>
                  <a:srgbClr val="0E7490"/>
                </a:solidFill>
                <a:latin typeface="Calibri" pitchFamily="34" charset="0"/>
                <a:ea typeface="Calibri" pitchFamily="34" charset="-122"/>
                <a:cs typeface="Calibri" pitchFamily="34" charset="-120"/>
              </a:rPr>
              <a:t>1.6 · MODELADO INTEGRADOR</a:t>
            </a:r>
            <a:endParaRPr lang="en-US" sz="1300" dirty="0"/>
          </a:p>
        </p:txBody>
      </p:sp>
      <p:sp>
        <p:nvSpPr>
          <p:cNvPr id="4" name="Text 2"/>
          <p:cNvSpPr/>
          <p:nvPr/>
        </p:nvSpPr>
        <p:spPr>
          <a:xfrm>
            <a:off x="548640" y="868680"/>
            <a:ext cx="11091672" cy="731520"/>
          </a:xfrm>
          <a:prstGeom prst="rect">
            <a:avLst/>
          </a:prstGeom>
          <a:noFill/>
          <a:ln/>
        </p:spPr>
        <p:txBody>
          <a:bodyPr wrap="square" rtlCol="0" anchor="t"/>
          <a:lstStyle/>
          <a:p>
            <a:pPr marL="0" indent="0" algn="l">
              <a:buNone/>
            </a:pPr>
            <a:r>
              <a:rPr lang="en-US" sz="3200" b="1" dirty="0">
                <a:solidFill>
                  <a:srgbClr val="0F172A"/>
                </a:solidFill>
                <a:latin typeface="Calibri" pitchFamily="34" charset="0"/>
                <a:ea typeface="Calibri" pitchFamily="34" charset="-122"/>
                <a:cs typeface="Calibri" pitchFamily="34" charset="-120"/>
              </a:rPr>
              <a:t>El Pipeline de Modelado</a:t>
            </a:r>
            <a:endParaRPr lang="en-US" sz="3200" dirty="0"/>
          </a:p>
        </p:txBody>
      </p:sp>
      <p:sp>
        <p:nvSpPr>
          <p:cNvPr id="5" name="Text 3"/>
          <p:cNvSpPr/>
          <p:nvPr/>
        </p:nvSpPr>
        <p:spPr>
          <a:xfrm>
            <a:off x="548640" y="1554480"/>
            <a:ext cx="11091672" cy="457200"/>
          </a:xfrm>
          <a:prstGeom prst="rect">
            <a:avLst/>
          </a:prstGeom>
          <a:noFill/>
          <a:ln/>
        </p:spPr>
        <p:txBody>
          <a:bodyPr wrap="square" rtlCol="0" anchor="t"/>
          <a:lstStyle/>
          <a:p>
            <a:pPr marL="0" indent="0" algn="l">
              <a:buNone/>
            </a:pPr>
            <a:r>
              <a:rPr lang="en-US" sz="1700" dirty="0">
                <a:solidFill>
                  <a:srgbClr val="475569"/>
                </a:solidFill>
                <a:latin typeface="Calibri" pitchFamily="34" charset="0"/>
                <a:ea typeface="Calibri" pitchFamily="34" charset="-122"/>
                <a:cs typeface="Calibri" pitchFamily="34" charset="-120"/>
              </a:rPr>
              <a:t>De un fenómeno físico a una decisión de ingeniería, en cinco pasos</a:t>
            </a:r>
            <a:endParaRPr lang="en-US" sz="1700" dirty="0"/>
          </a:p>
        </p:txBody>
      </p:sp>
      <p:sp>
        <p:nvSpPr>
          <p:cNvPr id="6" name="Shape 4"/>
          <p:cNvSpPr/>
          <p:nvPr/>
        </p:nvSpPr>
        <p:spPr>
          <a:xfrm>
            <a:off x="548640" y="2148840"/>
            <a:ext cx="2103120" cy="1965960"/>
          </a:xfrm>
          <a:prstGeom prst="roundRect">
            <a:avLst>
              <a:gd name="adj" fmla="val 5000"/>
            </a:avLst>
          </a:prstGeom>
          <a:solidFill>
            <a:srgbClr val="F1F5F9"/>
          </a:solidFill>
          <a:ln w="12700">
            <a:solidFill>
              <a:srgbClr val="E2E8F0"/>
            </a:solidFill>
            <a:prstDash val="solid"/>
          </a:ln>
        </p:spPr>
        <p:txBody>
          <a:bodyPr/>
          <a:lstStyle/>
          <a:p>
            <a:endParaRPr lang="es-MX"/>
          </a:p>
        </p:txBody>
      </p:sp>
      <p:sp>
        <p:nvSpPr>
          <p:cNvPr id="7" name="Shape 5"/>
          <p:cNvSpPr/>
          <p:nvPr/>
        </p:nvSpPr>
        <p:spPr>
          <a:xfrm>
            <a:off x="749808" y="2331720"/>
            <a:ext cx="502920" cy="502920"/>
          </a:xfrm>
          <a:prstGeom prst="ellipse">
            <a:avLst/>
          </a:prstGeom>
          <a:solidFill>
            <a:srgbClr val="CFFAFE"/>
          </a:solidFill>
          <a:ln/>
        </p:spPr>
        <p:txBody>
          <a:bodyPr/>
          <a:lstStyle/>
          <a:p>
            <a:endParaRPr lang="es-MX"/>
          </a:p>
        </p:txBody>
      </p:sp>
      <p:sp>
        <p:nvSpPr>
          <p:cNvPr id="8" name="Text 6"/>
          <p:cNvSpPr/>
          <p:nvPr/>
        </p:nvSpPr>
        <p:spPr>
          <a:xfrm>
            <a:off x="749808" y="2331720"/>
            <a:ext cx="502920" cy="502920"/>
          </a:xfrm>
          <a:prstGeom prst="rect">
            <a:avLst/>
          </a:prstGeom>
          <a:noFill/>
          <a:ln/>
        </p:spPr>
        <p:txBody>
          <a:bodyPr wrap="square" rtlCol="0" anchor="ctr"/>
          <a:lstStyle/>
          <a:p>
            <a:pPr marL="0" indent="0" algn="ctr">
              <a:buNone/>
            </a:pPr>
            <a:r>
              <a:rPr lang="en-US" sz="1600" b="1" dirty="0">
                <a:solidFill>
                  <a:srgbClr val="0E7490"/>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749808" y="2926080"/>
            <a:ext cx="1700784" cy="320040"/>
          </a:xfrm>
          <a:prstGeom prst="rect">
            <a:avLst/>
          </a:prstGeom>
          <a:noFill/>
          <a:ln/>
        </p:spPr>
        <p:txBody>
          <a:bodyPr wrap="square"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Formular</a:t>
            </a:r>
            <a:endParaRPr lang="en-US" sz="1600" dirty="0"/>
          </a:p>
        </p:txBody>
      </p:sp>
      <p:sp>
        <p:nvSpPr>
          <p:cNvPr id="10" name="Text 8"/>
          <p:cNvSpPr/>
          <p:nvPr/>
        </p:nvSpPr>
        <p:spPr>
          <a:xfrm>
            <a:off x="749808" y="3246120"/>
            <a:ext cx="1700784" cy="640080"/>
          </a:xfrm>
          <a:prstGeom prst="rect">
            <a:avLst/>
          </a:prstGeom>
          <a:noFill/>
          <a:ln/>
        </p:spPr>
        <p:txBody>
          <a:bodyPr wrap="square" rtlCol="0" anchor="t"/>
          <a:lstStyle/>
          <a:p>
            <a:pPr marL="0" indent="0">
              <a:lnSpc>
                <a:spcPct val="115000"/>
              </a:lnSpc>
              <a:buNone/>
            </a:pPr>
            <a:r>
              <a:rPr lang="en-US" sz="1000" dirty="0">
                <a:solidFill>
                  <a:srgbClr val="475569"/>
                </a:solidFill>
                <a:latin typeface="Calibri" pitchFamily="34" charset="0"/>
                <a:ea typeface="Calibri" pitchFamily="34" charset="-122"/>
                <a:cs typeface="Calibri" pitchFamily="34" charset="-120"/>
              </a:rPr>
              <a:t>Traducir el fenómeno físico a una ecuación diferencial con sus condiciones iniciales.</a:t>
            </a:r>
            <a:endParaRPr lang="en-US" sz="1000" dirty="0"/>
          </a:p>
        </p:txBody>
      </p:sp>
      <p:sp>
        <p:nvSpPr>
          <p:cNvPr id="11" name="Shape 9"/>
          <p:cNvSpPr/>
          <p:nvPr/>
        </p:nvSpPr>
        <p:spPr>
          <a:xfrm>
            <a:off x="2795778" y="2148840"/>
            <a:ext cx="2103120" cy="1965960"/>
          </a:xfrm>
          <a:prstGeom prst="roundRect">
            <a:avLst>
              <a:gd name="adj" fmla="val 5000"/>
            </a:avLst>
          </a:prstGeom>
          <a:solidFill>
            <a:srgbClr val="F1F5F9"/>
          </a:solidFill>
          <a:ln w="12700">
            <a:solidFill>
              <a:srgbClr val="E2E8F0"/>
            </a:solidFill>
            <a:prstDash val="solid"/>
          </a:ln>
        </p:spPr>
        <p:txBody>
          <a:bodyPr/>
          <a:lstStyle/>
          <a:p>
            <a:endParaRPr lang="es-MX"/>
          </a:p>
        </p:txBody>
      </p:sp>
      <p:sp>
        <p:nvSpPr>
          <p:cNvPr id="12" name="Shape 10"/>
          <p:cNvSpPr/>
          <p:nvPr/>
        </p:nvSpPr>
        <p:spPr>
          <a:xfrm>
            <a:off x="2996946" y="2331720"/>
            <a:ext cx="502920" cy="502920"/>
          </a:xfrm>
          <a:prstGeom prst="ellipse">
            <a:avLst/>
          </a:prstGeom>
          <a:solidFill>
            <a:srgbClr val="CFFAFE"/>
          </a:solidFill>
          <a:ln/>
        </p:spPr>
        <p:txBody>
          <a:bodyPr/>
          <a:lstStyle/>
          <a:p>
            <a:endParaRPr lang="es-MX"/>
          </a:p>
        </p:txBody>
      </p:sp>
      <p:sp>
        <p:nvSpPr>
          <p:cNvPr id="13" name="Text 11"/>
          <p:cNvSpPr/>
          <p:nvPr/>
        </p:nvSpPr>
        <p:spPr>
          <a:xfrm>
            <a:off x="2996946" y="2331720"/>
            <a:ext cx="502920" cy="502920"/>
          </a:xfrm>
          <a:prstGeom prst="rect">
            <a:avLst/>
          </a:prstGeom>
          <a:noFill/>
          <a:ln/>
        </p:spPr>
        <p:txBody>
          <a:bodyPr wrap="square" rtlCol="0" anchor="ctr"/>
          <a:lstStyle/>
          <a:p>
            <a:pPr marL="0" indent="0" algn="ctr">
              <a:buNone/>
            </a:pPr>
            <a:r>
              <a:rPr lang="en-US" sz="1600" b="1" dirty="0">
                <a:solidFill>
                  <a:srgbClr val="0E7490"/>
                </a:solidFill>
                <a:latin typeface="Calibri" pitchFamily="34" charset="0"/>
                <a:ea typeface="Calibri" pitchFamily="34" charset="-122"/>
                <a:cs typeface="Calibri" pitchFamily="34" charset="-120"/>
              </a:rPr>
              <a:t>2</a:t>
            </a:r>
            <a:endParaRPr lang="en-US" sz="1600" dirty="0"/>
          </a:p>
        </p:txBody>
      </p:sp>
      <p:sp>
        <p:nvSpPr>
          <p:cNvPr id="14" name="Text 12"/>
          <p:cNvSpPr/>
          <p:nvPr/>
        </p:nvSpPr>
        <p:spPr>
          <a:xfrm>
            <a:off x="2996946" y="2926080"/>
            <a:ext cx="1700784" cy="320040"/>
          </a:xfrm>
          <a:prstGeom prst="rect">
            <a:avLst/>
          </a:prstGeom>
          <a:noFill/>
          <a:ln/>
        </p:spPr>
        <p:txBody>
          <a:bodyPr wrap="square"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Clasificar</a:t>
            </a:r>
            <a:endParaRPr lang="en-US" sz="1600" dirty="0"/>
          </a:p>
        </p:txBody>
      </p:sp>
      <p:sp>
        <p:nvSpPr>
          <p:cNvPr id="15" name="Text 13"/>
          <p:cNvSpPr/>
          <p:nvPr/>
        </p:nvSpPr>
        <p:spPr>
          <a:xfrm>
            <a:off x="2996946" y="3246120"/>
            <a:ext cx="1700784" cy="640080"/>
          </a:xfrm>
          <a:prstGeom prst="rect">
            <a:avLst/>
          </a:prstGeom>
          <a:noFill/>
          <a:ln/>
        </p:spPr>
        <p:txBody>
          <a:bodyPr wrap="square" rtlCol="0" anchor="t"/>
          <a:lstStyle/>
          <a:p>
            <a:pPr marL="0" indent="0">
              <a:lnSpc>
                <a:spcPct val="115000"/>
              </a:lnSpc>
              <a:buNone/>
            </a:pPr>
            <a:r>
              <a:rPr lang="en-US" sz="1000" dirty="0">
                <a:solidFill>
                  <a:srgbClr val="475569"/>
                </a:solidFill>
                <a:latin typeface="Calibri" pitchFamily="34" charset="0"/>
                <a:ea typeface="Calibri" pitchFamily="34" charset="-122"/>
                <a:cs typeface="Calibri" pitchFamily="34" charset="-120"/>
              </a:rPr>
              <a:t>Tipo, orden y linealidad (Sesión 1): decide qué herramientas son candidatas.</a:t>
            </a:r>
            <a:endParaRPr lang="en-US" sz="1000" dirty="0"/>
          </a:p>
        </p:txBody>
      </p:sp>
      <p:sp>
        <p:nvSpPr>
          <p:cNvPr id="16" name="Shape 14"/>
          <p:cNvSpPr/>
          <p:nvPr/>
        </p:nvSpPr>
        <p:spPr>
          <a:xfrm>
            <a:off x="5042916" y="2148840"/>
            <a:ext cx="2103120" cy="1965960"/>
          </a:xfrm>
          <a:prstGeom prst="roundRect">
            <a:avLst>
              <a:gd name="adj" fmla="val 5000"/>
            </a:avLst>
          </a:prstGeom>
          <a:solidFill>
            <a:srgbClr val="F1F5F9"/>
          </a:solidFill>
          <a:ln w="12700">
            <a:solidFill>
              <a:srgbClr val="E2E8F0"/>
            </a:solidFill>
            <a:prstDash val="solid"/>
          </a:ln>
        </p:spPr>
        <p:txBody>
          <a:bodyPr/>
          <a:lstStyle/>
          <a:p>
            <a:endParaRPr lang="es-MX"/>
          </a:p>
        </p:txBody>
      </p:sp>
      <p:sp>
        <p:nvSpPr>
          <p:cNvPr id="17" name="Shape 15"/>
          <p:cNvSpPr/>
          <p:nvPr/>
        </p:nvSpPr>
        <p:spPr>
          <a:xfrm>
            <a:off x="5244084" y="2331720"/>
            <a:ext cx="502920" cy="502920"/>
          </a:xfrm>
          <a:prstGeom prst="ellipse">
            <a:avLst/>
          </a:prstGeom>
          <a:solidFill>
            <a:srgbClr val="CFFAFE"/>
          </a:solidFill>
          <a:ln/>
        </p:spPr>
        <p:txBody>
          <a:bodyPr/>
          <a:lstStyle/>
          <a:p>
            <a:endParaRPr lang="es-MX"/>
          </a:p>
        </p:txBody>
      </p:sp>
      <p:sp>
        <p:nvSpPr>
          <p:cNvPr id="18" name="Text 16"/>
          <p:cNvSpPr/>
          <p:nvPr/>
        </p:nvSpPr>
        <p:spPr>
          <a:xfrm>
            <a:off x="5244084" y="2331720"/>
            <a:ext cx="502920" cy="502920"/>
          </a:xfrm>
          <a:prstGeom prst="rect">
            <a:avLst/>
          </a:prstGeom>
          <a:noFill/>
          <a:ln/>
        </p:spPr>
        <p:txBody>
          <a:bodyPr wrap="square" rtlCol="0" anchor="ctr"/>
          <a:lstStyle/>
          <a:p>
            <a:pPr marL="0" indent="0" algn="ctr">
              <a:buNone/>
            </a:pPr>
            <a:r>
              <a:rPr lang="en-US" sz="1600" b="1" dirty="0">
                <a:solidFill>
                  <a:srgbClr val="0E7490"/>
                </a:solidFill>
                <a:latin typeface="Calibri" pitchFamily="34" charset="0"/>
                <a:ea typeface="Calibri" pitchFamily="34" charset="-122"/>
                <a:cs typeface="Calibri" pitchFamily="34" charset="-120"/>
              </a:rPr>
              <a:t>3</a:t>
            </a:r>
            <a:endParaRPr lang="en-US" sz="1600" dirty="0"/>
          </a:p>
        </p:txBody>
      </p:sp>
      <p:sp>
        <p:nvSpPr>
          <p:cNvPr id="19" name="Text 17"/>
          <p:cNvSpPr/>
          <p:nvPr/>
        </p:nvSpPr>
        <p:spPr>
          <a:xfrm>
            <a:off x="5244084" y="2926080"/>
            <a:ext cx="1700784" cy="320040"/>
          </a:xfrm>
          <a:prstGeom prst="rect">
            <a:avLst/>
          </a:prstGeom>
          <a:noFill/>
          <a:ln/>
        </p:spPr>
        <p:txBody>
          <a:bodyPr wrap="square"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Verificar</a:t>
            </a:r>
            <a:endParaRPr lang="en-US" sz="1600" dirty="0"/>
          </a:p>
        </p:txBody>
      </p:sp>
      <p:sp>
        <p:nvSpPr>
          <p:cNvPr id="20" name="Text 18"/>
          <p:cNvSpPr/>
          <p:nvPr/>
        </p:nvSpPr>
        <p:spPr>
          <a:xfrm>
            <a:off x="5244084" y="3246120"/>
            <a:ext cx="1700784" cy="640080"/>
          </a:xfrm>
          <a:prstGeom prst="rect">
            <a:avLst/>
          </a:prstGeom>
          <a:noFill/>
          <a:ln/>
        </p:spPr>
        <p:txBody>
          <a:bodyPr wrap="square" rtlCol="0" anchor="t"/>
          <a:lstStyle/>
          <a:p>
            <a:pPr marL="0" indent="0">
              <a:lnSpc>
                <a:spcPct val="115000"/>
              </a:lnSpc>
              <a:buNone/>
            </a:pPr>
            <a:r>
              <a:rPr lang="en-US" sz="1000" dirty="0">
                <a:solidFill>
                  <a:srgbClr val="475569"/>
                </a:solidFill>
                <a:latin typeface="Calibri" pitchFamily="34" charset="0"/>
                <a:ea typeface="Calibri" pitchFamily="34" charset="-122"/>
                <a:cs typeface="Calibri" pitchFamily="34" charset="-120"/>
              </a:rPr>
              <a:t>Existencia y unicidad (Sesión 2): ¿el modelo garantiza una única solución confiable?</a:t>
            </a:r>
            <a:endParaRPr lang="en-US" sz="1000" dirty="0"/>
          </a:p>
        </p:txBody>
      </p:sp>
      <p:sp>
        <p:nvSpPr>
          <p:cNvPr id="21" name="Shape 19"/>
          <p:cNvSpPr/>
          <p:nvPr/>
        </p:nvSpPr>
        <p:spPr>
          <a:xfrm>
            <a:off x="7290054" y="2148840"/>
            <a:ext cx="2103120" cy="1965960"/>
          </a:xfrm>
          <a:prstGeom prst="roundRect">
            <a:avLst>
              <a:gd name="adj" fmla="val 5000"/>
            </a:avLst>
          </a:prstGeom>
          <a:solidFill>
            <a:srgbClr val="F1F5F9"/>
          </a:solidFill>
          <a:ln w="12700">
            <a:solidFill>
              <a:srgbClr val="E2E8F0"/>
            </a:solidFill>
            <a:prstDash val="solid"/>
          </a:ln>
        </p:spPr>
        <p:txBody>
          <a:bodyPr/>
          <a:lstStyle/>
          <a:p>
            <a:endParaRPr lang="es-MX"/>
          </a:p>
        </p:txBody>
      </p:sp>
      <p:sp>
        <p:nvSpPr>
          <p:cNvPr id="22" name="Shape 20"/>
          <p:cNvSpPr/>
          <p:nvPr/>
        </p:nvSpPr>
        <p:spPr>
          <a:xfrm>
            <a:off x="7491222" y="2331720"/>
            <a:ext cx="502920" cy="502920"/>
          </a:xfrm>
          <a:prstGeom prst="ellipse">
            <a:avLst/>
          </a:prstGeom>
          <a:solidFill>
            <a:srgbClr val="CFFAFE"/>
          </a:solidFill>
          <a:ln/>
        </p:spPr>
        <p:txBody>
          <a:bodyPr/>
          <a:lstStyle/>
          <a:p>
            <a:endParaRPr lang="es-MX"/>
          </a:p>
        </p:txBody>
      </p:sp>
      <p:sp>
        <p:nvSpPr>
          <p:cNvPr id="23" name="Text 21"/>
          <p:cNvSpPr/>
          <p:nvPr/>
        </p:nvSpPr>
        <p:spPr>
          <a:xfrm>
            <a:off x="7491222" y="2331720"/>
            <a:ext cx="502920" cy="502920"/>
          </a:xfrm>
          <a:prstGeom prst="rect">
            <a:avLst/>
          </a:prstGeom>
          <a:noFill/>
          <a:ln/>
        </p:spPr>
        <p:txBody>
          <a:bodyPr wrap="square" rtlCol="0" anchor="ctr"/>
          <a:lstStyle/>
          <a:p>
            <a:pPr marL="0" indent="0" algn="ctr">
              <a:buNone/>
            </a:pPr>
            <a:r>
              <a:rPr lang="en-US" sz="1600" b="1" dirty="0">
                <a:solidFill>
                  <a:srgbClr val="0E7490"/>
                </a:solidFill>
                <a:latin typeface="Calibri" pitchFamily="34" charset="0"/>
                <a:ea typeface="Calibri" pitchFamily="34" charset="-122"/>
                <a:cs typeface="Calibri" pitchFamily="34" charset="-120"/>
              </a:rPr>
              <a:t>4</a:t>
            </a:r>
            <a:endParaRPr lang="en-US" sz="1600" dirty="0"/>
          </a:p>
        </p:txBody>
      </p:sp>
      <p:sp>
        <p:nvSpPr>
          <p:cNvPr id="24" name="Text 22"/>
          <p:cNvSpPr/>
          <p:nvPr/>
        </p:nvSpPr>
        <p:spPr>
          <a:xfrm>
            <a:off x="7491222" y="2926080"/>
            <a:ext cx="1700784" cy="320040"/>
          </a:xfrm>
          <a:prstGeom prst="rect">
            <a:avLst/>
          </a:prstGeom>
          <a:noFill/>
          <a:ln/>
        </p:spPr>
        <p:txBody>
          <a:bodyPr wrap="square"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Resolver</a:t>
            </a:r>
            <a:endParaRPr lang="en-US" sz="1600" dirty="0"/>
          </a:p>
        </p:txBody>
      </p:sp>
      <p:sp>
        <p:nvSpPr>
          <p:cNvPr id="25" name="Text 23"/>
          <p:cNvSpPr/>
          <p:nvPr/>
        </p:nvSpPr>
        <p:spPr>
          <a:xfrm>
            <a:off x="7491222" y="3246120"/>
            <a:ext cx="1700784" cy="640080"/>
          </a:xfrm>
          <a:prstGeom prst="rect">
            <a:avLst/>
          </a:prstGeom>
          <a:noFill/>
          <a:ln/>
        </p:spPr>
        <p:txBody>
          <a:bodyPr wrap="square" rtlCol="0" anchor="t"/>
          <a:lstStyle/>
          <a:p>
            <a:pPr marL="0" indent="0">
              <a:lnSpc>
                <a:spcPct val="115000"/>
              </a:lnSpc>
              <a:buNone/>
            </a:pPr>
            <a:r>
              <a:rPr lang="en-US" sz="1000" dirty="0">
                <a:solidFill>
                  <a:srgbClr val="475569"/>
                </a:solidFill>
                <a:latin typeface="Calibri" pitchFamily="34" charset="0"/>
                <a:ea typeface="Calibri" pitchFamily="34" charset="-122"/>
                <a:cs typeface="Calibri" pitchFamily="34" charset="-120"/>
              </a:rPr>
              <a:t>Separables, lineales o exactas (Sesiones 3–5): la técnica correcta para la forma de la ecuación.</a:t>
            </a:r>
            <a:endParaRPr lang="en-US" sz="1000" dirty="0"/>
          </a:p>
        </p:txBody>
      </p:sp>
      <p:sp>
        <p:nvSpPr>
          <p:cNvPr id="26" name="Shape 24"/>
          <p:cNvSpPr/>
          <p:nvPr/>
        </p:nvSpPr>
        <p:spPr>
          <a:xfrm>
            <a:off x="9537192" y="2148840"/>
            <a:ext cx="2103120" cy="1965960"/>
          </a:xfrm>
          <a:prstGeom prst="roundRect">
            <a:avLst>
              <a:gd name="adj" fmla="val 5000"/>
            </a:avLst>
          </a:prstGeom>
          <a:solidFill>
            <a:srgbClr val="F1F5F9"/>
          </a:solidFill>
          <a:ln w="12700">
            <a:solidFill>
              <a:srgbClr val="E2E8F0"/>
            </a:solidFill>
            <a:prstDash val="solid"/>
          </a:ln>
        </p:spPr>
        <p:txBody>
          <a:bodyPr/>
          <a:lstStyle/>
          <a:p>
            <a:endParaRPr lang="es-MX"/>
          </a:p>
        </p:txBody>
      </p:sp>
      <p:sp>
        <p:nvSpPr>
          <p:cNvPr id="27" name="Shape 25"/>
          <p:cNvSpPr/>
          <p:nvPr/>
        </p:nvSpPr>
        <p:spPr>
          <a:xfrm>
            <a:off x="9738360" y="2331720"/>
            <a:ext cx="502920" cy="502920"/>
          </a:xfrm>
          <a:prstGeom prst="ellipse">
            <a:avLst/>
          </a:prstGeom>
          <a:solidFill>
            <a:srgbClr val="CFFAFE"/>
          </a:solidFill>
          <a:ln/>
        </p:spPr>
        <p:txBody>
          <a:bodyPr/>
          <a:lstStyle/>
          <a:p>
            <a:endParaRPr lang="es-MX"/>
          </a:p>
        </p:txBody>
      </p:sp>
      <p:sp>
        <p:nvSpPr>
          <p:cNvPr id="28" name="Text 26"/>
          <p:cNvSpPr/>
          <p:nvPr/>
        </p:nvSpPr>
        <p:spPr>
          <a:xfrm>
            <a:off x="9738360" y="2331720"/>
            <a:ext cx="502920" cy="502920"/>
          </a:xfrm>
          <a:prstGeom prst="rect">
            <a:avLst/>
          </a:prstGeom>
          <a:noFill/>
          <a:ln/>
        </p:spPr>
        <p:txBody>
          <a:bodyPr wrap="square" rtlCol="0" anchor="ctr"/>
          <a:lstStyle/>
          <a:p>
            <a:pPr marL="0" indent="0" algn="ctr">
              <a:buNone/>
            </a:pPr>
            <a:r>
              <a:rPr lang="en-US" sz="1600" b="1" dirty="0">
                <a:solidFill>
                  <a:srgbClr val="0E7490"/>
                </a:solidFill>
                <a:latin typeface="Calibri" pitchFamily="34" charset="0"/>
                <a:ea typeface="Calibri" pitchFamily="34" charset="-122"/>
                <a:cs typeface="Calibri" pitchFamily="34" charset="-120"/>
              </a:rPr>
              <a:t>5</a:t>
            </a:r>
            <a:endParaRPr lang="en-US" sz="1600" dirty="0"/>
          </a:p>
        </p:txBody>
      </p:sp>
      <p:sp>
        <p:nvSpPr>
          <p:cNvPr id="29" name="Text 27"/>
          <p:cNvSpPr/>
          <p:nvPr/>
        </p:nvSpPr>
        <p:spPr>
          <a:xfrm>
            <a:off x="9738360" y="2926080"/>
            <a:ext cx="1700784" cy="320040"/>
          </a:xfrm>
          <a:prstGeom prst="rect">
            <a:avLst/>
          </a:prstGeom>
          <a:noFill/>
          <a:ln/>
        </p:spPr>
        <p:txBody>
          <a:bodyPr wrap="square"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Interpretar</a:t>
            </a:r>
            <a:endParaRPr lang="en-US" sz="1600" dirty="0"/>
          </a:p>
        </p:txBody>
      </p:sp>
      <p:sp>
        <p:nvSpPr>
          <p:cNvPr id="30" name="Text 28"/>
          <p:cNvSpPr/>
          <p:nvPr/>
        </p:nvSpPr>
        <p:spPr>
          <a:xfrm>
            <a:off x="9738360" y="3246120"/>
            <a:ext cx="1700784" cy="640080"/>
          </a:xfrm>
          <a:prstGeom prst="rect">
            <a:avLst/>
          </a:prstGeom>
          <a:noFill/>
          <a:ln/>
        </p:spPr>
        <p:txBody>
          <a:bodyPr wrap="square" rtlCol="0" anchor="t"/>
          <a:lstStyle/>
          <a:p>
            <a:pPr marL="0" indent="0">
              <a:lnSpc>
                <a:spcPct val="115000"/>
              </a:lnSpc>
              <a:buNone/>
            </a:pPr>
            <a:r>
              <a:rPr lang="en-US" sz="1000" dirty="0">
                <a:solidFill>
                  <a:srgbClr val="475569"/>
                </a:solidFill>
                <a:latin typeface="Calibri" pitchFamily="34" charset="0"/>
                <a:ea typeface="Calibri" pitchFamily="34" charset="-122"/>
                <a:cs typeface="Calibri" pitchFamily="34" charset="-120"/>
              </a:rPr>
              <a:t>Traducir la solución de vuelta al mundo físico: ¿tiene sentido el número para el cliente?</a:t>
            </a:r>
            <a:endParaRPr lang="en-US" sz="1000" dirty="0"/>
          </a:p>
        </p:txBody>
      </p:sp>
      <p:sp>
        <p:nvSpPr>
          <p:cNvPr id="31" name="Shape 26"/>
          <p:cNvSpPr/>
          <p:nvPr/>
        </p:nvSpPr>
        <p:spPr>
          <a:xfrm>
            <a:off x="548640" y="4251960"/>
            <a:ext cx="11091672" cy="777240"/>
          </a:xfrm>
          <a:prstGeom prst="roundRect">
            <a:avLst>
              <a:gd name="adj" fmla="val 9412"/>
            </a:avLst>
          </a:prstGeom>
          <a:solidFill>
            <a:srgbClr val="FEF3C7"/>
          </a:solidFill>
          <a:ln/>
        </p:spPr>
        <p:txBody>
          <a:bodyPr/>
          <a:lstStyle/>
          <a:p>
            <a:endParaRPr lang="es-MX"/>
          </a:p>
        </p:txBody>
      </p:sp>
      <p:sp>
        <p:nvSpPr>
          <p:cNvPr id="32" name="Text 29"/>
          <p:cNvSpPr/>
          <p:nvPr/>
        </p:nvSpPr>
        <p:spPr>
          <a:xfrm>
            <a:off x="822960" y="4251960"/>
            <a:ext cx="10543032" cy="777240"/>
          </a:xfrm>
          <a:prstGeom prst="rect">
            <a:avLst/>
          </a:prstGeom>
          <a:noFill/>
          <a:ln/>
        </p:spPr>
        <p:txBody>
          <a:bodyPr wrap="square" rtlCol="0" anchor="ctr"/>
          <a:lstStyle/>
          <a:p>
            <a:pPr marL="0" indent="0">
              <a:lnSpc>
                <a:spcPct val="120000"/>
              </a:lnSpc>
              <a:buNone/>
            </a:pPr>
            <a:r>
              <a:rPr lang="en-US" sz="1300" b="1" dirty="0">
                <a:solidFill>
                  <a:srgbClr val="92400E"/>
                </a:solidFill>
                <a:latin typeface="Calibri" pitchFamily="34" charset="0"/>
                <a:ea typeface="Calibri" pitchFamily="34" charset="-122"/>
                <a:cs typeface="Calibri" pitchFamily="34" charset="-120"/>
              </a:rPr>
              <a:t>🧭  Ojo de Analista:  </a:t>
            </a:r>
            <a:r>
              <a:rPr lang="en-US" sz="1300" dirty="0">
                <a:solidFill>
                  <a:srgbClr val="92400E"/>
                </a:solidFill>
                <a:latin typeface="Calibri" pitchFamily="34" charset="0"/>
                <a:ea typeface="Calibri" pitchFamily="34" charset="-122"/>
                <a:cs typeface="Calibri" pitchFamily="34" charset="-120"/>
              </a:rPr>
              <a:t>El paso que más se les va a olvidar en el examen no es resolver — es interpretar. Un número sin unidades ni sentido físico no es una respuesta, es una alarma.</a:t>
            </a:r>
            <a:endParaRPr lang="en-US" sz="1300" dirty="0"/>
          </a:p>
        </p:txBody>
      </p:sp>
      <p:sp>
        <p:nvSpPr>
          <p:cNvPr id="33" name="Text 30"/>
          <p:cNvSpPr/>
          <p:nvPr/>
        </p:nvSpPr>
        <p:spPr>
          <a:xfrm>
            <a:off x="11521440" y="6446520"/>
            <a:ext cx="457200" cy="292608"/>
          </a:xfrm>
          <a:prstGeom prst="rect">
            <a:avLst/>
          </a:prstGeom>
          <a:noFill/>
          <a:ln/>
        </p:spPr>
        <p:txBody>
          <a:bodyPr wrap="square" rtlCol="0" anchor="ctr"/>
          <a:lstStyle/>
          <a:p>
            <a:pPr marL="0" indent="0" algn="r">
              <a:buNone/>
            </a:pPr>
            <a:r>
              <a:rPr lang="en-US" sz="1200" dirty="0">
                <a:solidFill>
                  <a:srgbClr val="475569"/>
                </a:solidFill>
                <a:latin typeface="Calibri" pitchFamily="34" charset="0"/>
                <a:ea typeface="Calibri" pitchFamily="34" charset="-122"/>
                <a:cs typeface="Calibri"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2345000" cy="384048"/>
          </a:xfrm>
          <a:prstGeom prst="roundRect">
            <a:avLst>
              <a:gd name="adj" fmla="val 50000"/>
            </a:avLst>
          </a:prstGeom>
          <a:solidFill>
            <a:srgbClr val="E2E8F0"/>
          </a:solidFill>
          <a:ln/>
        </p:spPr>
        <p:txBody>
          <a:bodyPr/>
          <a:lstStyle/>
          <a:p>
            <a:endParaRPr lang="es-MX"/>
          </a:p>
        </p:txBody>
      </p:sp>
      <p:sp>
        <p:nvSpPr>
          <p:cNvPr id="3" name="Text 1"/>
          <p:cNvSpPr/>
          <p:nvPr/>
        </p:nvSpPr>
        <p:spPr>
          <a:xfrm>
            <a:off x="548640" y="365760"/>
            <a:ext cx="2345000" cy="384048"/>
          </a:xfrm>
          <a:prstGeom prst="rect">
            <a:avLst/>
          </a:prstGeom>
          <a:noFill/>
          <a:ln/>
        </p:spPr>
        <p:txBody>
          <a:bodyPr wrap="square" rtlCol="0" anchor="ctr"/>
          <a:lstStyle/>
          <a:p>
            <a:pPr marL="0" indent="0" algn="ctr">
              <a:buNone/>
            </a:pPr>
            <a:r>
              <a:rPr lang="en-US" sz="1300" b="1" kern="0" spc="100" dirty="0">
                <a:solidFill>
                  <a:srgbClr val="334155"/>
                </a:solidFill>
                <a:latin typeface="Calibri" pitchFamily="34" charset="0"/>
                <a:ea typeface="Calibri" pitchFamily="34" charset="-122"/>
                <a:cs typeface="Calibri" pitchFamily="34" charset="-120"/>
              </a:rPr>
              <a:t>REPASO SESIONES 1–5</a:t>
            </a:r>
            <a:endParaRPr lang="en-US" sz="1300" dirty="0"/>
          </a:p>
        </p:txBody>
      </p:sp>
      <p:sp>
        <p:nvSpPr>
          <p:cNvPr id="4" name="Text 2"/>
          <p:cNvSpPr/>
          <p:nvPr/>
        </p:nvSpPr>
        <p:spPr>
          <a:xfrm>
            <a:off x="548640" y="868680"/>
            <a:ext cx="11091672" cy="731520"/>
          </a:xfrm>
          <a:prstGeom prst="rect">
            <a:avLst/>
          </a:prstGeom>
          <a:noFill/>
          <a:ln/>
        </p:spPr>
        <p:txBody>
          <a:bodyPr wrap="square" rtlCol="0" anchor="t"/>
          <a:lstStyle/>
          <a:p>
            <a:pPr marL="0" indent="0" algn="l">
              <a:buNone/>
            </a:pPr>
            <a:r>
              <a:rPr lang="en-US" sz="3200" b="1" dirty="0">
                <a:solidFill>
                  <a:srgbClr val="0F172A"/>
                </a:solidFill>
                <a:latin typeface="Calibri" pitchFamily="34" charset="0"/>
                <a:ea typeface="Calibri" pitchFamily="34" charset="-122"/>
                <a:cs typeface="Calibri" pitchFamily="34" charset="-120"/>
              </a:rPr>
              <a:t>Las Cinco Herramientas del Semestre</a:t>
            </a:r>
            <a:endParaRPr lang="en-US" sz="3200" dirty="0"/>
          </a:p>
        </p:txBody>
      </p:sp>
      <p:sp>
        <p:nvSpPr>
          <p:cNvPr id="5" name="Text 3"/>
          <p:cNvSpPr/>
          <p:nvPr/>
        </p:nvSpPr>
        <p:spPr>
          <a:xfrm>
            <a:off x="548640" y="1554480"/>
            <a:ext cx="11091672" cy="457200"/>
          </a:xfrm>
          <a:prstGeom prst="rect">
            <a:avLst/>
          </a:prstGeom>
          <a:noFill/>
          <a:ln/>
        </p:spPr>
        <p:txBody>
          <a:bodyPr wrap="square" rtlCol="0" anchor="t"/>
          <a:lstStyle/>
          <a:p>
            <a:pPr marL="0" indent="0" algn="l">
              <a:buNone/>
            </a:pPr>
            <a:r>
              <a:rPr lang="en-US" sz="1700" dirty="0">
                <a:solidFill>
                  <a:srgbClr val="475569"/>
                </a:solidFill>
                <a:latin typeface="Calibri" pitchFamily="34" charset="0"/>
                <a:ea typeface="Calibri" pitchFamily="34" charset="-122"/>
                <a:cs typeface="Calibri" pitchFamily="34" charset="-120"/>
              </a:rPr>
              <a:t>Antes de aplicarlas a modelos reales, un repaso de 30 segundos</a:t>
            </a:r>
            <a:endParaRPr lang="en-US" sz="1700" dirty="0"/>
          </a:p>
        </p:txBody>
      </p:sp>
      <p:sp>
        <p:nvSpPr>
          <p:cNvPr id="6" name="Shape 4"/>
          <p:cNvSpPr/>
          <p:nvPr/>
        </p:nvSpPr>
        <p:spPr>
          <a:xfrm>
            <a:off x="548640" y="2148840"/>
            <a:ext cx="2103120" cy="2560320"/>
          </a:xfrm>
          <a:prstGeom prst="roundRect">
            <a:avLst>
              <a:gd name="adj" fmla="val 3922"/>
            </a:avLst>
          </a:prstGeom>
          <a:solidFill>
            <a:srgbClr val="CFFAFE"/>
          </a:solidFill>
          <a:ln/>
        </p:spPr>
        <p:txBody>
          <a:bodyPr/>
          <a:lstStyle/>
          <a:p>
            <a:endParaRPr lang="es-MX"/>
          </a:p>
        </p:txBody>
      </p:sp>
      <p:sp>
        <p:nvSpPr>
          <p:cNvPr id="7" name="Text 5"/>
          <p:cNvSpPr/>
          <p:nvPr/>
        </p:nvSpPr>
        <p:spPr>
          <a:xfrm>
            <a:off x="548640" y="2377440"/>
            <a:ext cx="2103120" cy="50292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8" name="Text 6"/>
          <p:cNvSpPr/>
          <p:nvPr/>
        </p:nvSpPr>
        <p:spPr>
          <a:xfrm>
            <a:off x="731520" y="2971800"/>
            <a:ext cx="1737360" cy="417120"/>
          </a:xfrm>
          <a:prstGeom prst="rect">
            <a:avLst/>
          </a:prstGeom>
          <a:noFill/>
          <a:ln/>
        </p:spPr>
        <p:txBody>
          <a:bodyPr wrap="square" rtlCol="0" anchor="t"/>
          <a:lstStyle/>
          <a:p>
            <a:pPr marL="0" indent="0" algn="ctr">
              <a:buNone/>
            </a:pPr>
            <a:r>
              <a:rPr lang="en-US" sz="1300" b="1" dirty="0">
                <a:solidFill>
                  <a:srgbClr val="0E7490"/>
                </a:solidFill>
                <a:latin typeface="Calibri" pitchFamily="34" charset="0"/>
                <a:ea typeface="Calibri" pitchFamily="34" charset="-122"/>
                <a:cs typeface="Calibri" pitchFamily="34" charset="-120"/>
              </a:rPr>
              <a:t>Clasificación</a:t>
            </a:r>
            <a:endParaRPr lang="en-US" sz="1300" dirty="0"/>
          </a:p>
        </p:txBody>
      </p:sp>
      <p:sp>
        <p:nvSpPr>
          <p:cNvPr id="9" name="Text 7"/>
          <p:cNvSpPr/>
          <p:nvPr/>
        </p:nvSpPr>
        <p:spPr>
          <a:xfrm>
            <a:off x="731520" y="3434640"/>
            <a:ext cx="1737360" cy="502920"/>
          </a:xfrm>
          <a:prstGeom prst="rect">
            <a:avLst/>
          </a:prstGeom>
          <a:noFill/>
          <a:ln/>
        </p:spPr>
        <p:txBody>
          <a:bodyPr wrap="square" rtlCol="0" anchor="t"/>
          <a:lstStyle/>
          <a:p>
            <a:pPr marL="0" indent="0" algn="ctr">
              <a:lnSpc>
                <a:spcPct val="115000"/>
              </a:lnSpc>
              <a:buNone/>
            </a:pPr>
            <a:r>
              <a:rPr lang="en-US" sz="1100" dirty="0">
                <a:solidFill>
                  <a:srgbClr val="0E7490"/>
                </a:solidFill>
                <a:latin typeface="Calibri" pitchFamily="34" charset="0"/>
                <a:ea typeface="Calibri" pitchFamily="34" charset="-122"/>
                <a:cs typeface="Calibri" pitchFamily="34" charset="-120"/>
              </a:rPr>
              <a:t>Tipo (EDO/EDP), orden y linealidad.</a:t>
            </a:r>
            <a:endParaRPr lang="en-US" sz="1100" dirty="0"/>
          </a:p>
        </p:txBody>
      </p:sp>
      <p:sp>
        <p:nvSpPr>
          <p:cNvPr id="10" name="Shape 8"/>
          <p:cNvSpPr/>
          <p:nvPr/>
        </p:nvSpPr>
        <p:spPr>
          <a:xfrm>
            <a:off x="2795778" y="2148840"/>
            <a:ext cx="2103120" cy="2560320"/>
          </a:xfrm>
          <a:prstGeom prst="roundRect">
            <a:avLst>
              <a:gd name="adj" fmla="val 3922"/>
            </a:avLst>
          </a:prstGeom>
          <a:solidFill>
            <a:srgbClr val="E0E7FF"/>
          </a:solidFill>
          <a:ln/>
        </p:spPr>
        <p:txBody>
          <a:bodyPr/>
          <a:lstStyle/>
          <a:p>
            <a:endParaRPr lang="es-MX"/>
          </a:p>
        </p:txBody>
      </p:sp>
      <p:sp>
        <p:nvSpPr>
          <p:cNvPr id="11" name="Text 9"/>
          <p:cNvSpPr/>
          <p:nvPr/>
        </p:nvSpPr>
        <p:spPr>
          <a:xfrm>
            <a:off x="2795778" y="2377440"/>
            <a:ext cx="2103120" cy="50292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2" name="Text 10"/>
          <p:cNvSpPr/>
          <p:nvPr/>
        </p:nvSpPr>
        <p:spPr>
          <a:xfrm>
            <a:off x="2978658" y="2971800"/>
            <a:ext cx="1737360" cy="600120"/>
          </a:xfrm>
          <a:prstGeom prst="rect">
            <a:avLst/>
          </a:prstGeom>
          <a:noFill/>
          <a:ln/>
        </p:spPr>
        <p:txBody>
          <a:bodyPr wrap="square" rtlCol="0" anchor="t"/>
          <a:lstStyle/>
          <a:p>
            <a:pPr marL="0" indent="0" algn="ctr">
              <a:lnSpc>
                <a:spcPct val="110000"/>
              </a:lnSpc>
              <a:buNone/>
            </a:pPr>
            <a:r>
              <a:rPr lang="en-US" sz="1300" b="1" dirty="0">
                <a:solidFill>
                  <a:srgbClr val="4338CA"/>
                </a:solidFill>
                <a:latin typeface="Calibri" pitchFamily="34" charset="0"/>
                <a:ea typeface="Calibri" pitchFamily="34" charset="-122"/>
                <a:cs typeface="Calibri" pitchFamily="34" charset="-120"/>
              </a:rPr>
              <a:t>PVI + Existencia-Unicidad</a:t>
            </a:r>
            <a:endParaRPr lang="en-US" sz="1300" dirty="0"/>
          </a:p>
        </p:txBody>
      </p:sp>
      <mc:AlternateContent xmlns:mc="http://schemas.openxmlformats.org/markup-compatibility/2006">
        <mc:Choice xmlns:a14="http://schemas.microsoft.com/office/drawing/2010/main" Requires="a14">
          <p:sp>
            <p:nvSpPr>
              <p:cNvPr id="13" name="Text 11"/>
              <p:cNvSpPr/>
              <p:nvPr/>
            </p:nvSpPr>
            <p:spPr>
              <a:xfrm>
                <a:off x="2978658" y="3617280"/>
                <a:ext cx="1737360" cy="411480"/>
              </a:xfrm>
              <a:prstGeom prst="rect">
                <a:avLst/>
              </a:prstGeom>
              <a:noFill/>
              <a:ln/>
            </p:spPr>
            <p:txBody>
              <a:bodyPr wrap="square" rtlCol="0" anchor="t"/>
              <a:lstStyle/>
              <a:p>
                <a:pPr marL="0" indent="0" algn="ctr">
                  <a:buNone/>
                </a:pPr>
                <a14:m>
                  <m:oMathPara xmlns:m="http://schemas.openxmlformats.org/officeDocument/2006/math">
                    <m:oMath>
                      <m:r>
                        <a:rPr>
                          <a:latin typeface="Cambria Math" panose="02040503050406030204" pitchFamily="18" charset="0"/>
                        </a:rPr>
                        <m:t>𝑦</m:t>
                      </m:r>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0</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𝑦</m:t>
                          </m:r>
                        </m:e>
                        <m:sub>
                          <m:r>
                            <a:rPr>
                              <a:latin typeface="Cambria Math" panose="02040503050406030204" pitchFamily="18" charset="0"/>
                            </a:rPr>
                            <m:t>0</m:t>
                          </m:r>
                        </m:sub>
                      </m:sSub>
                    </m:oMath>
                  </m:oMathPara>
                </a14:m>
                <a:endParaRPr lang="en-US" sz="1400" dirty="0"/>
              </a:p>
            </p:txBody>
          </p:sp>
        </mc:Choice>
        <mc:Fallback>
          <p:sp>
            <p:nvSpPr>
              <p:cNvPr id="13" name="Text 11"/>
              <p:cNvSpPr>
                <a:spLocks noRot="1" noChangeAspect="1" noMove="1" noResize="1" noEditPoints="1" noAdjustHandles="1" noChangeArrowheads="1" noChangeShapeType="1" noTextEdit="1"/>
              </p:cNvSpPr>
              <p:nvPr/>
            </p:nvSpPr>
            <p:spPr>
              <a:xfrm>
                <a:off x="2978658" y="3617280"/>
                <a:ext cx="1737360" cy="411480"/>
              </a:xfrm>
              <a:prstGeom prst="rect">
                <a:avLst/>
              </a:prstGeom>
              <a:blipFill>
                <a:blip r:embed="rId2"/>
                <a:stretch>
                  <a:fillRect b="-1471"/>
                </a:stretch>
              </a:blipFill>
              <a:ln/>
            </p:spPr>
            <p:txBody>
              <a:bodyPr/>
              <a:lstStyle/>
              <a:p>
                <a:r>
                  <a:rPr lang="es-MX">
                    <a:noFill/>
                  </a:rPr>
                  <a:t> </a:t>
                </a:r>
              </a:p>
            </p:txBody>
          </p:sp>
        </mc:Fallback>
      </mc:AlternateContent>
      <p:sp>
        <p:nvSpPr>
          <p:cNvPr id="14" name="Text 12"/>
          <p:cNvSpPr/>
          <p:nvPr/>
        </p:nvSpPr>
        <p:spPr>
          <a:xfrm>
            <a:off x="2978658" y="4028760"/>
            <a:ext cx="1737360" cy="502920"/>
          </a:xfrm>
          <a:prstGeom prst="rect">
            <a:avLst/>
          </a:prstGeom>
          <a:noFill/>
          <a:ln/>
        </p:spPr>
        <p:txBody>
          <a:bodyPr wrap="square" rtlCol="0" anchor="t"/>
          <a:lstStyle/>
          <a:p>
            <a:pPr marL="0" indent="0" algn="ctr">
              <a:lnSpc>
                <a:spcPct val="110000"/>
              </a:lnSpc>
              <a:buNone/>
            </a:pPr>
            <a:r>
              <a:rPr lang="en-US" sz="1000" dirty="0">
                <a:solidFill>
                  <a:srgbClr val="4338CA"/>
                </a:solidFill>
                <a:latin typeface="Calibri" pitchFamily="34" charset="0"/>
                <a:ea typeface="Calibri" pitchFamily="34" charset="-122"/>
                <a:cs typeface="Calibri" pitchFamily="34" charset="-120"/>
              </a:rPr>
              <a:t>f y ∂f/∂y continuas ⇒ solución única.</a:t>
            </a:r>
            <a:endParaRPr lang="en-US" sz="1000" dirty="0"/>
          </a:p>
        </p:txBody>
      </p:sp>
      <p:sp>
        <p:nvSpPr>
          <p:cNvPr id="15" name="Shape 13"/>
          <p:cNvSpPr/>
          <p:nvPr/>
        </p:nvSpPr>
        <p:spPr>
          <a:xfrm>
            <a:off x="5042916" y="2148840"/>
            <a:ext cx="2103120" cy="2560320"/>
          </a:xfrm>
          <a:prstGeom prst="roundRect">
            <a:avLst>
              <a:gd name="adj" fmla="val 3922"/>
            </a:avLst>
          </a:prstGeom>
          <a:solidFill>
            <a:srgbClr val="D1FAE5"/>
          </a:solidFill>
          <a:ln/>
        </p:spPr>
        <p:txBody>
          <a:bodyPr/>
          <a:lstStyle/>
          <a:p>
            <a:endParaRPr lang="es-MX"/>
          </a:p>
        </p:txBody>
      </p:sp>
      <p:sp>
        <p:nvSpPr>
          <p:cNvPr id="16" name="Text 14"/>
          <p:cNvSpPr/>
          <p:nvPr/>
        </p:nvSpPr>
        <p:spPr>
          <a:xfrm>
            <a:off x="5042916" y="2377440"/>
            <a:ext cx="2103120" cy="50292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7" name="Text 15"/>
          <p:cNvSpPr/>
          <p:nvPr/>
        </p:nvSpPr>
        <p:spPr>
          <a:xfrm>
            <a:off x="5225796" y="2971800"/>
            <a:ext cx="1737360" cy="417120"/>
          </a:xfrm>
          <a:prstGeom prst="rect">
            <a:avLst/>
          </a:prstGeom>
          <a:noFill/>
          <a:ln/>
        </p:spPr>
        <p:txBody>
          <a:bodyPr wrap="square" rtlCol="0" anchor="t"/>
          <a:lstStyle/>
          <a:p>
            <a:pPr marL="0" indent="0" algn="ctr">
              <a:buNone/>
            </a:pPr>
            <a:r>
              <a:rPr lang="en-US" sz="1300" b="1" dirty="0">
                <a:solidFill>
                  <a:srgbClr val="047857"/>
                </a:solidFill>
                <a:latin typeface="Calibri" pitchFamily="34" charset="0"/>
                <a:ea typeface="Calibri" pitchFamily="34" charset="-122"/>
                <a:cs typeface="Calibri" pitchFamily="34" charset="-120"/>
              </a:rPr>
              <a:t>Separables</a:t>
            </a:r>
            <a:endParaRPr lang="en-US" sz="1300" dirty="0"/>
          </a:p>
        </p:txBody>
      </p:sp>
      <mc:AlternateContent xmlns:mc="http://schemas.openxmlformats.org/markup-compatibility/2006">
        <mc:Choice xmlns:a14="http://schemas.microsoft.com/office/drawing/2010/main" Requires="a14">
          <p:sp>
            <p:nvSpPr>
              <p:cNvPr id="18" name="Text 16"/>
              <p:cNvSpPr/>
              <p:nvPr/>
            </p:nvSpPr>
            <p:spPr>
              <a:xfrm>
                <a:off x="5225796" y="3434640"/>
                <a:ext cx="1737360" cy="502920"/>
              </a:xfrm>
              <a:prstGeom prst="rect">
                <a:avLst/>
              </a:prstGeom>
              <a:noFill/>
              <a:ln/>
            </p:spPr>
            <p:txBody>
              <a:bodyPr wrap="square" rtlCol="0" anchor="t"/>
              <a:lstStyle/>
              <a:p>
                <a:pPr marL="0" indent="0" algn="ctr">
                  <a:buNone/>
                </a:pPr>
                <a14:m>
                  <m:oMathPara xmlns:m="http://schemas.openxmlformats.org/officeDocument/2006/math">
                    <m:oMath>
                      <m:f>
                        <m:fPr>
                          <m:ctrlPr>
                            <a:rPr>
                              <a:latin typeface="Cambria Math" panose="02040503050406030204" pitchFamily="18" charset="0"/>
                            </a:rPr>
                          </m:ctrlPr>
                        </m:fPr>
                        <m:num>
                          <m:r>
                            <a:rPr>
                              <a:latin typeface="Cambria Math" panose="02040503050406030204" pitchFamily="18" charset="0"/>
                            </a:rPr>
                            <m:t>𝑑𝑦</m:t>
                          </m:r>
                        </m:num>
                        <m:den>
                          <m:r>
                            <a:rPr>
                              <a:latin typeface="Cambria Math" panose="02040503050406030204" pitchFamily="18" charset="0"/>
                            </a:rPr>
                            <m:t>ℎ</m:t>
                          </m:r>
                          <m:r>
                            <a:rPr>
                              <a:latin typeface="Cambria Math" panose="02040503050406030204" pitchFamily="18" charset="0"/>
                            </a:rPr>
                            <m:t>(</m:t>
                          </m:r>
                          <m:r>
                            <a:rPr>
                              <a:latin typeface="Cambria Math" panose="02040503050406030204" pitchFamily="18" charset="0"/>
                            </a:rPr>
                            <m:t>𝑦</m:t>
                          </m:r>
                          <m:r>
                            <a:rPr>
                              <a:latin typeface="Cambria Math" panose="02040503050406030204" pitchFamily="18" charset="0"/>
                            </a:rPr>
                            <m:t>)</m:t>
                          </m:r>
                        </m:den>
                      </m:f>
                      <m:r>
                        <a:rPr>
                          <a:latin typeface="Cambria Math" panose="02040503050406030204" pitchFamily="18" charset="0"/>
                        </a:rPr>
                        <m:t>=</m:t>
                      </m:r>
                      <m:r>
                        <a:rPr>
                          <a:latin typeface="Cambria Math" panose="02040503050406030204" pitchFamily="18" charset="0"/>
                        </a:rPr>
                        <m:t>𝑔</m:t>
                      </m:r>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m:t>
                      </m:r>
                      <m:r>
                        <a:rPr>
                          <a:latin typeface="Cambria Math" panose="02040503050406030204" pitchFamily="18" charset="0"/>
                        </a:rPr>
                        <m:t>𝑑𝑥</m:t>
                      </m:r>
                    </m:oMath>
                  </m:oMathPara>
                </a14:m>
                <a:endParaRPr lang="en-US" sz="1300" dirty="0"/>
              </a:p>
            </p:txBody>
          </p:sp>
        </mc:Choice>
        <mc:Fallback>
          <p:sp>
            <p:nvSpPr>
              <p:cNvPr id="18" name="Text 16"/>
              <p:cNvSpPr>
                <a:spLocks noRot="1" noChangeAspect="1" noMove="1" noResize="1" noEditPoints="1" noAdjustHandles="1" noChangeArrowheads="1" noChangeShapeType="1" noTextEdit="1"/>
              </p:cNvSpPr>
              <p:nvPr/>
            </p:nvSpPr>
            <p:spPr>
              <a:xfrm>
                <a:off x="5225796" y="3434640"/>
                <a:ext cx="1737360" cy="502920"/>
              </a:xfrm>
              <a:prstGeom prst="rect">
                <a:avLst/>
              </a:prstGeom>
              <a:blipFill>
                <a:blip r:embed="rId3"/>
                <a:stretch>
                  <a:fillRect b="-22892"/>
                </a:stretch>
              </a:blipFill>
              <a:ln/>
            </p:spPr>
            <p:txBody>
              <a:bodyPr/>
              <a:lstStyle/>
              <a:p>
                <a:r>
                  <a:rPr lang="es-MX">
                    <a:noFill/>
                  </a:rPr>
                  <a:t> </a:t>
                </a:r>
              </a:p>
            </p:txBody>
          </p:sp>
        </mc:Fallback>
      </mc:AlternateContent>
      <p:sp>
        <p:nvSpPr>
          <p:cNvPr id="19" name="Shape 17"/>
          <p:cNvSpPr/>
          <p:nvPr/>
        </p:nvSpPr>
        <p:spPr>
          <a:xfrm>
            <a:off x="7290054" y="2148840"/>
            <a:ext cx="2103120" cy="2560320"/>
          </a:xfrm>
          <a:prstGeom prst="roundRect">
            <a:avLst>
              <a:gd name="adj" fmla="val 3922"/>
            </a:avLst>
          </a:prstGeom>
          <a:solidFill>
            <a:srgbClr val="FEF3C7"/>
          </a:solidFill>
          <a:ln/>
        </p:spPr>
        <p:txBody>
          <a:bodyPr/>
          <a:lstStyle/>
          <a:p>
            <a:endParaRPr lang="es-MX"/>
          </a:p>
        </p:txBody>
      </p:sp>
      <p:sp>
        <p:nvSpPr>
          <p:cNvPr id="20" name="Text 18"/>
          <p:cNvSpPr/>
          <p:nvPr/>
        </p:nvSpPr>
        <p:spPr>
          <a:xfrm>
            <a:off x="7290054" y="2377440"/>
            <a:ext cx="2103120" cy="50292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21" name="Text 19"/>
          <p:cNvSpPr/>
          <p:nvPr/>
        </p:nvSpPr>
        <p:spPr>
          <a:xfrm>
            <a:off x="7472934" y="2971800"/>
            <a:ext cx="1737360" cy="417120"/>
          </a:xfrm>
          <a:prstGeom prst="rect">
            <a:avLst/>
          </a:prstGeom>
          <a:noFill/>
          <a:ln/>
        </p:spPr>
        <p:txBody>
          <a:bodyPr wrap="square" rtlCol="0" anchor="t"/>
          <a:lstStyle/>
          <a:p>
            <a:pPr marL="0" indent="0" algn="ctr">
              <a:buNone/>
            </a:pPr>
            <a:r>
              <a:rPr lang="en-US" sz="1300" b="1" dirty="0">
                <a:solidFill>
                  <a:srgbClr val="B45309"/>
                </a:solidFill>
                <a:latin typeface="Calibri" pitchFamily="34" charset="0"/>
                <a:ea typeface="Calibri" pitchFamily="34" charset="-122"/>
                <a:cs typeface="Calibri" pitchFamily="34" charset="-120"/>
              </a:rPr>
              <a:t>Lineales</a:t>
            </a:r>
            <a:endParaRPr lang="en-US" sz="1300" dirty="0"/>
          </a:p>
        </p:txBody>
      </p:sp>
      <mc:AlternateContent xmlns:mc="http://schemas.openxmlformats.org/markup-compatibility/2006">
        <mc:Choice xmlns:a14="http://schemas.microsoft.com/office/drawing/2010/main" Requires="a14">
          <p:sp>
            <p:nvSpPr>
              <p:cNvPr id="22" name="Text 20"/>
              <p:cNvSpPr/>
              <p:nvPr/>
            </p:nvSpPr>
            <p:spPr>
              <a:xfrm>
                <a:off x="7472934" y="3434640"/>
                <a:ext cx="1737360" cy="502920"/>
              </a:xfrm>
              <a:prstGeom prst="rect">
                <a:avLst/>
              </a:prstGeom>
              <a:noFill/>
              <a:ln/>
            </p:spPr>
            <p:txBody>
              <a:bodyPr wrap="square" rtlCol="0" anchor="t"/>
              <a:lstStyle/>
              <a:p>
                <a:pPr marL="0" indent="0" algn="ctr">
                  <a:buNone/>
                </a:pPr>
                <a:r>
                  <a:rPr lang="en-US" sz="1300" dirty="0">
                    <a:solidFill>
                      <a:srgbClr val="B45309"/>
                    </a:solidFill>
                    <a:latin typeface="Calibri" pitchFamily="34" charset="0"/>
                    <a:ea typeface="Calibri" pitchFamily="34" charset="-122"/>
                    <a:cs typeface="Calibri" pitchFamily="34" charset="-120"/>
                  </a:rPr>
                  <a:t>μ(x)=</a:t>
                </a:r>
                <a14:m>
                  <m:oMath xmlns:m="http://schemas.openxmlformats.org/officeDocument/2006/math">
                    <m:sSup>
                      <m:sSupPr>
                        <m:ctrlPr>
                          <a:rPr>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m:t>
                        </m:r>
                        <m:r>
                          <a:rPr>
                            <a:latin typeface="Cambria Math" panose="02040503050406030204" pitchFamily="18" charset="0"/>
                          </a:rPr>
                          <m:t>𝑃𝑑𝑥</m:t>
                        </m:r>
                      </m:sup>
                    </m:sSup>
                  </m:oMath>
                </a14:m>
                <a:endParaRPr lang="en-US" sz="1300" dirty="0"/>
              </a:p>
            </p:txBody>
          </p:sp>
        </mc:Choice>
        <mc:Fallback>
          <p:sp>
            <p:nvSpPr>
              <p:cNvPr id="22" name="Text 20"/>
              <p:cNvSpPr>
                <a:spLocks noRot="1" noChangeAspect="1" noMove="1" noResize="1" noEditPoints="1" noAdjustHandles="1" noChangeArrowheads="1" noChangeShapeType="1" noTextEdit="1"/>
              </p:cNvSpPr>
              <p:nvPr/>
            </p:nvSpPr>
            <p:spPr>
              <a:xfrm>
                <a:off x="7472934" y="3434640"/>
                <a:ext cx="1737360" cy="502920"/>
              </a:xfrm>
              <a:prstGeom prst="rect">
                <a:avLst/>
              </a:prstGeom>
              <a:blipFill>
                <a:blip r:embed="rId4"/>
                <a:stretch>
                  <a:fillRect/>
                </a:stretch>
              </a:blipFill>
              <a:ln/>
            </p:spPr>
            <p:txBody>
              <a:bodyPr/>
              <a:lstStyle/>
              <a:p>
                <a:r>
                  <a:rPr lang="es-MX">
                    <a:noFill/>
                  </a:rPr>
                  <a:t> </a:t>
                </a:r>
              </a:p>
            </p:txBody>
          </p:sp>
        </mc:Fallback>
      </mc:AlternateContent>
      <p:sp>
        <p:nvSpPr>
          <p:cNvPr id="23" name="Shape 21"/>
          <p:cNvSpPr/>
          <p:nvPr/>
        </p:nvSpPr>
        <p:spPr>
          <a:xfrm>
            <a:off x="9537192" y="2148840"/>
            <a:ext cx="2103120" cy="2560320"/>
          </a:xfrm>
          <a:prstGeom prst="roundRect">
            <a:avLst>
              <a:gd name="adj" fmla="val 3922"/>
            </a:avLst>
          </a:prstGeom>
          <a:solidFill>
            <a:srgbClr val="FFE4E6"/>
          </a:solidFill>
          <a:ln/>
        </p:spPr>
        <p:txBody>
          <a:bodyPr/>
          <a:lstStyle/>
          <a:p>
            <a:endParaRPr lang="es-MX"/>
          </a:p>
        </p:txBody>
      </p:sp>
      <p:sp>
        <p:nvSpPr>
          <p:cNvPr id="24" name="Text 22"/>
          <p:cNvSpPr/>
          <p:nvPr/>
        </p:nvSpPr>
        <p:spPr>
          <a:xfrm>
            <a:off x="9537192" y="2377440"/>
            <a:ext cx="2103120" cy="50292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25" name="Text 23"/>
          <p:cNvSpPr/>
          <p:nvPr/>
        </p:nvSpPr>
        <p:spPr>
          <a:xfrm>
            <a:off x="9720072" y="2971800"/>
            <a:ext cx="1737360" cy="417120"/>
          </a:xfrm>
          <a:prstGeom prst="rect">
            <a:avLst/>
          </a:prstGeom>
          <a:noFill/>
          <a:ln/>
        </p:spPr>
        <p:txBody>
          <a:bodyPr wrap="square" rtlCol="0" anchor="t"/>
          <a:lstStyle/>
          <a:p>
            <a:pPr marL="0" indent="0" algn="ctr">
              <a:buNone/>
            </a:pPr>
            <a:r>
              <a:rPr lang="en-US" sz="1300" b="1" dirty="0">
                <a:solidFill>
                  <a:srgbClr val="BE123C"/>
                </a:solidFill>
                <a:latin typeface="Calibri" pitchFamily="34" charset="0"/>
                <a:ea typeface="Calibri" pitchFamily="34" charset="-122"/>
                <a:cs typeface="Calibri" pitchFamily="34" charset="-120"/>
              </a:rPr>
              <a:t>Exactas</a:t>
            </a:r>
            <a:endParaRPr lang="en-US" sz="1300" dirty="0"/>
          </a:p>
        </p:txBody>
      </p:sp>
      <mc:AlternateContent xmlns:mc="http://schemas.openxmlformats.org/markup-compatibility/2006">
        <mc:Choice xmlns:a14="http://schemas.microsoft.com/office/drawing/2010/main" Requires="a14">
          <p:sp>
            <p:nvSpPr>
              <p:cNvPr id="26" name="Text 24"/>
              <p:cNvSpPr/>
              <p:nvPr/>
            </p:nvSpPr>
            <p:spPr>
              <a:xfrm>
                <a:off x="9720072" y="3434640"/>
                <a:ext cx="1737360" cy="502920"/>
              </a:xfrm>
              <a:prstGeom prst="rect">
                <a:avLst/>
              </a:prstGeom>
              <a:noFill/>
              <a:ln/>
            </p:spPr>
            <p:txBody>
              <a:bodyPr wrap="square" rtlCol="0" anchor="t"/>
              <a:lstStyle/>
              <a:p>
                <a:pPr marL="0" indent="0" algn="ctr">
                  <a:buNone/>
                </a:pPr>
                <a14:m>
                  <m:oMathPara xmlns:m="http://schemas.openxmlformats.org/officeDocument/2006/math">
                    <m:oMath>
                      <m:sSub>
                        <m:sSubPr>
                          <m:ctrlPr>
                            <a:rPr>
                              <a:latin typeface="Cambria Math" panose="02040503050406030204" pitchFamily="18" charset="0"/>
                            </a:rPr>
                          </m:ctrlPr>
                        </m:sSubPr>
                        <m:e>
                          <m:r>
                            <a:rPr>
                              <a:latin typeface="Cambria Math" panose="02040503050406030204" pitchFamily="18" charset="0"/>
                            </a:rPr>
                            <m:t>𝑀</m:t>
                          </m:r>
                        </m:e>
                        <m:sub>
                          <m:r>
                            <a:rPr>
                              <a:latin typeface="Cambria Math" panose="02040503050406030204" pitchFamily="18" charset="0"/>
                            </a:rPr>
                            <m:t>𝑦</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𝑁</m:t>
                          </m:r>
                        </m:e>
                        <m:sub>
                          <m:r>
                            <a:rPr>
                              <a:latin typeface="Cambria Math" panose="02040503050406030204" pitchFamily="18" charset="0"/>
                            </a:rPr>
                            <m:t>𝑥</m:t>
                          </m:r>
                        </m:sub>
                      </m:sSub>
                    </m:oMath>
                  </m:oMathPara>
                </a14:m>
                <a:endParaRPr lang="en-US" sz="1400" dirty="0"/>
              </a:p>
            </p:txBody>
          </p:sp>
        </mc:Choice>
        <mc:Fallback>
          <p:sp>
            <p:nvSpPr>
              <p:cNvPr id="26" name="Text 24"/>
              <p:cNvSpPr>
                <a:spLocks noRot="1" noChangeAspect="1" noMove="1" noResize="1" noEditPoints="1" noAdjustHandles="1" noChangeArrowheads="1" noChangeShapeType="1" noTextEdit="1"/>
              </p:cNvSpPr>
              <p:nvPr/>
            </p:nvSpPr>
            <p:spPr>
              <a:xfrm>
                <a:off x="9720072" y="3434640"/>
                <a:ext cx="1737360" cy="502920"/>
              </a:xfrm>
              <a:prstGeom prst="rect">
                <a:avLst/>
              </a:prstGeom>
              <a:blipFill>
                <a:blip r:embed="rId5"/>
                <a:stretch>
                  <a:fillRect/>
                </a:stretch>
              </a:blipFill>
              <a:ln/>
            </p:spPr>
            <p:txBody>
              <a:bodyPr/>
              <a:lstStyle/>
              <a:p>
                <a:r>
                  <a:rPr lang="es-MX">
                    <a:noFill/>
                  </a:rPr>
                  <a:t> </a:t>
                </a:r>
              </a:p>
            </p:txBody>
          </p:sp>
        </mc:Fallback>
      </mc:AlternateContent>
      <p:sp>
        <p:nvSpPr>
          <p:cNvPr id="27" name="Text 25"/>
          <p:cNvSpPr/>
          <p:nvPr/>
        </p:nvSpPr>
        <p:spPr>
          <a:xfrm>
            <a:off x="11521440" y="6446520"/>
            <a:ext cx="457200" cy="292608"/>
          </a:xfrm>
          <a:prstGeom prst="rect">
            <a:avLst/>
          </a:prstGeom>
          <a:noFill/>
          <a:ln/>
        </p:spPr>
        <p:txBody>
          <a:bodyPr wrap="square" rtlCol="0" anchor="ctr"/>
          <a:lstStyle/>
          <a:p>
            <a:pPr marL="0" indent="0" algn="r">
              <a:buNone/>
            </a:pPr>
            <a:r>
              <a:rPr lang="en-US" sz="1200" dirty="0">
                <a:solidFill>
                  <a:srgbClr val="475569"/>
                </a:solidFill>
                <a:latin typeface="Calibri" pitchFamily="34" charset="0"/>
                <a:ea typeface="Calibri" pitchFamily="34" charset="-122"/>
                <a:cs typeface="Calibri"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869680" y="-2834640"/>
            <a:ext cx="4937760" cy="4937760"/>
          </a:xfrm>
          <a:prstGeom prst="ellipse">
            <a:avLst/>
          </a:prstGeom>
          <a:solidFill>
            <a:srgbClr val="D1FAE5"/>
          </a:solidFill>
          <a:ln/>
        </p:spPr>
        <p:txBody>
          <a:bodyPr/>
          <a:lstStyle/>
          <a:p>
            <a:endParaRPr lang="es-MX"/>
          </a:p>
        </p:txBody>
      </p:sp>
      <p:sp>
        <p:nvSpPr>
          <p:cNvPr id="3" name="Shape 1"/>
          <p:cNvSpPr/>
          <p:nvPr/>
        </p:nvSpPr>
        <p:spPr>
          <a:xfrm>
            <a:off x="548640" y="365760"/>
            <a:ext cx="1158240" cy="384048"/>
          </a:xfrm>
          <a:prstGeom prst="roundRect">
            <a:avLst>
              <a:gd name="adj" fmla="val 50000"/>
            </a:avLst>
          </a:prstGeom>
          <a:solidFill>
            <a:srgbClr val="D1FAE5"/>
          </a:solidFill>
          <a:ln/>
        </p:spPr>
        <p:txBody>
          <a:bodyPr/>
          <a:lstStyle/>
          <a:p>
            <a:endParaRPr lang="es-MX"/>
          </a:p>
        </p:txBody>
      </p:sp>
      <p:sp>
        <p:nvSpPr>
          <p:cNvPr id="4" name="Text 2"/>
          <p:cNvSpPr/>
          <p:nvPr/>
        </p:nvSpPr>
        <p:spPr>
          <a:xfrm>
            <a:off x="548640" y="365760"/>
            <a:ext cx="1158240" cy="384048"/>
          </a:xfrm>
          <a:prstGeom prst="rect">
            <a:avLst/>
          </a:prstGeom>
          <a:noFill/>
          <a:ln/>
        </p:spPr>
        <p:txBody>
          <a:bodyPr wrap="square" rtlCol="0" anchor="ctr"/>
          <a:lstStyle/>
          <a:p>
            <a:pPr marL="0" indent="0" algn="ctr">
              <a:buNone/>
            </a:pPr>
            <a:r>
              <a:rPr lang="en-US" sz="1300" b="1" kern="0" spc="100" dirty="0">
                <a:solidFill>
                  <a:srgbClr val="047857"/>
                </a:solidFill>
                <a:latin typeface="Calibri" pitchFamily="34" charset="0"/>
                <a:ea typeface="Calibri" pitchFamily="34" charset="-122"/>
                <a:cs typeface="Calibri" pitchFamily="34" charset="-120"/>
              </a:rPr>
              <a:t>CASO 1</a:t>
            </a:r>
            <a:endParaRPr lang="en-US" sz="1300" dirty="0"/>
          </a:p>
        </p:txBody>
      </p:sp>
      <p:sp>
        <p:nvSpPr>
          <p:cNvPr id="5" name="Text 3"/>
          <p:cNvSpPr/>
          <p:nvPr/>
        </p:nvSpPr>
        <p:spPr>
          <a:xfrm>
            <a:off x="548640" y="1874520"/>
            <a:ext cx="11091672" cy="640080"/>
          </a:xfrm>
          <a:prstGeom prst="rect">
            <a:avLst/>
          </a:prstGeom>
          <a:noFill/>
          <a:ln/>
        </p:spPr>
        <p:txBody>
          <a:bodyPr wrap="square" rtlCol="0" anchor="t"/>
          <a:lstStyle/>
          <a:p>
            <a:pPr marL="0" indent="0" algn="ctr">
              <a:buNone/>
            </a:pPr>
            <a:r>
              <a:rPr lang="en-US" sz="2600" dirty="0">
                <a:solidFill>
                  <a:srgbClr val="000000"/>
                </a:solidFill>
                <a:latin typeface="Calibri" pitchFamily="34" charset="0"/>
                <a:ea typeface="Calibri" pitchFamily="34" charset="-122"/>
                <a:cs typeface="Calibri" pitchFamily="34" charset="-120"/>
              </a:rPr>
              <a:t>📐  </a:t>
            </a:r>
            <a:r>
              <a:rPr lang="en-US" sz="2600" b="1" dirty="0">
                <a:solidFill>
                  <a:srgbClr val="0F172A"/>
                </a:solidFill>
                <a:latin typeface="Calibri" pitchFamily="34" charset="0"/>
                <a:ea typeface="Calibri" pitchFamily="34" charset="-122"/>
                <a:cs typeface="Calibri" pitchFamily="34" charset="-120"/>
              </a:rPr>
              <a:t>Caso de la Firma: Datación por Carbono-14</a:t>
            </a:r>
            <a:endParaRPr lang="en-US" sz="2600" dirty="0"/>
          </a:p>
        </p:txBody>
      </p:sp>
      <p:sp>
        <p:nvSpPr>
          <p:cNvPr id="6" name="Shape 4"/>
          <p:cNvSpPr/>
          <p:nvPr/>
        </p:nvSpPr>
        <p:spPr>
          <a:xfrm>
            <a:off x="1280160" y="2743200"/>
            <a:ext cx="9628632" cy="1737360"/>
          </a:xfrm>
          <a:prstGeom prst="roundRect">
            <a:avLst>
              <a:gd name="adj" fmla="val 3684"/>
            </a:avLst>
          </a:prstGeom>
          <a:solidFill>
            <a:srgbClr val="FFFFFF"/>
          </a:solidFill>
          <a:ln w="12700">
            <a:solidFill>
              <a:srgbClr val="E2E8F0"/>
            </a:solidFill>
            <a:prstDash val="solid"/>
          </a:ln>
        </p:spPr>
        <p:txBody>
          <a:bodyPr/>
          <a:lstStyle/>
          <a:p>
            <a:endParaRPr lang="es-MX"/>
          </a:p>
        </p:txBody>
      </p:sp>
      <p:sp>
        <p:nvSpPr>
          <p:cNvPr id="7" name="Text 5"/>
          <p:cNvSpPr/>
          <p:nvPr/>
        </p:nvSpPr>
        <p:spPr>
          <a:xfrm>
            <a:off x="1280160" y="2743200"/>
            <a:ext cx="9628632" cy="1737360"/>
          </a:xfrm>
          <a:prstGeom prst="rect">
            <a:avLst/>
          </a:prstGeom>
          <a:noFill/>
          <a:ln/>
        </p:spPr>
        <p:txBody>
          <a:bodyPr wrap="square" rtlCol="0" anchor="ctr"/>
          <a:lstStyle/>
          <a:p>
            <a:pPr marL="0" indent="0" algn="ctr">
              <a:lnSpc>
                <a:spcPct val="130000"/>
              </a:lnSpc>
              <a:buNone/>
            </a:pPr>
            <a:r>
              <a:rPr lang="es-MX" sz="1800" dirty="0">
                <a:solidFill>
                  <a:srgbClr val="047857"/>
                </a:solidFill>
                <a:latin typeface="Calibri" pitchFamily="34" charset="0"/>
                <a:ea typeface="Calibri" pitchFamily="34" charset="-122"/>
                <a:cs typeface="Calibri" pitchFamily="34" charset="-120"/>
              </a:rPr>
              <a:t>Un laboratorio de arqueología los contrata: un fragmento de madera hallado en una excavación conserva el 62% de su Carbono-14 original respecto a madera viva. La vida media del C-14 es de 5730 años.</a:t>
            </a:r>
            <a:endParaRPr lang="en-US" sz="1800" dirty="0"/>
          </a:p>
        </p:txBody>
      </p:sp>
      <p:sp>
        <p:nvSpPr>
          <p:cNvPr id="8" name="Text 6"/>
          <p:cNvSpPr/>
          <p:nvPr/>
        </p:nvSpPr>
        <p:spPr>
          <a:xfrm>
            <a:off x="1737360" y="4709160"/>
            <a:ext cx="8714232" cy="822960"/>
          </a:xfrm>
          <a:prstGeom prst="rect">
            <a:avLst/>
          </a:prstGeom>
          <a:noFill/>
          <a:ln/>
        </p:spPr>
        <p:txBody>
          <a:bodyPr wrap="square" rtlCol="0" anchor="t"/>
          <a:lstStyle/>
          <a:p>
            <a:pPr marL="0" indent="0" algn="ctr">
              <a:lnSpc>
                <a:spcPct val="130000"/>
              </a:lnSpc>
              <a:buNone/>
            </a:pPr>
            <a:r>
              <a:rPr lang="en-US" sz="1600" i="1" dirty="0">
                <a:solidFill>
                  <a:srgbClr val="475569"/>
                </a:solidFill>
                <a:latin typeface="Calibri" pitchFamily="34" charset="0"/>
                <a:ea typeface="Calibri" pitchFamily="34" charset="-122"/>
                <a:cs typeface="Calibri" pitchFamily="34" charset="-120"/>
              </a:rPr>
              <a:t>Formulen el modelo, clasifíquenlo, verifiquen que tiene solución única, y determinen la antigüedad del fragmento.</a:t>
            </a:r>
            <a:endParaRPr lang="en-US" sz="1600" dirty="0"/>
          </a:p>
        </p:txBody>
      </p:sp>
      <p:sp>
        <p:nvSpPr>
          <p:cNvPr id="9" name="Text 7"/>
          <p:cNvSpPr/>
          <p:nvPr/>
        </p:nvSpPr>
        <p:spPr>
          <a:xfrm>
            <a:off x="11521440" y="6446520"/>
            <a:ext cx="457200" cy="292608"/>
          </a:xfrm>
          <a:prstGeom prst="rect">
            <a:avLst/>
          </a:prstGeom>
          <a:noFill/>
          <a:ln/>
        </p:spPr>
        <p:txBody>
          <a:bodyPr wrap="square" rtlCol="0" anchor="ctr"/>
          <a:lstStyle/>
          <a:p>
            <a:pPr marL="0" indent="0" algn="r">
              <a:buNone/>
            </a:pPr>
            <a:r>
              <a:rPr lang="en-US" sz="1200" dirty="0">
                <a:solidFill>
                  <a:srgbClr val="475569"/>
                </a:solidFill>
                <a:latin typeface="Calibri" pitchFamily="34" charset="0"/>
                <a:ea typeface="Calibri" pitchFamily="34" charset="-122"/>
                <a:cs typeface="Calibri"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158240" cy="384048"/>
          </a:xfrm>
          <a:prstGeom prst="roundRect">
            <a:avLst>
              <a:gd name="adj" fmla="val 50000"/>
            </a:avLst>
          </a:prstGeom>
          <a:solidFill>
            <a:srgbClr val="D1FAE5"/>
          </a:solidFill>
          <a:ln/>
        </p:spPr>
        <p:txBody>
          <a:bodyPr/>
          <a:lstStyle/>
          <a:p>
            <a:endParaRPr lang="es-MX"/>
          </a:p>
        </p:txBody>
      </p:sp>
      <p:sp>
        <p:nvSpPr>
          <p:cNvPr id="3" name="Text 1"/>
          <p:cNvSpPr/>
          <p:nvPr/>
        </p:nvSpPr>
        <p:spPr>
          <a:xfrm>
            <a:off x="548640" y="365760"/>
            <a:ext cx="1158240" cy="384048"/>
          </a:xfrm>
          <a:prstGeom prst="rect">
            <a:avLst/>
          </a:prstGeom>
          <a:noFill/>
          <a:ln/>
        </p:spPr>
        <p:txBody>
          <a:bodyPr wrap="square" rtlCol="0" anchor="ctr"/>
          <a:lstStyle/>
          <a:p>
            <a:pPr marL="0" indent="0" algn="ctr">
              <a:buNone/>
            </a:pPr>
            <a:r>
              <a:rPr lang="en-US" sz="1300" b="1" dirty="0">
                <a:solidFill>
                  <a:srgbClr val="047857"/>
                </a:solidFill>
                <a:latin typeface="Calibri" pitchFamily="34" charset="0"/>
                <a:ea typeface="Calibri" pitchFamily="34" charset="-122"/>
                <a:cs typeface="Calibri" pitchFamily="34" charset="-120"/>
              </a:rPr>
              <a:t>CASO 1</a:t>
            </a:r>
            <a:endParaRPr lang="en-US" sz="1300" dirty="0"/>
          </a:p>
        </p:txBody>
      </p:sp>
      <p:sp>
        <p:nvSpPr>
          <p:cNvPr id="4" name="Text 2"/>
          <p:cNvSpPr/>
          <p:nvPr/>
        </p:nvSpPr>
        <p:spPr>
          <a:xfrm>
            <a:off x="548640" y="868680"/>
            <a:ext cx="11091672" cy="731520"/>
          </a:xfrm>
          <a:prstGeom prst="rect">
            <a:avLst/>
          </a:prstGeom>
          <a:noFill/>
          <a:ln/>
        </p:spPr>
        <p:txBody>
          <a:bodyPr wrap="square" rtlCol="0" anchor="t"/>
          <a:lstStyle/>
          <a:p>
            <a:pPr marL="0" indent="0" algn="l">
              <a:buNone/>
            </a:pPr>
            <a:r>
              <a:rPr lang="en-US" sz="3200" b="1" dirty="0">
                <a:solidFill>
                  <a:srgbClr val="0F172A"/>
                </a:solidFill>
                <a:latin typeface="Calibri" pitchFamily="34" charset="0"/>
                <a:ea typeface="Calibri" pitchFamily="34" charset="-122"/>
                <a:cs typeface="Calibri" pitchFamily="34" charset="-120"/>
              </a:rPr>
              <a:t>Datación por Carbono-14 — Solución</a:t>
            </a:r>
            <a:endParaRPr lang="en-US" sz="3200" dirty="0"/>
          </a:p>
        </p:txBody>
      </p:sp>
      <mc:AlternateContent xmlns:mc="http://schemas.openxmlformats.org/markup-compatibility/2006">
        <mc:Choice xmlns:a14="http://schemas.microsoft.com/office/drawing/2010/main" Requires="a14">
          <p:sp>
            <p:nvSpPr>
              <p:cNvPr id="5" name="Text 3"/>
              <p:cNvSpPr/>
              <p:nvPr/>
            </p:nvSpPr>
            <p:spPr>
              <a:xfrm>
                <a:off x="548640" y="1508760"/>
                <a:ext cx="11091672" cy="365760"/>
              </a:xfrm>
              <a:prstGeom prst="rect">
                <a:avLst/>
              </a:prstGeom>
              <a:noFill/>
              <a:ln/>
            </p:spPr>
            <p:txBody>
              <a:bodyPr wrap="square" rtlCol="0" anchor="t"/>
              <a:lstStyle/>
              <a:p>
                <a:pPr marL="0" indent="0" algn="l">
                  <a:lnSpc>
                    <a:spcPct val="100000"/>
                  </a:lnSpc>
                  <a:buNone/>
                </a:pPr>
                <a14:m>
                  <m:oMathPara xmlns:m="http://schemas.openxmlformats.org/officeDocument/2006/math">
                    <m:oMath>
                      <m:f>
                        <m:fPr>
                          <m:ctrlPr>
                            <a:rPr>
                              <a:latin typeface="Cambria Math" panose="02040503050406030204" pitchFamily="18" charset="0"/>
                            </a:rPr>
                          </m:ctrlPr>
                        </m:fPr>
                        <m:num>
                          <m:r>
                            <a:rPr>
                              <a:latin typeface="Cambria Math" panose="02040503050406030204" pitchFamily="18" charset="0"/>
                            </a:rPr>
                            <m:t>𝑑𝑁</m:t>
                          </m:r>
                        </m:num>
                        <m:den>
                          <m:r>
                            <a:rPr>
                              <a:latin typeface="Cambria Math" panose="02040503050406030204" pitchFamily="18" charset="0"/>
                            </a:rPr>
                            <m:t>𝑑𝑡</m:t>
                          </m:r>
                        </m:den>
                      </m:f>
                      <m:r>
                        <a:rPr>
                          <a:latin typeface="Cambria Math" panose="02040503050406030204" pitchFamily="18" charset="0"/>
                        </a:rPr>
                        <m:t>=−</m:t>
                      </m:r>
                      <m:r>
                        <a:rPr>
                          <a:latin typeface="Cambria Math" panose="02040503050406030204" pitchFamily="18" charset="0"/>
                        </a:rPr>
                        <m:t>𝜆</m:t>
                      </m:r>
                      <m:r>
                        <a:rPr>
                          <a:latin typeface="Cambria Math" panose="02040503050406030204" pitchFamily="18" charset="0"/>
                        </a:rPr>
                        <m:t>𝑁</m:t>
                      </m:r>
                      <m:r>
                        <a:rPr>
                          <a:latin typeface="Cambria Math" panose="02040503050406030204" pitchFamily="18" charset="0"/>
                        </a:rPr>
                        <m:t>, </m:t>
                      </m:r>
                      <m:r>
                        <a:rPr>
                          <a:latin typeface="Cambria Math" panose="02040503050406030204" pitchFamily="18" charset="0"/>
                        </a:rPr>
                        <m:t>𝑁</m:t>
                      </m:r>
                      <m:r>
                        <a:rPr>
                          <a:latin typeface="Cambria Math" panose="02040503050406030204" pitchFamily="18" charset="0"/>
                        </a:rPr>
                        <m:t>(0)=</m:t>
                      </m:r>
                      <m:sSub>
                        <m:sSubPr>
                          <m:ctrlPr>
                            <a:rPr>
                              <a:latin typeface="Cambria Math" panose="02040503050406030204" pitchFamily="18" charset="0"/>
                            </a:rPr>
                          </m:ctrlPr>
                        </m:sSubPr>
                        <m:e>
                          <m:r>
                            <a:rPr>
                              <a:latin typeface="Cambria Math" panose="02040503050406030204" pitchFamily="18" charset="0"/>
                            </a:rPr>
                            <m:t>𝑁</m:t>
                          </m:r>
                        </m:e>
                        <m:sub>
                          <m:r>
                            <a:rPr>
                              <a:latin typeface="Cambria Math" panose="02040503050406030204" pitchFamily="18" charset="0"/>
                            </a:rPr>
                            <m:t>0</m:t>
                          </m:r>
                        </m:sub>
                      </m:sSub>
                    </m:oMath>
                  </m:oMathPara>
                </a14:m>
                <a:endParaRPr lang="en-US" sz="1700" dirty="0"/>
              </a:p>
            </p:txBody>
          </p:sp>
        </mc:Choice>
        <mc:Fallback>
          <p:sp>
            <p:nvSpPr>
              <p:cNvPr id="5" name="Text 3"/>
              <p:cNvSpPr>
                <a:spLocks noRot="1" noChangeAspect="1" noMove="1" noResize="1" noEditPoints="1" noAdjustHandles="1" noChangeArrowheads="1" noChangeShapeType="1" noTextEdit="1"/>
              </p:cNvSpPr>
              <p:nvPr/>
            </p:nvSpPr>
            <p:spPr>
              <a:xfrm>
                <a:off x="548640" y="1508760"/>
                <a:ext cx="11091672" cy="365760"/>
              </a:xfrm>
              <a:prstGeom prst="rect">
                <a:avLst/>
              </a:prstGeom>
              <a:blipFill>
                <a:blip r:embed="rId2"/>
                <a:stretch>
                  <a:fillRect b="-55000"/>
                </a:stretch>
              </a:blipFill>
              <a:ln/>
            </p:spPr>
            <p:txBody>
              <a:bodyPr/>
              <a:lstStyle/>
              <a:p>
                <a:r>
                  <a:rPr lang="es-MX">
                    <a:noFill/>
                  </a:rPr>
                  <a:t> </a:t>
                </a:r>
              </a:p>
            </p:txBody>
          </p:sp>
        </mc:Fallback>
      </mc:AlternateContent>
      <p:sp>
        <p:nvSpPr>
          <p:cNvPr id="6" name="Shape 4"/>
          <p:cNvSpPr/>
          <p:nvPr/>
        </p:nvSpPr>
        <p:spPr>
          <a:xfrm>
            <a:off x="548640" y="2194560"/>
            <a:ext cx="5349240" cy="3749040"/>
          </a:xfrm>
          <a:prstGeom prst="roundRect">
            <a:avLst>
              <a:gd name="adj" fmla="val 2439"/>
            </a:avLst>
          </a:prstGeom>
          <a:solidFill>
            <a:srgbClr val="F1F5F9"/>
          </a:solidFill>
          <a:ln w="12700">
            <a:solidFill>
              <a:srgbClr val="E2E8F0"/>
            </a:solidFill>
            <a:prstDash val="solid"/>
          </a:ln>
        </p:spPr>
        <p:txBody>
          <a:bodyPr/>
          <a:lstStyle/>
          <a:p>
            <a:endParaRPr lang="es-MX"/>
          </a:p>
        </p:txBody>
      </p:sp>
      <p:sp>
        <p:nvSpPr>
          <p:cNvPr id="7" name="Header"/>
          <p:cNvSpPr/>
          <p:nvPr/>
        </p:nvSpPr>
        <p:spPr>
          <a:xfrm>
            <a:off x="868680" y="2468880"/>
            <a:ext cx="4754880" cy="365760"/>
          </a:xfrm>
          <a:prstGeom prst="rect">
            <a:avLst/>
          </a:prstGeom>
          <a:noFill/>
          <a:ln/>
        </p:spPr>
        <p:txBody>
          <a:bodyPr wrap="square" rtlCol="0" anchor="t"/>
          <a:lstStyle/>
          <a:p>
            <a:pPr marL="0" indent="0">
              <a:buNone/>
            </a:pPr>
            <a:r>
              <a:rPr lang="en-US" sz="1400" b="1" dirty="0">
                <a:solidFill>
                  <a:srgbClr val="0F172A"/>
                </a:solidFill>
                <a:latin typeface="Calibri" pitchFamily="34" charset="0"/>
                <a:ea typeface="Calibri" pitchFamily="34" charset="-122"/>
                <a:cs typeface="Calibri" pitchFamily="34" charset="-120"/>
              </a:rPr>
              <a:t>Formular:</a:t>
            </a:r>
            <a:endParaRPr lang="en-US" sz="1400" dirty="0"/>
          </a:p>
        </p:txBody>
      </p:sp>
      <mc:AlternateContent xmlns:mc="http://schemas.openxmlformats.org/markup-compatibility/2006">
        <mc:Choice xmlns:a14="http://schemas.microsoft.com/office/drawing/2010/main" Requires="a14">
          <p:sp>
            <p:nvSpPr>
              <p:cNvPr id="8" name="Content"/>
              <p:cNvSpPr/>
              <p:nvPr/>
            </p:nvSpPr>
            <p:spPr>
              <a:xfrm>
                <a:off x="868680" y="2880360"/>
                <a:ext cx="4754880" cy="420000"/>
              </a:xfrm>
              <a:prstGeom prst="rect">
                <a:avLst/>
              </a:prstGeom>
              <a:noFill/>
              <a:ln/>
            </p:spPr>
            <p:txBody>
              <a:bodyPr wrap="square" rtlCol="0" anchor="t"/>
              <a:lstStyle/>
              <a:p>
                <a:pPr marL="0" indent="0" algn="l">
                  <a:lnSpc>
                    <a:spcPct val="118000"/>
                  </a:lnSpc>
                  <a:buNone/>
                </a:pPr>
                <a14:m>
                  <m:oMathPara xmlns:m="http://schemas.openxmlformats.org/officeDocument/2006/math">
                    <m:oMath>
                      <m:f>
                        <m:fPr>
                          <m:ctrlPr>
                            <a:rPr>
                              <a:latin typeface="Cambria Math" panose="02040503050406030204" pitchFamily="18" charset="0"/>
                            </a:rPr>
                          </m:ctrlPr>
                        </m:fPr>
                        <m:num>
                          <m:r>
                            <a:rPr>
                              <a:latin typeface="Cambria Math" panose="02040503050406030204" pitchFamily="18" charset="0"/>
                            </a:rPr>
                            <m:t>𝑑𝑁</m:t>
                          </m:r>
                        </m:num>
                        <m:den>
                          <m:r>
                            <a:rPr>
                              <a:latin typeface="Cambria Math" panose="02040503050406030204" pitchFamily="18" charset="0"/>
                            </a:rPr>
                            <m:t>𝑑𝑡</m:t>
                          </m:r>
                        </m:den>
                      </m:f>
                      <m:r>
                        <a:rPr>
                          <a:latin typeface="Cambria Math" panose="02040503050406030204" pitchFamily="18" charset="0"/>
                        </a:rPr>
                        <m:t>=−</m:t>
                      </m:r>
                      <m:r>
                        <a:rPr>
                          <a:latin typeface="Cambria Math" panose="02040503050406030204" pitchFamily="18" charset="0"/>
                        </a:rPr>
                        <m:t>𝜆</m:t>
                      </m:r>
                      <m:r>
                        <a:rPr>
                          <a:latin typeface="Cambria Math" panose="02040503050406030204" pitchFamily="18" charset="0"/>
                        </a:rPr>
                        <m:t>𝑁</m:t>
                      </m:r>
                      <m:r>
                        <a:rPr>
                          <a:latin typeface="Cambria Math" panose="02040503050406030204" pitchFamily="18" charset="0"/>
                        </a:rPr>
                        <m:t>, </m:t>
                      </m:r>
                      <m:r>
                        <a:rPr>
                          <a:latin typeface="Cambria Math" panose="02040503050406030204" pitchFamily="18" charset="0"/>
                        </a:rPr>
                        <m:t>𝑁</m:t>
                      </m:r>
                      <m:r>
                        <a:rPr>
                          <a:latin typeface="Cambria Math" panose="02040503050406030204" pitchFamily="18" charset="0"/>
                        </a:rPr>
                        <m:t>(0)=</m:t>
                      </m:r>
                      <m:sSub>
                        <m:sSubPr>
                          <m:ctrlPr>
                            <a:rPr>
                              <a:latin typeface="Cambria Math" panose="02040503050406030204" pitchFamily="18" charset="0"/>
                            </a:rPr>
                          </m:ctrlPr>
                        </m:sSubPr>
                        <m:e>
                          <m:r>
                            <a:rPr>
                              <a:latin typeface="Cambria Math" panose="02040503050406030204" pitchFamily="18" charset="0"/>
                            </a:rPr>
                            <m:t>𝑁</m:t>
                          </m:r>
                        </m:e>
                        <m:sub>
                          <m:r>
                            <a:rPr>
                              <a:latin typeface="Cambria Math" panose="02040503050406030204" pitchFamily="18" charset="0"/>
                            </a:rPr>
                            <m:t>0</m:t>
                          </m:r>
                        </m:sub>
                      </m:sSub>
                    </m:oMath>
                  </m:oMathPara>
                </a14:m>
                <a:endParaRPr lang="en-US" sz="1500" dirty="0"/>
              </a:p>
            </p:txBody>
          </p:sp>
        </mc:Choice>
        <mc:Fallback>
          <p:sp>
            <p:nvSpPr>
              <p:cNvPr id="8" name="Content"/>
              <p:cNvSpPr>
                <a:spLocks noRot="1" noChangeAspect="1" noMove="1" noResize="1" noEditPoints="1" noAdjustHandles="1" noChangeArrowheads="1" noChangeShapeType="1" noTextEdit="1"/>
              </p:cNvSpPr>
              <p:nvPr/>
            </p:nvSpPr>
            <p:spPr>
              <a:xfrm>
                <a:off x="868680" y="2880360"/>
                <a:ext cx="4754880" cy="420000"/>
              </a:xfrm>
              <a:prstGeom prst="rect">
                <a:avLst/>
              </a:prstGeom>
              <a:blipFill>
                <a:blip r:embed="rId3"/>
                <a:stretch>
                  <a:fillRect b="-58824"/>
                </a:stretch>
              </a:blipFill>
              <a:ln/>
            </p:spPr>
            <p:txBody>
              <a:bodyPr/>
              <a:lstStyle/>
              <a:p>
                <a:r>
                  <a:rPr lang="es-MX">
                    <a:noFill/>
                  </a:rPr>
                  <a:t> </a:t>
                </a:r>
              </a:p>
            </p:txBody>
          </p:sp>
        </mc:Fallback>
      </mc:AlternateContent>
      <p:sp>
        <p:nvSpPr>
          <p:cNvPr id="9" name="Header"/>
          <p:cNvSpPr/>
          <p:nvPr/>
        </p:nvSpPr>
        <p:spPr>
          <a:xfrm>
            <a:off x="868680" y="3391800"/>
            <a:ext cx="4754880" cy="365760"/>
          </a:xfrm>
          <a:prstGeom prst="rect">
            <a:avLst/>
          </a:prstGeom>
          <a:noFill/>
          <a:ln/>
        </p:spPr>
        <p:txBody>
          <a:bodyPr wrap="square" rtlCol="0" anchor="t"/>
          <a:lstStyle/>
          <a:p>
            <a:pPr marL="0" indent="0">
              <a:buNone/>
            </a:pPr>
            <a:r>
              <a:rPr lang="en-US" sz="1400" b="1" dirty="0">
                <a:solidFill>
                  <a:srgbClr val="0F172A"/>
                </a:solidFill>
                <a:latin typeface="Calibri" pitchFamily="34" charset="0"/>
                <a:ea typeface="Calibri" pitchFamily="34" charset="-122"/>
                <a:cs typeface="Calibri" pitchFamily="34" charset="-120"/>
              </a:rPr>
              <a:t>Clasificar:</a:t>
            </a:r>
            <a:endParaRPr lang="en-US" sz="1400" dirty="0"/>
          </a:p>
        </p:txBody>
      </p:sp>
      <p:sp>
        <p:nvSpPr>
          <p:cNvPr id="10" name="Content"/>
          <p:cNvSpPr/>
          <p:nvPr/>
        </p:nvSpPr>
        <p:spPr>
          <a:xfrm>
            <a:off x="868680" y="3803280"/>
            <a:ext cx="4754880" cy="420000"/>
          </a:xfrm>
          <a:prstGeom prst="rect">
            <a:avLst/>
          </a:prstGeom>
          <a:noFill/>
          <a:ln/>
        </p:spPr>
        <p:txBody>
          <a:bodyPr wrap="square" rtlCol="0" anchor="t"/>
          <a:lstStyle/>
          <a:p>
            <a:pPr marL="0" indent="0" algn="l">
              <a:lnSpc>
                <a:spcPct val="118000"/>
              </a:lnSpc>
              <a:buNone/>
            </a:pPr>
            <a:r>
              <a:rPr lang="en-US" sz="1400" dirty="0">
                <a:solidFill>
                  <a:srgbClr val="334155"/>
                </a:solidFill>
                <a:latin typeface="Calibri" pitchFamily="34" charset="0"/>
                <a:ea typeface="Calibri" pitchFamily="34" charset="-122"/>
                <a:cs typeface="Calibri" pitchFamily="34" charset="-120"/>
              </a:rPr>
              <a:t>EDO ordinaria, orden 1, lineal (y también separable) ✓</a:t>
            </a:r>
            <a:endParaRPr lang="en-US" sz="1400" dirty="0"/>
          </a:p>
        </p:txBody>
      </p:sp>
      <p:sp>
        <p:nvSpPr>
          <p:cNvPr id="11" name="Header"/>
          <p:cNvSpPr/>
          <p:nvPr/>
        </p:nvSpPr>
        <p:spPr>
          <a:xfrm>
            <a:off x="868680" y="4314720"/>
            <a:ext cx="4754880" cy="365760"/>
          </a:xfrm>
          <a:prstGeom prst="rect">
            <a:avLst/>
          </a:prstGeom>
          <a:noFill/>
          <a:ln/>
        </p:spPr>
        <p:txBody>
          <a:bodyPr wrap="square" rtlCol="0" anchor="t"/>
          <a:lstStyle/>
          <a:p>
            <a:pPr marL="0" indent="0">
              <a:buNone/>
            </a:pPr>
            <a:r>
              <a:rPr lang="en-US" sz="1400" b="1" dirty="0">
                <a:solidFill>
                  <a:srgbClr val="0F172A"/>
                </a:solidFill>
                <a:latin typeface="Calibri" pitchFamily="34" charset="0"/>
                <a:ea typeface="Calibri" pitchFamily="34" charset="-122"/>
                <a:cs typeface="Calibri" pitchFamily="34" charset="-120"/>
              </a:rPr>
              <a:t>Verificar:</a:t>
            </a:r>
            <a:endParaRPr lang="en-US" sz="1400" dirty="0"/>
          </a:p>
        </p:txBody>
      </p:sp>
      <p:sp>
        <p:nvSpPr>
          <p:cNvPr id="12" name="Content"/>
          <p:cNvSpPr/>
          <p:nvPr/>
        </p:nvSpPr>
        <p:spPr>
          <a:xfrm>
            <a:off x="868680" y="4726200"/>
            <a:ext cx="4754880" cy="640080"/>
          </a:xfrm>
          <a:prstGeom prst="rect">
            <a:avLst/>
          </a:prstGeom>
          <a:noFill/>
          <a:ln/>
        </p:spPr>
        <p:txBody>
          <a:bodyPr wrap="square" rtlCol="0" anchor="t"/>
          <a:lstStyle/>
          <a:p>
            <a:pPr marL="0" indent="0" algn="l">
              <a:lnSpc>
                <a:spcPct val="118000"/>
              </a:lnSpc>
              <a:buNone/>
            </a:pPr>
            <a:r>
              <a:rPr lang="en-US" sz="1300" dirty="0">
                <a:solidFill>
                  <a:srgbClr val="334155"/>
                </a:solidFill>
                <a:latin typeface="Calibri" pitchFamily="34" charset="0"/>
                <a:ea typeface="Calibri" pitchFamily="34" charset="-122"/>
                <a:cs typeface="Calibri" pitchFamily="34" charset="-120"/>
              </a:rPr>
              <a:t>f=-λN y ∂f/∂N=-λ son continuas en todo ℝ ⇒ solución única (Teorema de la Sesión 2).</a:t>
            </a:r>
            <a:endParaRPr lang="en-US" sz="1300" dirty="0"/>
          </a:p>
        </p:txBody>
      </p:sp>
      <p:sp>
        <p:nvSpPr>
          <p:cNvPr id="13" name="Shape 12"/>
          <p:cNvSpPr/>
          <p:nvPr/>
        </p:nvSpPr>
        <p:spPr>
          <a:xfrm>
            <a:off x="6291072" y="2194560"/>
            <a:ext cx="5349240" cy="3749040"/>
          </a:xfrm>
          <a:prstGeom prst="roundRect">
            <a:avLst>
              <a:gd name="adj" fmla="val 2439"/>
            </a:avLst>
          </a:prstGeom>
          <a:solidFill>
            <a:srgbClr val="D1FAE5"/>
          </a:solidFill>
          <a:ln w="12700">
            <a:solidFill>
              <a:srgbClr val="A7F3D0"/>
            </a:solidFill>
            <a:prstDash val="solid"/>
          </a:ln>
        </p:spPr>
        <p:txBody>
          <a:bodyPr/>
          <a:lstStyle/>
          <a:p>
            <a:endParaRPr lang="es-MX"/>
          </a:p>
        </p:txBody>
      </p:sp>
      <p:sp>
        <p:nvSpPr>
          <p:cNvPr id="14" name="ResolverHeader"/>
          <p:cNvSpPr/>
          <p:nvPr/>
        </p:nvSpPr>
        <p:spPr>
          <a:xfrm>
            <a:off x="6611112" y="2468880"/>
            <a:ext cx="4709160" cy="365760"/>
          </a:xfrm>
          <a:prstGeom prst="rect">
            <a:avLst/>
          </a:prstGeom>
          <a:noFill/>
          <a:ln/>
        </p:spPr>
        <p:txBody>
          <a:bodyPr wrap="square" rtlCol="0" anchor="t"/>
          <a:lstStyle/>
          <a:p>
            <a:pPr marL="0" indent="0">
              <a:buNone/>
            </a:pPr>
            <a:r>
              <a:rPr lang="en-US" sz="1500" b="1" dirty="0">
                <a:solidFill>
                  <a:srgbClr val="065F46"/>
                </a:solidFill>
                <a:latin typeface="Calibri" pitchFamily="34" charset="0"/>
                <a:ea typeface="Calibri" pitchFamily="34" charset="-122"/>
                <a:cs typeface="Calibri" pitchFamily="34" charset="-120"/>
              </a:rPr>
              <a:t>Resolver:</a:t>
            </a:r>
            <a:endParaRPr lang="en-US" sz="1500" dirty="0"/>
          </a:p>
        </p:txBody>
      </p:sp>
      <mc:AlternateContent xmlns:mc="http://schemas.openxmlformats.org/markup-compatibility/2006">
        <mc:Choice xmlns:a14="http://schemas.microsoft.com/office/drawing/2010/main" Requires="a14">
          <p:sp>
            <p:nvSpPr>
              <p:cNvPr id="15" name="ResolverBody"/>
              <p:cNvSpPr/>
              <p:nvPr/>
            </p:nvSpPr>
            <p:spPr>
              <a:xfrm>
                <a:off x="6611112" y="2880360"/>
                <a:ext cx="4709160" cy="1417320"/>
              </a:xfrm>
              <a:prstGeom prst="rect">
                <a:avLst/>
              </a:prstGeom>
              <a:noFill/>
              <a:ln/>
            </p:spPr>
            <p:txBody>
              <a:bodyPr wrap="square" rtlCol="0" anchor="t"/>
              <a:lstStyle/>
              <a:p>
                <a:pPr marL="0" indent="0" algn="l">
                  <a:lnSpc>
                    <a:spcPct val="122000"/>
                  </a:lnSpc>
                  <a:buNone/>
                </a:pPr>
                <a:r>
                  <a:rPr lang="en-US" sz="1250" dirty="0">
                    <a:solidFill>
                      <a:srgbClr val="065F46"/>
                    </a:solidFill>
                    <a:latin typeface="Calibri" pitchFamily="34" charset="0"/>
                    <a:ea typeface="Calibri" pitchFamily="34" charset="-122"/>
                    <a:cs typeface="Calibri" pitchFamily="34" charset="-120"/>
                  </a:rPr>
                  <a:t>Separar </a:t>
                </a:r>
                <a14:m>
                  <m:oMath xmlns:m="http://schemas.openxmlformats.org/officeDocument/2006/math">
                    <m:f>
                      <m:fPr>
                        <m:ctrlPr>
                          <a:rPr>
                            <a:latin typeface="Cambria Math" panose="02040503050406030204" pitchFamily="18" charset="0"/>
                          </a:rPr>
                        </m:ctrlPr>
                      </m:fPr>
                      <m:num>
                        <m:r>
                          <a:rPr>
                            <a:latin typeface="Cambria Math" panose="02040503050406030204" pitchFamily="18" charset="0"/>
                          </a:rPr>
                          <m:t>𝑑𝑁</m:t>
                        </m:r>
                      </m:num>
                      <m:den>
                        <m:r>
                          <a:rPr>
                            <a:latin typeface="Cambria Math" panose="02040503050406030204" pitchFamily="18" charset="0"/>
                          </a:rPr>
                          <m:t>𝑁</m:t>
                        </m:r>
                      </m:den>
                    </m:f>
                    <m:r>
                      <a:rPr>
                        <a:latin typeface="Cambria Math" panose="02040503050406030204" pitchFamily="18" charset="0"/>
                      </a:rPr>
                      <m:t>=−</m:t>
                    </m:r>
                    <m:r>
                      <a:rPr>
                        <a:latin typeface="Cambria Math" panose="02040503050406030204" pitchFamily="18" charset="0"/>
                      </a:rPr>
                      <m:t>𝜆</m:t>
                    </m:r>
                    <m:r>
                      <a:rPr>
                        <a:latin typeface="Cambria Math" panose="02040503050406030204" pitchFamily="18" charset="0"/>
                      </a:rPr>
                      <m:t>𝑑𝑡</m:t>
                    </m:r>
                  </m:oMath>
                </a14:m>
                <a:endParaRPr lang="en-US" sz="1250" dirty="0"/>
              </a:p>
              <a:p>
                <a:pPr marL="0" indent="0" algn="l">
                  <a:lnSpc>
                    <a:spcPct val="122000"/>
                  </a:lnSpc>
                  <a:buNone/>
                </a:pPr>
                <a:r>
                  <a:rPr lang="en-US" sz="1250" dirty="0">
                    <a:solidFill>
                      <a:srgbClr val="065F46"/>
                    </a:solidFill>
                    <a:latin typeface="Calibri" pitchFamily="34" charset="0"/>
                    <a:ea typeface="Calibri" pitchFamily="34" charset="-122"/>
                    <a:cs typeface="Calibri" pitchFamily="34" charset="-120"/>
                  </a:rPr>
                  <a:t>Se obtiene: </a:t>
                </a:r>
                <a14:m>
                  <m:oMath xmlns:m="http://schemas.openxmlformats.org/officeDocument/2006/math">
                    <m:r>
                      <a:rPr>
                        <a:latin typeface="Cambria Math" panose="02040503050406030204" pitchFamily="18" charset="0"/>
                      </a:rPr>
                      <m:t>𝑁</m:t>
                    </m:r>
                    <m:r>
                      <a:rPr>
                        <a:latin typeface="Cambria Math" panose="02040503050406030204" pitchFamily="18" charset="0"/>
                      </a:rPr>
                      <m:t>(</m:t>
                    </m:r>
                    <m:r>
                      <a:rPr>
                        <a:latin typeface="Cambria Math" panose="02040503050406030204" pitchFamily="18" charset="0"/>
                      </a:rPr>
                      <m:t>𝑡</m:t>
                    </m:r>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𝑁</m:t>
                        </m:r>
                      </m:e>
                      <m:sub>
                        <m:r>
                          <a:rPr>
                            <a:latin typeface="Cambria Math" panose="02040503050406030204" pitchFamily="18" charset="0"/>
                          </a:rPr>
                          <m:t>0</m:t>
                        </m:r>
                      </m:sub>
                    </m:sSub>
                    <m:sSup>
                      <m:sSupPr>
                        <m:ctrlPr>
                          <a:rPr>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m:t>
                        </m:r>
                        <m:r>
                          <a:rPr>
                            <a:latin typeface="Cambria Math" panose="02040503050406030204" pitchFamily="18" charset="0"/>
                          </a:rPr>
                          <m:t>𝜆</m:t>
                        </m:r>
                        <m:r>
                          <a:rPr>
                            <a:latin typeface="Cambria Math" panose="02040503050406030204" pitchFamily="18" charset="0"/>
                          </a:rPr>
                          <m:t>𝑡</m:t>
                        </m:r>
                      </m:sup>
                    </m:sSup>
                  </m:oMath>
                </a14:m>
                <a:endParaRPr lang="en-US" sz="1250" dirty="0"/>
              </a:p>
              <a:p>
                <a:pPr marL="0" indent="0" algn="l">
                  <a:lnSpc>
                    <a:spcPct val="122000"/>
                  </a:lnSpc>
                  <a:buNone/>
                </a:pPr>
                <a:r>
                  <a:rPr lang="en-US" sz="1250" dirty="0">
                    <a:solidFill>
                      <a:srgbClr val="065F46"/>
                    </a:solidFill>
                    <a:latin typeface="Calibri" pitchFamily="34" charset="0"/>
                    <a:ea typeface="Calibri" pitchFamily="34" charset="-122"/>
                    <a:cs typeface="Calibri" pitchFamily="34" charset="-120"/>
                  </a:rPr>
                  <a:t>Vida media: λ = ln(2)/5730 ≈ 1.2097×10⁻⁴ año⁻¹.</a:t>
                </a:r>
                <a:endParaRPr lang="en-US" sz="1250" dirty="0"/>
              </a:p>
              <a:p>
                <a:pPr marL="0" indent="0" algn="l">
                  <a:lnSpc>
                    <a:spcPct val="122000"/>
                  </a:lnSpc>
                  <a:buNone/>
                </a:pPr>
                <a:r>
                  <a:rPr lang="en-US" sz="1250" dirty="0">
                    <a:solidFill>
                      <a:srgbClr val="065F46"/>
                    </a:solidFill>
                    <a:latin typeface="Calibri" pitchFamily="34" charset="0"/>
                    <a:ea typeface="Calibri" pitchFamily="34" charset="-122"/>
                    <a:cs typeface="Calibri" pitchFamily="34" charset="-120"/>
                  </a:rPr>
                  <a:t>Con N(t)=0.62N₀: t = ln(1/0.62)/λ.</a:t>
                </a:r>
                <a:endParaRPr lang="en-US" sz="1250" dirty="0"/>
              </a:p>
            </p:txBody>
          </p:sp>
        </mc:Choice>
        <mc:Fallback>
          <p:sp>
            <p:nvSpPr>
              <p:cNvPr id="15" name="ResolverBody"/>
              <p:cNvSpPr>
                <a:spLocks noRot="1" noChangeAspect="1" noMove="1" noResize="1" noEditPoints="1" noAdjustHandles="1" noChangeArrowheads="1" noChangeShapeType="1" noTextEdit="1"/>
              </p:cNvSpPr>
              <p:nvPr/>
            </p:nvSpPr>
            <p:spPr>
              <a:xfrm>
                <a:off x="6611112" y="2880360"/>
                <a:ext cx="4709160" cy="1417320"/>
              </a:xfrm>
              <a:prstGeom prst="rect">
                <a:avLst/>
              </a:prstGeom>
              <a:blipFill>
                <a:blip r:embed="rId4"/>
                <a:stretch>
                  <a:fillRect l="-130" b="-431"/>
                </a:stretch>
              </a:blipFill>
              <a:ln/>
            </p:spPr>
            <p:txBody>
              <a:bodyPr/>
              <a:lstStyle/>
              <a:p>
                <a:r>
                  <a:rPr lang="es-MX">
                    <a:noFill/>
                  </a:rPr>
                  <a:t> </a:t>
                </a:r>
              </a:p>
            </p:txBody>
          </p:sp>
        </mc:Fallback>
      </mc:AlternateContent>
      <p:sp>
        <p:nvSpPr>
          <p:cNvPr id="16" name="AnswerBox"/>
          <p:cNvSpPr/>
          <p:nvPr/>
        </p:nvSpPr>
        <p:spPr>
          <a:xfrm>
            <a:off x="6611112" y="4389120"/>
            <a:ext cx="4709160" cy="914400"/>
          </a:xfrm>
          <a:prstGeom prst="roundRect">
            <a:avLst>
              <a:gd name="adj" fmla="val 7000"/>
            </a:avLst>
          </a:prstGeom>
          <a:solidFill>
            <a:srgbClr val="FFFFFF"/>
          </a:solidFill>
          <a:ln w="12700">
            <a:solidFill>
              <a:srgbClr val="A7F3D0"/>
            </a:solidFill>
            <a:prstDash val="solid"/>
          </a:ln>
        </p:spPr>
        <p:txBody>
          <a:bodyPr/>
          <a:lstStyle/>
          <a:p>
            <a:endParaRPr lang="es-MX"/>
          </a:p>
        </p:txBody>
      </p:sp>
      <p:sp>
        <p:nvSpPr>
          <p:cNvPr id="17" name="AnswerText"/>
          <p:cNvSpPr/>
          <p:nvPr/>
        </p:nvSpPr>
        <p:spPr>
          <a:xfrm>
            <a:off x="6611112" y="4389120"/>
            <a:ext cx="4709160" cy="914400"/>
          </a:xfrm>
          <a:prstGeom prst="rect">
            <a:avLst/>
          </a:prstGeom>
          <a:noFill/>
          <a:ln/>
        </p:spPr>
        <p:txBody>
          <a:bodyPr wrap="square" rtlCol="0" anchor="ctr"/>
          <a:lstStyle/>
          <a:p>
            <a:pPr marL="0" indent="0" algn="ctr">
              <a:lnSpc>
                <a:spcPct val="110000"/>
              </a:lnSpc>
              <a:buNone/>
            </a:pPr>
            <a:r>
              <a:rPr lang="en-US" sz="2600" dirty="0">
                <a:solidFill>
                  <a:srgbClr val="047857"/>
                </a:solidFill>
                <a:latin typeface="Calibri" pitchFamily="34" charset="0"/>
                <a:ea typeface="Calibri" pitchFamily="34" charset="-122"/>
                <a:cs typeface="Calibri" pitchFamily="34" charset="-120"/>
              </a:rPr>
              <a:t>t ≈ 3952 años</a:t>
            </a:r>
            <a:endParaRPr lang="en-US" sz="2600" dirty="0"/>
          </a:p>
        </p:txBody>
      </p:sp>
      <p:sp>
        <p:nvSpPr>
          <p:cNvPr id="18" name="Interpret"/>
          <p:cNvSpPr/>
          <p:nvPr/>
        </p:nvSpPr>
        <p:spPr>
          <a:xfrm>
            <a:off x="6611112" y="5349240"/>
            <a:ext cx="4709160" cy="548640"/>
          </a:xfrm>
          <a:prstGeom prst="rect">
            <a:avLst/>
          </a:prstGeom>
          <a:noFill/>
          <a:ln/>
        </p:spPr>
        <p:txBody>
          <a:bodyPr wrap="square" rtlCol="0" anchor="t"/>
          <a:lstStyle/>
          <a:p>
            <a:pPr marL="0" indent="0" algn="l">
              <a:lnSpc>
                <a:spcPct val="125000"/>
              </a:lnSpc>
              <a:buNone/>
            </a:pPr>
            <a:r>
              <a:rPr lang="en-US" sz="1250" dirty="0">
                <a:solidFill>
                  <a:srgbClr val="065F46"/>
                </a:solidFill>
                <a:latin typeface="Calibri" pitchFamily="34" charset="0"/>
                <a:ea typeface="Calibri" pitchFamily="34" charset="-122"/>
                <a:cs typeface="Calibri" pitchFamily="34" charset="-120"/>
              </a:rPr>
              <a:t>Interpretar: el fragmento tiene casi 4000 años de antigüedad — consistente con un hallazgo del Neolítico tardío.</a:t>
            </a:r>
            <a:endParaRPr lang="en-US" sz="1250" dirty="0"/>
          </a:p>
        </p:txBody>
      </p:sp>
      <p:sp>
        <p:nvSpPr>
          <p:cNvPr id="19" name="Text F"/>
          <p:cNvSpPr/>
          <p:nvPr/>
        </p:nvSpPr>
        <p:spPr>
          <a:xfrm>
            <a:off x="11521440" y="6446520"/>
            <a:ext cx="457200" cy="292608"/>
          </a:xfrm>
          <a:prstGeom prst="rect">
            <a:avLst/>
          </a:prstGeom>
          <a:noFill/>
          <a:ln/>
        </p:spPr>
        <p:txBody>
          <a:bodyPr wrap="square" rtlCol="0" anchor="ctr"/>
          <a:lstStyle/>
          <a:p>
            <a:pPr marL="0" indent="0" algn="r">
              <a:buNone/>
            </a:pPr>
            <a:r>
              <a:rPr lang="en-US" sz="1200" dirty="0">
                <a:solidFill>
                  <a:srgbClr val="475569"/>
                </a:solidFill>
                <a:latin typeface="Calibri" pitchFamily="34" charset="0"/>
                <a:ea typeface="Calibri" pitchFamily="34" charset="-122"/>
                <a:cs typeface="Calibri"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869680" y="-2834640"/>
            <a:ext cx="4937760" cy="4937760"/>
          </a:xfrm>
          <a:prstGeom prst="ellipse">
            <a:avLst/>
          </a:prstGeom>
          <a:solidFill>
            <a:srgbClr val="D1FAE5"/>
          </a:solidFill>
          <a:ln/>
        </p:spPr>
        <p:txBody>
          <a:bodyPr/>
          <a:lstStyle/>
          <a:p>
            <a:endParaRPr lang="es-MX"/>
          </a:p>
        </p:txBody>
      </p:sp>
      <p:sp>
        <p:nvSpPr>
          <p:cNvPr id="3" name="Shape 1"/>
          <p:cNvSpPr/>
          <p:nvPr/>
        </p:nvSpPr>
        <p:spPr>
          <a:xfrm>
            <a:off x="548640" y="365760"/>
            <a:ext cx="1158240" cy="384048"/>
          </a:xfrm>
          <a:prstGeom prst="roundRect">
            <a:avLst>
              <a:gd name="adj" fmla="val 50000"/>
            </a:avLst>
          </a:prstGeom>
          <a:solidFill>
            <a:srgbClr val="D1FAE5"/>
          </a:solidFill>
          <a:ln/>
        </p:spPr>
        <p:txBody>
          <a:bodyPr/>
          <a:lstStyle/>
          <a:p>
            <a:endParaRPr lang="es-MX"/>
          </a:p>
        </p:txBody>
      </p:sp>
      <p:sp>
        <p:nvSpPr>
          <p:cNvPr id="4" name="Text 2"/>
          <p:cNvSpPr/>
          <p:nvPr/>
        </p:nvSpPr>
        <p:spPr>
          <a:xfrm>
            <a:off x="548640" y="365760"/>
            <a:ext cx="1158240" cy="384048"/>
          </a:xfrm>
          <a:prstGeom prst="rect">
            <a:avLst/>
          </a:prstGeom>
          <a:noFill/>
          <a:ln/>
        </p:spPr>
        <p:txBody>
          <a:bodyPr wrap="square" rtlCol="0" anchor="ctr"/>
          <a:lstStyle/>
          <a:p>
            <a:pPr marL="0" indent="0" algn="ctr">
              <a:buNone/>
            </a:pPr>
            <a:r>
              <a:rPr lang="en-US" sz="1300" b="1" kern="0" spc="100" dirty="0">
                <a:solidFill>
                  <a:srgbClr val="047857"/>
                </a:solidFill>
                <a:latin typeface="Calibri" pitchFamily="34" charset="0"/>
                <a:ea typeface="Calibri" pitchFamily="34" charset="-122"/>
                <a:cs typeface="Calibri" pitchFamily="34" charset="-120"/>
              </a:rPr>
              <a:t>CASO 2</a:t>
            </a:r>
            <a:endParaRPr lang="en-US" sz="1300" dirty="0"/>
          </a:p>
        </p:txBody>
      </p:sp>
      <p:sp>
        <p:nvSpPr>
          <p:cNvPr id="5" name="Text 3"/>
          <p:cNvSpPr/>
          <p:nvPr/>
        </p:nvSpPr>
        <p:spPr>
          <a:xfrm>
            <a:off x="548640" y="1874520"/>
            <a:ext cx="11091672" cy="640080"/>
          </a:xfrm>
          <a:prstGeom prst="rect">
            <a:avLst/>
          </a:prstGeom>
          <a:noFill/>
          <a:ln/>
        </p:spPr>
        <p:txBody>
          <a:bodyPr wrap="square" rtlCol="0" anchor="t"/>
          <a:lstStyle/>
          <a:p>
            <a:pPr marL="0" indent="0" algn="ctr">
              <a:buNone/>
            </a:pPr>
            <a:r>
              <a:rPr lang="en-US" sz="2600" dirty="0">
                <a:solidFill>
                  <a:srgbClr val="000000"/>
                </a:solidFill>
                <a:latin typeface="Calibri" pitchFamily="34" charset="0"/>
                <a:ea typeface="Calibri" pitchFamily="34" charset="-122"/>
                <a:cs typeface="Calibri" pitchFamily="34" charset="-120"/>
              </a:rPr>
              <a:t>🔎  </a:t>
            </a:r>
            <a:r>
              <a:rPr lang="en-US" sz="2600" b="1" dirty="0">
                <a:solidFill>
                  <a:srgbClr val="0F172A"/>
                </a:solidFill>
                <a:latin typeface="Calibri" pitchFamily="34" charset="0"/>
                <a:ea typeface="Calibri" pitchFamily="34" charset="-122"/>
                <a:cs typeface="Calibri" pitchFamily="34" charset="-120"/>
              </a:rPr>
              <a:t>Caso de la Firma: La Hora de la Muerte</a:t>
            </a:r>
            <a:endParaRPr lang="en-US" sz="2600" dirty="0"/>
          </a:p>
        </p:txBody>
      </p:sp>
      <p:sp>
        <p:nvSpPr>
          <p:cNvPr id="6" name="Shape 4"/>
          <p:cNvSpPr/>
          <p:nvPr/>
        </p:nvSpPr>
        <p:spPr>
          <a:xfrm>
            <a:off x="1280160" y="2743200"/>
            <a:ext cx="9628632" cy="1737360"/>
          </a:xfrm>
          <a:prstGeom prst="roundRect">
            <a:avLst>
              <a:gd name="adj" fmla="val 3684"/>
            </a:avLst>
          </a:prstGeom>
          <a:solidFill>
            <a:srgbClr val="FFFFFF"/>
          </a:solidFill>
          <a:ln w="12700">
            <a:solidFill>
              <a:srgbClr val="E2E8F0"/>
            </a:solidFill>
            <a:prstDash val="solid"/>
          </a:ln>
        </p:spPr>
        <p:txBody>
          <a:bodyPr/>
          <a:lstStyle/>
          <a:p>
            <a:endParaRPr lang="es-MX"/>
          </a:p>
        </p:txBody>
      </p:sp>
      <p:sp>
        <p:nvSpPr>
          <p:cNvPr id="7" name="Text 5"/>
          <p:cNvSpPr/>
          <p:nvPr/>
        </p:nvSpPr>
        <p:spPr>
          <a:xfrm>
            <a:off x="1280160" y="2743200"/>
            <a:ext cx="9628632" cy="1737360"/>
          </a:xfrm>
          <a:prstGeom prst="rect">
            <a:avLst/>
          </a:prstGeom>
          <a:noFill/>
          <a:ln/>
        </p:spPr>
        <p:txBody>
          <a:bodyPr wrap="square" rtlCol="0" anchor="ctr"/>
          <a:lstStyle/>
          <a:p>
            <a:pPr marL="0" indent="0" algn="ctr">
              <a:lnSpc>
                <a:spcPct val="130000"/>
              </a:lnSpc>
              <a:buNone/>
            </a:pPr>
            <a:r>
              <a:rPr lang="es-MX" sz="1800" dirty="0">
                <a:solidFill>
                  <a:srgbClr val="047857"/>
                </a:solidFill>
                <a:latin typeface="Calibri" pitchFamily="34" charset="0"/>
                <a:ea typeface="Calibri" pitchFamily="34" charset="-122"/>
                <a:cs typeface="Calibri" pitchFamily="34" charset="-120"/>
              </a:rPr>
              <a:t>Un forense los contrata a las 3:00 pm, cuando encuentra un cuerpo a 34.8°C en una habitación con temperatura ambiente constante de 20°C. Una hora después, el cuerpo está a 33.4°C.</a:t>
            </a:r>
            <a:endParaRPr lang="en-US" sz="1800" dirty="0"/>
          </a:p>
        </p:txBody>
      </p:sp>
      <p:sp>
        <p:nvSpPr>
          <p:cNvPr id="8" name="Text 6"/>
          <p:cNvSpPr/>
          <p:nvPr/>
        </p:nvSpPr>
        <p:spPr>
          <a:xfrm>
            <a:off x="1737360" y="4709160"/>
            <a:ext cx="8714232" cy="822960"/>
          </a:xfrm>
          <a:prstGeom prst="rect">
            <a:avLst/>
          </a:prstGeom>
          <a:noFill/>
          <a:ln/>
        </p:spPr>
        <p:txBody>
          <a:bodyPr wrap="square" rtlCol="0" anchor="t"/>
          <a:lstStyle/>
          <a:p>
            <a:pPr marL="0" indent="0" algn="ctr">
              <a:lnSpc>
                <a:spcPct val="130000"/>
              </a:lnSpc>
              <a:buNone/>
            </a:pPr>
            <a:r>
              <a:rPr lang="en-US" sz="1600" i="1" dirty="0">
                <a:solidFill>
                  <a:srgbClr val="475569"/>
                </a:solidFill>
                <a:latin typeface="Calibri" pitchFamily="34" charset="0"/>
                <a:ea typeface="Calibri" pitchFamily="34" charset="-122"/>
                <a:cs typeface="Calibri" pitchFamily="34" charset="-120"/>
              </a:rPr>
              <a:t>Sabiendo que la temperatura corporal normal es 37°C, formulen el modelo y determinen la hora aproximada de la muerte.</a:t>
            </a:r>
            <a:endParaRPr lang="en-US" sz="1600" dirty="0"/>
          </a:p>
        </p:txBody>
      </p:sp>
      <p:sp>
        <p:nvSpPr>
          <p:cNvPr id="9" name="Text 7"/>
          <p:cNvSpPr/>
          <p:nvPr/>
        </p:nvSpPr>
        <p:spPr>
          <a:xfrm>
            <a:off x="11521440" y="6446520"/>
            <a:ext cx="457200" cy="292608"/>
          </a:xfrm>
          <a:prstGeom prst="rect">
            <a:avLst/>
          </a:prstGeom>
          <a:noFill/>
          <a:ln/>
        </p:spPr>
        <p:txBody>
          <a:bodyPr wrap="square" rtlCol="0" anchor="ctr"/>
          <a:lstStyle/>
          <a:p>
            <a:pPr marL="0" indent="0" algn="r">
              <a:buNone/>
            </a:pPr>
            <a:r>
              <a:rPr lang="en-US" sz="1200" dirty="0">
                <a:solidFill>
                  <a:srgbClr val="475569"/>
                </a:solidFill>
                <a:latin typeface="Calibri" pitchFamily="34" charset="0"/>
                <a:ea typeface="Calibri" pitchFamily="34" charset="-122"/>
                <a:cs typeface="Calibri"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158240" cy="384048"/>
          </a:xfrm>
          <a:prstGeom prst="roundRect">
            <a:avLst>
              <a:gd name="adj" fmla="val 50000"/>
            </a:avLst>
          </a:prstGeom>
          <a:solidFill>
            <a:srgbClr val="D1FAE5"/>
          </a:solidFill>
          <a:ln/>
        </p:spPr>
        <p:txBody>
          <a:bodyPr/>
          <a:lstStyle/>
          <a:p>
            <a:endParaRPr lang="es-MX"/>
          </a:p>
        </p:txBody>
      </p:sp>
      <p:sp>
        <p:nvSpPr>
          <p:cNvPr id="3" name="Text 1"/>
          <p:cNvSpPr/>
          <p:nvPr/>
        </p:nvSpPr>
        <p:spPr>
          <a:xfrm>
            <a:off x="548640" y="365760"/>
            <a:ext cx="1158240" cy="384048"/>
          </a:xfrm>
          <a:prstGeom prst="rect">
            <a:avLst/>
          </a:prstGeom>
          <a:noFill/>
          <a:ln/>
        </p:spPr>
        <p:txBody>
          <a:bodyPr wrap="square" rtlCol="0" anchor="ctr"/>
          <a:lstStyle/>
          <a:p>
            <a:pPr marL="0" indent="0" algn="ctr">
              <a:buNone/>
            </a:pPr>
            <a:r>
              <a:rPr lang="en-US" sz="1300" b="1" dirty="0">
                <a:solidFill>
                  <a:srgbClr val="047857"/>
                </a:solidFill>
                <a:latin typeface="Calibri" pitchFamily="34" charset="0"/>
                <a:ea typeface="Calibri" pitchFamily="34" charset="-122"/>
                <a:cs typeface="Calibri" pitchFamily="34" charset="-120"/>
              </a:rPr>
              <a:t>CASO 2</a:t>
            </a:r>
            <a:endParaRPr lang="en-US" sz="1300" dirty="0"/>
          </a:p>
        </p:txBody>
      </p:sp>
      <p:sp>
        <p:nvSpPr>
          <p:cNvPr id="4" name="Text 2"/>
          <p:cNvSpPr/>
          <p:nvPr/>
        </p:nvSpPr>
        <p:spPr>
          <a:xfrm>
            <a:off x="548640" y="868680"/>
            <a:ext cx="11091672" cy="731520"/>
          </a:xfrm>
          <a:prstGeom prst="rect">
            <a:avLst/>
          </a:prstGeom>
          <a:noFill/>
          <a:ln/>
        </p:spPr>
        <p:txBody>
          <a:bodyPr wrap="square" rtlCol="0" anchor="t"/>
          <a:lstStyle/>
          <a:p>
            <a:pPr marL="0" indent="0" algn="l">
              <a:buNone/>
            </a:pPr>
            <a:r>
              <a:rPr lang="en-US" sz="3200" b="1" dirty="0">
                <a:solidFill>
                  <a:srgbClr val="0F172A"/>
                </a:solidFill>
                <a:latin typeface="Calibri" pitchFamily="34" charset="0"/>
                <a:ea typeface="Calibri" pitchFamily="34" charset="-122"/>
                <a:cs typeface="Calibri" pitchFamily="34" charset="-120"/>
              </a:rPr>
              <a:t>La Hora de la Muerte — Solución</a:t>
            </a:r>
            <a:endParaRPr lang="en-US" sz="3200" dirty="0"/>
          </a:p>
        </p:txBody>
      </p:sp>
      <mc:AlternateContent xmlns:mc="http://schemas.openxmlformats.org/markup-compatibility/2006">
        <mc:Choice xmlns:a14="http://schemas.microsoft.com/office/drawing/2010/main" Requires="a14">
          <p:sp>
            <p:nvSpPr>
              <p:cNvPr id="5" name="Text 3"/>
              <p:cNvSpPr/>
              <p:nvPr/>
            </p:nvSpPr>
            <p:spPr>
              <a:xfrm>
                <a:off x="548640" y="1508760"/>
                <a:ext cx="11091672" cy="365760"/>
              </a:xfrm>
              <a:prstGeom prst="rect">
                <a:avLst/>
              </a:prstGeom>
              <a:noFill/>
              <a:ln/>
            </p:spPr>
            <p:txBody>
              <a:bodyPr wrap="square" rtlCol="0" anchor="t"/>
              <a:lstStyle/>
              <a:p>
                <a:pPr marL="0" indent="0" algn="l">
                  <a:lnSpc>
                    <a:spcPct val="100000"/>
                  </a:lnSpc>
                  <a:buNone/>
                </a:pPr>
                <a:r>
                  <a:rPr lang="en-US" sz="1700" dirty="0">
                    <a:solidFill>
                      <a:srgbClr val="047857"/>
                    </a:solidFill>
                    <a:latin typeface="Calibri" pitchFamily="34" charset="0"/>
                    <a:ea typeface="Calibri" pitchFamily="34" charset="-122"/>
                    <a:cs typeface="Calibri" pitchFamily="34" charset="-120"/>
                  </a:rPr>
                  <a:t>T(0)=34.8, T(1)=33.4;  </a:t>
                </a:r>
                <a14:m>
                  <m:oMath xmlns:m="http://schemas.openxmlformats.org/officeDocument/2006/math">
                    <m:f>
                      <m:fPr>
                        <m:ctrlPr>
                          <a:rPr>
                            <a:latin typeface="Cambria Math" panose="02040503050406030204" pitchFamily="18" charset="0"/>
                          </a:rPr>
                        </m:ctrlPr>
                      </m:fPr>
                      <m:num>
                        <m:r>
                          <a:rPr>
                            <a:latin typeface="Cambria Math" panose="02040503050406030204" pitchFamily="18" charset="0"/>
                          </a:rPr>
                          <m:t>𝑑𝑇</m:t>
                        </m:r>
                      </m:num>
                      <m:den>
                        <m:r>
                          <a:rPr>
                            <a:latin typeface="Cambria Math" panose="02040503050406030204" pitchFamily="18" charset="0"/>
                          </a:rPr>
                          <m:t>𝑑𝑡</m:t>
                        </m:r>
                      </m:den>
                    </m:f>
                    <m:r>
                      <a:rPr>
                        <a:latin typeface="Cambria Math" panose="02040503050406030204" pitchFamily="18" charset="0"/>
                      </a:rPr>
                      <m:t>=</m:t>
                    </m:r>
                    <m:r>
                      <a:rPr>
                        <a:latin typeface="Cambria Math" panose="02040503050406030204" pitchFamily="18" charset="0"/>
                      </a:rPr>
                      <m:t>𝑘</m:t>
                    </m:r>
                    <m:r>
                      <a:rPr>
                        <a:latin typeface="Cambria Math" panose="02040503050406030204" pitchFamily="18" charset="0"/>
                      </a:rPr>
                      <m:t>(</m:t>
                    </m:r>
                    <m:r>
                      <a:rPr>
                        <a:latin typeface="Cambria Math" panose="02040503050406030204" pitchFamily="18" charset="0"/>
                      </a:rPr>
                      <m:t>𝑇</m:t>
                    </m:r>
                    <m:r>
                      <a:rPr>
                        <a:latin typeface="Cambria Math" panose="02040503050406030204" pitchFamily="18" charset="0"/>
                      </a:rPr>
                      <m:t>−20)</m:t>
                    </m:r>
                  </m:oMath>
                </a14:m>
                <a:endParaRPr lang="en-US" sz="1700" dirty="0"/>
              </a:p>
            </p:txBody>
          </p:sp>
        </mc:Choice>
        <mc:Fallback>
          <p:sp>
            <p:nvSpPr>
              <p:cNvPr id="5" name="Text 3"/>
              <p:cNvSpPr>
                <a:spLocks noRot="1" noChangeAspect="1" noMove="1" noResize="1" noEditPoints="1" noAdjustHandles="1" noChangeArrowheads="1" noChangeShapeType="1" noTextEdit="1"/>
              </p:cNvSpPr>
              <p:nvPr/>
            </p:nvSpPr>
            <p:spPr>
              <a:xfrm>
                <a:off x="548640" y="1508760"/>
                <a:ext cx="11091672" cy="365760"/>
              </a:xfrm>
              <a:prstGeom prst="rect">
                <a:avLst/>
              </a:prstGeom>
              <a:blipFill>
                <a:blip r:embed="rId2"/>
                <a:stretch>
                  <a:fillRect l="-330" b="-38333"/>
                </a:stretch>
              </a:blipFill>
              <a:ln/>
            </p:spPr>
            <p:txBody>
              <a:bodyPr/>
              <a:lstStyle/>
              <a:p>
                <a:r>
                  <a:rPr lang="es-MX">
                    <a:noFill/>
                  </a:rPr>
                  <a:t> </a:t>
                </a:r>
              </a:p>
            </p:txBody>
          </p:sp>
        </mc:Fallback>
      </mc:AlternateContent>
      <p:sp>
        <p:nvSpPr>
          <p:cNvPr id="6" name="Shape 4"/>
          <p:cNvSpPr/>
          <p:nvPr/>
        </p:nvSpPr>
        <p:spPr>
          <a:xfrm>
            <a:off x="548640" y="2194560"/>
            <a:ext cx="5349240" cy="3749040"/>
          </a:xfrm>
          <a:prstGeom prst="roundRect">
            <a:avLst>
              <a:gd name="adj" fmla="val 2439"/>
            </a:avLst>
          </a:prstGeom>
          <a:solidFill>
            <a:srgbClr val="F1F5F9"/>
          </a:solidFill>
          <a:ln w="12700">
            <a:solidFill>
              <a:srgbClr val="E2E8F0"/>
            </a:solidFill>
            <a:prstDash val="solid"/>
          </a:ln>
        </p:spPr>
        <p:txBody>
          <a:bodyPr/>
          <a:lstStyle/>
          <a:p>
            <a:endParaRPr lang="es-MX"/>
          </a:p>
        </p:txBody>
      </p:sp>
      <p:sp>
        <p:nvSpPr>
          <p:cNvPr id="7" name="Header"/>
          <p:cNvSpPr/>
          <p:nvPr/>
        </p:nvSpPr>
        <p:spPr>
          <a:xfrm>
            <a:off x="868680" y="2468880"/>
            <a:ext cx="4754880" cy="365760"/>
          </a:xfrm>
          <a:prstGeom prst="rect">
            <a:avLst/>
          </a:prstGeom>
          <a:noFill/>
          <a:ln/>
        </p:spPr>
        <p:txBody>
          <a:bodyPr wrap="square" rtlCol="0" anchor="t"/>
          <a:lstStyle/>
          <a:p>
            <a:pPr marL="0" indent="0">
              <a:buNone/>
            </a:pPr>
            <a:r>
              <a:rPr lang="en-US" sz="1400" b="1" dirty="0">
                <a:solidFill>
                  <a:srgbClr val="0F172A"/>
                </a:solidFill>
                <a:latin typeface="Calibri" pitchFamily="34" charset="0"/>
                <a:ea typeface="Calibri" pitchFamily="34" charset="-122"/>
                <a:cs typeface="Calibri" pitchFamily="34" charset="-120"/>
              </a:rPr>
              <a:t>Formular:</a:t>
            </a:r>
            <a:endParaRPr lang="en-US" sz="1400" dirty="0"/>
          </a:p>
        </p:txBody>
      </p:sp>
      <mc:AlternateContent xmlns:mc="http://schemas.openxmlformats.org/markup-compatibility/2006">
        <mc:Choice xmlns:a14="http://schemas.microsoft.com/office/drawing/2010/main" Requires="a14">
          <p:sp>
            <p:nvSpPr>
              <p:cNvPr id="8" name="Content"/>
              <p:cNvSpPr/>
              <p:nvPr/>
            </p:nvSpPr>
            <p:spPr>
              <a:xfrm>
                <a:off x="868680" y="2880360"/>
                <a:ext cx="4754880" cy="420000"/>
              </a:xfrm>
              <a:prstGeom prst="rect">
                <a:avLst/>
              </a:prstGeom>
              <a:noFill/>
              <a:ln/>
            </p:spPr>
            <p:txBody>
              <a:bodyPr wrap="square" rtlCol="0" anchor="t"/>
              <a:lstStyle/>
              <a:p>
                <a:pPr marL="0" indent="0" algn="l">
                  <a:lnSpc>
                    <a:spcPct val="118000"/>
                  </a:lnSpc>
                  <a:buNone/>
                </a:pPr>
                <a:r>
                  <a:rPr lang="en-US" sz="1400" dirty="0">
                    <a:solidFill>
                      <a:srgbClr val="334155"/>
                    </a:solidFill>
                    <a:latin typeface="Calibri" pitchFamily="34" charset="0"/>
                    <a:ea typeface="Calibri" pitchFamily="34" charset="-122"/>
                    <a:cs typeface="Calibri" pitchFamily="34" charset="-120"/>
                  </a:rPr>
                  <a:t>T(0)=34.8, T(1)=33.4;  </a:t>
                </a:r>
                <a14:m>
                  <m:oMath xmlns:m="http://schemas.openxmlformats.org/officeDocument/2006/math">
                    <m:f>
                      <m:fPr>
                        <m:ctrlPr>
                          <a:rPr>
                            <a:latin typeface="Cambria Math" panose="02040503050406030204" pitchFamily="18" charset="0"/>
                          </a:rPr>
                        </m:ctrlPr>
                      </m:fPr>
                      <m:num>
                        <m:r>
                          <a:rPr>
                            <a:latin typeface="Cambria Math" panose="02040503050406030204" pitchFamily="18" charset="0"/>
                          </a:rPr>
                          <m:t>𝑑𝑇</m:t>
                        </m:r>
                      </m:num>
                      <m:den>
                        <m:r>
                          <a:rPr>
                            <a:latin typeface="Cambria Math" panose="02040503050406030204" pitchFamily="18" charset="0"/>
                          </a:rPr>
                          <m:t>𝑑𝑡</m:t>
                        </m:r>
                      </m:den>
                    </m:f>
                    <m:r>
                      <a:rPr>
                        <a:latin typeface="Cambria Math" panose="02040503050406030204" pitchFamily="18" charset="0"/>
                      </a:rPr>
                      <m:t>=</m:t>
                    </m:r>
                    <m:r>
                      <a:rPr>
                        <a:latin typeface="Cambria Math" panose="02040503050406030204" pitchFamily="18" charset="0"/>
                      </a:rPr>
                      <m:t>𝑘</m:t>
                    </m:r>
                    <m:r>
                      <a:rPr>
                        <a:latin typeface="Cambria Math" panose="02040503050406030204" pitchFamily="18" charset="0"/>
                      </a:rPr>
                      <m:t>(</m:t>
                    </m:r>
                    <m:r>
                      <a:rPr>
                        <a:latin typeface="Cambria Math" panose="02040503050406030204" pitchFamily="18" charset="0"/>
                      </a:rPr>
                      <m:t>𝑇</m:t>
                    </m:r>
                    <m:r>
                      <a:rPr>
                        <a:latin typeface="Cambria Math" panose="02040503050406030204" pitchFamily="18" charset="0"/>
                      </a:rPr>
                      <m:t>−20)</m:t>
                    </m:r>
                  </m:oMath>
                </a14:m>
                <a:endParaRPr lang="en-US" sz="1400" dirty="0"/>
              </a:p>
            </p:txBody>
          </p:sp>
        </mc:Choice>
        <mc:Fallback>
          <p:sp>
            <p:nvSpPr>
              <p:cNvPr id="8" name="Content"/>
              <p:cNvSpPr>
                <a:spLocks noRot="1" noChangeAspect="1" noMove="1" noResize="1" noEditPoints="1" noAdjustHandles="1" noChangeArrowheads="1" noChangeShapeType="1" noTextEdit="1"/>
              </p:cNvSpPr>
              <p:nvPr/>
            </p:nvSpPr>
            <p:spPr>
              <a:xfrm>
                <a:off x="868680" y="2880360"/>
                <a:ext cx="4754880" cy="420000"/>
              </a:xfrm>
              <a:prstGeom prst="rect">
                <a:avLst/>
              </a:prstGeom>
              <a:blipFill>
                <a:blip r:embed="rId3"/>
                <a:stretch>
                  <a:fillRect l="-385" b="-30882"/>
                </a:stretch>
              </a:blipFill>
              <a:ln/>
            </p:spPr>
            <p:txBody>
              <a:bodyPr/>
              <a:lstStyle/>
              <a:p>
                <a:r>
                  <a:rPr lang="es-MX">
                    <a:noFill/>
                  </a:rPr>
                  <a:t> </a:t>
                </a:r>
              </a:p>
            </p:txBody>
          </p:sp>
        </mc:Fallback>
      </mc:AlternateContent>
      <p:sp>
        <p:nvSpPr>
          <p:cNvPr id="9" name="Header"/>
          <p:cNvSpPr/>
          <p:nvPr/>
        </p:nvSpPr>
        <p:spPr>
          <a:xfrm>
            <a:off x="868680" y="3391800"/>
            <a:ext cx="4754880" cy="365760"/>
          </a:xfrm>
          <a:prstGeom prst="rect">
            <a:avLst/>
          </a:prstGeom>
          <a:noFill/>
          <a:ln/>
        </p:spPr>
        <p:txBody>
          <a:bodyPr wrap="square" rtlCol="0" anchor="t"/>
          <a:lstStyle/>
          <a:p>
            <a:pPr marL="0" indent="0">
              <a:buNone/>
            </a:pPr>
            <a:r>
              <a:rPr lang="en-US" sz="1400" b="1" dirty="0">
                <a:solidFill>
                  <a:srgbClr val="0F172A"/>
                </a:solidFill>
                <a:latin typeface="Calibri" pitchFamily="34" charset="0"/>
                <a:ea typeface="Calibri" pitchFamily="34" charset="-122"/>
                <a:cs typeface="Calibri" pitchFamily="34" charset="-120"/>
              </a:rPr>
              <a:t>Clasificar:</a:t>
            </a:r>
            <a:endParaRPr lang="en-US" sz="1400" dirty="0"/>
          </a:p>
        </p:txBody>
      </p:sp>
      <p:sp>
        <p:nvSpPr>
          <p:cNvPr id="10" name="Content"/>
          <p:cNvSpPr/>
          <p:nvPr/>
        </p:nvSpPr>
        <p:spPr>
          <a:xfrm>
            <a:off x="868680" y="3803280"/>
            <a:ext cx="4754880" cy="380000"/>
          </a:xfrm>
          <a:prstGeom prst="rect">
            <a:avLst/>
          </a:prstGeom>
          <a:noFill/>
          <a:ln/>
        </p:spPr>
        <p:txBody>
          <a:bodyPr wrap="square" rtlCol="0" anchor="t"/>
          <a:lstStyle/>
          <a:p>
            <a:pPr marL="0" indent="0" algn="l">
              <a:lnSpc>
                <a:spcPct val="118000"/>
              </a:lnSpc>
              <a:buNone/>
            </a:pPr>
            <a:r>
              <a:rPr lang="en-US" sz="1400" dirty="0">
                <a:solidFill>
                  <a:srgbClr val="334155"/>
                </a:solidFill>
                <a:latin typeface="Calibri" pitchFamily="34" charset="0"/>
                <a:ea typeface="Calibri" pitchFamily="34" charset="-122"/>
                <a:cs typeface="Calibri" pitchFamily="34" charset="-120"/>
              </a:rPr>
              <a:t>EDO ordinaria, orden 1, lineal y separable.</a:t>
            </a:r>
            <a:endParaRPr lang="en-US" sz="1400" dirty="0"/>
          </a:p>
        </p:txBody>
      </p:sp>
      <p:sp>
        <p:nvSpPr>
          <p:cNvPr id="11" name="Header"/>
          <p:cNvSpPr/>
          <p:nvPr/>
        </p:nvSpPr>
        <p:spPr>
          <a:xfrm>
            <a:off x="868680" y="4274720"/>
            <a:ext cx="4754880" cy="365760"/>
          </a:xfrm>
          <a:prstGeom prst="rect">
            <a:avLst/>
          </a:prstGeom>
          <a:noFill/>
          <a:ln/>
        </p:spPr>
        <p:txBody>
          <a:bodyPr wrap="square" rtlCol="0" anchor="t"/>
          <a:lstStyle/>
          <a:p>
            <a:pPr marL="0" indent="0">
              <a:buNone/>
            </a:pPr>
            <a:r>
              <a:rPr lang="en-US" sz="1400" b="1" dirty="0">
                <a:solidFill>
                  <a:srgbClr val="0F172A"/>
                </a:solidFill>
                <a:latin typeface="Calibri" pitchFamily="34" charset="0"/>
                <a:ea typeface="Calibri" pitchFamily="34" charset="-122"/>
                <a:cs typeface="Calibri" pitchFamily="34" charset="-120"/>
              </a:rPr>
              <a:t>Verificar:</a:t>
            </a:r>
            <a:endParaRPr lang="en-US" sz="1400" dirty="0"/>
          </a:p>
        </p:txBody>
      </p:sp>
      <p:sp>
        <p:nvSpPr>
          <p:cNvPr id="12" name="Content"/>
          <p:cNvSpPr/>
          <p:nvPr/>
        </p:nvSpPr>
        <p:spPr>
          <a:xfrm>
            <a:off x="868680" y="4686200"/>
            <a:ext cx="4754880" cy="500000"/>
          </a:xfrm>
          <a:prstGeom prst="rect">
            <a:avLst/>
          </a:prstGeom>
          <a:noFill/>
          <a:ln/>
        </p:spPr>
        <p:txBody>
          <a:bodyPr wrap="square" rtlCol="0" anchor="t"/>
          <a:lstStyle/>
          <a:p>
            <a:pPr marL="0" indent="0" algn="l">
              <a:lnSpc>
                <a:spcPct val="118000"/>
              </a:lnSpc>
              <a:buNone/>
            </a:pPr>
            <a:r>
              <a:rPr lang="en-US" sz="1350" dirty="0">
                <a:solidFill>
                  <a:srgbClr val="334155"/>
                </a:solidFill>
                <a:latin typeface="Calibri" pitchFamily="34" charset="0"/>
                <a:ea typeface="Calibri" pitchFamily="34" charset="-122"/>
                <a:cs typeface="Calibri" pitchFamily="34" charset="-120"/>
              </a:rPr>
              <a:t>f=k(T−20) y ∂f/∂T=k son continuas en todo ℝ ⇒ solución única.</a:t>
            </a:r>
            <a:endParaRPr lang="en-US" sz="1350" dirty="0"/>
          </a:p>
        </p:txBody>
      </p:sp>
      <p:sp>
        <p:nvSpPr>
          <p:cNvPr id="13" name="Shape 12"/>
          <p:cNvSpPr/>
          <p:nvPr/>
        </p:nvSpPr>
        <p:spPr>
          <a:xfrm>
            <a:off x="6291072" y="2194560"/>
            <a:ext cx="5349240" cy="3749040"/>
          </a:xfrm>
          <a:prstGeom prst="roundRect">
            <a:avLst>
              <a:gd name="adj" fmla="val 2439"/>
            </a:avLst>
          </a:prstGeom>
          <a:solidFill>
            <a:srgbClr val="D1FAE5"/>
          </a:solidFill>
          <a:ln w="12700">
            <a:solidFill>
              <a:srgbClr val="A7F3D0"/>
            </a:solidFill>
            <a:prstDash val="solid"/>
          </a:ln>
        </p:spPr>
        <p:txBody>
          <a:bodyPr/>
          <a:lstStyle/>
          <a:p>
            <a:endParaRPr lang="es-MX"/>
          </a:p>
        </p:txBody>
      </p:sp>
      <p:sp>
        <p:nvSpPr>
          <p:cNvPr id="14" name="ResolverHeader"/>
          <p:cNvSpPr/>
          <p:nvPr/>
        </p:nvSpPr>
        <p:spPr>
          <a:xfrm>
            <a:off x="6611112" y="2468880"/>
            <a:ext cx="4709160" cy="365760"/>
          </a:xfrm>
          <a:prstGeom prst="rect">
            <a:avLst/>
          </a:prstGeom>
          <a:noFill/>
          <a:ln/>
        </p:spPr>
        <p:txBody>
          <a:bodyPr wrap="square" rtlCol="0" anchor="t"/>
          <a:lstStyle/>
          <a:p>
            <a:pPr marL="0" indent="0">
              <a:buNone/>
            </a:pPr>
            <a:r>
              <a:rPr lang="en-US" sz="1500" b="1" dirty="0">
                <a:solidFill>
                  <a:srgbClr val="065F46"/>
                </a:solidFill>
                <a:latin typeface="Calibri" pitchFamily="34" charset="0"/>
                <a:ea typeface="Calibri" pitchFamily="34" charset="-122"/>
                <a:cs typeface="Calibri" pitchFamily="34" charset="-120"/>
              </a:rPr>
              <a:t>Resolver:</a:t>
            </a:r>
            <a:endParaRPr lang="en-US" sz="1500" dirty="0"/>
          </a:p>
        </p:txBody>
      </p:sp>
      <mc:AlternateContent xmlns:mc="http://schemas.openxmlformats.org/markup-compatibility/2006">
        <mc:Choice xmlns:a14="http://schemas.microsoft.com/office/drawing/2010/main" Requires="a14">
          <p:sp>
            <p:nvSpPr>
              <p:cNvPr id="15" name="ResolverBody"/>
              <p:cNvSpPr/>
              <p:nvPr/>
            </p:nvSpPr>
            <p:spPr>
              <a:xfrm>
                <a:off x="6611112" y="2880360"/>
                <a:ext cx="4709160" cy="1150000"/>
              </a:xfrm>
              <a:prstGeom prst="rect">
                <a:avLst/>
              </a:prstGeom>
              <a:noFill/>
              <a:ln/>
            </p:spPr>
            <p:txBody>
              <a:bodyPr wrap="square" rtlCol="0" anchor="t"/>
              <a:lstStyle/>
              <a:p>
                <a:pPr marL="0" indent="0" algn="l">
                  <a:lnSpc>
                    <a:spcPct val="122000"/>
                  </a:lnSpc>
                  <a:buNone/>
                </a:pPr>
                <a14:m>
                  <m:oMath xmlns:m="http://schemas.openxmlformats.org/officeDocument/2006/math">
                    <m:r>
                      <a:rPr>
                        <a:latin typeface="Cambria Math" panose="02040503050406030204" pitchFamily="18" charset="0"/>
                      </a:rPr>
                      <m:t>𝑇</m:t>
                    </m:r>
                    <m:r>
                      <a:rPr>
                        <a:latin typeface="Cambria Math" panose="02040503050406030204" pitchFamily="18" charset="0"/>
                      </a:rPr>
                      <m:t>(</m:t>
                    </m:r>
                    <m:r>
                      <a:rPr>
                        <a:latin typeface="Cambria Math" panose="02040503050406030204" pitchFamily="18" charset="0"/>
                      </a:rPr>
                      <m:t>𝑡</m:t>
                    </m:r>
                    <m:r>
                      <a:rPr>
                        <a:latin typeface="Cambria Math" panose="02040503050406030204" pitchFamily="18" charset="0"/>
                      </a:rPr>
                      <m:t>)=20+</m:t>
                    </m:r>
                    <m:sSub>
                      <m:sSubPr>
                        <m:ctrlPr>
                          <a:rPr>
                            <a:latin typeface="Cambria Math" panose="02040503050406030204" pitchFamily="18" charset="0"/>
                          </a:rPr>
                        </m:ctrlPr>
                      </m:sSubPr>
                      <m:e>
                        <m:r>
                          <a:rPr>
                            <a:latin typeface="Cambria Math" panose="02040503050406030204" pitchFamily="18" charset="0"/>
                          </a:rPr>
                          <m:t>𝐶</m:t>
                        </m:r>
                      </m:e>
                      <m:sub>
                        <m:r>
                          <a:rPr>
                            <a:latin typeface="Cambria Math" panose="02040503050406030204" pitchFamily="18" charset="0"/>
                          </a:rPr>
                          <m:t>1</m:t>
                        </m:r>
                      </m:sub>
                    </m:sSub>
                    <m:sSup>
                      <m:sSupPr>
                        <m:ctrlPr>
                          <a:rPr>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𝑘𝑡</m:t>
                        </m:r>
                      </m:sup>
                    </m:sSup>
                  </m:oMath>
                </a14:m>
                <a:r>
                  <a:rPr lang="en-US" sz="1200" dirty="0">
                    <a:solidFill>
                      <a:srgbClr val="065F46"/>
                    </a:solidFill>
                    <a:latin typeface="Calibri" pitchFamily="34" charset="0"/>
                    <a:ea typeface="Calibri" pitchFamily="34" charset="-122"/>
                    <a:cs typeface="Calibri" pitchFamily="34" charset="-120"/>
                  </a:rPr>
                  <a:t>;  T(0)=34.8 ⇒ C₁=14.8</a:t>
                </a:r>
                <a:endParaRPr lang="en-US" sz="1200" dirty="0"/>
              </a:p>
              <a:p>
                <a:pPr marL="0" indent="0" algn="l">
                  <a:lnSpc>
                    <a:spcPct val="122000"/>
                  </a:lnSpc>
                  <a:buNone/>
                </a:pPr>
                <a:r>
                  <a:rPr lang="en-US" sz="1200" dirty="0">
                    <a:solidFill>
                      <a:srgbClr val="065F46"/>
                    </a:solidFill>
                    <a:latin typeface="Calibri" pitchFamily="34" charset="0"/>
                    <a:ea typeface="Calibri" pitchFamily="34" charset="-122"/>
                    <a:cs typeface="Calibri" pitchFamily="34" charset="-120"/>
                  </a:rPr>
                  <a:t>Con T(1)=33.4: </a:t>
                </a:r>
                <a14:m>
                  <m:oMath xmlns:m="http://schemas.openxmlformats.org/officeDocument/2006/math">
                    <m:sSup>
                      <m:sSupPr>
                        <m:ctrlPr>
                          <a:rPr>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𝑘</m:t>
                        </m:r>
                      </m:sup>
                    </m:sSup>
                  </m:oMath>
                </a14:m>
                <a:r>
                  <a:rPr lang="en-US" sz="1200" dirty="0">
                    <a:solidFill>
                      <a:srgbClr val="065F46"/>
                    </a:solidFill>
                    <a:latin typeface="Calibri" pitchFamily="34" charset="0"/>
                    <a:ea typeface="Calibri" pitchFamily="34" charset="-122"/>
                    <a:cs typeface="Calibri" pitchFamily="34" charset="-120"/>
                  </a:rPr>
                  <a:t>=13.4/14.8 ⇒ k≈−0.0994</a:t>
                </a:r>
                <a:endParaRPr lang="en-US" sz="1200" dirty="0"/>
              </a:p>
              <a:p>
                <a:pPr marL="0" indent="0" algn="l">
                  <a:lnSpc>
                    <a:spcPct val="122000"/>
                  </a:lnSpc>
                  <a:buNone/>
                </a:pPr>
                <a14:m>
                  <m:oMathPara xmlns:m="http://schemas.openxmlformats.org/officeDocument/2006/math">
                    <m:oMath>
                      <m:r>
                        <a:rPr>
                          <a:latin typeface="Cambria Math" panose="02040503050406030204" pitchFamily="18" charset="0"/>
                        </a:rPr>
                        <m:t>𝑇</m:t>
                      </m:r>
                      <m:r>
                        <a:rPr>
                          <a:latin typeface="Cambria Math" panose="02040503050406030204" pitchFamily="18" charset="0"/>
                        </a:rPr>
                        <m:t>(</m:t>
                      </m:r>
                      <m:r>
                        <a:rPr>
                          <a:latin typeface="Cambria Math" panose="02040503050406030204" pitchFamily="18" charset="0"/>
                        </a:rPr>
                        <m:t>𝑡</m:t>
                      </m:r>
                      <m:r>
                        <a:rPr>
                          <a:latin typeface="Cambria Math" panose="02040503050406030204" pitchFamily="18" charset="0"/>
                        </a:rPr>
                        <m:t>)=20+14.8</m:t>
                      </m:r>
                      <m:sSup>
                        <m:sSupPr>
                          <m:ctrlPr>
                            <a:rPr>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−0.0994</m:t>
                          </m:r>
                          <m:r>
                            <a:rPr>
                              <a:latin typeface="Cambria Math" panose="02040503050406030204" pitchFamily="18" charset="0"/>
                            </a:rPr>
                            <m:t>𝑡</m:t>
                          </m:r>
                        </m:sup>
                      </m:sSup>
                    </m:oMath>
                  </m:oMathPara>
                </a14:m>
                <a:endParaRPr lang="en-US" sz="1200" dirty="0"/>
              </a:p>
              <a:p>
                <a:pPr marL="0" indent="0" algn="l">
                  <a:lnSpc>
                    <a:spcPct val="122000"/>
                  </a:lnSpc>
                  <a:buNone/>
                </a:pPr>
                <a:r>
                  <a:rPr lang="en-US" sz="1200" dirty="0">
                    <a:solidFill>
                      <a:srgbClr val="065F46"/>
                    </a:solidFill>
                    <a:latin typeface="Calibri" pitchFamily="34" charset="0"/>
                    <a:ea typeface="Calibri" pitchFamily="34" charset="-122"/>
                    <a:cs typeface="Calibri" pitchFamily="34" charset="-120"/>
                  </a:rPr>
                  <a:t>Resolver 37=20+14.8</a:t>
                </a:r>
                <a14:m>
                  <m:oMath xmlns:m="http://schemas.openxmlformats.org/officeDocument/2006/math">
                    <m:sSup>
                      <m:sSupPr>
                        <m:ctrlPr>
                          <a:rPr>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−0.0994</m:t>
                        </m:r>
                        <m:r>
                          <a:rPr>
                            <a:latin typeface="Cambria Math" panose="02040503050406030204" pitchFamily="18" charset="0"/>
                          </a:rPr>
                          <m:t>𝑡</m:t>
                        </m:r>
                      </m:sup>
                    </m:sSup>
                  </m:oMath>
                </a14:m>
                <a:r>
                  <a:rPr lang="en-US" sz="1200" dirty="0">
                    <a:solidFill>
                      <a:srgbClr val="065F46"/>
                    </a:solidFill>
                    <a:latin typeface="Calibri" pitchFamily="34" charset="0"/>
                    <a:ea typeface="Calibri" pitchFamily="34" charset="-122"/>
                    <a:cs typeface="Calibri" pitchFamily="34" charset="-120"/>
                  </a:rPr>
                  <a:t> ⇒ t≈−1.39 h.</a:t>
                </a:r>
                <a:endParaRPr lang="en-US" sz="1200" dirty="0"/>
              </a:p>
            </p:txBody>
          </p:sp>
        </mc:Choice>
        <mc:Fallback>
          <p:sp>
            <p:nvSpPr>
              <p:cNvPr id="15" name="ResolverBody"/>
              <p:cNvSpPr>
                <a:spLocks noRot="1" noChangeAspect="1" noMove="1" noResize="1" noEditPoints="1" noAdjustHandles="1" noChangeArrowheads="1" noChangeShapeType="1" noTextEdit="1"/>
              </p:cNvSpPr>
              <p:nvPr/>
            </p:nvSpPr>
            <p:spPr>
              <a:xfrm>
                <a:off x="6611112" y="2880360"/>
                <a:ext cx="4709160" cy="1150000"/>
              </a:xfrm>
              <a:prstGeom prst="rect">
                <a:avLst/>
              </a:prstGeom>
              <a:blipFill>
                <a:blip r:embed="rId4"/>
                <a:stretch>
                  <a:fillRect l="-130" b="-26064"/>
                </a:stretch>
              </a:blipFill>
              <a:ln/>
            </p:spPr>
            <p:txBody>
              <a:bodyPr/>
              <a:lstStyle/>
              <a:p>
                <a:r>
                  <a:rPr lang="es-MX">
                    <a:noFill/>
                  </a:rPr>
                  <a:t> </a:t>
                </a:r>
              </a:p>
            </p:txBody>
          </p:sp>
        </mc:Fallback>
      </mc:AlternateContent>
      <p:sp>
        <p:nvSpPr>
          <p:cNvPr id="16" name="AnswerBox"/>
          <p:cNvSpPr/>
          <p:nvPr/>
        </p:nvSpPr>
        <p:spPr>
          <a:xfrm>
            <a:off x="6611112" y="4350400"/>
            <a:ext cx="4709160" cy="525680"/>
          </a:xfrm>
          <a:prstGeom prst="roundRect">
            <a:avLst>
              <a:gd name="adj" fmla="val 7000"/>
            </a:avLst>
          </a:prstGeom>
          <a:solidFill>
            <a:srgbClr val="FFFFFF"/>
          </a:solidFill>
          <a:ln w="12700">
            <a:solidFill>
              <a:srgbClr val="A7F3D0"/>
            </a:solidFill>
            <a:prstDash val="solid"/>
          </a:ln>
        </p:spPr>
        <p:txBody>
          <a:bodyPr/>
          <a:lstStyle/>
          <a:p>
            <a:endParaRPr lang="es-MX"/>
          </a:p>
        </p:txBody>
      </p:sp>
      <p:sp>
        <p:nvSpPr>
          <p:cNvPr id="17" name="AnswerText"/>
          <p:cNvSpPr/>
          <p:nvPr/>
        </p:nvSpPr>
        <p:spPr>
          <a:xfrm>
            <a:off x="6611112" y="4240480"/>
            <a:ext cx="4709160" cy="800000"/>
          </a:xfrm>
          <a:prstGeom prst="rect">
            <a:avLst/>
          </a:prstGeom>
          <a:noFill/>
          <a:ln/>
        </p:spPr>
        <p:txBody>
          <a:bodyPr wrap="square" rtlCol="0" anchor="ctr"/>
          <a:lstStyle/>
          <a:p>
            <a:pPr marL="0" indent="0" algn="ctr">
              <a:lnSpc>
                <a:spcPct val="110000"/>
              </a:lnSpc>
              <a:buNone/>
            </a:pPr>
            <a:r>
              <a:rPr lang="en-US" sz="2000" dirty="0">
                <a:solidFill>
                  <a:srgbClr val="047857"/>
                </a:solidFill>
                <a:latin typeface="Calibri" pitchFamily="34" charset="0"/>
                <a:ea typeface="Calibri" pitchFamily="34" charset="-122"/>
                <a:cs typeface="Calibri" pitchFamily="34" charset="-120"/>
              </a:rPr>
              <a:t>Hora de la muerte ≈ 1:36 pm</a:t>
            </a:r>
            <a:endParaRPr lang="en-US" sz="2000" dirty="0"/>
          </a:p>
        </p:txBody>
      </p:sp>
      <p:sp>
        <p:nvSpPr>
          <p:cNvPr id="18" name="Extra"/>
          <p:cNvSpPr/>
          <p:nvPr/>
        </p:nvSpPr>
        <p:spPr>
          <a:xfrm>
            <a:off x="6611112" y="4967520"/>
            <a:ext cx="4709160" cy="365760"/>
          </a:xfrm>
          <a:prstGeom prst="rect">
            <a:avLst/>
          </a:prstGeom>
          <a:noFill/>
          <a:ln/>
        </p:spPr>
        <p:txBody>
          <a:bodyPr wrap="square" rtlCol="0" anchor="t"/>
          <a:lstStyle/>
          <a:p>
            <a:pPr marL="0" indent="0" algn="ctr">
              <a:lnSpc>
                <a:spcPct val="115000"/>
              </a:lnSpc>
              <a:buNone/>
            </a:pPr>
            <a:r>
              <a:rPr lang="en-US" sz="1300" dirty="0">
                <a:solidFill>
                  <a:srgbClr val="065F46"/>
                </a:solidFill>
                <a:latin typeface="Calibri" pitchFamily="34" charset="0"/>
                <a:ea typeface="Calibri" pitchFamily="34" charset="-122"/>
                <a:cs typeface="Calibri" pitchFamily="34" charset="-120"/>
              </a:rPr>
              <a:t>≈ 1 h 24 min antes del hallazgo</a:t>
            </a:r>
            <a:endParaRPr lang="en-US" sz="1300" dirty="0"/>
          </a:p>
        </p:txBody>
      </p:sp>
      <p:sp>
        <p:nvSpPr>
          <p:cNvPr id="19" name="Interpret"/>
          <p:cNvSpPr/>
          <p:nvPr/>
        </p:nvSpPr>
        <p:spPr>
          <a:xfrm>
            <a:off x="6611112" y="5379000"/>
            <a:ext cx="4709160" cy="518880"/>
          </a:xfrm>
          <a:prstGeom prst="rect">
            <a:avLst/>
          </a:prstGeom>
          <a:noFill/>
          <a:ln/>
        </p:spPr>
        <p:txBody>
          <a:bodyPr wrap="square" rtlCol="0" anchor="t"/>
          <a:lstStyle/>
          <a:p>
            <a:pPr marL="0" indent="0" algn="l">
              <a:lnSpc>
                <a:spcPct val="125000"/>
              </a:lnSpc>
              <a:buNone/>
            </a:pPr>
            <a:r>
              <a:rPr lang="en-US" sz="1250" dirty="0">
                <a:solidFill>
                  <a:srgbClr val="065F46"/>
                </a:solidFill>
                <a:latin typeface="Calibri" pitchFamily="34" charset="0"/>
                <a:ea typeface="Calibri" pitchFamily="34" charset="-122"/>
                <a:cs typeface="Calibri" pitchFamily="34" charset="-120"/>
              </a:rPr>
              <a:t>Interpretar: t negativo tiene sentido físico — la muerte ocurrió ANTES del hallazgo a las 3:00 pm, no después.</a:t>
            </a:r>
            <a:endParaRPr lang="en-US" sz="1250" dirty="0"/>
          </a:p>
        </p:txBody>
      </p:sp>
      <p:sp>
        <p:nvSpPr>
          <p:cNvPr id="20" name="Text F"/>
          <p:cNvSpPr/>
          <p:nvPr/>
        </p:nvSpPr>
        <p:spPr>
          <a:xfrm>
            <a:off x="11521440" y="6446520"/>
            <a:ext cx="457200" cy="292608"/>
          </a:xfrm>
          <a:prstGeom prst="rect">
            <a:avLst/>
          </a:prstGeom>
          <a:noFill/>
          <a:ln/>
        </p:spPr>
        <p:txBody>
          <a:bodyPr wrap="square" rtlCol="0" anchor="ctr"/>
          <a:lstStyle/>
          <a:p>
            <a:pPr marL="0" indent="0" algn="r">
              <a:buNone/>
            </a:pPr>
            <a:r>
              <a:rPr lang="en-US" sz="1200" dirty="0">
                <a:solidFill>
                  <a:srgbClr val="475569"/>
                </a:solidFill>
                <a:latin typeface="Calibri" pitchFamily="34" charset="0"/>
                <a:ea typeface="Calibri" pitchFamily="34" charset="-122"/>
                <a:cs typeface="Calibri"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869680" y="-2834640"/>
            <a:ext cx="4937760" cy="4937760"/>
          </a:xfrm>
          <a:prstGeom prst="ellipse">
            <a:avLst/>
          </a:prstGeom>
          <a:solidFill>
            <a:srgbClr val="FEF3C7"/>
          </a:solidFill>
          <a:ln/>
        </p:spPr>
        <p:txBody>
          <a:bodyPr/>
          <a:lstStyle/>
          <a:p>
            <a:endParaRPr lang="es-MX"/>
          </a:p>
        </p:txBody>
      </p:sp>
      <p:sp>
        <p:nvSpPr>
          <p:cNvPr id="3" name="Shape 1"/>
          <p:cNvSpPr/>
          <p:nvPr/>
        </p:nvSpPr>
        <p:spPr>
          <a:xfrm>
            <a:off x="548640" y="365760"/>
            <a:ext cx="1158240" cy="384048"/>
          </a:xfrm>
          <a:prstGeom prst="roundRect">
            <a:avLst>
              <a:gd name="adj" fmla="val 50000"/>
            </a:avLst>
          </a:prstGeom>
          <a:solidFill>
            <a:srgbClr val="FEF3C7"/>
          </a:solidFill>
          <a:ln/>
        </p:spPr>
        <p:txBody>
          <a:bodyPr/>
          <a:lstStyle/>
          <a:p>
            <a:endParaRPr lang="es-MX"/>
          </a:p>
        </p:txBody>
      </p:sp>
      <p:sp>
        <p:nvSpPr>
          <p:cNvPr id="4" name="Text 2"/>
          <p:cNvSpPr/>
          <p:nvPr/>
        </p:nvSpPr>
        <p:spPr>
          <a:xfrm>
            <a:off x="548640" y="365760"/>
            <a:ext cx="1158240" cy="384048"/>
          </a:xfrm>
          <a:prstGeom prst="rect">
            <a:avLst/>
          </a:prstGeom>
          <a:noFill/>
          <a:ln/>
        </p:spPr>
        <p:txBody>
          <a:bodyPr wrap="square" rtlCol="0" anchor="ctr"/>
          <a:lstStyle/>
          <a:p>
            <a:pPr marL="0" indent="0" algn="ctr">
              <a:buNone/>
            </a:pPr>
            <a:r>
              <a:rPr lang="en-US" sz="1300" b="1" kern="0" spc="100" dirty="0">
                <a:solidFill>
                  <a:srgbClr val="B45309"/>
                </a:solidFill>
                <a:latin typeface="Calibri" pitchFamily="34" charset="0"/>
                <a:ea typeface="Calibri" pitchFamily="34" charset="-122"/>
                <a:cs typeface="Calibri" pitchFamily="34" charset="-120"/>
              </a:rPr>
              <a:t>CASO 3</a:t>
            </a:r>
            <a:endParaRPr lang="en-US" sz="1300" dirty="0"/>
          </a:p>
        </p:txBody>
      </p:sp>
      <p:sp>
        <p:nvSpPr>
          <p:cNvPr id="5" name="Text 3"/>
          <p:cNvSpPr/>
          <p:nvPr/>
        </p:nvSpPr>
        <p:spPr>
          <a:xfrm>
            <a:off x="548640" y="1874520"/>
            <a:ext cx="11091672" cy="640080"/>
          </a:xfrm>
          <a:prstGeom prst="rect">
            <a:avLst/>
          </a:prstGeom>
          <a:noFill/>
          <a:ln/>
        </p:spPr>
        <p:txBody>
          <a:bodyPr wrap="square" rtlCol="0" anchor="t"/>
          <a:lstStyle/>
          <a:p>
            <a:pPr marL="0" indent="0" algn="ctr">
              <a:buNone/>
            </a:pPr>
            <a:r>
              <a:rPr lang="en-US" sz="2600" dirty="0">
                <a:solidFill>
                  <a:srgbClr val="000000"/>
                </a:solidFill>
                <a:latin typeface="Calibri" pitchFamily="34" charset="0"/>
                <a:ea typeface="Calibri" pitchFamily="34" charset="-122"/>
                <a:cs typeface="Calibri" pitchFamily="34" charset="-120"/>
              </a:rPr>
              <a:t>⚡  </a:t>
            </a:r>
            <a:r>
              <a:rPr lang="en-US" sz="2600" b="1" dirty="0">
                <a:solidFill>
                  <a:srgbClr val="0F172A"/>
                </a:solidFill>
                <a:latin typeface="Calibri" pitchFamily="34" charset="0"/>
                <a:ea typeface="Calibri" pitchFamily="34" charset="-122"/>
                <a:cs typeface="Calibri" pitchFamily="34" charset="-120"/>
              </a:rPr>
              <a:t>Caso de la Firma: Arranque de un Circuito RL</a:t>
            </a:r>
            <a:endParaRPr lang="en-US" sz="2600" dirty="0"/>
          </a:p>
        </p:txBody>
      </p:sp>
      <p:sp>
        <p:nvSpPr>
          <p:cNvPr id="6" name="Shape 4"/>
          <p:cNvSpPr/>
          <p:nvPr/>
        </p:nvSpPr>
        <p:spPr>
          <a:xfrm>
            <a:off x="1280160" y="2743200"/>
            <a:ext cx="9628632" cy="1737360"/>
          </a:xfrm>
          <a:prstGeom prst="roundRect">
            <a:avLst>
              <a:gd name="adj" fmla="val 3684"/>
            </a:avLst>
          </a:prstGeom>
          <a:solidFill>
            <a:srgbClr val="FFFFFF"/>
          </a:solidFill>
          <a:ln w="12700">
            <a:solidFill>
              <a:srgbClr val="E2E8F0"/>
            </a:solidFill>
            <a:prstDash val="solid"/>
          </a:ln>
        </p:spPr>
        <p:txBody>
          <a:bodyPr/>
          <a:lstStyle/>
          <a:p>
            <a:endParaRPr lang="es-MX"/>
          </a:p>
        </p:txBody>
      </p:sp>
      <p:sp>
        <p:nvSpPr>
          <p:cNvPr id="7" name="Text 5"/>
          <p:cNvSpPr/>
          <p:nvPr/>
        </p:nvSpPr>
        <p:spPr>
          <a:xfrm>
            <a:off x="1280160" y="2743200"/>
            <a:ext cx="9628632" cy="1737360"/>
          </a:xfrm>
          <a:prstGeom prst="rect">
            <a:avLst/>
          </a:prstGeom>
          <a:noFill/>
          <a:ln/>
        </p:spPr>
        <p:txBody>
          <a:bodyPr wrap="square" rtlCol="0" anchor="ctr"/>
          <a:lstStyle/>
          <a:p>
            <a:pPr marL="0" indent="0" algn="ctr">
              <a:lnSpc>
                <a:spcPct val="130000"/>
              </a:lnSpc>
              <a:buNone/>
            </a:pPr>
            <a:r>
              <a:rPr lang="es-MX" sz="1800" dirty="0">
                <a:solidFill>
                  <a:srgbClr val="B45309"/>
                </a:solidFill>
                <a:latin typeface="Calibri" pitchFamily="34" charset="0"/>
                <a:ea typeface="Calibri" pitchFamily="34" charset="-122"/>
                <a:cs typeface="Calibri" pitchFamily="34" charset="-120"/>
              </a:rPr>
              <a:t>Un cliente de mecatrónica diseña un circuito en serie con una resistencia de 10 Ω, un inductor de 5 H y una batería de 60 V, conectados en t=0 con corriente inicial nula.</a:t>
            </a:r>
            <a:endParaRPr lang="en-US" sz="1800" dirty="0"/>
          </a:p>
        </p:txBody>
      </p:sp>
      <p:sp>
        <p:nvSpPr>
          <p:cNvPr id="8" name="Text 6"/>
          <p:cNvSpPr/>
          <p:nvPr/>
        </p:nvSpPr>
        <p:spPr>
          <a:xfrm>
            <a:off x="1737360" y="4709160"/>
            <a:ext cx="8714232" cy="822960"/>
          </a:xfrm>
          <a:prstGeom prst="rect">
            <a:avLst/>
          </a:prstGeom>
          <a:noFill/>
          <a:ln/>
        </p:spPr>
        <p:txBody>
          <a:bodyPr wrap="square" rtlCol="0" anchor="t"/>
          <a:lstStyle/>
          <a:p>
            <a:pPr marL="0" indent="0" algn="ctr">
              <a:lnSpc>
                <a:spcPct val="130000"/>
              </a:lnSpc>
              <a:buNone/>
            </a:pPr>
            <a:r>
              <a:rPr lang="en-US" sz="1600" i="1" dirty="0">
                <a:solidFill>
                  <a:srgbClr val="475569"/>
                </a:solidFill>
                <a:latin typeface="Calibri" pitchFamily="34" charset="0"/>
                <a:ea typeface="Calibri" pitchFamily="34" charset="-122"/>
                <a:cs typeface="Calibri" pitchFamily="34" charset="-120"/>
              </a:rPr>
              <a:t>Formulen el modelo, resuélvanlo, y determinen la corriente de estado estacionario.</a:t>
            </a:r>
            <a:endParaRPr lang="en-US" sz="1600" dirty="0"/>
          </a:p>
        </p:txBody>
      </p:sp>
      <p:sp>
        <p:nvSpPr>
          <p:cNvPr id="9" name="Text 7"/>
          <p:cNvSpPr/>
          <p:nvPr/>
        </p:nvSpPr>
        <p:spPr>
          <a:xfrm>
            <a:off x="11521440" y="6446520"/>
            <a:ext cx="457200" cy="292608"/>
          </a:xfrm>
          <a:prstGeom prst="rect">
            <a:avLst/>
          </a:prstGeom>
          <a:noFill/>
          <a:ln/>
        </p:spPr>
        <p:txBody>
          <a:bodyPr wrap="square" rtlCol="0" anchor="ctr"/>
          <a:lstStyle/>
          <a:p>
            <a:pPr marL="0" indent="0" algn="r">
              <a:buNone/>
            </a:pPr>
            <a:r>
              <a:rPr lang="en-US" sz="1200" dirty="0">
                <a:solidFill>
                  <a:srgbClr val="475569"/>
                </a:solidFill>
                <a:latin typeface="Calibri" pitchFamily="34" charset="0"/>
                <a:ea typeface="Calibri" pitchFamily="34" charset="-122"/>
                <a:cs typeface="Calibri"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158240" cy="384048"/>
          </a:xfrm>
          <a:prstGeom prst="roundRect">
            <a:avLst>
              <a:gd name="adj" fmla="val 50000"/>
            </a:avLst>
          </a:prstGeom>
          <a:solidFill>
            <a:srgbClr val="FEF3C7"/>
          </a:solidFill>
          <a:ln/>
        </p:spPr>
        <p:txBody>
          <a:bodyPr/>
          <a:lstStyle/>
          <a:p>
            <a:endParaRPr lang="es-MX"/>
          </a:p>
        </p:txBody>
      </p:sp>
      <p:sp>
        <p:nvSpPr>
          <p:cNvPr id="3" name="Text 1"/>
          <p:cNvSpPr/>
          <p:nvPr/>
        </p:nvSpPr>
        <p:spPr>
          <a:xfrm>
            <a:off x="548640" y="365760"/>
            <a:ext cx="1158240" cy="384048"/>
          </a:xfrm>
          <a:prstGeom prst="rect">
            <a:avLst/>
          </a:prstGeom>
          <a:noFill/>
          <a:ln/>
        </p:spPr>
        <p:txBody>
          <a:bodyPr wrap="square" rtlCol="0" anchor="ctr"/>
          <a:lstStyle/>
          <a:p>
            <a:pPr marL="0" indent="0" algn="ctr">
              <a:buNone/>
            </a:pPr>
            <a:r>
              <a:rPr lang="en-US" sz="1300" b="1" dirty="0">
                <a:solidFill>
                  <a:srgbClr val="B45309"/>
                </a:solidFill>
                <a:latin typeface="Calibri" pitchFamily="34" charset="0"/>
                <a:ea typeface="Calibri" pitchFamily="34" charset="-122"/>
                <a:cs typeface="Calibri" pitchFamily="34" charset="-120"/>
              </a:rPr>
              <a:t>CASO 3</a:t>
            </a:r>
            <a:endParaRPr lang="en-US" sz="1300" dirty="0"/>
          </a:p>
        </p:txBody>
      </p:sp>
      <p:sp>
        <p:nvSpPr>
          <p:cNvPr id="4" name="Text 2"/>
          <p:cNvSpPr/>
          <p:nvPr/>
        </p:nvSpPr>
        <p:spPr>
          <a:xfrm>
            <a:off x="548640" y="868680"/>
            <a:ext cx="11091672" cy="731520"/>
          </a:xfrm>
          <a:prstGeom prst="rect">
            <a:avLst/>
          </a:prstGeom>
          <a:noFill/>
          <a:ln/>
        </p:spPr>
        <p:txBody>
          <a:bodyPr wrap="square" rtlCol="0" anchor="t"/>
          <a:lstStyle/>
          <a:p>
            <a:pPr marL="0" indent="0" algn="l">
              <a:buNone/>
            </a:pPr>
            <a:r>
              <a:rPr lang="en-US" sz="3200" b="1" dirty="0">
                <a:solidFill>
                  <a:srgbClr val="0F172A"/>
                </a:solidFill>
                <a:latin typeface="Calibri" pitchFamily="34" charset="0"/>
                <a:ea typeface="Calibri" pitchFamily="34" charset="-122"/>
                <a:cs typeface="Calibri" pitchFamily="34" charset="-120"/>
              </a:rPr>
              <a:t>Circuito RL — Solución</a:t>
            </a:r>
            <a:endParaRPr lang="en-US" sz="3200" dirty="0"/>
          </a:p>
        </p:txBody>
      </p:sp>
      <mc:AlternateContent xmlns:mc="http://schemas.openxmlformats.org/markup-compatibility/2006">
        <mc:Choice xmlns:a14="http://schemas.microsoft.com/office/drawing/2010/main" Requires="a14">
          <p:sp>
            <p:nvSpPr>
              <p:cNvPr id="5" name="Text 3"/>
              <p:cNvSpPr/>
              <p:nvPr/>
            </p:nvSpPr>
            <p:spPr>
              <a:xfrm>
                <a:off x="548640" y="1508760"/>
                <a:ext cx="11091672" cy="365760"/>
              </a:xfrm>
              <a:prstGeom prst="rect">
                <a:avLst/>
              </a:prstGeom>
              <a:noFill/>
              <a:ln/>
            </p:spPr>
            <p:txBody>
              <a:bodyPr wrap="square" rtlCol="0" anchor="t"/>
              <a:lstStyle/>
              <a:p>
                <a:pPr marL="0" indent="0" algn="l">
                  <a:lnSpc>
                    <a:spcPct val="100000"/>
                  </a:lnSpc>
                  <a:buNone/>
                </a:pPr>
                <a14:m>
                  <m:oMathPara xmlns:m="http://schemas.openxmlformats.org/officeDocument/2006/math">
                    <m:oMath>
                      <m:f>
                        <m:fPr>
                          <m:ctrlPr>
                            <a:rPr>
                              <a:latin typeface="Cambria Math" panose="02040503050406030204" pitchFamily="18" charset="0"/>
                            </a:rPr>
                          </m:ctrlPr>
                        </m:fPr>
                        <m:num>
                          <m:r>
                            <a:rPr>
                              <a:latin typeface="Cambria Math" panose="02040503050406030204" pitchFamily="18" charset="0"/>
                            </a:rPr>
                            <m:t>𝑑𝑖</m:t>
                          </m:r>
                        </m:num>
                        <m:den>
                          <m:r>
                            <a:rPr>
                              <a:latin typeface="Cambria Math" panose="02040503050406030204" pitchFamily="18" charset="0"/>
                            </a:rPr>
                            <m:t>𝑑𝑡</m:t>
                          </m:r>
                        </m:den>
                      </m:f>
                      <m:r>
                        <a:rPr>
                          <a:latin typeface="Cambria Math" panose="02040503050406030204" pitchFamily="18" charset="0"/>
                        </a:rPr>
                        <m:t>+2</m:t>
                      </m:r>
                      <m:r>
                        <a:rPr>
                          <a:latin typeface="Cambria Math" panose="02040503050406030204" pitchFamily="18" charset="0"/>
                        </a:rPr>
                        <m:t>𝑖</m:t>
                      </m:r>
                      <m:r>
                        <a:rPr>
                          <a:latin typeface="Cambria Math" panose="02040503050406030204" pitchFamily="18" charset="0"/>
                        </a:rPr>
                        <m:t>=12, </m:t>
                      </m:r>
                      <m:r>
                        <a:rPr>
                          <a:latin typeface="Cambria Math" panose="02040503050406030204" pitchFamily="18" charset="0"/>
                        </a:rPr>
                        <m:t>𝑖</m:t>
                      </m:r>
                      <m:r>
                        <a:rPr>
                          <a:latin typeface="Cambria Math" panose="02040503050406030204" pitchFamily="18" charset="0"/>
                        </a:rPr>
                        <m:t>(0)=0</m:t>
                      </m:r>
                    </m:oMath>
                  </m:oMathPara>
                </a14:m>
                <a:endParaRPr lang="en-US" sz="1700" dirty="0"/>
              </a:p>
            </p:txBody>
          </p:sp>
        </mc:Choice>
        <mc:Fallback>
          <p:sp>
            <p:nvSpPr>
              <p:cNvPr id="5" name="Text 3"/>
              <p:cNvSpPr>
                <a:spLocks noRot="1" noChangeAspect="1" noMove="1" noResize="1" noEditPoints="1" noAdjustHandles="1" noChangeArrowheads="1" noChangeShapeType="1" noTextEdit="1"/>
              </p:cNvSpPr>
              <p:nvPr/>
            </p:nvSpPr>
            <p:spPr>
              <a:xfrm>
                <a:off x="548640" y="1508760"/>
                <a:ext cx="11091672" cy="365760"/>
              </a:xfrm>
              <a:prstGeom prst="rect">
                <a:avLst/>
              </a:prstGeom>
              <a:blipFill>
                <a:blip r:embed="rId2"/>
                <a:stretch>
                  <a:fillRect b="-55000"/>
                </a:stretch>
              </a:blipFill>
              <a:ln/>
            </p:spPr>
            <p:txBody>
              <a:bodyPr/>
              <a:lstStyle/>
              <a:p>
                <a:r>
                  <a:rPr lang="es-MX">
                    <a:noFill/>
                  </a:rPr>
                  <a:t> </a:t>
                </a:r>
              </a:p>
            </p:txBody>
          </p:sp>
        </mc:Fallback>
      </mc:AlternateContent>
      <p:sp>
        <p:nvSpPr>
          <p:cNvPr id="6" name="Shape 4"/>
          <p:cNvSpPr/>
          <p:nvPr/>
        </p:nvSpPr>
        <p:spPr>
          <a:xfrm>
            <a:off x="548640" y="2194560"/>
            <a:ext cx="5349240" cy="3749040"/>
          </a:xfrm>
          <a:prstGeom prst="roundRect">
            <a:avLst>
              <a:gd name="adj" fmla="val 2439"/>
            </a:avLst>
          </a:prstGeom>
          <a:solidFill>
            <a:srgbClr val="F1F5F9"/>
          </a:solidFill>
          <a:ln w="12700">
            <a:solidFill>
              <a:srgbClr val="E2E8F0"/>
            </a:solidFill>
            <a:prstDash val="solid"/>
          </a:ln>
        </p:spPr>
        <p:txBody>
          <a:bodyPr/>
          <a:lstStyle/>
          <a:p>
            <a:endParaRPr lang="es-MX"/>
          </a:p>
        </p:txBody>
      </p:sp>
      <p:sp>
        <p:nvSpPr>
          <p:cNvPr id="7" name="Header"/>
          <p:cNvSpPr/>
          <p:nvPr/>
        </p:nvSpPr>
        <p:spPr>
          <a:xfrm>
            <a:off x="868680" y="2468880"/>
            <a:ext cx="4754880" cy="365760"/>
          </a:xfrm>
          <a:prstGeom prst="rect">
            <a:avLst/>
          </a:prstGeom>
          <a:noFill/>
          <a:ln/>
        </p:spPr>
        <p:txBody>
          <a:bodyPr wrap="square" rtlCol="0" anchor="t"/>
          <a:lstStyle/>
          <a:p>
            <a:pPr marL="0" indent="0">
              <a:buNone/>
            </a:pPr>
            <a:r>
              <a:rPr lang="en-US" sz="1400" b="1" dirty="0">
                <a:solidFill>
                  <a:srgbClr val="0F172A"/>
                </a:solidFill>
                <a:latin typeface="Calibri" pitchFamily="34" charset="0"/>
                <a:ea typeface="Calibri" pitchFamily="34" charset="-122"/>
                <a:cs typeface="Calibri" pitchFamily="34" charset="-120"/>
              </a:rPr>
              <a:t>Formular:</a:t>
            </a:r>
            <a:endParaRPr lang="en-US" sz="1400" dirty="0"/>
          </a:p>
        </p:txBody>
      </p:sp>
      <mc:AlternateContent xmlns:mc="http://schemas.openxmlformats.org/markup-compatibility/2006">
        <mc:Choice xmlns:a14="http://schemas.microsoft.com/office/drawing/2010/main" Requires="a14">
          <p:sp>
            <p:nvSpPr>
              <p:cNvPr id="8" name="Content"/>
              <p:cNvSpPr/>
              <p:nvPr/>
            </p:nvSpPr>
            <p:spPr>
              <a:xfrm>
                <a:off x="868680" y="2880360"/>
                <a:ext cx="4754880" cy="780000"/>
              </a:xfrm>
              <a:prstGeom prst="rect">
                <a:avLst/>
              </a:prstGeom>
              <a:noFill/>
              <a:ln/>
            </p:spPr>
            <p:txBody>
              <a:bodyPr wrap="square" rtlCol="0" anchor="t"/>
              <a:lstStyle/>
              <a:p>
                <a:pPr marL="0" indent="0" algn="l">
                  <a:lnSpc>
                    <a:spcPct val="118000"/>
                  </a:lnSpc>
                  <a:buNone/>
                </a:pPr>
                <a14:m>
                  <m:oMath xmlns:m="http://schemas.openxmlformats.org/officeDocument/2006/math">
                    <m:r>
                      <a:rPr>
                        <a:latin typeface="Cambria Math" panose="02040503050406030204" pitchFamily="18" charset="0"/>
                      </a:rPr>
                      <m:t>𝐿</m:t>
                    </m:r>
                    <m:f>
                      <m:fPr>
                        <m:ctrlPr>
                          <a:rPr>
                            <a:latin typeface="Cambria Math" panose="02040503050406030204" pitchFamily="18" charset="0"/>
                          </a:rPr>
                        </m:ctrlPr>
                      </m:fPr>
                      <m:num>
                        <m:r>
                          <a:rPr>
                            <a:latin typeface="Cambria Math" panose="02040503050406030204" pitchFamily="18" charset="0"/>
                          </a:rPr>
                          <m:t>𝑑𝑖</m:t>
                        </m:r>
                      </m:num>
                      <m:den>
                        <m:r>
                          <a:rPr>
                            <a:latin typeface="Cambria Math" panose="02040503050406030204" pitchFamily="18" charset="0"/>
                          </a:rPr>
                          <m:t>𝑑𝑡</m:t>
                        </m:r>
                      </m:den>
                    </m:f>
                    <m:r>
                      <a:rPr>
                        <a:latin typeface="Cambria Math" panose="02040503050406030204" pitchFamily="18" charset="0"/>
                      </a:rPr>
                      <m:t>+</m:t>
                    </m:r>
                    <m:r>
                      <a:rPr>
                        <a:latin typeface="Cambria Math" panose="02040503050406030204" pitchFamily="18" charset="0"/>
                      </a:rPr>
                      <m:t>𝑅𝑖</m:t>
                    </m:r>
                    <m:r>
                      <a:rPr>
                        <a:latin typeface="Cambria Math" panose="02040503050406030204" pitchFamily="18" charset="0"/>
                      </a:rPr>
                      <m:t>=</m:t>
                    </m:r>
                    <m:r>
                      <a:rPr>
                        <a:latin typeface="Cambria Math" panose="02040503050406030204" pitchFamily="18" charset="0"/>
                      </a:rPr>
                      <m:t>𝐸</m:t>
                    </m:r>
                  </m:oMath>
                </a14:m>
                <a:r>
                  <a:rPr lang="en-US" sz="1300" dirty="0">
                    <a:solidFill>
                      <a:srgbClr val="334155"/>
                    </a:solidFill>
                    <a:latin typeface="Calibri" pitchFamily="34" charset="0"/>
                    <a:ea typeface="Calibri" pitchFamily="34" charset="-122"/>
                    <a:cs typeface="Calibri" pitchFamily="34" charset="-120"/>
                  </a:rPr>
                  <a:t> ⇒ 5</a:t>
                </a:r>
                <a14:m>
                  <m:oMath xmlns:m="http://schemas.openxmlformats.org/officeDocument/2006/math">
                    <m:f>
                      <m:fPr>
                        <m:ctrlPr>
                          <a:rPr>
                            <a:latin typeface="Cambria Math" panose="02040503050406030204" pitchFamily="18" charset="0"/>
                          </a:rPr>
                        </m:ctrlPr>
                      </m:fPr>
                      <m:num>
                        <m:r>
                          <a:rPr>
                            <a:latin typeface="Cambria Math" panose="02040503050406030204" pitchFamily="18" charset="0"/>
                          </a:rPr>
                          <m:t>𝑑𝑖</m:t>
                        </m:r>
                      </m:num>
                      <m:den>
                        <m:r>
                          <a:rPr>
                            <a:latin typeface="Cambria Math" panose="02040503050406030204" pitchFamily="18" charset="0"/>
                          </a:rPr>
                          <m:t>𝑑𝑡</m:t>
                        </m:r>
                      </m:den>
                    </m:f>
                  </m:oMath>
                </a14:m>
                <a:r>
                  <a:rPr lang="en-US" sz="1300" dirty="0">
                    <a:solidFill>
                      <a:srgbClr val="334155"/>
                    </a:solidFill>
                    <a:latin typeface="Calibri" pitchFamily="34" charset="0"/>
                    <a:ea typeface="Calibri" pitchFamily="34" charset="-122"/>
                    <a:cs typeface="Calibri" pitchFamily="34" charset="-120"/>
                  </a:rPr>
                  <a:t>+10i=60</a:t>
                </a:r>
                <a:endParaRPr lang="en-US" sz="1300" dirty="0"/>
              </a:p>
              <a:p>
                <a:pPr marL="0" indent="0" algn="l">
                  <a:lnSpc>
                    <a:spcPct val="118000"/>
                  </a:lnSpc>
                  <a:buNone/>
                </a:pPr>
                <a:r>
                  <a:rPr lang="en-US" sz="1300" dirty="0">
                    <a:solidFill>
                      <a:srgbClr val="334155"/>
                    </a:solidFill>
                    <a:latin typeface="Calibri" pitchFamily="34" charset="0"/>
                    <a:ea typeface="Calibri" pitchFamily="34" charset="-122"/>
                    <a:cs typeface="Calibri" pitchFamily="34" charset="-120"/>
                  </a:rPr>
                  <a:t>⇒ </a:t>
                </a:r>
                <a14:m>
                  <m:oMath xmlns:m="http://schemas.openxmlformats.org/officeDocument/2006/math">
                    <m:f>
                      <m:fPr>
                        <m:ctrlPr>
                          <a:rPr>
                            <a:latin typeface="Cambria Math" panose="02040503050406030204" pitchFamily="18" charset="0"/>
                          </a:rPr>
                        </m:ctrlPr>
                      </m:fPr>
                      <m:num>
                        <m:r>
                          <a:rPr>
                            <a:latin typeface="Cambria Math" panose="02040503050406030204" pitchFamily="18" charset="0"/>
                          </a:rPr>
                          <m:t>𝑑𝑖</m:t>
                        </m:r>
                      </m:num>
                      <m:den>
                        <m:r>
                          <a:rPr>
                            <a:latin typeface="Cambria Math" panose="02040503050406030204" pitchFamily="18" charset="0"/>
                          </a:rPr>
                          <m:t>𝑑𝑡</m:t>
                        </m:r>
                      </m:den>
                    </m:f>
                    <m:r>
                      <a:rPr>
                        <a:latin typeface="Cambria Math" panose="02040503050406030204" pitchFamily="18" charset="0"/>
                      </a:rPr>
                      <m:t>+2</m:t>
                    </m:r>
                    <m:r>
                      <a:rPr>
                        <a:latin typeface="Cambria Math" panose="02040503050406030204" pitchFamily="18" charset="0"/>
                      </a:rPr>
                      <m:t>𝑖</m:t>
                    </m:r>
                    <m:r>
                      <a:rPr>
                        <a:latin typeface="Cambria Math" panose="02040503050406030204" pitchFamily="18" charset="0"/>
                      </a:rPr>
                      <m:t>=12, </m:t>
                    </m:r>
                    <m:r>
                      <a:rPr>
                        <a:latin typeface="Cambria Math" panose="02040503050406030204" pitchFamily="18" charset="0"/>
                      </a:rPr>
                      <m:t>𝑖</m:t>
                    </m:r>
                    <m:r>
                      <a:rPr>
                        <a:latin typeface="Cambria Math" panose="02040503050406030204" pitchFamily="18" charset="0"/>
                      </a:rPr>
                      <m:t>(0)=0</m:t>
                    </m:r>
                  </m:oMath>
                </a14:m>
                <a:endParaRPr lang="en-US" sz="1300" dirty="0"/>
              </a:p>
            </p:txBody>
          </p:sp>
        </mc:Choice>
        <mc:Fallback>
          <p:sp>
            <p:nvSpPr>
              <p:cNvPr id="8" name="Content"/>
              <p:cNvSpPr>
                <a:spLocks noRot="1" noChangeAspect="1" noMove="1" noResize="1" noEditPoints="1" noAdjustHandles="1" noChangeArrowheads="1" noChangeShapeType="1" noTextEdit="1"/>
              </p:cNvSpPr>
              <p:nvPr/>
            </p:nvSpPr>
            <p:spPr>
              <a:xfrm>
                <a:off x="868680" y="2880360"/>
                <a:ext cx="4754880" cy="780000"/>
              </a:xfrm>
              <a:prstGeom prst="rect">
                <a:avLst/>
              </a:prstGeom>
              <a:blipFill>
                <a:blip r:embed="rId3"/>
                <a:stretch>
                  <a:fillRect l="-256" b="-31496"/>
                </a:stretch>
              </a:blipFill>
              <a:ln/>
            </p:spPr>
            <p:txBody>
              <a:bodyPr/>
              <a:lstStyle/>
              <a:p>
                <a:r>
                  <a:rPr lang="es-MX">
                    <a:noFill/>
                  </a:rPr>
                  <a:t> </a:t>
                </a:r>
              </a:p>
            </p:txBody>
          </p:sp>
        </mc:Fallback>
      </mc:AlternateContent>
      <p:sp>
        <p:nvSpPr>
          <p:cNvPr id="9" name="Header"/>
          <p:cNvSpPr/>
          <p:nvPr/>
        </p:nvSpPr>
        <p:spPr>
          <a:xfrm>
            <a:off x="868680" y="3751800"/>
            <a:ext cx="4754880" cy="365760"/>
          </a:xfrm>
          <a:prstGeom prst="rect">
            <a:avLst/>
          </a:prstGeom>
          <a:noFill/>
          <a:ln/>
        </p:spPr>
        <p:txBody>
          <a:bodyPr wrap="square" rtlCol="0" anchor="t"/>
          <a:lstStyle/>
          <a:p>
            <a:pPr marL="0" indent="0">
              <a:buNone/>
            </a:pPr>
            <a:r>
              <a:rPr lang="en-US" sz="1400" b="1" dirty="0">
                <a:solidFill>
                  <a:srgbClr val="0F172A"/>
                </a:solidFill>
                <a:latin typeface="Calibri" pitchFamily="34" charset="0"/>
                <a:ea typeface="Calibri" pitchFamily="34" charset="-122"/>
                <a:cs typeface="Calibri" pitchFamily="34" charset="-120"/>
              </a:rPr>
              <a:t>Clasificar:</a:t>
            </a:r>
            <a:endParaRPr lang="en-US" sz="1400" dirty="0"/>
          </a:p>
        </p:txBody>
      </p:sp>
      <p:sp>
        <p:nvSpPr>
          <p:cNvPr id="10" name="Content"/>
          <p:cNvSpPr/>
          <p:nvPr/>
        </p:nvSpPr>
        <p:spPr>
          <a:xfrm>
            <a:off x="868680" y="4163280"/>
            <a:ext cx="4754880" cy="420000"/>
          </a:xfrm>
          <a:prstGeom prst="rect">
            <a:avLst/>
          </a:prstGeom>
          <a:noFill/>
          <a:ln/>
        </p:spPr>
        <p:txBody>
          <a:bodyPr wrap="square" rtlCol="0" anchor="t"/>
          <a:lstStyle/>
          <a:p>
            <a:pPr marL="0" indent="0" algn="l">
              <a:lnSpc>
                <a:spcPct val="118000"/>
              </a:lnSpc>
              <a:buNone/>
            </a:pPr>
            <a:r>
              <a:rPr lang="en-US" sz="1350" dirty="0">
                <a:solidFill>
                  <a:srgbClr val="334155"/>
                </a:solidFill>
                <a:latin typeface="Calibri" pitchFamily="34" charset="0"/>
                <a:ea typeface="Calibri" pitchFamily="34" charset="-122"/>
                <a:cs typeface="Calibri" pitchFamily="34" charset="-120"/>
              </a:rPr>
              <a:t>EDO ordinaria, orden 1, LINEAL, coeficientes constantes.</a:t>
            </a:r>
            <a:endParaRPr lang="en-US" sz="1350" dirty="0"/>
          </a:p>
        </p:txBody>
      </p:sp>
      <p:sp>
        <p:nvSpPr>
          <p:cNvPr id="11" name="Header"/>
          <p:cNvSpPr/>
          <p:nvPr/>
        </p:nvSpPr>
        <p:spPr>
          <a:xfrm>
            <a:off x="868680" y="4674720"/>
            <a:ext cx="4754880" cy="365760"/>
          </a:xfrm>
          <a:prstGeom prst="rect">
            <a:avLst/>
          </a:prstGeom>
          <a:noFill/>
          <a:ln/>
        </p:spPr>
        <p:txBody>
          <a:bodyPr wrap="square" rtlCol="0" anchor="t"/>
          <a:lstStyle/>
          <a:p>
            <a:pPr marL="0" indent="0">
              <a:buNone/>
            </a:pPr>
            <a:r>
              <a:rPr lang="en-US" sz="1400" b="1" dirty="0">
                <a:solidFill>
                  <a:srgbClr val="0F172A"/>
                </a:solidFill>
                <a:latin typeface="Calibri" pitchFamily="34" charset="0"/>
                <a:ea typeface="Calibri" pitchFamily="34" charset="-122"/>
                <a:cs typeface="Calibri" pitchFamily="34" charset="-120"/>
              </a:rPr>
              <a:t>Verificar:</a:t>
            </a:r>
            <a:endParaRPr lang="en-US" sz="1400" dirty="0"/>
          </a:p>
        </p:txBody>
      </p:sp>
      <p:sp>
        <p:nvSpPr>
          <p:cNvPr id="12" name="Content"/>
          <p:cNvSpPr/>
          <p:nvPr/>
        </p:nvSpPr>
        <p:spPr>
          <a:xfrm>
            <a:off x="868680" y="5086200"/>
            <a:ext cx="4754880" cy="650000"/>
          </a:xfrm>
          <a:prstGeom prst="rect">
            <a:avLst/>
          </a:prstGeom>
          <a:noFill/>
          <a:ln/>
        </p:spPr>
        <p:txBody>
          <a:bodyPr wrap="square" rtlCol="0" anchor="t"/>
          <a:lstStyle/>
          <a:p>
            <a:pPr marL="0" indent="0" algn="l">
              <a:lnSpc>
                <a:spcPct val="118000"/>
              </a:lnSpc>
              <a:buNone/>
            </a:pPr>
            <a:r>
              <a:rPr lang="en-US" sz="1250" dirty="0">
                <a:solidFill>
                  <a:srgbClr val="334155"/>
                </a:solidFill>
                <a:latin typeface="Calibri" pitchFamily="34" charset="0"/>
                <a:ea typeface="Calibri" pitchFamily="34" charset="-122"/>
                <a:cs typeface="Calibri" pitchFamily="34" charset="-120"/>
              </a:rPr>
              <a:t>P(t)=2, Q(t)=12 continuas en todo ℝ ⇒ solución única en todo ℝ (Sesión 4: sin sorpresas de intervalo).</a:t>
            </a:r>
            <a:endParaRPr lang="en-US" sz="1250" dirty="0"/>
          </a:p>
        </p:txBody>
      </p:sp>
      <p:sp>
        <p:nvSpPr>
          <p:cNvPr id="13" name="Shape 12"/>
          <p:cNvSpPr/>
          <p:nvPr/>
        </p:nvSpPr>
        <p:spPr>
          <a:xfrm>
            <a:off x="6291072" y="2194560"/>
            <a:ext cx="5349240" cy="3749040"/>
          </a:xfrm>
          <a:prstGeom prst="roundRect">
            <a:avLst>
              <a:gd name="adj" fmla="val 2439"/>
            </a:avLst>
          </a:prstGeom>
          <a:solidFill>
            <a:srgbClr val="FEF3C7"/>
          </a:solidFill>
          <a:ln w="12700">
            <a:solidFill>
              <a:srgbClr val="FDE68A"/>
            </a:solidFill>
            <a:prstDash val="solid"/>
          </a:ln>
        </p:spPr>
        <p:txBody>
          <a:bodyPr/>
          <a:lstStyle/>
          <a:p>
            <a:endParaRPr lang="es-MX"/>
          </a:p>
        </p:txBody>
      </p:sp>
      <p:sp>
        <p:nvSpPr>
          <p:cNvPr id="14" name="ResolverHeader"/>
          <p:cNvSpPr/>
          <p:nvPr/>
        </p:nvSpPr>
        <p:spPr>
          <a:xfrm>
            <a:off x="6611112" y="2468880"/>
            <a:ext cx="4709160" cy="365760"/>
          </a:xfrm>
          <a:prstGeom prst="rect">
            <a:avLst/>
          </a:prstGeom>
          <a:noFill/>
          <a:ln/>
        </p:spPr>
        <p:txBody>
          <a:bodyPr wrap="square" rtlCol="0" anchor="t"/>
          <a:lstStyle/>
          <a:p>
            <a:pPr marL="0" indent="0">
              <a:buNone/>
            </a:pPr>
            <a:r>
              <a:rPr lang="en-US" sz="1500" b="1" dirty="0">
                <a:solidFill>
                  <a:srgbClr val="92400E"/>
                </a:solidFill>
                <a:latin typeface="Calibri" pitchFamily="34" charset="0"/>
                <a:ea typeface="Calibri" pitchFamily="34" charset="-122"/>
                <a:cs typeface="Calibri" pitchFamily="34" charset="-120"/>
              </a:rPr>
              <a:t>Resolver:</a:t>
            </a:r>
            <a:endParaRPr lang="en-US" sz="1500" dirty="0"/>
          </a:p>
        </p:txBody>
      </p:sp>
      <mc:AlternateContent xmlns:mc="http://schemas.openxmlformats.org/markup-compatibility/2006">
        <mc:Choice xmlns:a14="http://schemas.microsoft.com/office/drawing/2010/main" Requires="a14">
          <p:sp>
            <p:nvSpPr>
              <p:cNvPr id="15" name="ResolverBody"/>
              <p:cNvSpPr/>
              <p:nvPr/>
            </p:nvSpPr>
            <p:spPr>
              <a:xfrm>
                <a:off x="6611112" y="2880360"/>
                <a:ext cx="4709160" cy="1097280"/>
              </a:xfrm>
              <a:prstGeom prst="rect">
                <a:avLst/>
              </a:prstGeom>
              <a:noFill/>
              <a:ln/>
            </p:spPr>
            <p:txBody>
              <a:bodyPr wrap="square" rtlCol="0" anchor="t"/>
              <a:lstStyle/>
              <a:p>
                <a:pPr marL="0" indent="0" algn="l">
                  <a:lnSpc>
                    <a:spcPct val="122000"/>
                  </a:lnSpc>
                  <a:buNone/>
                </a:pPr>
                <a14:m>
                  <m:oMathPara xmlns:m="http://schemas.openxmlformats.org/officeDocument/2006/math">
                    <m:oMath>
                      <m:r>
                        <a:rPr>
                          <a:latin typeface="Cambria Math" panose="02040503050406030204" pitchFamily="18" charset="0"/>
                        </a:rPr>
                        <m:t>𝜇</m:t>
                      </m:r>
                      <m:r>
                        <a:rPr>
                          <a:latin typeface="Cambria Math" panose="02040503050406030204" pitchFamily="18" charset="0"/>
                        </a:rPr>
                        <m:t>(</m:t>
                      </m:r>
                      <m:r>
                        <a:rPr>
                          <a:latin typeface="Cambria Math" panose="02040503050406030204" pitchFamily="18" charset="0"/>
                        </a:rPr>
                        <m:t>𝑡</m:t>
                      </m:r>
                      <m:r>
                        <a:rPr>
                          <a:latin typeface="Cambria Math" panose="02040503050406030204" pitchFamily="18" charset="0"/>
                        </a:rPr>
                        <m:t>)=</m:t>
                      </m:r>
                      <m:sSup>
                        <m:sSupPr>
                          <m:ctrlPr>
                            <a:rPr>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2</m:t>
                          </m:r>
                          <m:r>
                            <a:rPr>
                              <a:latin typeface="Cambria Math" panose="02040503050406030204" pitchFamily="18" charset="0"/>
                            </a:rPr>
                            <m:t>𝑡</m:t>
                          </m:r>
                        </m:sup>
                      </m:sSup>
                    </m:oMath>
                  </m:oMathPara>
                </a14:m>
                <a:endParaRPr lang="en-US" sz="1250" dirty="0"/>
              </a:p>
              <a:p>
                <a:pPr marL="0" indent="0" algn="l">
                  <a:lnSpc>
                    <a:spcPct val="122000"/>
                  </a:lnSpc>
                  <a:buNone/>
                </a:pPr>
                <a14:m>
                  <m:oMath xmlns:m="http://schemas.openxmlformats.org/officeDocument/2006/math">
                    <m:f>
                      <m:fPr>
                        <m:ctrlPr>
                          <a:rPr>
                            <a:latin typeface="Cambria Math" panose="02040503050406030204" pitchFamily="18" charset="0"/>
                          </a:rPr>
                        </m:ctrlPr>
                      </m:fPr>
                      <m:num>
                        <m:r>
                          <a:rPr>
                            <a:latin typeface="Cambria Math" panose="02040503050406030204" pitchFamily="18" charset="0"/>
                          </a:rPr>
                          <m:t>𝑑</m:t>
                        </m:r>
                      </m:num>
                      <m:den>
                        <m:r>
                          <a:rPr>
                            <a:latin typeface="Cambria Math" panose="02040503050406030204" pitchFamily="18" charset="0"/>
                          </a:rPr>
                          <m:t>𝑑𝑡</m:t>
                        </m:r>
                      </m:den>
                    </m:f>
                    <m:r>
                      <a:rPr>
                        <a:latin typeface="Cambria Math" panose="02040503050406030204" pitchFamily="18" charset="0"/>
                      </a:rPr>
                      <m:t>[</m:t>
                    </m:r>
                    <m:sSup>
                      <m:sSupPr>
                        <m:ctrlPr>
                          <a:rPr>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2</m:t>
                        </m:r>
                        <m:r>
                          <a:rPr>
                            <a:latin typeface="Cambria Math" panose="02040503050406030204" pitchFamily="18" charset="0"/>
                          </a:rPr>
                          <m:t>𝑡</m:t>
                        </m:r>
                      </m:sup>
                    </m:sSup>
                    <m:r>
                      <a:rPr>
                        <a:latin typeface="Cambria Math" panose="02040503050406030204" pitchFamily="18" charset="0"/>
                      </a:rPr>
                      <m:t>𝑖</m:t>
                    </m:r>
                    <m:r>
                      <a:rPr>
                        <a:latin typeface="Cambria Math" panose="02040503050406030204" pitchFamily="18" charset="0"/>
                      </a:rPr>
                      <m:t>]=12</m:t>
                    </m:r>
                    <m:sSup>
                      <m:sSupPr>
                        <m:ctrlPr>
                          <a:rPr>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2</m:t>
                        </m:r>
                        <m:r>
                          <a:rPr>
                            <a:latin typeface="Cambria Math" panose="02040503050406030204" pitchFamily="18" charset="0"/>
                          </a:rPr>
                          <m:t>𝑡</m:t>
                        </m:r>
                      </m:sup>
                    </m:sSup>
                  </m:oMath>
                </a14:m>
                <a:r>
                  <a:rPr lang="en-US" sz="1250" dirty="0">
                    <a:solidFill>
                      <a:srgbClr val="92400E"/>
                    </a:solidFill>
                    <a:latin typeface="Calibri" pitchFamily="34" charset="0"/>
                    <a:ea typeface="Calibri" pitchFamily="34" charset="-122"/>
                    <a:cs typeface="Calibri" pitchFamily="34" charset="-120"/>
                  </a:rPr>
                  <a:t> ⇒ i(t)=6+C</a:t>
                </a:r>
                <a:endParaRPr lang="en-US" sz="1250" dirty="0"/>
              </a:p>
              <a:p>
                <a:pPr marL="0" indent="0" algn="l">
                  <a:lnSpc>
                    <a:spcPct val="122000"/>
                  </a:lnSpc>
                  <a:buNone/>
                </a:pPr>
                <a14:m>
                  <m:oMath xmlns:m="http://schemas.openxmlformats.org/officeDocument/2006/math">
                    <m:sSup>
                      <m:sSupPr>
                        <m:ctrlPr>
                          <a:rPr>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−2</m:t>
                        </m:r>
                        <m:r>
                          <a:rPr>
                            <a:latin typeface="Cambria Math" panose="02040503050406030204" pitchFamily="18" charset="0"/>
                          </a:rPr>
                          <m:t>𝑡</m:t>
                        </m:r>
                      </m:sup>
                    </m:sSup>
                  </m:oMath>
                </a14:m>
                <a:r>
                  <a:rPr lang="en-US" sz="1250" dirty="0">
                    <a:solidFill>
                      <a:srgbClr val="92400E"/>
                    </a:solidFill>
                    <a:latin typeface="Calibri" pitchFamily="34" charset="0"/>
                    <a:ea typeface="Calibri" pitchFamily="34" charset="-122"/>
                    <a:cs typeface="Calibri" pitchFamily="34" charset="-120"/>
                  </a:rPr>
                  <a:t>;  i(0)=0 ⇒ C=−6.</a:t>
                </a:r>
                <a:endParaRPr lang="en-US" sz="1250" dirty="0"/>
              </a:p>
            </p:txBody>
          </p:sp>
        </mc:Choice>
        <mc:Fallback>
          <p:sp>
            <p:nvSpPr>
              <p:cNvPr id="15" name="ResolverBody"/>
              <p:cNvSpPr>
                <a:spLocks noRot="1" noChangeAspect="1" noMove="1" noResize="1" noEditPoints="1" noAdjustHandles="1" noChangeArrowheads="1" noChangeShapeType="1" noTextEdit="1"/>
              </p:cNvSpPr>
              <p:nvPr/>
            </p:nvSpPr>
            <p:spPr>
              <a:xfrm>
                <a:off x="6611112" y="2880360"/>
                <a:ext cx="4709160" cy="1097280"/>
              </a:xfrm>
              <a:prstGeom prst="rect">
                <a:avLst/>
              </a:prstGeom>
              <a:blipFill>
                <a:blip r:embed="rId4"/>
                <a:stretch>
                  <a:fillRect b="-13889"/>
                </a:stretch>
              </a:blipFill>
              <a:ln/>
            </p:spPr>
            <p:txBody>
              <a:bodyPr/>
              <a:lstStyle/>
              <a:p>
                <a:r>
                  <a:rPr lang="es-MX">
                    <a:noFill/>
                  </a:rPr>
                  <a:t> </a:t>
                </a:r>
              </a:p>
            </p:txBody>
          </p:sp>
        </mc:Fallback>
      </mc:AlternateContent>
      <p:sp>
        <p:nvSpPr>
          <p:cNvPr id="16" name="AnswerBox"/>
          <p:cNvSpPr/>
          <p:nvPr/>
        </p:nvSpPr>
        <p:spPr>
          <a:xfrm>
            <a:off x="6611112" y="4069080"/>
            <a:ext cx="4709160" cy="822960"/>
          </a:xfrm>
          <a:prstGeom prst="roundRect">
            <a:avLst>
              <a:gd name="adj" fmla="val 7000"/>
            </a:avLst>
          </a:prstGeom>
          <a:solidFill>
            <a:srgbClr val="FFFFFF"/>
          </a:solidFill>
          <a:ln w="12700">
            <a:solidFill>
              <a:srgbClr val="FDE68A"/>
            </a:solidFill>
            <a:prstDash val="solid"/>
          </a:ln>
        </p:spPr>
        <p:txBody>
          <a:bodyPr/>
          <a:lstStyle/>
          <a:p>
            <a:endParaRPr lang="es-MX"/>
          </a:p>
        </p:txBody>
      </p:sp>
      <mc:AlternateContent xmlns:mc="http://schemas.openxmlformats.org/markup-compatibility/2006">
        <mc:Choice xmlns:a14="http://schemas.microsoft.com/office/drawing/2010/main" Requires="a14">
          <p:sp>
            <p:nvSpPr>
              <p:cNvPr id="17" name="AnswerText"/>
              <p:cNvSpPr/>
              <p:nvPr/>
            </p:nvSpPr>
            <p:spPr>
              <a:xfrm>
                <a:off x="6611112" y="4069080"/>
                <a:ext cx="4709160" cy="822960"/>
              </a:xfrm>
              <a:prstGeom prst="rect">
                <a:avLst/>
              </a:prstGeom>
              <a:noFill/>
              <a:ln/>
            </p:spPr>
            <p:txBody>
              <a:bodyPr wrap="square" rtlCol="0" anchor="ctr"/>
              <a:lstStyle/>
              <a:p>
                <a:pPr marL="0" indent="0" algn="ctr">
                  <a:lnSpc>
                    <a:spcPct val="110000"/>
                  </a:lnSpc>
                  <a:buNone/>
                </a:pPr>
                <a14:m>
                  <m:oMathPara xmlns:m="http://schemas.openxmlformats.org/officeDocument/2006/math">
                    <m:oMath>
                      <m:r>
                        <a:rPr>
                          <a:latin typeface="Cambria Math" panose="02040503050406030204" pitchFamily="18" charset="0"/>
                        </a:rPr>
                        <m:t>𝑖</m:t>
                      </m:r>
                      <m:r>
                        <a:rPr>
                          <a:latin typeface="Cambria Math" panose="02040503050406030204" pitchFamily="18" charset="0"/>
                        </a:rPr>
                        <m:t>(</m:t>
                      </m:r>
                      <m:r>
                        <a:rPr>
                          <a:latin typeface="Cambria Math" panose="02040503050406030204" pitchFamily="18" charset="0"/>
                        </a:rPr>
                        <m:t>𝑡</m:t>
                      </m:r>
                      <m:r>
                        <a:rPr>
                          <a:latin typeface="Cambria Math" panose="02040503050406030204" pitchFamily="18" charset="0"/>
                        </a:rPr>
                        <m:t>)=6(1−</m:t>
                      </m:r>
                      <m:sSup>
                        <m:sSupPr>
                          <m:ctrlPr>
                            <a:rPr>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−2</m:t>
                          </m:r>
                          <m:r>
                            <a:rPr>
                              <a:latin typeface="Cambria Math" panose="02040503050406030204" pitchFamily="18" charset="0"/>
                            </a:rPr>
                            <m:t>𝑡</m:t>
                          </m:r>
                        </m:sup>
                      </m:sSup>
                      <m:r>
                        <a:rPr>
                          <a:latin typeface="Cambria Math" panose="02040503050406030204" pitchFamily="18" charset="0"/>
                        </a:rPr>
                        <m:t>)  </m:t>
                      </m:r>
                      <m:r>
                        <a:rPr>
                          <a:latin typeface="Cambria Math" panose="02040503050406030204" pitchFamily="18" charset="0"/>
                        </a:rPr>
                        <m:t>𝐴</m:t>
                      </m:r>
                    </m:oMath>
                  </m:oMathPara>
                </a14:m>
                <a:endParaRPr lang="en-US" sz="2200" dirty="0"/>
              </a:p>
            </p:txBody>
          </p:sp>
        </mc:Choice>
        <mc:Fallback>
          <p:sp>
            <p:nvSpPr>
              <p:cNvPr id="17" name="AnswerText"/>
              <p:cNvSpPr>
                <a:spLocks noRot="1" noChangeAspect="1" noMove="1" noResize="1" noEditPoints="1" noAdjustHandles="1" noChangeArrowheads="1" noChangeShapeType="1" noTextEdit="1"/>
              </p:cNvSpPr>
              <p:nvPr/>
            </p:nvSpPr>
            <p:spPr>
              <a:xfrm>
                <a:off x="6611112" y="4069080"/>
                <a:ext cx="4709160" cy="822960"/>
              </a:xfrm>
              <a:prstGeom prst="rect">
                <a:avLst/>
              </a:prstGeom>
              <a:blipFill>
                <a:blip r:embed="rId5"/>
                <a:stretch>
                  <a:fillRect/>
                </a:stretch>
              </a:blipFill>
              <a:ln/>
            </p:spPr>
            <p:txBody>
              <a:bodyPr/>
              <a:lstStyle/>
              <a:p>
                <a:r>
                  <a:rPr lang="es-MX">
                    <a:noFill/>
                  </a:rPr>
                  <a:t> </a:t>
                </a:r>
              </a:p>
            </p:txBody>
          </p:sp>
        </mc:Fallback>
      </mc:AlternateContent>
      <p:sp>
        <p:nvSpPr>
          <p:cNvPr id="18" name="Extra"/>
          <p:cNvSpPr/>
          <p:nvPr/>
        </p:nvSpPr>
        <p:spPr>
          <a:xfrm>
            <a:off x="6611112" y="4937760"/>
            <a:ext cx="4709160" cy="365760"/>
          </a:xfrm>
          <a:prstGeom prst="rect">
            <a:avLst/>
          </a:prstGeom>
          <a:noFill/>
          <a:ln/>
        </p:spPr>
        <p:txBody>
          <a:bodyPr wrap="square" rtlCol="0" anchor="t"/>
          <a:lstStyle/>
          <a:p>
            <a:pPr marL="0" indent="0" algn="ctr">
              <a:lnSpc>
                <a:spcPct val="115000"/>
              </a:lnSpc>
              <a:buNone/>
            </a:pPr>
            <a:r>
              <a:rPr lang="en-US" sz="1300" dirty="0">
                <a:solidFill>
                  <a:srgbClr val="92400E"/>
                </a:solidFill>
                <a:latin typeface="Calibri" pitchFamily="34" charset="0"/>
                <a:ea typeface="Calibri" pitchFamily="34" charset="-122"/>
                <a:cs typeface="Calibri" pitchFamily="34" charset="-120"/>
              </a:rPr>
              <a:t>i_ss = 6 A  (coincide con E/R = 60/10)</a:t>
            </a:r>
            <a:endParaRPr lang="en-US" sz="1300" dirty="0"/>
          </a:p>
        </p:txBody>
      </p:sp>
      <p:sp>
        <p:nvSpPr>
          <p:cNvPr id="19" name="Interpret"/>
          <p:cNvSpPr/>
          <p:nvPr/>
        </p:nvSpPr>
        <p:spPr>
          <a:xfrm>
            <a:off x="6611112" y="5349240"/>
            <a:ext cx="4709160" cy="548640"/>
          </a:xfrm>
          <a:prstGeom prst="rect">
            <a:avLst/>
          </a:prstGeom>
          <a:noFill/>
          <a:ln/>
        </p:spPr>
        <p:txBody>
          <a:bodyPr wrap="square" rtlCol="0" anchor="t"/>
          <a:lstStyle/>
          <a:p>
            <a:pPr marL="0" indent="0" algn="l">
              <a:lnSpc>
                <a:spcPct val="125000"/>
              </a:lnSpc>
              <a:buNone/>
            </a:pPr>
            <a:r>
              <a:rPr lang="en-US" sz="1250" dirty="0">
                <a:solidFill>
                  <a:srgbClr val="92400E"/>
                </a:solidFill>
                <a:latin typeface="Calibri" pitchFamily="34" charset="0"/>
                <a:ea typeface="Calibri" pitchFamily="34" charset="-122"/>
                <a:cs typeface="Calibri" pitchFamily="34" charset="-120"/>
              </a:rPr>
              <a:t>Interpretar: la corriente crece de 0 a 6 A; con τ=L/R=0.5 s alcanza ~63% del régimen permanente.</a:t>
            </a:r>
            <a:endParaRPr lang="en-US" sz="1250" dirty="0"/>
          </a:p>
        </p:txBody>
      </p:sp>
      <p:sp>
        <p:nvSpPr>
          <p:cNvPr id="20" name="Text F"/>
          <p:cNvSpPr/>
          <p:nvPr/>
        </p:nvSpPr>
        <p:spPr>
          <a:xfrm>
            <a:off x="11521440" y="6446520"/>
            <a:ext cx="457200" cy="292608"/>
          </a:xfrm>
          <a:prstGeom prst="rect">
            <a:avLst/>
          </a:prstGeom>
          <a:noFill/>
          <a:ln/>
        </p:spPr>
        <p:txBody>
          <a:bodyPr wrap="square" rtlCol="0" anchor="ctr"/>
          <a:lstStyle/>
          <a:p>
            <a:pPr marL="0" indent="0" algn="r">
              <a:buNone/>
            </a:pPr>
            <a:r>
              <a:rPr lang="en-US" sz="1200" dirty="0">
                <a:solidFill>
                  <a:srgbClr val="475569"/>
                </a:solidFill>
                <a:latin typeface="Calibri" pitchFamily="34" charset="0"/>
                <a:ea typeface="Calibri" pitchFamily="34" charset="-122"/>
                <a:cs typeface="Calibri"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869680" y="-2834640"/>
            <a:ext cx="4937760" cy="4937760"/>
          </a:xfrm>
          <a:prstGeom prst="ellipse">
            <a:avLst/>
          </a:prstGeom>
          <a:solidFill>
            <a:srgbClr val="FEF3C7"/>
          </a:solidFill>
          <a:ln/>
        </p:spPr>
        <p:txBody>
          <a:bodyPr/>
          <a:lstStyle/>
          <a:p>
            <a:endParaRPr lang="es-MX"/>
          </a:p>
        </p:txBody>
      </p:sp>
      <p:sp>
        <p:nvSpPr>
          <p:cNvPr id="3" name="Shape 1"/>
          <p:cNvSpPr/>
          <p:nvPr/>
        </p:nvSpPr>
        <p:spPr>
          <a:xfrm>
            <a:off x="548640" y="365760"/>
            <a:ext cx="1158240" cy="384048"/>
          </a:xfrm>
          <a:prstGeom prst="roundRect">
            <a:avLst>
              <a:gd name="adj" fmla="val 50000"/>
            </a:avLst>
          </a:prstGeom>
          <a:solidFill>
            <a:srgbClr val="FEF3C7"/>
          </a:solidFill>
          <a:ln/>
        </p:spPr>
        <p:txBody>
          <a:bodyPr/>
          <a:lstStyle/>
          <a:p>
            <a:endParaRPr lang="es-MX"/>
          </a:p>
        </p:txBody>
      </p:sp>
      <p:sp>
        <p:nvSpPr>
          <p:cNvPr id="4" name="Text 2"/>
          <p:cNvSpPr/>
          <p:nvPr/>
        </p:nvSpPr>
        <p:spPr>
          <a:xfrm>
            <a:off x="548640" y="365760"/>
            <a:ext cx="1158240" cy="384048"/>
          </a:xfrm>
          <a:prstGeom prst="rect">
            <a:avLst/>
          </a:prstGeom>
          <a:noFill/>
          <a:ln/>
        </p:spPr>
        <p:txBody>
          <a:bodyPr wrap="square" rtlCol="0" anchor="ctr"/>
          <a:lstStyle/>
          <a:p>
            <a:pPr marL="0" indent="0" algn="ctr">
              <a:buNone/>
            </a:pPr>
            <a:r>
              <a:rPr lang="en-US" sz="1300" b="1" kern="0" spc="100" dirty="0">
                <a:solidFill>
                  <a:srgbClr val="B45309"/>
                </a:solidFill>
                <a:latin typeface="Calibri" pitchFamily="34" charset="0"/>
                <a:ea typeface="Calibri" pitchFamily="34" charset="-122"/>
                <a:cs typeface="Calibri" pitchFamily="34" charset="-120"/>
              </a:rPr>
              <a:t>CASO 4</a:t>
            </a:r>
            <a:endParaRPr lang="en-US" sz="1300" dirty="0"/>
          </a:p>
        </p:txBody>
      </p:sp>
      <p:sp>
        <p:nvSpPr>
          <p:cNvPr id="5" name="Text 3"/>
          <p:cNvSpPr/>
          <p:nvPr/>
        </p:nvSpPr>
        <p:spPr>
          <a:xfrm>
            <a:off x="548640" y="1874520"/>
            <a:ext cx="11091672" cy="640080"/>
          </a:xfrm>
          <a:prstGeom prst="rect">
            <a:avLst/>
          </a:prstGeom>
          <a:noFill/>
          <a:ln/>
        </p:spPr>
        <p:txBody>
          <a:bodyPr wrap="square" rtlCol="0" anchor="t"/>
          <a:lstStyle/>
          <a:p>
            <a:pPr marL="0" indent="0" algn="ctr">
              <a:buNone/>
            </a:pPr>
            <a:r>
              <a:rPr lang="en-US" sz="2600" dirty="0">
                <a:solidFill>
                  <a:srgbClr val="000000"/>
                </a:solidFill>
                <a:latin typeface="Calibri" pitchFamily="34" charset="0"/>
                <a:ea typeface="Calibri" pitchFamily="34" charset="-122"/>
                <a:cs typeface="Calibri" pitchFamily="34" charset="-120"/>
              </a:rPr>
              <a:t>🪂  </a:t>
            </a:r>
            <a:r>
              <a:rPr lang="en-US" sz="2600" b="1" dirty="0">
                <a:solidFill>
                  <a:srgbClr val="0F172A"/>
                </a:solidFill>
                <a:latin typeface="Calibri" pitchFamily="34" charset="0"/>
                <a:ea typeface="Calibri" pitchFamily="34" charset="-122"/>
                <a:cs typeface="Calibri" pitchFamily="34" charset="-120"/>
              </a:rPr>
              <a:t>Caso de la Firma: Velocidad Terminal de un Paracaidista</a:t>
            </a:r>
            <a:endParaRPr lang="en-US" sz="2600" dirty="0"/>
          </a:p>
        </p:txBody>
      </p:sp>
      <p:sp>
        <p:nvSpPr>
          <p:cNvPr id="6" name="Shape 4"/>
          <p:cNvSpPr/>
          <p:nvPr/>
        </p:nvSpPr>
        <p:spPr>
          <a:xfrm>
            <a:off x="1280160" y="2743200"/>
            <a:ext cx="9628632" cy="1737360"/>
          </a:xfrm>
          <a:prstGeom prst="roundRect">
            <a:avLst>
              <a:gd name="adj" fmla="val 3684"/>
            </a:avLst>
          </a:prstGeom>
          <a:solidFill>
            <a:srgbClr val="FFFFFF"/>
          </a:solidFill>
          <a:ln w="12700">
            <a:solidFill>
              <a:srgbClr val="E2E8F0"/>
            </a:solidFill>
            <a:prstDash val="solid"/>
          </a:ln>
        </p:spPr>
        <p:txBody>
          <a:bodyPr/>
          <a:lstStyle/>
          <a:p>
            <a:endParaRPr lang="es-MX"/>
          </a:p>
        </p:txBody>
      </p:sp>
      <p:sp>
        <p:nvSpPr>
          <p:cNvPr id="7" name="Text 5"/>
          <p:cNvSpPr/>
          <p:nvPr/>
        </p:nvSpPr>
        <p:spPr>
          <a:xfrm>
            <a:off x="1280160" y="2743200"/>
            <a:ext cx="9628632" cy="1737360"/>
          </a:xfrm>
          <a:prstGeom prst="rect">
            <a:avLst/>
          </a:prstGeom>
          <a:noFill/>
          <a:ln/>
        </p:spPr>
        <p:txBody>
          <a:bodyPr wrap="square" rtlCol="0" anchor="ctr"/>
          <a:lstStyle/>
          <a:p>
            <a:pPr marL="0" indent="0" algn="ctr">
              <a:lnSpc>
                <a:spcPct val="130000"/>
              </a:lnSpc>
              <a:buNone/>
            </a:pPr>
            <a:r>
              <a:rPr lang="es-MX" sz="1800" dirty="0">
                <a:solidFill>
                  <a:srgbClr val="B45309"/>
                </a:solidFill>
                <a:latin typeface="Calibri" pitchFamily="34" charset="0"/>
                <a:ea typeface="Calibri" pitchFamily="34" charset="-122"/>
                <a:cs typeface="Calibri" pitchFamily="34" charset="-120"/>
              </a:rPr>
              <a:t>Un paracaidista de 80 kg (con equipo) salta en caída libre. La resistencia del aire es proporcional a la velocidad, con constante k=20 kg/s. Tomen g=9.8 m/s² y v(0)=0.</a:t>
            </a:r>
            <a:endParaRPr lang="en-US" sz="1800" dirty="0"/>
          </a:p>
        </p:txBody>
      </p:sp>
      <p:sp>
        <p:nvSpPr>
          <p:cNvPr id="8" name="Text 6"/>
          <p:cNvSpPr/>
          <p:nvPr/>
        </p:nvSpPr>
        <p:spPr>
          <a:xfrm>
            <a:off x="1737360" y="4709160"/>
            <a:ext cx="8714232" cy="822960"/>
          </a:xfrm>
          <a:prstGeom prst="rect">
            <a:avLst/>
          </a:prstGeom>
          <a:noFill/>
          <a:ln/>
        </p:spPr>
        <p:txBody>
          <a:bodyPr wrap="square" rtlCol="0" anchor="t"/>
          <a:lstStyle/>
          <a:p>
            <a:pPr marL="0" indent="0" algn="ctr">
              <a:lnSpc>
                <a:spcPct val="130000"/>
              </a:lnSpc>
              <a:buNone/>
            </a:pPr>
            <a:r>
              <a:rPr lang="en-US" sz="1600" i="1" dirty="0">
                <a:solidFill>
                  <a:srgbClr val="475569"/>
                </a:solidFill>
                <a:latin typeface="Calibri" pitchFamily="34" charset="0"/>
                <a:ea typeface="Calibri" pitchFamily="34" charset="-122"/>
                <a:cs typeface="Calibri" pitchFamily="34" charset="-120"/>
              </a:rPr>
              <a:t>Formulen el modelo, resuélvanlo, y encuentren la velocidad terminal.</a:t>
            </a:r>
            <a:endParaRPr lang="en-US" sz="1600" dirty="0"/>
          </a:p>
        </p:txBody>
      </p:sp>
      <p:sp>
        <p:nvSpPr>
          <p:cNvPr id="9" name="Text 7"/>
          <p:cNvSpPr/>
          <p:nvPr/>
        </p:nvSpPr>
        <p:spPr>
          <a:xfrm>
            <a:off x="11521440" y="6446520"/>
            <a:ext cx="457200" cy="292608"/>
          </a:xfrm>
          <a:prstGeom prst="rect">
            <a:avLst/>
          </a:prstGeom>
          <a:noFill/>
          <a:ln/>
        </p:spPr>
        <p:txBody>
          <a:bodyPr wrap="square" rtlCol="0" anchor="ctr"/>
          <a:lstStyle/>
          <a:p>
            <a:pPr marL="0" indent="0" algn="r">
              <a:buNone/>
            </a:pPr>
            <a:r>
              <a:rPr lang="en-US" sz="1200" dirty="0">
                <a:solidFill>
                  <a:srgbClr val="475569"/>
                </a:solidFill>
                <a:latin typeface="Calibri" pitchFamily="34" charset="0"/>
                <a:ea typeface="Calibri" pitchFamily="34" charset="-122"/>
                <a:cs typeface="Calibri"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158240" cy="384048"/>
          </a:xfrm>
          <a:prstGeom prst="roundRect">
            <a:avLst>
              <a:gd name="adj" fmla="val 50000"/>
            </a:avLst>
          </a:prstGeom>
          <a:solidFill>
            <a:srgbClr val="FEF3C7"/>
          </a:solidFill>
          <a:ln/>
        </p:spPr>
        <p:txBody>
          <a:bodyPr/>
          <a:lstStyle/>
          <a:p>
            <a:endParaRPr lang="es-MX"/>
          </a:p>
        </p:txBody>
      </p:sp>
      <p:sp>
        <p:nvSpPr>
          <p:cNvPr id="3" name="Text 1"/>
          <p:cNvSpPr/>
          <p:nvPr/>
        </p:nvSpPr>
        <p:spPr>
          <a:xfrm>
            <a:off x="548640" y="365760"/>
            <a:ext cx="1158240" cy="384048"/>
          </a:xfrm>
          <a:prstGeom prst="rect">
            <a:avLst/>
          </a:prstGeom>
          <a:noFill/>
          <a:ln/>
        </p:spPr>
        <p:txBody>
          <a:bodyPr wrap="square" rtlCol="0" anchor="ctr"/>
          <a:lstStyle/>
          <a:p>
            <a:pPr marL="0" indent="0" algn="ctr">
              <a:buNone/>
            </a:pPr>
            <a:r>
              <a:rPr lang="en-US" sz="1300" b="1" dirty="0">
                <a:solidFill>
                  <a:srgbClr val="B45309"/>
                </a:solidFill>
                <a:latin typeface="Calibri" pitchFamily="34" charset="0"/>
                <a:ea typeface="Calibri" pitchFamily="34" charset="-122"/>
                <a:cs typeface="Calibri" pitchFamily="34" charset="-120"/>
              </a:rPr>
              <a:t>CASO 4</a:t>
            </a:r>
            <a:endParaRPr lang="en-US" sz="1300" dirty="0"/>
          </a:p>
        </p:txBody>
      </p:sp>
      <p:sp>
        <p:nvSpPr>
          <p:cNvPr id="4" name="Text 2"/>
          <p:cNvSpPr/>
          <p:nvPr/>
        </p:nvSpPr>
        <p:spPr>
          <a:xfrm>
            <a:off x="548640" y="868680"/>
            <a:ext cx="11091672" cy="731520"/>
          </a:xfrm>
          <a:prstGeom prst="rect">
            <a:avLst/>
          </a:prstGeom>
          <a:noFill/>
          <a:ln/>
        </p:spPr>
        <p:txBody>
          <a:bodyPr wrap="square" rtlCol="0" anchor="t"/>
          <a:lstStyle/>
          <a:p>
            <a:pPr marL="0" indent="0" algn="l">
              <a:buNone/>
            </a:pPr>
            <a:r>
              <a:rPr lang="en-US" sz="3200" b="1" dirty="0">
                <a:solidFill>
                  <a:srgbClr val="0F172A"/>
                </a:solidFill>
                <a:latin typeface="Calibri" pitchFamily="34" charset="0"/>
                <a:ea typeface="Calibri" pitchFamily="34" charset="-122"/>
                <a:cs typeface="Calibri" pitchFamily="34" charset="-120"/>
              </a:rPr>
              <a:t>Velocidad Terminal — Solución</a:t>
            </a:r>
            <a:endParaRPr lang="en-US" sz="3200" dirty="0"/>
          </a:p>
        </p:txBody>
      </p:sp>
      <mc:AlternateContent xmlns:mc="http://schemas.openxmlformats.org/markup-compatibility/2006">
        <mc:Choice xmlns:a14="http://schemas.microsoft.com/office/drawing/2010/main" Requires="a14">
          <p:sp>
            <p:nvSpPr>
              <p:cNvPr id="5" name="Text 3"/>
              <p:cNvSpPr/>
              <p:nvPr/>
            </p:nvSpPr>
            <p:spPr>
              <a:xfrm>
                <a:off x="548640" y="1508760"/>
                <a:ext cx="11091672" cy="365760"/>
              </a:xfrm>
              <a:prstGeom prst="rect">
                <a:avLst/>
              </a:prstGeom>
              <a:noFill/>
              <a:ln/>
            </p:spPr>
            <p:txBody>
              <a:bodyPr wrap="square" rtlCol="0" anchor="t"/>
              <a:lstStyle/>
              <a:p>
                <a:pPr marL="0" indent="0" algn="l">
                  <a:lnSpc>
                    <a:spcPct val="100000"/>
                  </a:lnSpc>
                  <a:buNone/>
                </a:pPr>
                <a14:m>
                  <m:oMathPara xmlns:m="http://schemas.openxmlformats.org/officeDocument/2006/math">
                    <m:oMath>
                      <m:f>
                        <m:fPr>
                          <m:ctrlPr>
                            <a:rPr>
                              <a:latin typeface="Cambria Math" panose="02040503050406030204" pitchFamily="18" charset="0"/>
                            </a:rPr>
                          </m:ctrlPr>
                        </m:fPr>
                        <m:num>
                          <m:r>
                            <a:rPr>
                              <a:latin typeface="Cambria Math" panose="02040503050406030204" pitchFamily="18" charset="0"/>
                            </a:rPr>
                            <m:t>𝑑𝑣</m:t>
                          </m:r>
                        </m:num>
                        <m:den>
                          <m:r>
                            <a:rPr>
                              <a:latin typeface="Cambria Math" panose="02040503050406030204" pitchFamily="18" charset="0"/>
                            </a:rPr>
                            <m:t>𝑑𝑡</m:t>
                          </m:r>
                        </m:den>
                      </m:f>
                      <m:r>
                        <a:rPr>
                          <a:latin typeface="Cambria Math" panose="02040503050406030204" pitchFamily="18" charset="0"/>
                        </a:rPr>
                        <m:t>+0.25</m:t>
                      </m:r>
                      <m:r>
                        <a:rPr>
                          <a:latin typeface="Cambria Math" panose="02040503050406030204" pitchFamily="18" charset="0"/>
                        </a:rPr>
                        <m:t>𝑣</m:t>
                      </m:r>
                      <m:r>
                        <a:rPr>
                          <a:latin typeface="Cambria Math" panose="02040503050406030204" pitchFamily="18" charset="0"/>
                        </a:rPr>
                        <m:t>=9.8, </m:t>
                      </m:r>
                      <m:r>
                        <a:rPr>
                          <a:latin typeface="Cambria Math" panose="02040503050406030204" pitchFamily="18" charset="0"/>
                        </a:rPr>
                        <m:t>𝑣</m:t>
                      </m:r>
                      <m:r>
                        <a:rPr>
                          <a:latin typeface="Cambria Math" panose="02040503050406030204" pitchFamily="18" charset="0"/>
                        </a:rPr>
                        <m:t>(0)=0</m:t>
                      </m:r>
                    </m:oMath>
                  </m:oMathPara>
                </a14:m>
                <a:endParaRPr lang="en-US" sz="1700" dirty="0"/>
              </a:p>
            </p:txBody>
          </p:sp>
        </mc:Choice>
        <mc:Fallback>
          <p:sp>
            <p:nvSpPr>
              <p:cNvPr id="5" name="Text 3"/>
              <p:cNvSpPr>
                <a:spLocks noRot="1" noChangeAspect="1" noMove="1" noResize="1" noEditPoints="1" noAdjustHandles="1" noChangeArrowheads="1" noChangeShapeType="1" noTextEdit="1"/>
              </p:cNvSpPr>
              <p:nvPr/>
            </p:nvSpPr>
            <p:spPr>
              <a:xfrm>
                <a:off x="548640" y="1508760"/>
                <a:ext cx="11091672" cy="365760"/>
              </a:xfrm>
              <a:prstGeom prst="rect">
                <a:avLst/>
              </a:prstGeom>
              <a:blipFill>
                <a:blip r:embed="rId2"/>
                <a:stretch>
                  <a:fillRect b="-55000"/>
                </a:stretch>
              </a:blipFill>
              <a:ln/>
            </p:spPr>
            <p:txBody>
              <a:bodyPr/>
              <a:lstStyle/>
              <a:p>
                <a:r>
                  <a:rPr lang="es-MX">
                    <a:noFill/>
                  </a:rPr>
                  <a:t> </a:t>
                </a:r>
              </a:p>
            </p:txBody>
          </p:sp>
        </mc:Fallback>
      </mc:AlternateContent>
      <p:sp>
        <p:nvSpPr>
          <p:cNvPr id="6" name="Shape 4"/>
          <p:cNvSpPr/>
          <p:nvPr/>
        </p:nvSpPr>
        <p:spPr>
          <a:xfrm>
            <a:off x="548640" y="2194560"/>
            <a:ext cx="5349240" cy="3749040"/>
          </a:xfrm>
          <a:prstGeom prst="roundRect">
            <a:avLst>
              <a:gd name="adj" fmla="val 2439"/>
            </a:avLst>
          </a:prstGeom>
          <a:solidFill>
            <a:srgbClr val="F1F5F9"/>
          </a:solidFill>
          <a:ln w="12700">
            <a:solidFill>
              <a:srgbClr val="E2E8F0"/>
            </a:solidFill>
            <a:prstDash val="solid"/>
          </a:ln>
        </p:spPr>
        <p:txBody>
          <a:bodyPr/>
          <a:lstStyle/>
          <a:p>
            <a:endParaRPr lang="es-MX"/>
          </a:p>
        </p:txBody>
      </p:sp>
      <p:sp>
        <p:nvSpPr>
          <p:cNvPr id="7" name="Header"/>
          <p:cNvSpPr/>
          <p:nvPr/>
        </p:nvSpPr>
        <p:spPr>
          <a:xfrm>
            <a:off x="868680" y="2468880"/>
            <a:ext cx="4754880" cy="365760"/>
          </a:xfrm>
          <a:prstGeom prst="rect">
            <a:avLst/>
          </a:prstGeom>
          <a:noFill/>
          <a:ln/>
        </p:spPr>
        <p:txBody>
          <a:bodyPr wrap="square" rtlCol="0" anchor="t"/>
          <a:lstStyle/>
          <a:p>
            <a:pPr marL="0" indent="0">
              <a:buNone/>
            </a:pPr>
            <a:r>
              <a:rPr lang="en-US" sz="1400" b="1" dirty="0">
                <a:solidFill>
                  <a:srgbClr val="0F172A"/>
                </a:solidFill>
                <a:latin typeface="Calibri" pitchFamily="34" charset="0"/>
                <a:ea typeface="Calibri" pitchFamily="34" charset="-122"/>
                <a:cs typeface="Calibri" pitchFamily="34" charset="-120"/>
              </a:rPr>
              <a:t>Formular:</a:t>
            </a:r>
            <a:endParaRPr lang="en-US" sz="1400" dirty="0"/>
          </a:p>
        </p:txBody>
      </p:sp>
      <mc:AlternateContent xmlns:mc="http://schemas.openxmlformats.org/markup-compatibility/2006">
        <mc:Choice xmlns:a14="http://schemas.microsoft.com/office/drawing/2010/main" Requires="a14">
          <p:sp>
            <p:nvSpPr>
              <p:cNvPr id="8" name="Content"/>
              <p:cNvSpPr/>
              <p:nvPr/>
            </p:nvSpPr>
            <p:spPr>
              <a:xfrm>
                <a:off x="868680" y="2880360"/>
                <a:ext cx="4754880" cy="780000"/>
              </a:xfrm>
              <a:prstGeom prst="rect">
                <a:avLst/>
              </a:prstGeom>
              <a:noFill/>
              <a:ln/>
            </p:spPr>
            <p:txBody>
              <a:bodyPr wrap="square" rtlCol="0" anchor="t"/>
              <a:lstStyle/>
              <a:p>
                <a:pPr marL="0" indent="0" algn="l">
                  <a:lnSpc>
                    <a:spcPct val="118000"/>
                  </a:lnSpc>
                  <a:buNone/>
                </a:pPr>
                <a14:m>
                  <m:oMath xmlns:m="http://schemas.openxmlformats.org/officeDocument/2006/math">
                    <m:r>
                      <a:rPr>
                        <a:latin typeface="Cambria Math" panose="02040503050406030204" pitchFamily="18" charset="0"/>
                      </a:rPr>
                      <m:t>𝑚</m:t>
                    </m:r>
                    <m:f>
                      <m:fPr>
                        <m:ctrlPr>
                          <a:rPr>
                            <a:latin typeface="Cambria Math" panose="02040503050406030204" pitchFamily="18" charset="0"/>
                          </a:rPr>
                        </m:ctrlPr>
                      </m:fPr>
                      <m:num>
                        <m:r>
                          <a:rPr>
                            <a:latin typeface="Cambria Math" panose="02040503050406030204" pitchFamily="18" charset="0"/>
                          </a:rPr>
                          <m:t>𝑑𝑣</m:t>
                        </m:r>
                      </m:num>
                      <m:den>
                        <m:r>
                          <a:rPr>
                            <a:latin typeface="Cambria Math" panose="02040503050406030204" pitchFamily="18" charset="0"/>
                          </a:rPr>
                          <m:t>𝑑𝑡</m:t>
                        </m:r>
                      </m:den>
                    </m:f>
                    <m:r>
                      <a:rPr>
                        <a:latin typeface="Cambria Math" panose="02040503050406030204" pitchFamily="18" charset="0"/>
                      </a:rPr>
                      <m:t>=</m:t>
                    </m:r>
                    <m:r>
                      <a:rPr>
                        <a:latin typeface="Cambria Math" panose="02040503050406030204" pitchFamily="18" charset="0"/>
                      </a:rPr>
                      <m:t>𝑚𝑔</m:t>
                    </m:r>
                  </m:oMath>
                </a14:m>
                <a:r>
                  <a:rPr lang="en-US" sz="1300" dirty="0">
                    <a:solidFill>
                      <a:srgbClr val="334155"/>
                    </a:solidFill>
                    <a:latin typeface="Calibri" pitchFamily="34" charset="0"/>
                    <a:ea typeface="Calibri" pitchFamily="34" charset="-122"/>
                    <a:cs typeface="Calibri" pitchFamily="34" charset="-120"/>
                  </a:rPr>
                  <a:t>−kv ⇒ </a:t>
                </a:r>
                <a:endParaRPr lang="en-US" sz="1300" dirty="0"/>
              </a:p>
              <a:p>
                <a:pPr marL="0" indent="0" algn="l">
                  <a:lnSpc>
                    <a:spcPct val="118000"/>
                  </a:lnSpc>
                  <a:buNone/>
                </a:pPr>
                <a14:m>
                  <m:oMath xmlns:m="http://schemas.openxmlformats.org/officeDocument/2006/math">
                    <m:f>
                      <m:fPr>
                        <m:ctrlPr>
                          <a:rPr>
                            <a:latin typeface="Cambria Math" panose="02040503050406030204" pitchFamily="18" charset="0"/>
                          </a:rPr>
                        </m:ctrlPr>
                      </m:fPr>
                      <m:num>
                        <m:r>
                          <a:rPr>
                            <a:latin typeface="Cambria Math" panose="02040503050406030204" pitchFamily="18" charset="0"/>
                          </a:rPr>
                          <m:t>𝑑𝑣</m:t>
                        </m:r>
                      </m:num>
                      <m:den>
                        <m:r>
                          <a:rPr>
                            <a:latin typeface="Cambria Math" panose="02040503050406030204" pitchFamily="18" charset="0"/>
                          </a:rPr>
                          <m:t>𝑑𝑡</m:t>
                        </m:r>
                      </m:den>
                    </m:f>
                    <m:r>
                      <a:rPr>
                        <a:latin typeface="Cambria Math" panose="02040503050406030204" pitchFamily="18" charset="0"/>
                      </a:rPr>
                      <m:t>+</m:t>
                    </m:r>
                    <m:f>
                      <m:fPr>
                        <m:ctrlPr>
                          <a:rPr>
                            <a:latin typeface="Cambria Math" panose="02040503050406030204" pitchFamily="18" charset="0"/>
                          </a:rPr>
                        </m:ctrlPr>
                      </m:fPr>
                      <m:num>
                        <m:r>
                          <a:rPr>
                            <a:latin typeface="Cambria Math" panose="02040503050406030204" pitchFamily="18" charset="0"/>
                          </a:rPr>
                          <m:t>𝑘</m:t>
                        </m:r>
                      </m:num>
                      <m:den>
                        <m:r>
                          <a:rPr>
                            <a:latin typeface="Cambria Math" panose="02040503050406030204" pitchFamily="18" charset="0"/>
                          </a:rPr>
                          <m:t>𝑚</m:t>
                        </m:r>
                      </m:den>
                    </m:f>
                    <m:r>
                      <a:rPr>
                        <a:latin typeface="Cambria Math" panose="02040503050406030204" pitchFamily="18" charset="0"/>
                      </a:rPr>
                      <m:t>𝑣</m:t>
                    </m:r>
                    <m:r>
                      <a:rPr>
                        <a:latin typeface="Cambria Math" panose="02040503050406030204" pitchFamily="18" charset="0"/>
                      </a:rPr>
                      <m:t>=</m:t>
                    </m:r>
                    <m:r>
                      <a:rPr>
                        <a:latin typeface="Cambria Math" panose="02040503050406030204" pitchFamily="18" charset="0"/>
                      </a:rPr>
                      <m:t>𝑔</m:t>
                    </m:r>
                  </m:oMath>
                </a14:m>
                <a:r>
                  <a:rPr lang="en-US" sz="1300" dirty="0">
                    <a:solidFill>
                      <a:srgbClr val="334155"/>
                    </a:solidFill>
                    <a:latin typeface="Calibri" pitchFamily="34" charset="0"/>
                    <a:ea typeface="Calibri" pitchFamily="34" charset="-122"/>
                    <a:cs typeface="Calibri" pitchFamily="34" charset="-120"/>
                  </a:rPr>
                  <a:t> ⇒ </a:t>
                </a:r>
                <a14:m>
                  <m:oMath xmlns:m="http://schemas.openxmlformats.org/officeDocument/2006/math">
                    <m:f>
                      <m:fPr>
                        <m:ctrlPr>
                          <a:rPr>
                            <a:latin typeface="Cambria Math" panose="02040503050406030204" pitchFamily="18" charset="0"/>
                          </a:rPr>
                        </m:ctrlPr>
                      </m:fPr>
                      <m:num>
                        <m:r>
                          <a:rPr>
                            <a:latin typeface="Cambria Math" panose="02040503050406030204" pitchFamily="18" charset="0"/>
                          </a:rPr>
                          <m:t>𝑑𝑣</m:t>
                        </m:r>
                      </m:num>
                      <m:den>
                        <m:r>
                          <a:rPr>
                            <a:latin typeface="Cambria Math" panose="02040503050406030204" pitchFamily="18" charset="0"/>
                          </a:rPr>
                          <m:t>𝑑𝑡</m:t>
                        </m:r>
                      </m:den>
                    </m:f>
                    <m:r>
                      <a:rPr>
                        <a:latin typeface="Cambria Math" panose="02040503050406030204" pitchFamily="18" charset="0"/>
                      </a:rPr>
                      <m:t>+0.25</m:t>
                    </m:r>
                    <m:r>
                      <a:rPr>
                        <a:latin typeface="Cambria Math" panose="02040503050406030204" pitchFamily="18" charset="0"/>
                      </a:rPr>
                      <m:t>𝑣</m:t>
                    </m:r>
                    <m:r>
                      <a:rPr>
                        <a:latin typeface="Cambria Math" panose="02040503050406030204" pitchFamily="18" charset="0"/>
                      </a:rPr>
                      <m:t>=9.8, </m:t>
                    </m:r>
                    <m:r>
                      <a:rPr>
                        <a:latin typeface="Cambria Math" panose="02040503050406030204" pitchFamily="18" charset="0"/>
                      </a:rPr>
                      <m:t>𝑣</m:t>
                    </m:r>
                    <m:r>
                      <a:rPr>
                        <a:latin typeface="Cambria Math" panose="02040503050406030204" pitchFamily="18" charset="0"/>
                      </a:rPr>
                      <m:t>(0)=0</m:t>
                    </m:r>
                  </m:oMath>
                </a14:m>
                <a:endParaRPr lang="en-US" sz="1300" dirty="0"/>
              </a:p>
            </p:txBody>
          </p:sp>
        </mc:Choice>
        <mc:Fallback>
          <p:sp>
            <p:nvSpPr>
              <p:cNvPr id="8" name="Content"/>
              <p:cNvSpPr>
                <a:spLocks noRot="1" noChangeAspect="1" noMove="1" noResize="1" noEditPoints="1" noAdjustHandles="1" noChangeArrowheads="1" noChangeShapeType="1" noTextEdit="1"/>
              </p:cNvSpPr>
              <p:nvPr/>
            </p:nvSpPr>
            <p:spPr>
              <a:xfrm>
                <a:off x="868680" y="2880360"/>
                <a:ext cx="4754880" cy="780000"/>
              </a:xfrm>
              <a:prstGeom prst="rect">
                <a:avLst/>
              </a:prstGeom>
              <a:blipFill>
                <a:blip r:embed="rId3"/>
                <a:stretch>
                  <a:fillRect b="-30709"/>
                </a:stretch>
              </a:blipFill>
              <a:ln/>
            </p:spPr>
            <p:txBody>
              <a:bodyPr/>
              <a:lstStyle/>
              <a:p>
                <a:r>
                  <a:rPr lang="es-MX">
                    <a:noFill/>
                  </a:rPr>
                  <a:t> </a:t>
                </a:r>
              </a:p>
            </p:txBody>
          </p:sp>
        </mc:Fallback>
      </mc:AlternateContent>
      <p:sp>
        <p:nvSpPr>
          <p:cNvPr id="9" name="Header"/>
          <p:cNvSpPr/>
          <p:nvPr/>
        </p:nvSpPr>
        <p:spPr>
          <a:xfrm>
            <a:off x="868680" y="3886200"/>
            <a:ext cx="4754880" cy="365760"/>
          </a:xfrm>
          <a:prstGeom prst="rect">
            <a:avLst/>
          </a:prstGeom>
          <a:noFill/>
          <a:ln/>
        </p:spPr>
        <p:txBody>
          <a:bodyPr wrap="square" rtlCol="0" anchor="t"/>
          <a:lstStyle/>
          <a:p>
            <a:pPr marL="0" indent="0">
              <a:buNone/>
            </a:pPr>
            <a:r>
              <a:rPr lang="en-US" sz="1400" b="1" dirty="0">
                <a:solidFill>
                  <a:srgbClr val="0F172A"/>
                </a:solidFill>
                <a:latin typeface="Calibri" pitchFamily="34" charset="0"/>
                <a:ea typeface="Calibri" pitchFamily="34" charset="-122"/>
                <a:cs typeface="Calibri" pitchFamily="34" charset="-120"/>
              </a:rPr>
              <a:t>Clasificar:</a:t>
            </a:r>
            <a:endParaRPr lang="en-US" sz="1400" dirty="0"/>
          </a:p>
        </p:txBody>
      </p:sp>
      <p:sp>
        <p:nvSpPr>
          <p:cNvPr id="10" name="Content"/>
          <p:cNvSpPr/>
          <p:nvPr/>
        </p:nvSpPr>
        <p:spPr>
          <a:xfrm>
            <a:off x="868680" y="4163280"/>
            <a:ext cx="4754880" cy="380000"/>
          </a:xfrm>
          <a:prstGeom prst="rect">
            <a:avLst/>
          </a:prstGeom>
          <a:noFill/>
          <a:ln/>
        </p:spPr>
        <p:txBody>
          <a:bodyPr wrap="square" rtlCol="0" anchor="t"/>
          <a:lstStyle/>
          <a:p>
            <a:pPr marL="0" indent="0" algn="l">
              <a:lnSpc>
                <a:spcPct val="118000"/>
              </a:lnSpc>
              <a:buNone/>
            </a:pPr>
            <a:r>
              <a:rPr lang="en-US" sz="1400" dirty="0">
                <a:solidFill>
                  <a:srgbClr val="334155"/>
                </a:solidFill>
                <a:latin typeface="Calibri" pitchFamily="34" charset="0"/>
                <a:ea typeface="Calibri" pitchFamily="34" charset="-122"/>
                <a:cs typeface="Calibri" pitchFamily="34" charset="-120"/>
              </a:rPr>
              <a:t>EDO ordinaria, orden 1, LINEAL.</a:t>
            </a:r>
            <a:endParaRPr lang="en-US" sz="1400" dirty="0"/>
          </a:p>
        </p:txBody>
      </p:sp>
      <p:sp>
        <p:nvSpPr>
          <p:cNvPr id="11" name="Header"/>
          <p:cNvSpPr/>
          <p:nvPr/>
        </p:nvSpPr>
        <p:spPr>
          <a:xfrm>
            <a:off x="868680" y="4634720"/>
            <a:ext cx="4754880" cy="365760"/>
          </a:xfrm>
          <a:prstGeom prst="rect">
            <a:avLst/>
          </a:prstGeom>
          <a:noFill/>
          <a:ln/>
        </p:spPr>
        <p:txBody>
          <a:bodyPr wrap="square" rtlCol="0" anchor="t"/>
          <a:lstStyle/>
          <a:p>
            <a:pPr marL="0" indent="0">
              <a:buNone/>
            </a:pPr>
            <a:r>
              <a:rPr lang="en-US" sz="1400" b="1" dirty="0">
                <a:solidFill>
                  <a:srgbClr val="0F172A"/>
                </a:solidFill>
                <a:latin typeface="Calibri" pitchFamily="34" charset="0"/>
                <a:ea typeface="Calibri" pitchFamily="34" charset="-122"/>
                <a:cs typeface="Calibri" pitchFamily="34" charset="-120"/>
              </a:rPr>
              <a:t>Verificar:</a:t>
            </a:r>
            <a:endParaRPr lang="en-US" sz="1400" dirty="0"/>
          </a:p>
        </p:txBody>
      </p:sp>
      <p:sp>
        <p:nvSpPr>
          <p:cNvPr id="12" name="Content"/>
          <p:cNvSpPr/>
          <p:nvPr/>
        </p:nvSpPr>
        <p:spPr>
          <a:xfrm>
            <a:off x="868680" y="5046200"/>
            <a:ext cx="4754880" cy="500000"/>
          </a:xfrm>
          <a:prstGeom prst="rect">
            <a:avLst/>
          </a:prstGeom>
          <a:noFill/>
          <a:ln/>
        </p:spPr>
        <p:txBody>
          <a:bodyPr wrap="square" rtlCol="0" anchor="t"/>
          <a:lstStyle/>
          <a:p>
            <a:pPr marL="0" indent="0" algn="l">
              <a:lnSpc>
                <a:spcPct val="118000"/>
              </a:lnSpc>
              <a:buNone/>
            </a:pPr>
            <a:r>
              <a:rPr lang="en-US" sz="1350" dirty="0">
                <a:solidFill>
                  <a:srgbClr val="334155"/>
                </a:solidFill>
                <a:latin typeface="Calibri" pitchFamily="34" charset="0"/>
                <a:ea typeface="Calibri" pitchFamily="34" charset="-122"/>
                <a:cs typeface="Calibri" pitchFamily="34" charset="-120"/>
              </a:rPr>
              <a:t>P=0.25, Q=9.8 continuas en ℝ ⇒ solución única en todo ℝ.</a:t>
            </a:r>
            <a:endParaRPr lang="en-US" sz="1350" dirty="0"/>
          </a:p>
        </p:txBody>
      </p:sp>
      <p:sp>
        <p:nvSpPr>
          <p:cNvPr id="13" name="Shape 12"/>
          <p:cNvSpPr/>
          <p:nvPr/>
        </p:nvSpPr>
        <p:spPr>
          <a:xfrm>
            <a:off x="6291072" y="2194560"/>
            <a:ext cx="5349240" cy="3749040"/>
          </a:xfrm>
          <a:prstGeom prst="roundRect">
            <a:avLst>
              <a:gd name="adj" fmla="val 2439"/>
            </a:avLst>
          </a:prstGeom>
          <a:solidFill>
            <a:srgbClr val="FEF3C7"/>
          </a:solidFill>
          <a:ln w="12700">
            <a:solidFill>
              <a:srgbClr val="FDE68A"/>
            </a:solidFill>
            <a:prstDash val="solid"/>
          </a:ln>
        </p:spPr>
        <p:txBody>
          <a:bodyPr/>
          <a:lstStyle/>
          <a:p>
            <a:endParaRPr lang="es-MX"/>
          </a:p>
        </p:txBody>
      </p:sp>
      <p:sp>
        <p:nvSpPr>
          <p:cNvPr id="14" name="ResolverHeader"/>
          <p:cNvSpPr/>
          <p:nvPr/>
        </p:nvSpPr>
        <p:spPr>
          <a:xfrm>
            <a:off x="6611112" y="2468880"/>
            <a:ext cx="4709160" cy="365760"/>
          </a:xfrm>
          <a:prstGeom prst="rect">
            <a:avLst/>
          </a:prstGeom>
          <a:noFill/>
          <a:ln/>
        </p:spPr>
        <p:txBody>
          <a:bodyPr wrap="square" rtlCol="0" anchor="t"/>
          <a:lstStyle/>
          <a:p>
            <a:pPr marL="0" indent="0">
              <a:buNone/>
            </a:pPr>
            <a:r>
              <a:rPr lang="en-US" sz="1500" b="1" dirty="0">
                <a:solidFill>
                  <a:srgbClr val="92400E"/>
                </a:solidFill>
                <a:latin typeface="Calibri" pitchFamily="34" charset="0"/>
                <a:ea typeface="Calibri" pitchFamily="34" charset="-122"/>
                <a:cs typeface="Calibri" pitchFamily="34" charset="-120"/>
              </a:rPr>
              <a:t>Resolver:</a:t>
            </a:r>
            <a:endParaRPr lang="en-US" sz="1500" dirty="0"/>
          </a:p>
        </p:txBody>
      </p:sp>
      <mc:AlternateContent xmlns:mc="http://schemas.openxmlformats.org/markup-compatibility/2006">
        <mc:Choice xmlns:a14="http://schemas.microsoft.com/office/drawing/2010/main" Requires="a14">
          <p:sp>
            <p:nvSpPr>
              <p:cNvPr id="15" name="ResolverBody"/>
              <p:cNvSpPr/>
              <p:nvPr/>
            </p:nvSpPr>
            <p:spPr>
              <a:xfrm>
                <a:off x="6611112" y="2880360"/>
                <a:ext cx="4709160" cy="822960"/>
              </a:xfrm>
              <a:prstGeom prst="rect">
                <a:avLst/>
              </a:prstGeom>
              <a:noFill/>
              <a:ln/>
            </p:spPr>
            <p:txBody>
              <a:bodyPr wrap="square" rtlCol="0" anchor="t"/>
              <a:lstStyle/>
              <a:p>
                <a:pPr marL="0" indent="0" algn="l">
                  <a:lnSpc>
                    <a:spcPct val="122000"/>
                  </a:lnSpc>
                  <a:buNone/>
                </a:pPr>
                <a14:m>
                  <m:oMath xmlns:m="http://schemas.openxmlformats.org/officeDocument/2006/math">
                    <m:r>
                      <a:rPr>
                        <a:latin typeface="Cambria Math" panose="02040503050406030204" pitchFamily="18" charset="0"/>
                      </a:rPr>
                      <m:t>𝜇</m:t>
                    </m:r>
                    <m:r>
                      <a:rPr>
                        <a:latin typeface="Cambria Math" panose="02040503050406030204" pitchFamily="18" charset="0"/>
                      </a:rPr>
                      <m:t>(</m:t>
                    </m:r>
                    <m:r>
                      <a:rPr>
                        <a:latin typeface="Cambria Math" panose="02040503050406030204" pitchFamily="18" charset="0"/>
                      </a:rPr>
                      <m:t>𝑡</m:t>
                    </m:r>
                    <m:r>
                      <a:rPr>
                        <a:latin typeface="Cambria Math" panose="02040503050406030204" pitchFamily="18" charset="0"/>
                      </a:rPr>
                      <m:t>)=</m:t>
                    </m:r>
                    <m:sSup>
                      <m:sSupPr>
                        <m:ctrlPr>
                          <a:rPr>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0.25</m:t>
                        </m:r>
                        <m:r>
                          <a:rPr>
                            <a:latin typeface="Cambria Math" panose="02040503050406030204" pitchFamily="18" charset="0"/>
                          </a:rPr>
                          <m:t>𝑡</m:t>
                        </m:r>
                      </m:sup>
                    </m:sSup>
                  </m:oMath>
                </a14:m>
                <a:r>
                  <a:rPr lang="en-US" sz="1300" dirty="0">
                    <a:solidFill>
                      <a:srgbClr val="92400E"/>
                    </a:solidFill>
                    <a:latin typeface="Calibri" pitchFamily="34" charset="0"/>
                    <a:ea typeface="Calibri" pitchFamily="34" charset="-122"/>
                    <a:cs typeface="Calibri" pitchFamily="34" charset="-120"/>
                  </a:rPr>
                  <a:t> ⇒ v(t)=39.2+C</a:t>
                </a:r>
                <a:endParaRPr lang="en-US" sz="1300" dirty="0"/>
              </a:p>
              <a:p>
                <a:pPr marL="0" indent="0" algn="l">
                  <a:lnSpc>
                    <a:spcPct val="122000"/>
                  </a:lnSpc>
                  <a:buNone/>
                </a:pPr>
                <a14:m>
                  <m:oMath xmlns:m="http://schemas.openxmlformats.org/officeDocument/2006/math">
                    <m:sSup>
                      <m:sSupPr>
                        <m:ctrlPr>
                          <a:rPr>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−0.25</m:t>
                        </m:r>
                        <m:r>
                          <a:rPr>
                            <a:latin typeface="Cambria Math" panose="02040503050406030204" pitchFamily="18" charset="0"/>
                          </a:rPr>
                          <m:t>𝑡</m:t>
                        </m:r>
                      </m:sup>
                    </m:sSup>
                  </m:oMath>
                </a14:m>
                <a:r>
                  <a:rPr lang="en-US" sz="1300" dirty="0">
                    <a:solidFill>
                      <a:srgbClr val="92400E"/>
                    </a:solidFill>
                    <a:latin typeface="Calibri" pitchFamily="34" charset="0"/>
                    <a:ea typeface="Calibri" pitchFamily="34" charset="-122"/>
                    <a:cs typeface="Calibri" pitchFamily="34" charset="-120"/>
                  </a:rPr>
                  <a:t>;  v(0)=0 ⇒ C=−39.2.</a:t>
                </a:r>
                <a:endParaRPr lang="en-US" sz="1300" dirty="0"/>
              </a:p>
            </p:txBody>
          </p:sp>
        </mc:Choice>
        <mc:Fallback>
          <p:sp>
            <p:nvSpPr>
              <p:cNvPr id="15" name="ResolverBody"/>
              <p:cNvSpPr>
                <a:spLocks noRot="1" noChangeAspect="1" noMove="1" noResize="1" noEditPoints="1" noAdjustHandles="1" noChangeArrowheads="1" noChangeShapeType="1" noTextEdit="1"/>
              </p:cNvSpPr>
              <p:nvPr/>
            </p:nvSpPr>
            <p:spPr>
              <a:xfrm>
                <a:off x="6611112" y="2880360"/>
                <a:ext cx="4709160" cy="822960"/>
              </a:xfrm>
              <a:prstGeom prst="rect">
                <a:avLst/>
              </a:prstGeom>
              <a:blipFill>
                <a:blip r:embed="rId4"/>
                <a:stretch>
                  <a:fillRect/>
                </a:stretch>
              </a:blipFill>
              <a:ln/>
            </p:spPr>
            <p:txBody>
              <a:bodyPr/>
              <a:lstStyle/>
              <a:p>
                <a:r>
                  <a:rPr lang="es-MX">
                    <a:noFill/>
                  </a:rPr>
                  <a:t> </a:t>
                </a:r>
              </a:p>
            </p:txBody>
          </p:sp>
        </mc:Fallback>
      </mc:AlternateContent>
      <p:sp>
        <p:nvSpPr>
          <p:cNvPr id="16" name="AnswerBox"/>
          <p:cNvSpPr/>
          <p:nvPr/>
        </p:nvSpPr>
        <p:spPr>
          <a:xfrm>
            <a:off x="6611112" y="3794760"/>
            <a:ext cx="4709160" cy="822960"/>
          </a:xfrm>
          <a:prstGeom prst="roundRect">
            <a:avLst>
              <a:gd name="adj" fmla="val 7000"/>
            </a:avLst>
          </a:prstGeom>
          <a:solidFill>
            <a:srgbClr val="FFFFFF"/>
          </a:solidFill>
          <a:ln w="12700">
            <a:solidFill>
              <a:srgbClr val="FDE68A"/>
            </a:solidFill>
            <a:prstDash val="solid"/>
          </a:ln>
        </p:spPr>
        <p:txBody>
          <a:bodyPr/>
          <a:lstStyle/>
          <a:p>
            <a:endParaRPr lang="es-MX"/>
          </a:p>
        </p:txBody>
      </p:sp>
      <mc:AlternateContent xmlns:mc="http://schemas.openxmlformats.org/markup-compatibility/2006">
        <mc:Choice xmlns:a14="http://schemas.microsoft.com/office/drawing/2010/main" Requires="a14">
          <p:sp>
            <p:nvSpPr>
              <p:cNvPr id="17" name="AnswerText"/>
              <p:cNvSpPr/>
              <p:nvPr/>
            </p:nvSpPr>
            <p:spPr>
              <a:xfrm>
                <a:off x="6611112" y="3794760"/>
                <a:ext cx="4709160" cy="822960"/>
              </a:xfrm>
              <a:prstGeom prst="rect">
                <a:avLst/>
              </a:prstGeom>
              <a:noFill/>
              <a:ln/>
            </p:spPr>
            <p:txBody>
              <a:bodyPr wrap="square" rtlCol="0" anchor="ctr"/>
              <a:lstStyle/>
              <a:p>
                <a:pPr marL="0" indent="0" algn="ctr">
                  <a:lnSpc>
                    <a:spcPct val="110000"/>
                  </a:lnSpc>
                  <a:buNone/>
                </a:pPr>
                <a14:m>
                  <m:oMathPara xmlns:m="http://schemas.openxmlformats.org/officeDocument/2006/math">
                    <m:oMath>
                      <m:r>
                        <a:rPr>
                          <a:latin typeface="Cambria Math" panose="02040503050406030204" pitchFamily="18" charset="0"/>
                        </a:rPr>
                        <m:t>𝑣</m:t>
                      </m:r>
                      <m:r>
                        <a:rPr>
                          <a:latin typeface="Cambria Math" panose="02040503050406030204" pitchFamily="18" charset="0"/>
                        </a:rPr>
                        <m:t>(</m:t>
                      </m:r>
                      <m:r>
                        <a:rPr>
                          <a:latin typeface="Cambria Math" panose="02040503050406030204" pitchFamily="18" charset="0"/>
                        </a:rPr>
                        <m:t>𝑡</m:t>
                      </m:r>
                      <m:r>
                        <a:rPr>
                          <a:latin typeface="Cambria Math" panose="02040503050406030204" pitchFamily="18" charset="0"/>
                        </a:rPr>
                        <m:t>)=39.2(1−</m:t>
                      </m:r>
                      <m:sSup>
                        <m:sSupPr>
                          <m:ctrlPr>
                            <a:rPr>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−0.25</m:t>
                          </m:r>
                          <m:r>
                            <a:rPr>
                              <a:latin typeface="Cambria Math" panose="02040503050406030204" pitchFamily="18" charset="0"/>
                            </a:rPr>
                            <m:t>𝑡</m:t>
                          </m:r>
                        </m:sup>
                      </m:sSup>
                      <m:r>
                        <a:rPr>
                          <a:latin typeface="Cambria Math" panose="02040503050406030204" pitchFamily="18" charset="0"/>
                        </a:rPr>
                        <m:t>)  </m:t>
                      </m:r>
                      <m:r>
                        <a:rPr>
                          <a:latin typeface="Cambria Math" panose="02040503050406030204" pitchFamily="18" charset="0"/>
                        </a:rPr>
                        <m:t>𝑚</m:t>
                      </m:r>
                      <m:r>
                        <a:rPr>
                          <a:latin typeface="Cambria Math" panose="02040503050406030204" pitchFamily="18" charset="0"/>
                        </a:rPr>
                        <m:t>/</m:t>
                      </m:r>
                      <m:r>
                        <a:rPr>
                          <a:latin typeface="Cambria Math" panose="02040503050406030204" pitchFamily="18" charset="0"/>
                        </a:rPr>
                        <m:t>𝑠</m:t>
                      </m:r>
                    </m:oMath>
                  </m:oMathPara>
                </a14:m>
                <a:endParaRPr lang="en-US" sz="2000" dirty="0"/>
              </a:p>
            </p:txBody>
          </p:sp>
        </mc:Choice>
        <mc:Fallback>
          <p:sp>
            <p:nvSpPr>
              <p:cNvPr id="17" name="AnswerText"/>
              <p:cNvSpPr>
                <a:spLocks noRot="1" noChangeAspect="1" noMove="1" noResize="1" noEditPoints="1" noAdjustHandles="1" noChangeArrowheads="1" noChangeShapeType="1" noTextEdit="1"/>
              </p:cNvSpPr>
              <p:nvPr/>
            </p:nvSpPr>
            <p:spPr>
              <a:xfrm>
                <a:off x="6611112" y="3794760"/>
                <a:ext cx="4709160" cy="822960"/>
              </a:xfrm>
              <a:prstGeom prst="rect">
                <a:avLst/>
              </a:prstGeom>
              <a:blipFill>
                <a:blip r:embed="rId5"/>
                <a:stretch>
                  <a:fillRect/>
                </a:stretch>
              </a:blipFill>
              <a:ln/>
            </p:spPr>
            <p:txBody>
              <a:bodyPr/>
              <a:lstStyle/>
              <a:p>
                <a:r>
                  <a:rPr lang="es-MX">
                    <a:noFill/>
                  </a:rPr>
                  <a:t> </a:t>
                </a:r>
              </a:p>
            </p:txBody>
          </p:sp>
        </mc:Fallback>
      </mc:AlternateContent>
      <p:sp>
        <p:nvSpPr>
          <p:cNvPr id="18" name="Extra"/>
          <p:cNvSpPr/>
          <p:nvPr/>
        </p:nvSpPr>
        <p:spPr>
          <a:xfrm>
            <a:off x="6611112" y="4663440"/>
            <a:ext cx="4709160" cy="365760"/>
          </a:xfrm>
          <a:prstGeom prst="rect">
            <a:avLst/>
          </a:prstGeom>
          <a:noFill/>
          <a:ln/>
        </p:spPr>
        <p:txBody>
          <a:bodyPr wrap="square" rtlCol="0" anchor="t"/>
          <a:lstStyle/>
          <a:p>
            <a:pPr marL="0" indent="0" algn="ctr">
              <a:lnSpc>
                <a:spcPct val="115000"/>
              </a:lnSpc>
              <a:buNone/>
            </a:pPr>
            <a:r>
              <a:rPr lang="en-US" sz="1300" dirty="0">
                <a:solidFill>
                  <a:srgbClr val="92400E"/>
                </a:solidFill>
                <a:latin typeface="Calibri" pitchFamily="34" charset="0"/>
                <a:ea typeface="Calibri" pitchFamily="34" charset="-122"/>
                <a:cs typeface="Calibri" pitchFamily="34" charset="-120"/>
              </a:rPr>
              <a:t>v_terminal = 39.2 m/s ≈ 141 km/h  (= mg/k)</a:t>
            </a:r>
            <a:endParaRPr lang="en-US" sz="1300" dirty="0"/>
          </a:p>
        </p:txBody>
      </p:sp>
      <p:sp>
        <p:nvSpPr>
          <p:cNvPr id="19" name="Interpret"/>
          <p:cNvSpPr/>
          <p:nvPr/>
        </p:nvSpPr>
        <p:spPr>
          <a:xfrm>
            <a:off x="6611112" y="5074920"/>
            <a:ext cx="4709160" cy="822960"/>
          </a:xfrm>
          <a:prstGeom prst="rect">
            <a:avLst/>
          </a:prstGeom>
          <a:noFill/>
          <a:ln/>
        </p:spPr>
        <p:txBody>
          <a:bodyPr wrap="square" rtlCol="0" anchor="t"/>
          <a:lstStyle/>
          <a:p>
            <a:pPr marL="0" indent="0" algn="l">
              <a:lnSpc>
                <a:spcPct val="125000"/>
              </a:lnSpc>
              <a:buNone/>
            </a:pPr>
            <a:r>
              <a:rPr lang="en-US" sz="1250" dirty="0">
                <a:solidFill>
                  <a:srgbClr val="92400E"/>
                </a:solidFill>
                <a:latin typeface="Calibri" pitchFamily="34" charset="0"/>
                <a:ea typeface="Calibri" pitchFamily="34" charset="-122"/>
                <a:cs typeface="Calibri" pitchFamily="34" charset="-120"/>
              </a:rPr>
              <a:t>Interpretar: la velocidad terminal depende solo de m, g y k — no del tiempo; es el equilibrio entre el peso y la resistencia del aire.</a:t>
            </a:r>
            <a:endParaRPr lang="en-US" sz="1250" dirty="0"/>
          </a:p>
        </p:txBody>
      </p:sp>
      <p:sp>
        <p:nvSpPr>
          <p:cNvPr id="20" name="Text F"/>
          <p:cNvSpPr/>
          <p:nvPr/>
        </p:nvSpPr>
        <p:spPr>
          <a:xfrm>
            <a:off x="11521440" y="6446520"/>
            <a:ext cx="457200" cy="292608"/>
          </a:xfrm>
          <a:prstGeom prst="rect">
            <a:avLst/>
          </a:prstGeom>
          <a:noFill/>
          <a:ln/>
        </p:spPr>
        <p:txBody>
          <a:bodyPr wrap="square" rtlCol="0" anchor="ctr"/>
          <a:lstStyle/>
          <a:p>
            <a:pPr marL="0" indent="0" algn="r">
              <a:buNone/>
            </a:pPr>
            <a:r>
              <a:rPr lang="en-US" sz="1200" dirty="0">
                <a:solidFill>
                  <a:srgbClr val="475569"/>
                </a:solidFill>
                <a:latin typeface="Calibri" pitchFamily="34" charset="0"/>
                <a:ea typeface="Calibri" pitchFamily="34" charset="-122"/>
                <a:cs typeface="Calibri"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869680" y="-2834640"/>
            <a:ext cx="4937760" cy="4937760"/>
          </a:xfrm>
          <a:prstGeom prst="ellipse">
            <a:avLst/>
          </a:prstGeom>
          <a:solidFill>
            <a:srgbClr val="FFE4E6"/>
          </a:solidFill>
          <a:ln/>
        </p:spPr>
        <p:txBody>
          <a:bodyPr/>
          <a:lstStyle/>
          <a:p>
            <a:endParaRPr lang="es-MX"/>
          </a:p>
        </p:txBody>
      </p:sp>
      <p:sp>
        <p:nvSpPr>
          <p:cNvPr id="3" name="Shape 1"/>
          <p:cNvSpPr/>
          <p:nvPr/>
        </p:nvSpPr>
        <p:spPr>
          <a:xfrm>
            <a:off x="548640" y="365760"/>
            <a:ext cx="1158240" cy="384048"/>
          </a:xfrm>
          <a:prstGeom prst="roundRect">
            <a:avLst>
              <a:gd name="adj" fmla="val 50000"/>
            </a:avLst>
          </a:prstGeom>
          <a:solidFill>
            <a:srgbClr val="FFE4E6"/>
          </a:solidFill>
          <a:ln/>
        </p:spPr>
        <p:txBody>
          <a:bodyPr/>
          <a:lstStyle/>
          <a:p>
            <a:endParaRPr lang="es-MX"/>
          </a:p>
        </p:txBody>
      </p:sp>
      <p:sp>
        <p:nvSpPr>
          <p:cNvPr id="4" name="Text 2"/>
          <p:cNvSpPr/>
          <p:nvPr/>
        </p:nvSpPr>
        <p:spPr>
          <a:xfrm>
            <a:off x="548640" y="365760"/>
            <a:ext cx="1158240" cy="384048"/>
          </a:xfrm>
          <a:prstGeom prst="rect">
            <a:avLst/>
          </a:prstGeom>
          <a:noFill/>
          <a:ln/>
        </p:spPr>
        <p:txBody>
          <a:bodyPr wrap="square" rtlCol="0" anchor="ctr"/>
          <a:lstStyle/>
          <a:p>
            <a:pPr marL="0" indent="0" algn="ctr">
              <a:buNone/>
            </a:pPr>
            <a:r>
              <a:rPr lang="en-US" sz="1300" b="1" kern="0" spc="100" dirty="0">
                <a:solidFill>
                  <a:srgbClr val="BE123C"/>
                </a:solidFill>
                <a:latin typeface="Calibri" pitchFamily="34" charset="0"/>
                <a:ea typeface="Calibri" pitchFamily="34" charset="-122"/>
                <a:cs typeface="Calibri" pitchFamily="34" charset="-120"/>
              </a:rPr>
              <a:t>CASO 5</a:t>
            </a:r>
            <a:endParaRPr lang="en-US" sz="1300" dirty="0"/>
          </a:p>
        </p:txBody>
      </p:sp>
      <p:sp>
        <p:nvSpPr>
          <p:cNvPr id="5" name="Text 3"/>
          <p:cNvSpPr/>
          <p:nvPr/>
        </p:nvSpPr>
        <p:spPr>
          <a:xfrm>
            <a:off x="548640" y="1874520"/>
            <a:ext cx="11091672" cy="640080"/>
          </a:xfrm>
          <a:prstGeom prst="rect">
            <a:avLst/>
          </a:prstGeom>
          <a:noFill/>
          <a:ln/>
        </p:spPr>
        <p:txBody>
          <a:bodyPr wrap="square" rtlCol="0" anchor="t"/>
          <a:lstStyle/>
          <a:p>
            <a:pPr marL="0" indent="0" algn="ctr">
              <a:buNone/>
            </a:pPr>
            <a:r>
              <a:rPr lang="en-US" sz="2600" dirty="0">
                <a:solidFill>
                  <a:srgbClr val="000000"/>
                </a:solidFill>
                <a:latin typeface="Calibri" pitchFamily="34" charset="0"/>
                <a:ea typeface="Calibri" pitchFamily="34" charset="-122"/>
                <a:cs typeface="Calibri" pitchFamily="34" charset="-120"/>
              </a:rPr>
              <a:t>🌊  </a:t>
            </a:r>
            <a:r>
              <a:rPr lang="en-US" sz="2600" b="1" dirty="0">
                <a:solidFill>
                  <a:srgbClr val="0F172A"/>
                </a:solidFill>
                <a:latin typeface="Calibri" pitchFamily="34" charset="0"/>
                <a:ea typeface="Calibri" pitchFamily="34" charset="-122"/>
                <a:cs typeface="Calibri" pitchFamily="34" charset="-120"/>
              </a:rPr>
              <a:t>Caso de la Firma: Líneas de Corriente de un Flujo</a:t>
            </a:r>
            <a:endParaRPr lang="en-US" sz="2600" dirty="0"/>
          </a:p>
        </p:txBody>
      </p:sp>
      <p:sp>
        <p:nvSpPr>
          <p:cNvPr id="6" name="Shape 4"/>
          <p:cNvSpPr/>
          <p:nvPr/>
        </p:nvSpPr>
        <p:spPr>
          <a:xfrm>
            <a:off x="1280160" y="2743200"/>
            <a:ext cx="9628632" cy="1097280"/>
          </a:xfrm>
          <a:prstGeom prst="roundRect">
            <a:avLst>
              <a:gd name="adj" fmla="val 5833"/>
            </a:avLst>
          </a:prstGeom>
          <a:solidFill>
            <a:srgbClr val="FFFFFF"/>
          </a:solidFill>
          <a:ln w="12700">
            <a:solidFill>
              <a:srgbClr val="E2E8F0"/>
            </a:solidFill>
            <a:prstDash val="solid"/>
          </a:ln>
        </p:spPr>
        <p:txBody>
          <a:bodyPr/>
          <a:lstStyle/>
          <a:p>
            <a:endParaRPr lang="es-MX"/>
          </a:p>
        </p:txBody>
      </p:sp>
      <mc:AlternateContent xmlns:mc="http://schemas.openxmlformats.org/markup-compatibility/2006">
        <mc:Choice xmlns:a14="http://schemas.microsoft.com/office/drawing/2010/main" Requires="a14">
          <p:sp>
            <p:nvSpPr>
              <p:cNvPr id="7" name="Text 5"/>
              <p:cNvSpPr/>
              <p:nvPr/>
            </p:nvSpPr>
            <p:spPr>
              <a:xfrm>
                <a:off x="1280160" y="2743200"/>
                <a:ext cx="9628632" cy="1097280"/>
              </a:xfrm>
              <a:prstGeom prst="rect">
                <a:avLst/>
              </a:prstGeom>
              <a:noFill/>
              <a:ln/>
            </p:spPr>
            <p:txBody>
              <a:bodyPr wrap="square" rtlCol="0" anchor="ctr"/>
              <a:lstStyle/>
              <a:p>
                <a:pPr marL="0" indent="0" algn="ctr">
                  <a:buNone/>
                  <a:defRPr sz="2900">
                    <a:solidFill>
                      <a:srgbClr val="BE123C"/>
                    </a:solidFill>
                  </a:defRPr>
                </a:pPr>
                <a14:m>
                  <m:oMathPara xmlns:m="http://schemas.openxmlformats.org/officeDocument/2006/math">
                    <m:oMath>
                      <m:r>
                        <a:rPr>
                          <a:latin typeface="Cambria Math" panose="02040503050406030204" pitchFamily="18" charset="0"/>
                        </a:rPr>
                        <m:t>(2</m:t>
                      </m:r>
                      <m:r>
                        <a:rPr>
                          <a:latin typeface="Cambria Math" panose="02040503050406030204" pitchFamily="18" charset="0"/>
                        </a:rPr>
                        <m:t>𝑥𝑦</m:t>
                      </m:r>
                      <m:r>
                        <a:rPr>
                          <a:latin typeface="Cambria Math" panose="02040503050406030204" pitchFamily="18" charset="0"/>
                        </a:rPr>
                        <m:t>−3</m:t>
                      </m:r>
                      <m:sSup>
                        <m:sSupPr>
                          <m:ctrlPr>
                            <a:rPr>
                              <a:latin typeface="Cambria Math" panose="02040503050406030204" pitchFamily="18" charset="0"/>
                            </a:rPr>
                          </m:ctrlPr>
                        </m:sSupPr>
                        <m:e>
                          <m:r>
                            <a:rPr>
                              <a:latin typeface="Cambria Math" panose="02040503050406030204" pitchFamily="18" charset="0"/>
                            </a:rPr>
                            <m:t>𝑥</m:t>
                          </m:r>
                        </m:e>
                        <m:sup>
                          <m:r>
                            <a:rPr>
                              <a:latin typeface="Cambria Math" panose="02040503050406030204" pitchFamily="18" charset="0"/>
                            </a:rPr>
                            <m:t>2</m:t>
                          </m:r>
                        </m:sup>
                      </m:sSup>
                      <m:r>
                        <a:rPr>
                          <a:latin typeface="Cambria Math" panose="02040503050406030204" pitchFamily="18" charset="0"/>
                        </a:rPr>
                        <m:t>)</m:t>
                      </m:r>
                      <m:r>
                        <a:rPr>
                          <a:latin typeface="Cambria Math" panose="02040503050406030204" pitchFamily="18" charset="0"/>
                        </a:rPr>
                        <m:t>𝑑𝑥</m:t>
                      </m:r>
                      <m:r>
                        <a:rPr>
                          <a:latin typeface="Cambria Math" panose="02040503050406030204" pitchFamily="18" charset="0"/>
                        </a:rPr>
                        <m:t>+(</m:t>
                      </m:r>
                      <m:sSup>
                        <m:sSupPr>
                          <m:ctrlPr>
                            <a:rPr>
                              <a:latin typeface="Cambria Math" panose="02040503050406030204" pitchFamily="18" charset="0"/>
                            </a:rPr>
                          </m:ctrlPr>
                        </m:sSupPr>
                        <m:e>
                          <m:r>
                            <a:rPr>
                              <a:latin typeface="Cambria Math" panose="02040503050406030204" pitchFamily="18" charset="0"/>
                            </a:rPr>
                            <m:t>𝑥</m:t>
                          </m:r>
                        </m:e>
                        <m:sup>
                          <m:r>
                            <a:rPr>
                              <a:latin typeface="Cambria Math" panose="02040503050406030204" pitchFamily="18" charset="0"/>
                            </a:rPr>
                            <m:t>2</m:t>
                          </m:r>
                        </m:sup>
                      </m:sSup>
                      <m:r>
                        <a:rPr>
                          <a:latin typeface="Cambria Math" panose="02040503050406030204" pitchFamily="18" charset="0"/>
                        </a:rPr>
                        <m:t>−2</m:t>
                      </m:r>
                      <m:r>
                        <a:rPr>
                          <a:latin typeface="Cambria Math" panose="02040503050406030204" pitchFamily="18" charset="0"/>
                        </a:rPr>
                        <m:t>𝑦</m:t>
                      </m:r>
                      <m:r>
                        <a:rPr>
                          <a:latin typeface="Cambria Math" panose="02040503050406030204" pitchFamily="18" charset="0"/>
                        </a:rPr>
                        <m:t>)</m:t>
                      </m:r>
                      <m:r>
                        <a:rPr>
                          <a:latin typeface="Cambria Math" panose="02040503050406030204" pitchFamily="18" charset="0"/>
                        </a:rPr>
                        <m:t>𝑑𝑦</m:t>
                      </m:r>
                      <m:r>
                        <a:rPr>
                          <a:latin typeface="Cambria Math" panose="02040503050406030204" pitchFamily="18" charset="0"/>
                        </a:rPr>
                        <m:t>=0</m:t>
                      </m:r>
                    </m:oMath>
                  </m:oMathPara>
                </a14:m>
                <a:endParaRPr lang="en-US" sz="2900" dirty="0"/>
              </a:p>
            </p:txBody>
          </p:sp>
        </mc:Choice>
        <mc:Fallback>
          <p:sp>
            <p:nvSpPr>
              <p:cNvPr id="7" name="Text 5"/>
              <p:cNvSpPr>
                <a:spLocks noRot="1" noChangeAspect="1" noMove="1" noResize="1" noEditPoints="1" noAdjustHandles="1" noChangeArrowheads="1" noChangeShapeType="1" noTextEdit="1"/>
              </p:cNvSpPr>
              <p:nvPr/>
            </p:nvSpPr>
            <p:spPr>
              <a:xfrm>
                <a:off x="1280160" y="2743200"/>
                <a:ext cx="9628632" cy="1097280"/>
              </a:xfrm>
              <a:prstGeom prst="rect">
                <a:avLst/>
              </a:prstGeom>
              <a:blipFill>
                <a:blip r:embed="rId2"/>
                <a:stretch>
                  <a:fillRect/>
                </a:stretch>
              </a:blipFill>
              <a:ln/>
            </p:spPr>
            <p:txBody>
              <a:bodyPr/>
              <a:lstStyle/>
              <a:p>
                <a:r>
                  <a:rPr lang="es-MX">
                    <a:noFill/>
                  </a:rPr>
                  <a:t> </a:t>
                </a:r>
              </a:p>
            </p:txBody>
          </p:sp>
        </mc:Fallback>
      </mc:AlternateContent>
      <p:sp>
        <p:nvSpPr>
          <p:cNvPr id="30" name="Text 29"/>
          <p:cNvSpPr/>
          <p:nvPr/>
        </p:nvSpPr>
        <p:spPr>
          <a:xfrm>
            <a:off x="1280160" y="3886200"/>
            <a:ext cx="9628632" cy="685800"/>
          </a:xfrm>
          <a:prstGeom prst="rect">
            <a:avLst/>
          </a:prstGeom>
          <a:noFill/>
          <a:ln/>
        </p:spPr>
        <p:txBody>
          <a:bodyPr wrap="square" rtlCol="0" anchor="t"/>
          <a:lstStyle/>
          <a:p>
            <a:pPr marL="0" indent="0" algn="ctr">
              <a:lnSpc>
                <a:spcPct val="125000"/>
              </a:lnSpc>
              <a:buNone/>
            </a:pPr>
            <a:r>
              <a:rPr lang="es-MX" sz="1500" dirty="0">
                <a:solidFill>
                  <a:srgbClr val="BE123C"/>
                </a:solidFill>
                <a:latin typeface="Calibri" pitchFamily="34" charset="0"/>
                <a:ea typeface="Calibri" pitchFamily="34" charset="-122"/>
                <a:cs typeface="Calibri" pitchFamily="34" charset="-120"/>
              </a:rPr>
              <a:t>Un ingeniero aerodinámico modela las líneas de corriente de un flujo potencial plano con la ecuación anterior. Una sonda confirma que la línea de corriente de interés pasa por el punto (1, 2).</a:t>
            </a:r>
            <a:endParaRPr lang="en-US" sz="1500" dirty="0"/>
          </a:p>
        </p:txBody>
      </p:sp>
      <p:sp>
        <p:nvSpPr>
          <p:cNvPr id="8" name="Text 6"/>
          <p:cNvSpPr/>
          <p:nvPr/>
        </p:nvSpPr>
        <p:spPr>
          <a:xfrm>
            <a:off x="1737360" y="4709160"/>
            <a:ext cx="8714232" cy="822960"/>
          </a:xfrm>
          <a:prstGeom prst="rect">
            <a:avLst/>
          </a:prstGeom>
          <a:noFill/>
          <a:ln/>
        </p:spPr>
        <p:txBody>
          <a:bodyPr wrap="square" rtlCol="0" anchor="t"/>
          <a:lstStyle/>
          <a:p>
            <a:pPr marL="0" indent="0" algn="ctr">
              <a:lnSpc>
                <a:spcPct val="130000"/>
              </a:lnSpc>
              <a:buNone/>
            </a:pPr>
            <a:r>
              <a:rPr lang="en-US" sz="1600" i="1" dirty="0">
                <a:solidFill>
                  <a:srgbClr val="475569"/>
                </a:solidFill>
                <a:latin typeface="Calibri" pitchFamily="34" charset="0"/>
                <a:ea typeface="Calibri" pitchFamily="34" charset="-122"/>
                <a:cs typeface="Calibri" pitchFamily="34" charset="-120"/>
              </a:rPr>
              <a:t>Verifiquen que el modelo es exacto y encuentren la línea de corriente específica que pasa por ese punto.</a:t>
            </a:r>
            <a:endParaRPr lang="en-US" sz="1600" dirty="0"/>
          </a:p>
        </p:txBody>
      </p:sp>
      <p:sp>
        <p:nvSpPr>
          <p:cNvPr id="9" name="Text 7"/>
          <p:cNvSpPr/>
          <p:nvPr/>
        </p:nvSpPr>
        <p:spPr>
          <a:xfrm>
            <a:off x="11521440" y="6446520"/>
            <a:ext cx="457200" cy="292608"/>
          </a:xfrm>
          <a:prstGeom prst="rect">
            <a:avLst/>
          </a:prstGeom>
          <a:noFill/>
          <a:ln/>
        </p:spPr>
        <p:txBody>
          <a:bodyPr wrap="square" rtlCol="0" anchor="ctr"/>
          <a:lstStyle/>
          <a:p>
            <a:pPr marL="0" indent="0" algn="r">
              <a:buNone/>
            </a:pPr>
            <a:r>
              <a:rPr lang="en-US" sz="1200" dirty="0">
                <a:solidFill>
                  <a:srgbClr val="475569"/>
                </a:solidFill>
                <a:latin typeface="Calibri" pitchFamily="34" charset="0"/>
                <a:ea typeface="Calibri" pitchFamily="34" charset="-122"/>
                <a:cs typeface="Calibri"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158240" cy="384048"/>
          </a:xfrm>
          <a:prstGeom prst="roundRect">
            <a:avLst>
              <a:gd name="adj" fmla="val 50000"/>
            </a:avLst>
          </a:prstGeom>
          <a:solidFill>
            <a:srgbClr val="FFE4E6"/>
          </a:solidFill>
          <a:ln/>
        </p:spPr>
        <p:txBody>
          <a:bodyPr/>
          <a:lstStyle/>
          <a:p>
            <a:endParaRPr lang="es-MX"/>
          </a:p>
        </p:txBody>
      </p:sp>
      <p:sp>
        <p:nvSpPr>
          <p:cNvPr id="3" name="Text 1"/>
          <p:cNvSpPr/>
          <p:nvPr/>
        </p:nvSpPr>
        <p:spPr>
          <a:xfrm>
            <a:off x="548640" y="365760"/>
            <a:ext cx="1158240" cy="384048"/>
          </a:xfrm>
          <a:prstGeom prst="rect">
            <a:avLst/>
          </a:prstGeom>
          <a:noFill/>
          <a:ln/>
        </p:spPr>
        <p:txBody>
          <a:bodyPr wrap="square" rtlCol="0" anchor="ctr"/>
          <a:lstStyle/>
          <a:p>
            <a:pPr marL="0" indent="0" algn="ctr">
              <a:buNone/>
            </a:pPr>
            <a:r>
              <a:rPr lang="en-US" sz="1300" b="1" dirty="0">
                <a:solidFill>
                  <a:srgbClr val="BE123C"/>
                </a:solidFill>
                <a:latin typeface="Calibri" pitchFamily="34" charset="0"/>
                <a:ea typeface="Calibri" pitchFamily="34" charset="-122"/>
                <a:cs typeface="Calibri" pitchFamily="34" charset="-120"/>
              </a:rPr>
              <a:t>CASO 5</a:t>
            </a:r>
            <a:endParaRPr lang="en-US" sz="1300" dirty="0"/>
          </a:p>
        </p:txBody>
      </p:sp>
      <p:sp>
        <p:nvSpPr>
          <p:cNvPr id="4" name="Text 2"/>
          <p:cNvSpPr/>
          <p:nvPr/>
        </p:nvSpPr>
        <p:spPr>
          <a:xfrm>
            <a:off x="548640" y="868680"/>
            <a:ext cx="11091672" cy="731520"/>
          </a:xfrm>
          <a:prstGeom prst="rect">
            <a:avLst/>
          </a:prstGeom>
          <a:noFill/>
          <a:ln/>
        </p:spPr>
        <p:txBody>
          <a:bodyPr wrap="square" rtlCol="0" anchor="t"/>
          <a:lstStyle/>
          <a:p>
            <a:pPr marL="0" indent="0" algn="l">
              <a:buNone/>
            </a:pPr>
            <a:r>
              <a:rPr lang="en-US" sz="3200" b="1" dirty="0">
                <a:solidFill>
                  <a:srgbClr val="0F172A"/>
                </a:solidFill>
                <a:latin typeface="Calibri" pitchFamily="34" charset="0"/>
                <a:ea typeface="Calibri" pitchFamily="34" charset="-122"/>
                <a:cs typeface="Calibri" pitchFamily="34" charset="-120"/>
              </a:rPr>
              <a:t>Líneas de Corriente — Solución</a:t>
            </a:r>
            <a:endParaRPr lang="en-US" sz="3200" dirty="0"/>
          </a:p>
        </p:txBody>
      </p:sp>
      <mc:AlternateContent xmlns:mc="http://schemas.openxmlformats.org/markup-compatibility/2006">
        <mc:Choice xmlns:a14="http://schemas.microsoft.com/office/drawing/2010/main" Requires="a14">
          <p:sp>
            <p:nvSpPr>
              <p:cNvPr id="5" name="Text 3"/>
              <p:cNvSpPr/>
              <p:nvPr/>
            </p:nvSpPr>
            <p:spPr>
              <a:xfrm>
                <a:off x="548640" y="1508760"/>
                <a:ext cx="11091672" cy="365760"/>
              </a:xfrm>
              <a:prstGeom prst="rect">
                <a:avLst/>
              </a:prstGeom>
              <a:noFill/>
              <a:ln/>
            </p:spPr>
            <p:txBody>
              <a:bodyPr wrap="square" rtlCol="0" anchor="t"/>
              <a:lstStyle/>
              <a:p>
                <a:pPr marL="0" indent="0" algn="l">
                  <a:lnSpc>
                    <a:spcPct val="100000"/>
                  </a:lnSpc>
                  <a:buNone/>
                </a:pPr>
                <a14:m>
                  <m:oMathPara xmlns:m="http://schemas.openxmlformats.org/officeDocument/2006/math">
                    <m:oMath>
                      <m:r>
                        <a:rPr>
                          <a:latin typeface="Cambria Math" panose="02040503050406030204" pitchFamily="18" charset="0"/>
                        </a:rPr>
                        <m:t>𝑀</m:t>
                      </m:r>
                      <m:r>
                        <a:rPr>
                          <a:latin typeface="Cambria Math" panose="02040503050406030204" pitchFamily="18" charset="0"/>
                        </a:rPr>
                        <m:t>=2</m:t>
                      </m:r>
                      <m:r>
                        <a:rPr>
                          <a:latin typeface="Cambria Math" panose="02040503050406030204" pitchFamily="18" charset="0"/>
                        </a:rPr>
                        <m:t>𝑥𝑦</m:t>
                      </m:r>
                      <m:r>
                        <a:rPr>
                          <a:latin typeface="Cambria Math" panose="02040503050406030204" pitchFamily="18" charset="0"/>
                        </a:rPr>
                        <m:t>−3</m:t>
                      </m:r>
                      <m:sSup>
                        <m:sSupPr>
                          <m:ctrlPr>
                            <a:rPr>
                              <a:latin typeface="Cambria Math" panose="02040503050406030204" pitchFamily="18" charset="0"/>
                            </a:rPr>
                          </m:ctrlPr>
                        </m:sSupPr>
                        <m:e>
                          <m:r>
                            <a:rPr>
                              <a:latin typeface="Cambria Math" panose="02040503050406030204" pitchFamily="18" charset="0"/>
                            </a:rPr>
                            <m:t>𝑥</m:t>
                          </m:r>
                        </m:e>
                        <m:sup>
                          <m:r>
                            <a:rPr>
                              <a:latin typeface="Cambria Math" panose="02040503050406030204" pitchFamily="18" charset="0"/>
                            </a:rPr>
                            <m:t>2</m:t>
                          </m:r>
                        </m:sup>
                      </m:sSup>
                      <m:r>
                        <a:rPr>
                          <a:latin typeface="Cambria Math" panose="02040503050406030204" pitchFamily="18" charset="0"/>
                        </a:rPr>
                        <m:t>, </m:t>
                      </m:r>
                      <m:r>
                        <a:rPr>
                          <a:latin typeface="Cambria Math" panose="02040503050406030204" pitchFamily="18" charset="0"/>
                        </a:rPr>
                        <m:t>𝑁</m:t>
                      </m:r>
                      <m:r>
                        <a:rPr>
                          <a:latin typeface="Cambria Math" panose="02040503050406030204" pitchFamily="18" charset="0"/>
                        </a:rPr>
                        <m:t>=</m:t>
                      </m:r>
                      <m:sSup>
                        <m:sSupPr>
                          <m:ctrlPr>
                            <a:rPr>
                              <a:latin typeface="Cambria Math" panose="02040503050406030204" pitchFamily="18" charset="0"/>
                            </a:rPr>
                          </m:ctrlPr>
                        </m:sSupPr>
                        <m:e>
                          <m:r>
                            <a:rPr>
                              <a:latin typeface="Cambria Math" panose="02040503050406030204" pitchFamily="18" charset="0"/>
                            </a:rPr>
                            <m:t>𝑥</m:t>
                          </m:r>
                        </m:e>
                        <m:sup>
                          <m:r>
                            <a:rPr>
                              <a:latin typeface="Cambria Math" panose="02040503050406030204" pitchFamily="18" charset="0"/>
                            </a:rPr>
                            <m:t>2</m:t>
                          </m:r>
                        </m:sup>
                      </m:sSup>
                      <m:r>
                        <a:rPr>
                          <a:latin typeface="Cambria Math" panose="02040503050406030204" pitchFamily="18" charset="0"/>
                        </a:rPr>
                        <m:t>−2</m:t>
                      </m:r>
                      <m:r>
                        <a:rPr>
                          <a:latin typeface="Cambria Math" panose="02040503050406030204" pitchFamily="18" charset="0"/>
                        </a:rPr>
                        <m:t>𝑦</m:t>
                      </m:r>
                    </m:oMath>
                  </m:oMathPara>
                </a14:m>
                <a:endParaRPr lang="en-US" sz="1700" dirty="0"/>
              </a:p>
            </p:txBody>
          </p:sp>
        </mc:Choice>
        <mc:Fallback>
          <p:sp>
            <p:nvSpPr>
              <p:cNvPr id="5" name="Text 3"/>
              <p:cNvSpPr>
                <a:spLocks noRot="1" noChangeAspect="1" noMove="1" noResize="1" noEditPoints="1" noAdjustHandles="1" noChangeArrowheads="1" noChangeShapeType="1" noTextEdit="1"/>
              </p:cNvSpPr>
              <p:nvPr/>
            </p:nvSpPr>
            <p:spPr>
              <a:xfrm>
                <a:off x="548640" y="1508760"/>
                <a:ext cx="11091672" cy="365760"/>
              </a:xfrm>
              <a:prstGeom prst="rect">
                <a:avLst/>
              </a:prstGeom>
              <a:blipFill>
                <a:blip r:embed="rId2"/>
                <a:stretch>
                  <a:fillRect b="-6667"/>
                </a:stretch>
              </a:blipFill>
              <a:ln/>
            </p:spPr>
            <p:txBody>
              <a:bodyPr/>
              <a:lstStyle/>
              <a:p>
                <a:r>
                  <a:rPr lang="es-MX">
                    <a:noFill/>
                  </a:rPr>
                  <a:t> </a:t>
                </a:r>
              </a:p>
            </p:txBody>
          </p:sp>
        </mc:Fallback>
      </mc:AlternateContent>
      <p:sp>
        <p:nvSpPr>
          <p:cNvPr id="6" name="Shape 4"/>
          <p:cNvSpPr/>
          <p:nvPr/>
        </p:nvSpPr>
        <p:spPr>
          <a:xfrm>
            <a:off x="548640" y="2194560"/>
            <a:ext cx="5349240" cy="3749040"/>
          </a:xfrm>
          <a:prstGeom prst="roundRect">
            <a:avLst>
              <a:gd name="adj" fmla="val 2439"/>
            </a:avLst>
          </a:prstGeom>
          <a:solidFill>
            <a:srgbClr val="F1F5F9"/>
          </a:solidFill>
          <a:ln w="12700">
            <a:solidFill>
              <a:srgbClr val="E2E8F0"/>
            </a:solidFill>
            <a:prstDash val="solid"/>
          </a:ln>
        </p:spPr>
        <p:txBody>
          <a:bodyPr/>
          <a:lstStyle/>
          <a:p>
            <a:endParaRPr lang="es-MX"/>
          </a:p>
        </p:txBody>
      </p:sp>
      <p:sp>
        <p:nvSpPr>
          <p:cNvPr id="7" name="Header"/>
          <p:cNvSpPr/>
          <p:nvPr/>
        </p:nvSpPr>
        <p:spPr>
          <a:xfrm>
            <a:off x="868680" y="2468880"/>
            <a:ext cx="4754880" cy="365760"/>
          </a:xfrm>
          <a:prstGeom prst="rect">
            <a:avLst/>
          </a:prstGeom>
          <a:noFill/>
          <a:ln/>
        </p:spPr>
        <p:txBody>
          <a:bodyPr wrap="square" rtlCol="0" anchor="t"/>
          <a:lstStyle/>
          <a:p>
            <a:pPr marL="0" indent="0">
              <a:buNone/>
            </a:pPr>
            <a:r>
              <a:rPr lang="en-US" sz="1400" b="1" dirty="0">
                <a:solidFill>
                  <a:srgbClr val="0F172A"/>
                </a:solidFill>
                <a:latin typeface="Calibri" pitchFamily="34" charset="0"/>
                <a:ea typeface="Calibri" pitchFamily="34" charset="-122"/>
                <a:cs typeface="Calibri" pitchFamily="34" charset="-120"/>
              </a:rPr>
              <a:t>Formular:</a:t>
            </a:r>
            <a:endParaRPr lang="en-US" sz="1400" dirty="0"/>
          </a:p>
        </p:txBody>
      </p:sp>
      <mc:AlternateContent xmlns:mc="http://schemas.openxmlformats.org/markup-compatibility/2006">
        <mc:Choice xmlns:a14="http://schemas.microsoft.com/office/drawing/2010/main" Requires="a14">
          <p:sp>
            <p:nvSpPr>
              <p:cNvPr id="8" name="Content"/>
              <p:cNvSpPr/>
              <p:nvPr/>
            </p:nvSpPr>
            <p:spPr>
              <a:xfrm>
                <a:off x="868680" y="2880360"/>
                <a:ext cx="4754880" cy="420000"/>
              </a:xfrm>
              <a:prstGeom prst="rect">
                <a:avLst/>
              </a:prstGeom>
              <a:noFill/>
              <a:ln/>
            </p:spPr>
            <p:txBody>
              <a:bodyPr wrap="square" rtlCol="0" anchor="t"/>
              <a:lstStyle/>
              <a:p>
                <a:pPr marL="0" indent="0" algn="l">
                  <a:lnSpc>
                    <a:spcPct val="118000"/>
                  </a:lnSpc>
                  <a:buNone/>
                </a:pPr>
                <a14:m>
                  <m:oMath xmlns:m="http://schemas.openxmlformats.org/officeDocument/2006/math">
                    <m:r>
                      <a:rPr>
                        <a:latin typeface="Cambria Math" panose="02040503050406030204" pitchFamily="18" charset="0"/>
                      </a:rPr>
                      <m:t>𝑀</m:t>
                    </m:r>
                    <m:r>
                      <a:rPr>
                        <a:latin typeface="Cambria Math" panose="02040503050406030204" pitchFamily="18" charset="0"/>
                      </a:rPr>
                      <m:t>=2</m:t>
                    </m:r>
                    <m:r>
                      <a:rPr>
                        <a:latin typeface="Cambria Math" panose="02040503050406030204" pitchFamily="18" charset="0"/>
                      </a:rPr>
                      <m:t>𝑥𝑦</m:t>
                    </m:r>
                    <m:r>
                      <a:rPr>
                        <a:latin typeface="Cambria Math" panose="02040503050406030204" pitchFamily="18" charset="0"/>
                      </a:rPr>
                      <m:t>−3</m:t>
                    </m:r>
                    <m:sSup>
                      <m:sSupPr>
                        <m:ctrlPr>
                          <a:rPr>
                            <a:latin typeface="Cambria Math" panose="02040503050406030204" pitchFamily="18" charset="0"/>
                          </a:rPr>
                        </m:ctrlPr>
                      </m:sSupPr>
                      <m:e>
                        <m:r>
                          <a:rPr>
                            <a:latin typeface="Cambria Math" panose="02040503050406030204" pitchFamily="18" charset="0"/>
                          </a:rPr>
                          <m:t>𝑥</m:t>
                        </m:r>
                      </m:e>
                      <m:sup>
                        <m:r>
                          <a:rPr>
                            <a:latin typeface="Cambria Math" panose="02040503050406030204" pitchFamily="18" charset="0"/>
                          </a:rPr>
                          <m:t>2</m:t>
                        </m:r>
                      </m:sup>
                    </m:sSup>
                    <m:r>
                      <a:rPr>
                        <a:latin typeface="Cambria Math" panose="02040503050406030204" pitchFamily="18" charset="0"/>
                      </a:rPr>
                      <m:t>, </m:t>
                    </m:r>
                    <m:r>
                      <a:rPr>
                        <a:latin typeface="Cambria Math" panose="02040503050406030204" pitchFamily="18" charset="0"/>
                      </a:rPr>
                      <m:t>𝑁</m:t>
                    </m:r>
                    <m:r>
                      <a:rPr>
                        <a:latin typeface="Cambria Math" panose="02040503050406030204" pitchFamily="18" charset="0"/>
                      </a:rPr>
                      <m:t>=</m:t>
                    </m:r>
                    <m:sSup>
                      <m:sSupPr>
                        <m:ctrlPr>
                          <a:rPr>
                            <a:latin typeface="Cambria Math" panose="02040503050406030204" pitchFamily="18" charset="0"/>
                          </a:rPr>
                        </m:ctrlPr>
                      </m:sSupPr>
                      <m:e>
                        <m:r>
                          <a:rPr>
                            <a:latin typeface="Cambria Math" panose="02040503050406030204" pitchFamily="18" charset="0"/>
                          </a:rPr>
                          <m:t>𝑥</m:t>
                        </m:r>
                      </m:e>
                      <m:sup>
                        <m:r>
                          <a:rPr>
                            <a:latin typeface="Cambria Math" panose="02040503050406030204" pitchFamily="18" charset="0"/>
                          </a:rPr>
                          <m:t>2</m:t>
                        </m:r>
                      </m:sup>
                    </m:sSup>
                    <m:r>
                      <a:rPr>
                        <a:latin typeface="Cambria Math" panose="02040503050406030204" pitchFamily="18" charset="0"/>
                      </a:rPr>
                      <m:t>−2</m:t>
                    </m:r>
                    <m:r>
                      <a:rPr>
                        <a:latin typeface="Cambria Math" panose="02040503050406030204" pitchFamily="18" charset="0"/>
                      </a:rPr>
                      <m:t>𝑦</m:t>
                    </m:r>
                  </m:oMath>
                </a14:m>
                <a:r>
                  <a:rPr lang="en-US" sz="1400" dirty="0">
                    <a:solidFill>
                      <a:srgbClr val="334155"/>
                    </a:solidFill>
                    <a:latin typeface="Calibri" pitchFamily="34" charset="0"/>
                    <a:ea typeface="Calibri" pitchFamily="34" charset="-122"/>
                    <a:cs typeface="Calibri" pitchFamily="34" charset="-120"/>
                  </a:rPr>
                  <a:t> (dado)</a:t>
                </a:r>
                <a:endParaRPr lang="en-US" sz="1400" dirty="0"/>
              </a:p>
            </p:txBody>
          </p:sp>
        </mc:Choice>
        <mc:Fallback>
          <p:sp>
            <p:nvSpPr>
              <p:cNvPr id="8" name="Content"/>
              <p:cNvSpPr>
                <a:spLocks noRot="1" noChangeAspect="1" noMove="1" noResize="1" noEditPoints="1" noAdjustHandles="1" noChangeArrowheads="1" noChangeShapeType="1" noTextEdit="1"/>
              </p:cNvSpPr>
              <p:nvPr/>
            </p:nvSpPr>
            <p:spPr>
              <a:xfrm>
                <a:off x="868680" y="2880360"/>
                <a:ext cx="4754880" cy="420000"/>
              </a:xfrm>
              <a:prstGeom prst="rect">
                <a:avLst/>
              </a:prstGeom>
              <a:blipFill>
                <a:blip r:embed="rId3"/>
                <a:stretch>
                  <a:fillRect b="-7353"/>
                </a:stretch>
              </a:blipFill>
              <a:ln/>
            </p:spPr>
            <p:txBody>
              <a:bodyPr/>
              <a:lstStyle/>
              <a:p>
                <a:r>
                  <a:rPr lang="es-MX">
                    <a:noFill/>
                  </a:rPr>
                  <a:t> </a:t>
                </a:r>
              </a:p>
            </p:txBody>
          </p:sp>
        </mc:Fallback>
      </mc:AlternateContent>
      <p:sp>
        <p:nvSpPr>
          <p:cNvPr id="9" name="Header"/>
          <p:cNvSpPr/>
          <p:nvPr/>
        </p:nvSpPr>
        <p:spPr>
          <a:xfrm>
            <a:off x="868680" y="3391800"/>
            <a:ext cx="4754880" cy="365760"/>
          </a:xfrm>
          <a:prstGeom prst="rect">
            <a:avLst/>
          </a:prstGeom>
          <a:noFill/>
          <a:ln/>
        </p:spPr>
        <p:txBody>
          <a:bodyPr wrap="square" rtlCol="0" anchor="t"/>
          <a:lstStyle/>
          <a:p>
            <a:pPr marL="0" indent="0">
              <a:buNone/>
            </a:pPr>
            <a:r>
              <a:rPr lang="en-US" sz="1400" b="1" dirty="0">
                <a:solidFill>
                  <a:srgbClr val="0F172A"/>
                </a:solidFill>
                <a:latin typeface="Calibri" pitchFamily="34" charset="0"/>
                <a:ea typeface="Calibri" pitchFamily="34" charset="-122"/>
                <a:cs typeface="Calibri" pitchFamily="34" charset="-120"/>
              </a:rPr>
              <a:t>Clasificar:</a:t>
            </a:r>
            <a:endParaRPr lang="en-US" sz="1400" dirty="0"/>
          </a:p>
        </p:txBody>
      </p:sp>
      <p:sp>
        <p:nvSpPr>
          <p:cNvPr id="10" name="Content"/>
          <p:cNvSpPr/>
          <p:nvPr/>
        </p:nvSpPr>
        <p:spPr>
          <a:xfrm>
            <a:off x="868680" y="3803280"/>
            <a:ext cx="4754880" cy="500000"/>
          </a:xfrm>
          <a:prstGeom prst="rect">
            <a:avLst/>
          </a:prstGeom>
          <a:noFill/>
          <a:ln/>
        </p:spPr>
        <p:txBody>
          <a:bodyPr wrap="square" rtlCol="0" anchor="t"/>
          <a:lstStyle/>
          <a:p>
            <a:pPr marL="0" indent="0" algn="l">
              <a:lnSpc>
                <a:spcPct val="118000"/>
              </a:lnSpc>
              <a:buNone/>
            </a:pPr>
            <a:r>
              <a:rPr lang="en-US" sz="1350" dirty="0">
                <a:solidFill>
                  <a:srgbClr val="334155"/>
                </a:solidFill>
                <a:latin typeface="Calibri" pitchFamily="34" charset="0"/>
                <a:ea typeface="Calibri" pitchFamily="34" charset="-122"/>
                <a:cs typeface="Calibri" pitchFamily="34" charset="-120"/>
              </a:rPr>
              <a:t>EDO ordinaria de primer orden, en forma diferencial M dx + N dy = 0.</a:t>
            </a:r>
            <a:endParaRPr lang="en-US" sz="1350" dirty="0"/>
          </a:p>
        </p:txBody>
      </p:sp>
      <p:sp>
        <p:nvSpPr>
          <p:cNvPr id="11" name="Header"/>
          <p:cNvSpPr/>
          <p:nvPr/>
        </p:nvSpPr>
        <p:spPr>
          <a:xfrm>
            <a:off x="868680" y="4394720"/>
            <a:ext cx="4754880" cy="365760"/>
          </a:xfrm>
          <a:prstGeom prst="rect">
            <a:avLst/>
          </a:prstGeom>
          <a:noFill/>
          <a:ln/>
        </p:spPr>
        <p:txBody>
          <a:bodyPr wrap="square" rtlCol="0" anchor="t"/>
          <a:lstStyle/>
          <a:p>
            <a:pPr marL="0" indent="0">
              <a:buNone/>
            </a:pPr>
            <a:r>
              <a:rPr lang="en-US" sz="1400" b="1" dirty="0">
                <a:solidFill>
                  <a:srgbClr val="0F172A"/>
                </a:solidFill>
                <a:latin typeface="Calibri" pitchFamily="34" charset="0"/>
                <a:ea typeface="Calibri" pitchFamily="34" charset="-122"/>
                <a:cs typeface="Calibri" pitchFamily="34" charset="-120"/>
              </a:rPr>
              <a:t>Verificar exactitud:</a:t>
            </a:r>
            <a:endParaRPr lang="en-US" sz="1400" dirty="0"/>
          </a:p>
        </p:txBody>
      </p:sp>
      <mc:AlternateContent xmlns:mc="http://schemas.openxmlformats.org/markup-compatibility/2006">
        <mc:Choice xmlns:a14="http://schemas.microsoft.com/office/drawing/2010/main" Requires="a14">
          <p:sp>
            <p:nvSpPr>
              <p:cNvPr id="12" name="Content"/>
              <p:cNvSpPr/>
              <p:nvPr/>
            </p:nvSpPr>
            <p:spPr>
              <a:xfrm>
                <a:off x="868680" y="4806200"/>
                <a:ext cx="4754880" cy="600000"/>
              </a:xfrm>
              <a:prstGeom prst="rect">
                <a:avLst/>
              </a:prstGeom>
              <a:noFill/>
              <a:ln/>
            </p:spPr>
            <p:txBody>
              <a:bodyPr wrap="square" rtlCol="0" anchor="t"/>
              <a:lstStyle/>
              <a:p>
                <a:pPr marL="0" indent="0" algn="l">
                  <a:lnSpc>
                    <a:spcPct val="118000"/>
                  </a:lnSpc>
                  <a:buNone/>
                </a:pPr>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𝑀</m:t>
                        </m:r>
                      </m:e>
                      <m:sub>
                        <m:r>
                          <a:rPr>
                            <a:latin typeface="Cambria Math" panose="02040503050406030204" pitchFamily="18" charset="0"/>
                          </a:rPr>
                          <m:t>𝑦</m:t>
                        </m:r>
                      </m:sub>
                    </m:sSub>
                    <m:r>
                      <a:rPr>
                        <a:latin typeface="Cambria Math" panose="02040503050406030204" pitchFamily="18" charset="0"/>
                      </a:rPr>
                      <m:t>=2</m:t>
                    </m:r>
                    <m:r>
                      <a:rPr>
                        <a:latin typeface="Cambria Math" panose="02040503050406030204" pitchFamily="18" charset="0"/>
                      </a:rPr>
                      <m:t>𝑥</m:t>
                    </m:r>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𝑁</m:t>
                        </m:r>
                      </m:e>
                      <m:sub>
                        <m:r>
                          <a:rPr>
                            <a:latin typeface="Cambria Math" panose="02040503050406030204" pitchFamily="18" charset="0"/>
                          </a:rPr>
                          <m:t>𝑥</m:t>
                        </m:r>
                      </m:sub>
                    </m:sSub>
                  </m:oMath>
                </a14:m>
                <a:r>
                  <a:rPr lang="en-US" sz="1300" dirty="0">
                    <a:solidFill>
                      <a:srgbClr val="334155"/>
                    </a:solidFill>
                    <a:latin typeface="Calibri" pitchFamily="34" charset="0"/>
                    <a:ea typeface="Calibri" pitchFamily="34" charset="-122"/>
                    <a:cs typeface="Calibri" pitchFamily="34" charset="-120"/>
                  </a:rPr>
                  <a:t> ✓ — exacta ⇒ garantiza la familia de soluciones f(x,y)=C.</a:t>
                </a:r>
                <a:endParaRPr lang="en-US" sz="1300" dirty="0"/>
              </a:p>
            </p:txBody>
          </p:sp>
        </mc:Choice>
        <mc:Fallback>
          <p:sp>
            <p:nvSpPr>
              <p:cNvPr id="12" name="Content"/>
              <p:cNvSpPr>
                <a:spLocks noRot="1" noChangeAspect="1" noMove="1" noResize="1" noEditPoints="1" noAdjustHandles="1" noChangeArrowheads="1" noChangeShapeType="1" noTextEdit="1"/>
              </p:cNvSpPr>
              <p:nvPr/>
            </p:nvSpPr>
            <p:spPr>
              <a:xfrm>
                <a:off x="868680" y="4806200"/>
                <a:ext cx="4754880" cy="600000"/>
              </a:xfrm>
              <a:prstGeom prst="rect">
                <a:avLst/>
              </a:prstGeom>
              <a:blipFill>
                <a:blip r:embed="rId4"/>
                <a:stretch>
                  <a:fillRect l="-256" b="-18182"/>
                </a:stretch>
              </a:blipFill>
              <a:ln/>
            </p:spPr>
            <p:txBody>
              <a:bodyPr/>
              <a:lstStyle/>
              <a:p>
                <a:r>
                  <a:rPr lang="es-MX">
                    <a:noFill/>
                  </a:rPr>
                  <a:t> </a:t>
                </a:r>
              </a:p>
            </p:txBody>
          </p:sp>
        </mc:Fallback>
      </mc:AlternateContent>
      <p:sp>
        <p:nvSpPr>
          <p:cNvPr id="13" name="Shape 12"/>
          <p:cNvSpPr/>
          <p:nvPr/>
        </p:nvSpPr>
        <p:spPr>
          <a:xfrm>
            <a:off x="6291072" y="2194560"/>
            <a:ext cx="5349240" cy="3749040"/>
          </a:xfrm>
          <a:prstGeom prst="roundRect">
            <a:avLst>
              <a:gd name="adj" fmla="val 2439"/>
            </a:avLst>
          </a:prstGeom>
          <a:solidFill>
            <a:srgbClr val="FFE4E6"/>
          </a:solidFill>
          <a:ln w="12700">
            <a:solidFill>
              <a:srgbClr val="FECDD3"/>
            </a:solidFill>
            <a:prstDash val="solid"/>
          </a:ln>
        </p:spPr>
        <p:txBody>
          <a:bodyPr/>
          <a:lstStyle/>
          <a:p>
            <a:endParaRPr lang="es-MX"/>
          </a:p>
        </p:txBody>
      </p:sp>
      <p:sp>
        <p:nvSpPr>
          <p:cNvPr id="14" name="ResolverHeader"/>
          <p:cNvSpPr/>
          <p:nvPr/>
        </p:nvSpPr>
        <p:spPr>
          <a:xfrm>
            <a:off x="6611112" y="2468880"/>
            <a:ext cx="4709160" cy="365760"/>
          </a:xfrm>
          <a:prstGeom prst="rect">
            <a:avLst/>
          </a:prstGeom>
          <a:noFill/>
          <a:ln/>
        </p:spPr>
        <p:txBody>
          <a:bodyPr wrap="square" rtlCol="0" anchor="t"/>
          <a:lstStyle/>
          <a:p>
            <a:pPr marL="0" indent="0">
              <a:buNone/>
            </a:pPr>
            <a:r>
              <a:rPr lang="en-US" sz="1500" b="1" dirty="0">
                <a:solidFill>
                  <a:srgbClr val="9F1239"/>
                </a:solidFill>
                <a:latin typeface="Calibri" pitchFamily="34" charset="0"/>
                <a:ea typeface="Calibri" pitchFamily="34" charset="-122"/>
                <a:cs typeface="Calibri" pitchFamily="34" charset="-120"/>
              </a:rPr>
              <a:t>Resolver:</a:t>
            </a:r>
            <a:endParaRPr lang="en-US" sz="1500" dirty="0"/>
          </a:p>
        </p:txBody>
      </p:sp>
      <mc:AlternateContent xmlns:mc="http://schemas.openxmlformats.org/markup-compatibility/2006">
        <mc:Choice xmlns:a14="http://schemas.microsoft.com/office/drawing/2010/main" Requires="a14">
          <p:sp>
            <p:nvSpPr>
              <p:cNvPr id="15" name="ResolverBody"/>
              <p:cNvSpPr/>
              <p:nvPr/>
            </p:nvSpPr>
            <p:spPr>
              <a:xfrm>
                <a:off x="6611112" y="2880360"/>
                <a:ext cx="4709160" cy="1417320"/>
              </a:xfrm>
              <a:prstGeom prst="rect">
                <a:avLst/>
              </a:prstGeom>
              <a:noFill/>
              <a:ln/>
            </p:spPr>
            <p:txBody>
              <a:bodyPr wrap="square" rtlCol="0" anchor="t"/>
              <a:lstStyle/>
              <a:p>
                <a:pPr marL="0" indent="0" algn="l">
                  <a:lnSpc>
                    <a:spcPct val="122000"/>
                  </a:lnSpc>
                  <a:buNone/>
                </a:pPr>
                <a14:m>
                  <m:oMathPara xmlns:m="http://schemas.openxmlformats.org/officeDocument/2006/math">
                    <m:oMath>
                      <m:r>
                        <a:rPr>
                          <a:latin typeface="Cambria Math" panose="02040503050406030204" pitchFamily="18" charset="0"/>
                        </a:rPr>
                        <m:t>𝑓</m:t>
                      </m:r>
                      <m:r>
                        <a:rPr>
                          <a:latin typeface="Cambria Math" panose="02040503050406030204" pitchFamily="18" charset="0"/>
                        </a:rPr>
                        <m:t>=∫</m:t>
                      </m:r>
                      <m:r>
                        <a:rPr>
                          <a:latin typeface="Cambria Math" panose="02040503050406030204" pitchFamily="18" charset="0"/>
                        </a:rPr>
                        <m:t>𝑀</m:t>
                      </m:r>
                      <m:r>
                        <a:rPr>
                          <a:latin typeface="Cambria Math" panose="02040503050406030204" pitchFamily="18" charset="0"/>
                        </a:rPr>
                        <m:t> </m:t>
                      </m:r>
                      <m:r>
                        <a:rPr>
                          <a:latin typeface="Cambria Math" panose="02040503050406030204" pitchFamily="18" charset="0"/>
                        </a:rPr>
                        <m:t>𝑑𝑥</m:t>
                      </m:r>
                      <m:r>
                        <a:rPr>
                          <a:latin typeface="Cambria Math" panose="02040503050406030204" pitchFamily="18" charset="0"/>
                        </a:rPr>
                        <m:t> = </m:t>
                      </m:r>
                      <m:sSup>
                        <m:sSupPr>
                          <m:ctrlPr>
                            <a:rPr>
                              <a:latin typeface="Cambria Math" panose="02040503050406030204" pitchFamily="18" charset="0"/>
                            </a:rPr>
                          </m:ctrlPr>
                        </m:sSupPr>
                        <m:e>
                          <m:r>
                            <a:rPr>
                              <a:latin typeface="Cambria Math" panose="02040503050406030204" pitchFamily="18" charset="0"/>
                            </a:rPr>
                            <m:t>𝑥</m:t>
                          </m:r>
                        </m:e>
                        <m:sup>
                          <m:r>
                            <a:rPr>
                              <a:latin typeface="Cambria Math" panose="02040503050406030204" pitchFamily="18" charset="0"/>
                            </a:rPr>
                            <m:t>2</m:t>
                          </m:r>
                        </m:sup>
                      </m:sSup>
                      <m:r>
                        <a:rPr>
                          <a:latin typeface="Cambria Math" panose="02040503050406030204" pitchFamily="18" charset="0"/>
                        </a:rPr>
                        <m:t>𝑦</m:t>
                      </m:r>
                      <m:r>
                        <a:rPr>
                          <a:latin typeface="Cambria Math" panose="02040503050406030204" pitchFamily="18" charset="0"/>
                        </a:rPr>
                        <m:t>−</m:t>
                      </m:r>
                      <m:sSup>
                        <m:sSupPr>
                          <m:ctrlPr>
                            <a:rPr>
                              <a:latin typeface="Cambria Math" panose="02040503050406030204" pitchFamily="18" charset="0"/>
                            </a:rPr>
                          </m:ctrlPr>
                        </m:sSupPr>
                        <m:e>
                          <m:r>
                            <a:rPr>
                              <a:latin typeface="Cambria Math" panose="02040503050406030204" pitchFamily="18" charset="0"/>
                            </a:rPr>
                            <m:t>𝑥</m:t>
                          </m:r>
                        </m:e>
                        <m:sup>
                          <m:r>
                            <a:rPr>
                              <a:latin typeface="Cambria Math" panose="02040503050406030204" pitchFamily="18" charset="0"/>
                            </a:rPr>
                            <m:t>3</m:t>
                          </m:r>
                        </m:sup>
                      </m:sSup>
                      <m:r>
                        <a:rPr>
                          <a:latin typeface="Cambria Math" panose="02040503050406030204" pitchFamily="18" charset="0"/>
                        </a:rPr>
                        <m:t>+</m:t>
                      </m:r>
                      <m:r>
                        <a:rPr>
                          <a:latin typeface="Cambria Math" panose="02040503050406030204" pitchFamily="18" charset="0"/>
                        </a:rPr>
                        <m:t>𝑔</m:t>
                      </m:r>
                      <m:r>
                        <a:rPr>
                          <a:latin typeface="Cambria Math" panose="02040503050406030204" pitchFamily="18" charset="0"/>
                        </a:rPr>
                        <m:t>(</m:t>
                      </m:r>
                      <m:r>
                        <a:rPr>
                          <a:latin typeface="Cambria Math" panose="02040503050406030204" pitchFamily="18" charset="0"/>
                        </a:rPr>
                        <m:t>𝑦</m:t>
                      </m:r>
                      <m:r>
                        <a:rPr>
                          <a:latin typeface="Cambria Math" panose="02040503050406030204" pitchFamily="18" charset="0"/>
                        </a:rPr>
                        <m:t>)</m:t>
                      </m:r>
                    </m:oMath>
                  </m:oMathPara>
                </a14:m>
                <a:endParaRPr lang="en-US" sz="1200" dirty="0"/>
              </a:p>
              <a:p>
                <a:pPr marL="0" indent="0" algn="l">
                  <a:lnSpc>
                    <a:spcPct val="122000"/>
                  </a:lnSpc>
                  <a:buNone/>
                </a:pPr>
                <a14:m>
                  <m:oMath xmlns:m="http://schemas.openxmlformats.org/officeDocument/2006/math">
                    <m:sSup>
                      <m:sSupPr>
                        <m:ctrlPr>
                          <a:rPr>
                            <a:latin typeface="Cambria Math" panose="02040503050406030204" pitchFamily="18" charset="0"/>
                          </a:rPr>
                        </m:ctrlPr>
                      </m:sSupPr>
                      <m:e>
                        <m:r>
                          <a:rPr>
                            <a:latin typeface="Cambria Math" panose="02040503050406030204" pitchFamily="18" charset="0"/>
                          </a:rPr>
                          <m:t>𝑥</m:t>
                        </m:r>
                      </m:e>
                      <m:sup>
                        <m:r>
                          <a:rPr>
                            <a:latin typeface="Cambria Math" panose="02040503050406030204" pitchFamily="18" charset="0"/>
                          </a:rPr>
                          <m:t>2</m:t>
                        </m:r>
                      </m:sup>
                    </m:sSup>
                    <m:r>
                      <a:rPr>
                        <a:latin typeface="Cambria Math" panose="02040503050406030204" pitchFamily="18" charset="0"/>
                      </a:rPr>
                      <m:t>+</m:t>
                    </m:r>
                    <m:r>
                      <a:rPr>
                        <a:latin typeface="Cambria Math" panose="02040503050406030204" pitchFamily="18" charset="0"/>
                      </a:rPr>
                      <m:t>𝑔</m:t>
                    </m:r>
                    <m:r>
                      <a:rPr>
                        <a:latin typeface="Cambria Math" panose="02040503050406030204" pitchFamily="18" charset="0"/>
                      </a:rPr>
                      <m:t>′(</m:t>
                    </m:r>
                    <m:r>
                      <a:rPr>
                        <a:latin typeface="Cambria Math" panose="02040503050406030204" pitchFamily="18" charset="0"/>
                      </a:rPr>
                      <m:t>𝑦</m:t>
                    </m:r>
                    <m:r>
                      <a:rPr>
                        <a:latin typeface="Cambria Math" panose="02040503050406030204" pitchFamily="18" charset="0"/>
                      </a:rPr>
                      <m:t>)=</m:t>
                    </m:r>
                    <m:sSup>
                      <m:sSupPr>
                        <m:ctrlPr>
                          <a:rPr>
                            <a:latin typeface="Cambria Math" panose="02040503050406030204" pitchFamily="18" charset="0"/>
                          </a:rPr>
                        </m:ctrlPr>
                      </m:sSupPr>
                      <m:e>
                        <m:r>
                          <a:rPr>
                            <a:latin typeface="Cambria Math" panose="02040503050406030204" pitchFamily="18" charset="0"/>
                          </a:rPr>
                          <m:t>𝑥</m:t>
                        </m:r>
                      </m:e>
                      <m:sup>
                        <m:r>
                          <a:rPr>
                            <a:latin typeface="Cambria Math" panose="02040503050406030204" pitchFamily="18" charset="0"/>
                          </a:rPr>
                          <m:t>2</m:t>
                        </m:r>
                      </m:sup>
                    </m:sSup>
                    <m:r>
                      <a:rPr>
                        <a:latin typeface="Cambria Math" panose="02040503050406030204" pitchFamily="18" charset="0"/>
                      </a:rPr>
                      <m:t>−2</m:t>
                    </m:r>
                    <m:r>
                      <a:rPr>
                        <a:latin typeface="Cambria Math" panose="02040503050406030204" pitchFamily="18" charset="0"/>
                      </a:rPr>
                      <m:t>𝑦</m:t>
                    </m:r>
                  </m:oMath>
                </a14:m>
                <a:r>
                  <a:rPr lang="en-US" sz="1200" dirty="0">
                    <a:solidFill>
                      <a:srgbClr val="9F1239"/>
                    </a:solidFill>
                    <a:latin typeface="Calibri" pitchFamily="34" charset="0"/>
                    <a:ea typeface="Calibri" pitchFamily="34" charset="-122"/>
                    <a:cs typeface="Calibri" pitchFamily="34" charset="-120"/>
                  </a:rPr>
                  <a:t> ⇒ g'(y)=−2y ⇒ g(y)=−y²</a:t>
                </a:r>
                <a:endParaRPr lang="en-US" sz="1200" dirty="0"/>
              </a:p>
              <a:p>
                <a:pPr marL="0" indent="0" algn="l">
                  <a:lnSpc>
                    <a:spcPct val="122000"/>
                  </a:lnSpc>
                  <a:buNone/>
                </a:pPr>
                <a:r>
                  <a:rPr lang="en-US" sz="1200" dirty="0">
                    <a:solidFill>
                      <a:srgbClr val="9F1239"/>
                    </a:solidFill>
                    <a:latin typeface="Calibri" pitchFamily="34" charset="0"/>
                    <a:ea typeface="Calibri" pitchFamily="34" charset="-122"/>
                    <a:cs typeface="Calibri" pitchFamily="34" charset="-120"/>
                  </a:rPr>
                  <a:t>Ensamblando: </a:t>
                </a:r>
                <a14:m>
                  <m:oMath xmlns:m="http://schemas.openxmlformats.org/officeDocument/2006/math">
                    <m:sSup>
                      <m:sSupPr>
                        <m:ctrlPr>
                          <a:rPr>
                            <a:latin typeface="Cambria Math" panose="02040503050406030204" pitchFamily="18" charset="0"/>
                          </a:rPr>
                        </m:ctrlPr>
                      </m:sSupPr>
                      <m:e>
                        <m:r>
                          <a:rPr>
                            <a:latin typeface="Cambria Math" panose="02040503050406030204" pitchFamily="18" charset="0"/>
                          </a:rPr>
                          <m:t>𝑥</m:t>
                        </m:r>
                      </m:e>
                      <m:sup>
                        <m:r>
                          <a:rPr>
                            <a:latin typeface="Cambria Math" panose="02040503050406030204" pitchFamily="18" charset="0"/>
                          </a:rPr>
                          <m:t>2</m:t>
                        </m:r>
                      </m:sup>
                    </m:sSup>
                    <m:r>
                      <a:rPr>
                        <a:latin typeface="Cambria Math" panose="02040503050406030204" pitchFamily="18" charset="0"/>
                      </a:rPr>
                      <m:t>𝑦</m:t>
                    </m:r>
                    <m:r>
                      <a:rPr>
                        <a:latin typeface="Cambria Math" panose="02040503050406030204" pitchFamily="18" charset="0"/>
                      </a:rPr>
                      <m:t>−</m:t>
                    </m:r>
                    <m:sSup>
                      <m:sSupPr>
                        <m:ctrlPr>
                          <a:rPr>
                            <a:latin typeface="Cambria Math" panose="02040503050406030204" pitchFamily="18" charset="0"/>
                          </a:rPr>
                        </m:ctrlPr>
                      </m:sSupPr>
                      <m:e>
                        <m:r>
                          <a:rPr>
                            <a:latin typeface="Cambria Math" panose="02040503050406030204" pitchFamily="18" charset="0"/>
                          </a:rPr>
                          <m:t>𝑥</m:t>
                        </m:r>
                      </m:e>
                      <m:sup>
                        <m:r>
                          <a:rPr>
                            <a:latin typeface="Cambria Math" panose="02040503050406030204" pitchFamily="18" charset="0"/>
                          </a:rPr>
                          <m:t>3</m:t>
                        </m:r>
                      </m:sup>
                    </m:sSup>
                    <m:r>
                      <a:rPr>
                        <a:latin typeface="Cambria Math" panose="02040503050406030204" pitchFamily="18" charset="0"/>
                      </a:rPr>
                      <m:t>−</m:t>
                    </m:r>
                    <m:sSup>
                      <m:sSupPr>
                        <m:ctrlPr>
                          <a:rPr>
                            <a:latin typeface="Cambria Math" panose="02040503050406030204" pitchFamily="18" charset="0"/>
                          </a:rPr>
                        </m:ctrlPr>
                      </m:sSupPr>
                      <m:e>
                        <m:r>
                          <a:rPr>
                            <a:latin typeface="Cambria Math" panose="02040503050406030204" pitchFamily="18" charset="0"/>
                          </a:rPr>
                          <m:t>𝑦</m:t>
                        </m:r>
                      </m:e>
                      <m:sup>
                        <m:r>
                          <a:rPr>
                            <a:latin typeface="Cambria Math" panose="02040503050406030204" pitchFamily="18" charset="0"/>
                          </a:rPr>
                          <m:t>2</m:t>
                        </m:r>
                      </m:sup>
                    </m:sSup>
                    <m:r>
                      <a:rPr>
                        <a:latin typeface="Cambria Math" panose="02040503050406030204" pitchFamily="18" charset="0"/>
                      </a:rPr>
                      <m:t>=</m:t>
                    </m:r>
                    <m:r>
                      <a:rPr>
                        <a:latin typeface="Cambria Math" panose="02040503050406030204" pitchFamily="18" charset="0"/>
                      </a:rPr>
                      <m:t>𝐶</m:t>
                    </m:r>
                  </m:oMath>
                </a14:m>
                <a:endParaRPr lang="en-US" sz="1200" dirty="0"/>
              </a:p>
              <a:p>
                <a:pPr marL="0" indent="0" algn="l">
                  <a:lnSpc>
                    <a:spcPct val="122000"/>
                  </a:lnSpc>
                  <a:buNone/>
                </a:pPr>
                <a:r>
                  <a:rPr lang="en-US" sz="1200" dirty="0">
                    <a:solidFill>
                      <a:srgbClr val="9F1239"/>
                    </a:solidFill>
                    <a:latin typeface="Calibri" pitchFamily="34" charset="0"/>
                    <a:ea typeface="Calibri" pitchFamily="34" charset="-122"/>
                    <a:cs typeface="Calibri" pitchFamily="34" charset="-120"/>
                  </a:rPr>
                  <a:t>Aplicar (1,2): (1)(2)−1−4=−3 ⇒ C=−3.</a:t>
                </a:r>
                <a:endParaRPr lang="en-US" sz="1200" dirty="0"/>
              </a:p>
            </p:txBody>
          </p:sp>
        </mc:Choice>
        <mc:Fallback>
          <p:sp>
            <p:nvSpPr>
              <p:cNvPr id="15" name="ResolverBody"/>
              <p:cNvSpPr>
                <a:spLocks noRot="1" noChangeAspect="1" noMove="1" noResize="1" noEditPoints="1" noAdjustHandles="1" noChangeArrowheads="1" noChangeShapeType="1" noTextEdit="1"/>
              </p:cNvSpPr>
              <p:nvPr/>
            </p:nvSpPr>
            <p:spPr>
              <a:xfrm>
                <a:off x="6611112" y="2880360"/>
                <a:ext cx="4709160" cy="1417320"/>
              </a:xfrm>
              <a:prstGeom prst="rect">
                <a:avLst/>
              </a:prstGeom>
              <a:blipFill>
                <a:blip r:embed="rId5"/>
                <a:stretch>
                  <a:fillRect l="-130"/>
                </a:stretch>
              </a:blipFill>
              <a:ln/>
            </p:spPr>
            <p:txBody>
              <a:bodyPr/>
              <a:lstStyle/>
              <a:p>
                <a:r>
                  <a:rPr lang="es-MX">
                    <a:noFill/>
                  </a:rPr>
                  <a:t> </a:t>
                </a:r>
              </a:p>
            </p:txBody>
          </p:sp>
        </mc:Fallback>
      </mc:AlternateContent>
      <p:sp>
        <p:nvSpPr>
          <p:cNvPr id="16" name="AnswerBox"/>
          <p:cNvSpPr/>
          <p:nvPr/>
        </p:nvSpPr>
        <p:spPr>
          <a:xfrm>
            <a:off x="6611112" y="4389120"/>
            <a:ext cx="4709160" cy="822960"/>
          </a:xfrm>
          <a:prstGeom prst="roundRect">
            <a:avLst>
              <a:gd name="adj" fmla="val 7000"/>
            </a:avLst>
          </a:prstGeom>
          <a:solidFill>
            <a:srgbClr val="FFFFFF"/>
          </a:solidFill>
          <a:ln w="12700">
            <a:solidFill>
              <a:srgbClr val="FECDD3"/>
            </a:solidFill>
            <a:prstDash val="solid"/>
          </a:ln>
        </p:spPr>
        <p:txBody>
          <a:bodyPr/>
          <a:lstStyle/>
          <a:p>
            <a:endParaRPr lang="es-MX"/>
          </a:p>
        </p:txBody>
      </p:sp>
      <mc:AlternateContent xmlns:mc="http://schemas.openxmlformats.org/markup-compatibility/2006">
        <mc:Choice xmlns:a14="http://schemas.microsoft.com/office/drawing/2010/main" Requires="a14">
          <p:sp>
            <p:nvSpPr>
              <p:cNvPr id="17" name="AnswerText"/>
              <p:cNvSpPr/>
              <p:nvPr/>
            </p:nvSpPr>
            <p:spPr>
              <a:xfrm>
                <a:off x="6611112" y="4389120"/>
                <a:ext cx="4709160" cy="822960"/>
              </a:xfrm>
              <a:prstGeom prst="rect">
                <a:avLst/>
              </a:prstGeom>
              <a:noFill/>
              <a:ln/>
            </p:spPr>
            <p:txBody>
              <a:bodyPr wrap="square" rtlCol="0" anchor="ctr"/>
              <a:lstStyle/>
              <a:p>
                <a:pPr marL="0" indent="0" algn="ctr">
                  <a:lnSpc>
                    <a:spcPct val="110000"/>
                  </a:lnSpc>
                  <a:buNone/>
                </a:pPr>
                <a14:m>
                  <m:oMathPara xmlns:m="http://schemas.openxmlformats.org/officeDocument/2006/math">
                    <m:oMath>
                      <m:sSup>
                        <m:sSupPr>
                          <m:ctrlPr>
                            <a:rPr>
                              <a:latin typeface="Cambria Math" panose="02040503050406030204" pitchFamily="18" charset="0"/>
                            </a:rPr>
                          </m:ctrlPr>
                        </m:sSupPr>
                        <m:e>
                          <m:r>
                            <a:rPr>
                              <a:latin typeface="Cambria Math" panose="02040503050406030204" pitchFamily="18" charset="0"/>
                            </a:rPr>
                            <m:t>𝑥</m:t>
                          </m:r>
                        </m:e>
                        <m:sup>
                          <m:r>
                            <a:rPr>
                              <a:latin typeface="Cambria Math" panose="02040503050406030204" pitchFamily="18" charset="0"/>
                            </a:rPr>
                            <m:t>2</m:t>
                          </m:r>
                        </m:sup>
                      </m:sSup>
                      <m:r>
                        <a:rPr>
                          <a:latin typeface="Cambria Math" panose="02040503050406030204" pitchFamily="18" charset="0"/>
                        </a:rPr>
                        <m:t>𝑦</m:t>
                      </m:r>
                      <m:r>
                        <a:rPr>
                          <a:latin typeface="Cambria Math" panose="02040503050406030204" pitchFamily="18" charset="0"/>
                        </a:rPr>
                        <m:t>−</m:t>
                      </m:r>
                      <m:sSup>
                        <m:sSupPr>
                          <m:ctrlPr>
                            <a:rPr>
                              <a:latin typeface="Cambria Math" panose="02040503050406030204" pitchFamily="18" charset="0"/>
                            </a:rPr>
                          </m:ctrlPr>
                        </m:sSupPr>
                        <m:e>
                          <m:r>
                            <a:rPr>
                              <a:latin typeface="Cambria Math" panose="02040503050406030204" pitchFamily="18" charset="0"/>
                            </a:rPr>
                            <m:t>𝑥</m:t>
                          </m:r>
                        </m:e>
                        <m:sup>
                          <m:r>
                            <a:rPr>
                              <a:latin typeface="Cambria Math" panose="02040503050406030204" pitchFamily="18" charset="0"/>
                            </a:rPr>
                            <m:t>3</m:t>
                          </m:r>
                        </m:sup>
                      </m:sSup>
                      <m:r>
                        <a:rPr>
                          <a:latin typeface="Cambria Math" panose="02040503050406030204" pitchFamily="18" charset="0"/>
                        </a:rPr>
                        <m:t>−</m:t>
                      </m:r>
                      <m:sSup>
                        <m:sSupPr>
                          <m:ctrlPr>
                            <a:rPr>
                              <a:latin typeface="Cambria Math" panose="02040503050406030204" pitchFamily="18" charset="0"/>
                            </a:rPr>
                          </m:ctrlPr>
                        </m:sSupPr>
                        <m:e>
                          <m:r>
                            <a:rPr>
                              <a:latin typeface="Cambria Math" panose="02040503050406030204" pitchFamily="18" charset="0"/>
                            </a:rPr>
                            <m:t>𝑦</m:t>
                          </m:r>
                        </m:e>
                        <m:sup>
                          <m:r>
                            <a:rPr>
                              <a:latin typeface="Cambria Math" panose="02040503050406030204" pitchFamily="18" charset="0"/>
                            </a:rPr>
                            <m:t>2</m:t>
                          </m:r>
                        </m:sup>
                      </m:sSup>
                      <m:r>
                        <a:rPr>
                          <a:latin typeface="Cambria Math" panose="02040503050406030204" pitchFamily="18" charset="0"/>
                        </a:rPr>
                        <m:t>=−3</m:t>
                      </m:r>
                    </m:oMath>
                  </m:oMathPara>
                </a14:m>
                <a:endParaRPr lang="en-US" sz="2400" dirty="0"/>
              </a:p>
            </p:txBody>
          </p:sp>
        </mc:Choice>
        <mc:Fallback>
          <p:sp>
            <p:nvSpPr>
              <p:cNvPr id="17" name="AnswerText"/>
              <p:cNvSpPr>
                <a:spLocks noRot="1" noChangeAspect="1" noMove="1" noResize="1" noEditPoints="1" noAdjustHandles="1" noChangeArrowheads="1" noChangeShapeType="1" noTextEdit="1"/>
              </p:cNvSpPr>
              <p:nvPr/>
            </p:nvSpPr>
            <p:spPr>
              <a:xfrm>
                <a:off x="6611112" y="4389120"/>
                <a:ext cx="4709160" cy="822960"/>
              </a:xfrm>
              <a:prstGeom prst="rect">
                <a:avLst/>
              </a:prstGeom>
              <a:blipFill>
                <a:blip r:embed="rId6"/>
                <a:stretch>
                  <a:fillRect/>
                </a:stretch>
              </a:blipFill>
              <a:ln/>
            </p:spPr>
            <p:txBody>
              <a:bodyPr/>
              <a:lstStyle/>
              <a:p>
                <a:r>
                  <a:rPr lang="es-MX">
                    <a:noFill/>
                  </a:rPr>
                  <a:t> </a:t>
                </a:r>
              </a:p>
            </p:txBody>
          </p:sp>
        </mc:Fallback>
      </mc:AlternateContent>
      <p:sp>
        <p:nvSpPr>
          <p:cNvPr id="18" name="Interpret"/>
          <p:cNvSpPr/>
          <p:nvPr/>
        </p:nvSpPr>
        <p:spPr>
          <a:xfrm>
            <a:off x="6611112" y="5257800"/>
            <a:ext cx="4709160" cy="640080"/>
          </a:xfrm>
          <a:prstGeom prst="rect">
            <a:avLst/>
          </a:prstGeom>
          <a:noFill/>
          <a:ln/>
        </p:spPr>
        <p:txBody>
          <a:bodyPr wrap="square" rtlCol="0" anchor="t"/>
          <a:lstStyle/>
          <a:p>
            <a:pPr marL="0" indent="0" algn="l">
              <a:lnSpc>
                <a:spcPct val="125000"/>
              </a:lnSpc>
              <a:buNone/>
            </a:pPr>
            <a:r>
              <a:rPr lang="en-US" sz="1250" dirty="0">
                <a:solidFill>
                  <a:srgbClr val="9F1239"/>
                </a:solidFill>
                <a:latin typeface="Calibri" pitchFamily="34" charset="0"/>
                <a:ea typeface="Calibri" pitchFamily="34" charset="-122"/>
                <a:cs typeface="Calibri" pitchFamily="34" charset="-120"/>
              </a:rPr>
              <a:t>Interpretar: esa curva de nivel específica ES la línea de corriente que pasa por la sonda; las demás curvas (C≠−3) son otras líneas de flujo de la misma familia.</a:t>
            </a:r>
            <a:endParaRPr lang="en-US" sz="1250" dirty="0"/>
          </a:p>
        </p:txBody>
      </p:sp>
      <p:sp>
        <p:nvSpPr>
          <p:cNvPr id="19" name="Text F"/>
          <p:cNvSpPr/>
          <p:nvPr/>
        </p:nvSpPr>
        <p:spPr>
          <a:xfrm>
            <a:off x="11521440" y="6446520"/>
            <a:ext cx="457200" cy="292608"/>
          </a:xfrm>
          <a:prstGeom prst="rect">
            <a:avLst/>
          </a:prstGeom>
          <a:noFill/>
          <a:ln/>
        </p:spPr>
        <p:txBody>
          <a:bodyPr wrap="square" rtlCol="0" anchor="ctr"/>
          <a:lstStyle/>
          <a:p>
            <a:pPr marL="0" indent="0" algn="r">
              <a:buNone/>
            </a:pPr>
            <a:r>
              <a:rPr lang="en-US" sz="1200" dirty="0">
                <a:solidFill>
                  <a:srgbClr val="475569"/>
                </a:solidFill>
                <a:latin typeface="Calibri" pitchFamily="34" charset="0"/>
                <a:ea typeface="Calibri" pitchFamily="34" charset="-122"/>
                <a:cs typeface="Calibri"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2345000" cy="384048"/>
          </a:xfrm>
          <a:prstGeom prst="roundRect">
            <a:avLst>
              <a:gd name="adj" fmla="val 50000"/>
            </a:avLst>
          </a:prstGeom>
          <a:solidFill>
            <a:srgbClr val="E2E8F0"/>
          </a:solidFill>
          <a:ln/>
        </p:spPr>
        <p:txBody>
          <a:bodyPr/>
          <a:lstStyle/>
          <a:p>
            <a:endParaRPr lang="es-MX"/>
          </a:p>
        </p:txBody>
      </p:sp>
      <p:sp>
        <p:nvSpPr>
          <p:cNvPr id="3" name="Text 1"/>
          <p:cNvSpPr/>
          <p:nvPr/>
        </p:nvSpPr>
        <p:spPr>
          <a:xfrm>
            <a:off x="548640" y="365760"/>
            <a:ext cx="2345000" cy="384048"/>
          </a:xfrm>
          <a:prstGeom prst="rect">
            <a:avLst/>
          </a:prstGeom>
          <a:noFill/>
          <a:ln/>
        </p:spPr>
        <p:txBody>
          <a:bodyPr wrap="square" rtlCol="0" anchor="ctr"/>
          <a:lstStyle/>
          <a:p>
            <a:pPr marL="0" indent="0" algn="ctr">
              <a:buNone/>
            </a:pPr>
            <a:r>
              <a:rPr lang="en-US" sz="1300" b="1" dirty="0">
                <a:solidFill>
                  <a:srgbClr val="334155"/>
                </a:solidFill>
                <a:latin typeface="Calibri" pitchFamily="34" charset="0"/>
                <a:ea typeface="Calibri" pitchFamily="34" charset="-122"/>
                <a:cs typeface="Calibri" pitchFamily="34" charset="-120"/>
              </a:rPr>
              <a:t>OJO DE ANALISTA</a:t>
            </a:r>
            <a:endParaRPr lang="en-US" sz="1300" dirty="0"/>
          </a:p>
        </p:txBody>
      </p:sp>
      <p:sp>
        <p:nvSpPr>
          <p:cNvPr id="4" name="Text 2"/>
          <p:cNvSpPr/>
          <p:nvPr/>
        </p:nvSpPr>
        <p:spPr>
          <a:xfrm>
            <a:off x="548640" y="868680"/>
            <a:ext cx="11091672" cy="731520"/>
          </a:xfrm>
          <a:prstGeom prst="rect">
            <a:avLst/>
          </a:prstGeom>
          <a:noFill/>
          <a:ln/>
        </p:spPr>
        <p:txBody>
          <a:bodyPr wrap="square" rtlCol="0" anchor="t"/>
          <a:lstStyle/>
          <a:p>
            <a:pPr marL="0" indent="0" algn="l">
              <a:buNone/>
            </a:pPr>
            <a:r>
              <a:rPr lang="en-US" sz="3200" b="1" dirty="0">
                <a:solidFill>
                  <a:srgbClr val="0F172A"/>
                </a:solidFill>
                <a:latin typeface="Calibri" pitchFamily="34" charset="0"/>
                <a:ea typeface="Calibri" pitchFamily="34" charset="-122"/>
                <a:cs typeface="Calibri" pitchFamily="34" charset="-120"/>
              </a:rPr>
              <a:t>Cinco Trampas que Cuestan Puntos</a:t>
            </a:r>
            <a:endParaRPr lang="en-US" sz="3200" dirty="0"/>
          </a:p>
        </p:txBody>
      </p:sp>
      <p:sp>
        <p:nvSpPr>
          <p:cNvPr id="5" name="Text 3"/>
          <p:cNvSpPr/>
          <p:nvPr/>
        </p:nvSpPr>
        <p:spPr>
          <a:xfrm>
            <a:off x="548640" y="1554480"/>
            <a:ext cx="11091672" cy="457200"/>
          </a:xfrm>
          <a:prstGeom prst="rect">
            <a:avLst/>
          </a:prstGeom>
          <a:noFill/>
          <a:ln/>
        </p:spPr>
        <p:txBody>
          <a:bodyPr wrap="square" rtlCol="0" anchor="t"/>
          <a:lstStyle/>
          <a:p>
            <a:pPr marL="0" indent="0" algn="l">
              <a:buNone/>
            </a:pPr>
            <a:r>
              <a:rPr lang="en-US" sz="1700" dirty="0">
                <a:solidFill>
                  <a:srgbClr val="475569"/>
                </a:solidFill>
                <a:latin typeface="Calibri" pitchFamily="34" charset="0"/>
                <a:ea typeface="Calibri" pitchFamily="34" charset="-122"/>
                <a:cs typeface="Calibri" pitchFamily="34" charset="-120"/>
              </a:rPr>
              <a:t>Los errores más comunes de cada técnica, en un solo lugar</a:t>
            </a:r>
            <a:endParaRPr lang="en-US" sz="1700" dirty="0"/>
          </a:p>
        </p:txBody>
      </p:sp>
      <p:sp>
        <p:nvSpPr>
          <p:cNvPr id="6" name="RowCard"/>
          <p:cNvSpPr/>
          <p:nvPr/>
        </p:nvSpPr>
        <p:spPr>
          <a:xfrm>
            <a:off x="548640" y="2103120"/>
            <a:ext cx="11091672" cy="723000"/>
          </a:xfrm>
          <a:prstGeom prst="roundRect">
            <a:avLst>
              <a:gd name="adj" fmla="val 6000"/>
            </a:avLst>
          </a:prstGeom>
          <a:solidFill>
            <a:srgbClr val="F1F5F9"/>
          </a:solidFill>
          <a:ln w="12700">
            <a:solidFill>
              <a:srgbClr val="E2E8F0"/>
            </a:solidFill>
            <a:prstDash val="solid"/>
          </a:ln>
        </p:spPr>
        <p:txBody>
          <a:bodyPr/>
          <a:lstStyle/>
          <a:p>
            <a:endParaRPr lang="es-MX"/>
          </a:p>
        </p:txBody>
      </p:sp>
      <p:sp>
        <p:nvSpPr>
          <p:cNvPr id="7" name="Chip"/>
          <p:cNvSpPr/>
          <p:nvPr/>
        </p:nvSpPr>
        <p:spPr>
          <a:xfrm>
            <a:off x="731520" y="2304600"/>
            <a:ext cx="640080" cy="320040"/>
          </a:xfrm>
          <a:prstGeom prst="roundRect">
            <a:avLst>
              <a:gd name="adj" fmla="val 25000"/>
            </a:avLst>
          </a:prstGeom>
          <a:solidFill>
            <a:srgbClr val="CFFAFE"/>
          </a:solidFill>
          <a:ln/>
        </p:spPr>
        <p:txBody>
          <a:bodyPr/>
          <a:lstStyle/>
          <a:p>
            <a:endParaRPr lang="es-MX"/>
          </a:p>
        </p:txBody>
      </p:sp>
      <p:sp>
        <p:nvSpPr>
          <p:cNvPr id="8" name="ChipText"/>
          <p:cNvSpPr/>
          <p:nvPr/>
        </p:nvSpPr>
        <p:spPr>
          <a:xfrm>
            <a:off x="731520" y="2304600"/>
            <a:ext cx="640080" cy="320040"/>
          </a:xfrm>
          <a:prstGeom prst="rect">
            <a:avLst/>
          </a:prstGeom>
          <a:noFill/>
          <a:ln/>
        </p:spPr>
        <p:txBody>
          <a:bodyPr wrap="square" rtlCol="0" anchor="ctr"/>
          <a:lstStyle/>
          <a:p>
            <a:pPr marL="0" indent="0" algn="ctr">
              <a:buNone/>
            </a:pPr>
            <a:r>
              <a:rPr lang="en-US" sz="1200" b="1" dirty="0">
                <a:solidFill>
                  <a:srgbClr val="0E7490"/>
                </a:solidFill>
                <a:latin typeface="Calibri" pitchFamily="34" charset="0"/>
                <a:ea typeface="Calibri" pitchFamily="34" charset="-122"/>
                <a:cs typeface="Calibri" pitchFamily="34" charset="-120"/>
              </a:rPr>
              <a:t>S1</a:t>
            </a:r>
            <a:endParaRPr lang="en-US" sz="1200" dirty="0"/>
          </a:p>
        </p:txBody>
      </p:sp>
      <p:sp>
        <p:nvSpPr>
          <p:cNvPr id="9" name="Headline"/>
          <p:cNvSpPr/>
          <p:nvPr/>
        </p:nvSpPr>
        <p:spPr>
          <a:xfrm>
            <a:off x="1554480" y="2221120"/>
            <a:ext cx="9902952" cy="320040"/>
          </a:xfrm>
          <a:prstGeom prst="rect">
            <a:avLst/>
          </a:prstGeom>
          <a:noFill/>
          <a:ln/>
        </p:spPr>
        <p:txBody>
          <a:bodyPr wrap="square" rtlCol="0" anchor="t"/>
          <a:lstStyle/>
          <a:p>
            <a:pPr marL="0" indent="0">
              <a:buNone/>
            </a:pPr>
            <a:r>
              <a:rPr lang="en-US" sz="1400" b="1" dirty="0">
                <a:solidFill>
                  <a:srgbClr val="0F172A"/>
                </a:solidFill>
                <a:latin typeface="Calibri" pitchFamily="34" charset="0"/>
                <a:ea typeface="Calibri" pitchFamily="34" charset="-122"/>
                <a:cs typeface="Calibri" pitchFamily="34" charset="-120"/>
              </a:rPr>
              <a:t>Confundir orden con grado</a:t>
            </a:r>
            <a:endParaRPr lang="en-US" sz="1400" dirty="0"/>
          </a:p>
        </p:txBody>
      </p:sp>
      <p:sp>
        <p:nvSpPr>
          <p:cNvPr id="10" name="Desc"/>
          <p:cNvSpPr/>
          <p:nvPr/>
        </p:nvSpPr>
        <p:spPr>
          <a:xfrm>
            <a:off x="1554480" y="2573120"/>
            <a:ext cx="9902952" cy="230000"/>
          </a:xfrm>
          <a:prstGeom prst="rect">
            <a:avLst/>
          </a:prstGeom>
          <a:noFill/>
          <a:ln/>
        </p:spPr>
        <p:txBody>
          <a:bodyPr wrap="square" rtlCol="0" anchor="t"/>
          <a:lstStyle/>
          <a:p>
            <a:pPr marL="0" indent="0">
              <a:buNone/>
            </a:pPr>
            <a:r>
              <a:rPr lang="en-US" sz="1150" dirty="0">
                <a:solidFill>
                  <a:srgbClr val="475569"/>
                </a:solidFill>
                <a:latin typeface="Calibri" pitchFamily="34" charset="0"/>
                <a:ea typeface="Calibri" pitchFamily="34" charset="-122"/>
                <a:cs typeface="Calibri" pitchFamily="34" charset="-120"/>
              </a:rPr>
              <a:t>El orden es el de la derivada más alta, no el exponente algebraico.</a:t>
            </a:r>
            <a:endParaRPr lang="en-US" sz="1150" dirty="0"/>
          </a:p>
        </p:txBody>
      </p:sp>
      <p:sp>
        <p:nvSpPr>
          <p:cNvPr id="11" name="RowCard"/>
          <p:cNvSpPr/>
          <p:nvPr/>
        </p:nvSpPr>
        <p:spPr>
          <a:xfrm>
            <a:off x="548640" y="2917560"/>
            <a:ext cx="11091672" cy="723000"/>
          </a:xfrm>
          <a:prstGeom prst="roundRect">
            <a:avLst>
              <a:gd name="adj" fmla="val 6000"/>
            </a:avLst>
          </a:prstGeom>
          <a:solidFill>
            <a:srgbClr val="F1F5F9"/>
          </a:solidFill>
          <a:ln w="12700">
            <a:solidFill>
              <a:srgbClr val="E2E8F0"/>
            </a:solidFill>
            <a:prstDash val="solid"/>
          </a:ln>
        </p:spPr>
        <p:txBody>
          <a:bodyPr/>
          <a:lstStyle/>
          <a:p>
            <a:endParaRPr lang="es-MX"/>
          </a:p>
        </p:txBody>
      </p:sp>
      <p:sp>
        <p:nvSpPr>
          <p:cNvPr id="12" name="Chip"/>
          <p:cNvSpPr/>
          <p:nvPr/>
        </p:nvSpPr>
        <p:spPr>
          <a:xfrm>
            <a:off x="731520" y="3119040"/>
            <a:ext cx="640080" cy="320040"/>
          </a:xfrm>
          <a:prstGeom prst="roundRect">
            <a:avLst>
              <a:gd name="adj" fmla="val 25000"/>
            </a:avLst>
          </a:prstGeom>
          <a:solidFill>
            <a:srgbClr val="E0E7FF"/>
          </a:solidFill>
          <a:ln/>
        </p:spPr>
        <p:txBody>
          <a:bodyPr/>
          <a:lstStyle/>
          <a:p>
            <a:endParaRPr lang="es-MX"/>
          </a:p>
        </p:txBody>
      </p:sp>
      <p:sp>
        <p:nvSpPr>
          <p:cNvPr id="13" name="ChipText"/>
          <p:cNvSpPr/>
          <p:nvPr/>
        </p:nvSpPr>
        <p:spPr>
          <a:xfrm>
            <a:off x="731520" y="3119040"/>
            <a:ext cx="640080" cy="320040"/>
          </a:xfrm>
          <a:prstGeom prst="rect">
            <a:avLst/>
          </a:prstGeom>
          <a:noFill/>
          <a:ln/>
        </p:spPr>
        <p:txBody>
          <a:bodyPr wrap="square" rtlCol="0" anchor="ctr"/>
          <a:lstStyle/>
          <a:p>
            <a:pPr marL="0" indent="0" algn="ctr">
              <a:buNone/>
            </a:pPr>
            <a:r>
              <a:rPr lang="en-US" sz="1200" b="1" dirty="0">
                <a:solidFill>
                  <a:srgbClr val="4338CA"/>
                </a:solidFill>
                <a:latin typeface="Calibri" pitchFamily="34" charset="0"/>
                <a:ea typeface="Calibri" pitchFamily="34" charset="-122"/>
                <a:cs typeface="Calibri" pitchFamily="34" charset="-120"/>
              </a:rPr>
              <a:t>S2</a:t>
            </a:r>
            <a:endParaRPr lang="en-US" sz="1200" dirty="0"/>
          </a:p>
        </p:txBody>
      </p:sp>
      <p:sp>
        <p:nvSpPr>
          <p:cNvPr id="14" name="Headline"/>
          <p:cNvSpPr/>
          <p:nvPr/>
        </p:nvSpPr>
        <p:spPr>
          <a:xfrm>
            <a:off x="1554480" y="3035560"/>
            <a:ext cx="9902952" cy="320040"/>
          </a:xfrm>
          <a:prstGeom prst="rect">
            <a:avLst/>
          </a:prstGeom>
          <a:noFill/>
          <a:ln/>
        </p:spPr>
        <p:txBody>
          <a:bodyPr wrap="square" rtlCol="0" anchor="t"/>
          <a:lstStyle/>
          <a:p>
            <a:pPr marL="0" indent="0">
              <a:buNone/>
            </a:pPr>
            <a:r>
              <a:rPr lang="en-US" sz="1400" b="1" dirty="0">
                <a:solidFill>
                  <a:srgbClr val="0F172A"/>
                </a:solidFill>
                <a:latin typeface="Calibri" pitchFamily="34" charset="0"/>
                <a:ea typeface="Calibri" pitchFamily="34" charset="-122"/>
                <a:cs typeface="Calibri" pitchFamily="34" charset="-120"/>
              </a:rPr>
              <a:t>Ignorar existencia y unicidad</a:t>
            </a:r>
            <a:endParaRPr lang="en-US" sz="1400" dirty="0"/>
          </a:p>
        </p:txBody>
      </p:sp>
      <p:sp>
        <p:nvSpPr>
          <p:cNvPr id="15" name="Desc"/>
          <p:cNvSpPr/>
          <p:nvPr/>
        </p:nvSpPr>
        <p:spPr>
          <a:xfrm>
            <a:off x="1554480" y="3387560"/>
            <a:ext cx="9902952" cy="230000"/>
          </a:xfrm>
          <a:prstGeom prst="rect">
            <a:avLst/>
          </a:prstGeom>
          <a:noFill/>
          <a:ln/>
        </p:spPr>
        <p:txBody>
          <a:bodyPr wrap="square" rtlCol="0" anchor="t"/>
          <a:lstStyle/>
          <a:p>
            <a:pPr marL="0" indent="0">
              <a:buNone/>
            </a:pPr>
            <a:r>
              <a:rPr lang="en-US" sz="1150" dirty="0">
                <a:solidFill>
                  <a:srgbClr val="475569"/>
                </a:solidFill>
                <a:latin typeface="Calibri" pitchFamily="34" charset="0"/>
                <a:ea typeface="Calibri" pitchFamily="34" charset="-122"/>
                <a:cs typeface="Calibri" pitchFamily="34" charset="-120"/>
              </a:rPr>
              <a:t>Si f o ∂f/∂y no son continuas cerca de la condición inicial, el modelo puede tener 0, 1 o infinitas soluciones.</a:t>
            </a:r>
            <a:endParaRPr lang="en-US" sz="1150" dirty="0"/>
          </a:p>
        </p:txBody>
      </p:sp>
      <p:sp>
        <p:nvSpPr>
          <p:cNvPr id="16" name="RowCard"/>
          <p:cNvSpPr/>
          <p:nvPr/>
        </p:nvSpPr>
        <p:spPr>
          <a:xfrm>
            <a:off x="548640" y="3732000"/>
            <a:ext cx="11091672" cy="723000"/>
          </a:xfrm>
          <a:prstGeom prst="roundRect">
            <a:avLst>
              <a:gd name="adj" fmla="val 6000"/>
            </a:avLst>
          </a:prstGeom>
          <a:solidFill>
            <a:srgbClr val="F1F5F9"/>
          </a:solidFill>
          <a:ln w="12700">
            <a:solidFill>
              <a:srgbClr val="E2E8F0"/>
            </a:solidFill>
            <a:prstDash val="solid"/>
          </a:ln>
        </p:spPr>
        <p:txBody>
          <a:bodyPr/>
          <a:lstStyle/>
          <a:p>
            <a:endParaRPr lang="es-MX"/>
          </a:p>
        </p:txBody>
      </p:sp>
      <p:sp>
        <p:nvSpPr>
          <p:cNvPr id="17" name="Chip"/>
          <p:cNvSpPr/>
          <p:nvPr/>
        </p:nvSpPr>
        <p:spPr>
          <a:xfrm>
            <a:off x="731520" y="3933480"/>
            <a:ext cx="640080" cy="320040"/>
          </a:xfrm>
          <a:prstGeom prst="roundRect">
            <a:avLst>
              <a:gd name="adj" fmla="val 25000"/>
            </a:avLst>
          </a:prstGeom>
          <a:solidFill>
            <a:srgbClr val="D1FAE5"/>
          </a:solidFill>
          <a:ln/>
        </p:spPr>
        <p:txBody>
          <a:bodyPr/>
          <a:lstStyle/>
          <a:p>
            <a:endParaRPr lang="es-MX"/>
          </a:p>
        </p:txBody>
      </p:sp>
      <p:sp>
        <p:nvSpPr>
          <p:cNvPr id="18" name="ChipText"/>
          <p:cNvSpPr/>
          <p:nvPr/>
        </p:nvSpPr>
        <p:spPr>
          <a:xfrm>
            <a:off x="731520" y="3933480"/>
            <a:ext cx="640080" cy="320040"/>
          </a:xfrm>
          <a:prstGeom prst="rect">
            <a:avLst/>
          </a:prstGeom>
          <a:noFill/>
          <a:ln/>
        </p:spPr>
        <p:txBody>
          <a:bodyPr wrap="square" rtlCol="0" anchor="ctr"/>
          <a:lstStyle/>
          <a:p>
            <a:pPr marL="0" indent="0" algn="ctr">
              <a:buNone/>
            </a:pPr>
            <a:r>
              <a:rPr lang="en-US" sz="1200" b="1" dirty="0">
                <a:solidFill>
                  <a:srgbClr val="047857"/>
                </a:solidFill>
                <a:latin typeface="Calibri" pitchFamily="34" charset="0"/>
                <a:ea typeface="Calibri" pitchFamily="34" charset="-122"/>
                <a:cs typeface="Calibri" pitchFamily="34" charset="-120"/>
              </a:rPr>
              <a:t>S3</a:t>
            </a:r>
            <a:endParaRPr lang="en-US" sz="1200" dirty="0"/>
          </a:p>
        </p:txBody>
      </p:sp>
      <p:sp>
        <p:nvSpPr>
          <p:cNvPr id="19" name="Headline"/>
          <p:cNvSpPr/>
          <p:nvPr/>
        </p:nvSpPr>
        <p:spPr>
          <a:xfrm>
            <a:off x="1554480" y="3850000"/>
            <a:ext cx="9902952" cy="320040"/>
          </a:xfrm>
          <a:prstGeom prst="rect">
            <a:avLst/>
          </a:prstGeom>
          <a:noFill/>
          <a:ln/>
        </p:spPr>
        <p:txBody>
          <a:bodyPr wrap="square" rtlCol="0" anchor="t"/>
          <a:lstStyle/>
          <a:p>
            <a:pPr marL="0" indent="0">
              <a:buNone/>
            </a:pPr>
            <a:r>
              <a:rPr lang="en-US" sz="1400" b="1" dirty="0">
                <a:solidFill>
                  <a:srgbClr val="0F172A"/>
                </a:solidFill>
                <a:latin typeface="Calibri" pitchFamily="34" charset="0"/>
                <a:ea typeface="Calibri" pitchFamily="34" charset="-122"/>
                <a:cs typeface="Calibri" pitchFamily="34" charset="-120"/>
              </a:rPr>
              <a:t>Dividir sin verificar</a:t>
            </a:r>
            <a:endParaRPr lang="en-US" sz="1400" dirty="0"/>
          </a:p>
        </p:txBody>
      </p:sp>
      <p:sp>
        <p:nvSpPr>
          <p:cNvPr id="20" name="Desc"/>
          <p:cNvSpPr/>
          <p:nvPr/>
        </p:nvSpPr>
        <p:spPr>
          <a:xfrm>
            <a:off x="1554480" y="4202000"/>
            <a:ext cx="9902952" cy="230000"/>
          </a:xfrm>
          <a:prstGeom prst="rect">
            <a:avLst/>
          </a:prstGeom>
          <a:noFill/>
          <a:ln/>
        </p:spPr>
        <p:txBody>
          <a:bodyPr wrap="square" rtlCol="0" anchor="t"/>
          <a:lstStyle/>
          <a:p>
            <a:pPr marL="0" indent="0">
              <a:buNone/>
            </a:pPr>
            <a:r>
              <a:rPr lang="en-US" sz="1150" dirty="0">
                <a:solidFill>
                  <a:srgbClr val="475569"/>
                </a:solidFill>
                <a:latin typeface="Calibri" pitchFamily="34" charset="0"/>
                <a:ea typeface="Calibri" pitchFamily="34" charset="-122"/>
                <a:cs typeface="Calibri" pitchFamily="34" charset="-120"/>
              </a:rPr>
              <a:t>Al separar variables, revisen siempre las soluciones constantes donde h(y)=0.</a:t>
            </a:r>
            <a:endParaRPr lang="en-US" sz="1150" dirty="0"/>
          </a:p>
        </p:txBody>
      </p:sp>
      <p:sp>
        <p:nvSpPr>
          <p:cNvPr id="21" name="RowCard"/>
          <p:cNvSpPr/>
          <p:nvPr/>
        </p:nvSpPr>
        <p:spPr>
          <a:xfrm>
            <a:off x="548640" y="4546440"/>
            <a:ext cx="11091672" cy="723000"/>
          </a:xfrm>
          <a:prstGeom prst="roundRect">
            <a:avLst>
              <a:gd name="adj" fmla="val 6000"/>
            </a:avLst>
          </a:prstGeom>
          <a:solidFill>
            <a:srgbClr val="F1F5F9"/>
          </a:solidFill>
          <a:ln w="12700">
            <a:solidFill>
              <a:srgbClr val="E2E8F0"/>
            </a:solidFill>
            <a:prstDash val="solid"/>
          </a:ln>
        </p:spPr>
        <p:txBody>
          <a:bodyPr/>
          <a:lstStyle/>
          <a:p>
            <a:endParaRPr lang="es-MX"/>
          </a:p>
        </p:txBody>
      </p:sp>
      <p:sp>
        <p:nvSpPr>
          <p:cNvPr id="22" name="Chip"/>
          <p:cNvSpPr/>
          <p:nvPr/>
        </p:nvSpPr>
        <p:spPr>
          <a:xfrm>
            <a:off x="731520" y="4747920"/>
            <a:ext cx="640080" cy="320040"/>
          </a:xfrm>
          <a:prstGeom prst="roundRect">
            <a:avLst>
              <a:gd name="adj" fmla="val 25000"/>
            </a:avLst>
          </a:prstGeom>
          <a:solidFill>
            <a:srgbClr val="FEF3C7"/>
          </a:solidFill>
          <a:ln/>
        </p:spPr>
        <p:txBody>
          <a:bodyPr/>
          <a:lstStyle/>
          <a:p>
            <a:endParaRPr lang="es-MX"/>
          </a:p>
        </p:txBody>
      </p:sp>
      <p:sp>
        <p:nvSpPr>
          <p:cNvPr id="23" name="ChipText"/>
          <p:cNvSpPr/>
          <p:nvPr/>
        </p:nvSpPr>
        <p:spPr>
          <a:xfrm>
            <a:off x="731520" y="4747920"/>
            <a:ext cx="640080" cy="320040"/>
          </a:xfrm>
          <a:prstGeom prst="rect">
            <a:avLst/>
          </a:prstGeom>
          <a:noFill/>
          <a:ln/>
        </p:spPr>
        <p:txBody>
          <a:bodyPr wrap="square" rtlCol="0" anchor="ctr"/>
          <a:lstStyle/>
          <a:p>
            <a:pPr marL="0" indent="0" algn="ctr">
              <a:buNone/>
            </a:pPr>
            <a:r>
              <a:rPr lang="en-US" sz="1200" b="1" dirty="0">
                <a:solidFill>
                  <a:srgbClr val="B45309"/>
                </a:solidFill>
                <a:latin typeface="Calibri" pitchFamily="34" charset="0"/>
                <a:ea typeface="Calibri" pitchFamily="34" charset="-122"/>
                <a:cs typeface="Calibri" pitchFamily="34" charset="-120"/>
              </a:rPr>
              <a:t>S4</a:t>
            </a:r>
            <a:endParaRPr lang="en-US" sz="1200" dirty="0"/>
          </a:p>
        </p:txBody>
      </p:sp>
      <p:sp>
        <p:nvSpPr>
          <p:cNvPr id="24" name="Headline"/>
          <p:cNvSpPr/>
          <p:nvPr/>
        </p:nvSpPr>
        <p:spPr>
          <a:xfrm>
            <a:off x="1554480" y="4664440"/>
            <a:ext cx="9902952" cy="320040"/>
          </a:xfrm>
          <a:prstGeom prst="rect">
            <a:avLst/>
          </a:prstGeom>
          <a:noFill/>
          <a:ln/>
        </p:spPr>
        <p:txBody>
          <a:bodyPr wrap="square" rtlCol="0" anchor="t"/>
          <a:lstStyle/>
          <a:p>
            <a:pPr marL="0" indent="0">
              <a:buNone/>
            </a:pPr>
            <a:r>
              <a:rPr lang="en-US" sz="1400" b="1" dirty="0">
                <a:solidFill>
                  <a:srgbClr val="0F172A"/>
                </a:solidFill>
                <a:latin typeface="Calibri" pitchFamily="34" charset="0"/>
                <a:ea typeface="Calibri" pitchFamily="34" charset="-122"/>
                <a:cs typeface="Calibri" pitchFamily="34" charset="-120"/>
              </a:rPr>
              <a:t>Confundir el intervalo de validez</a:t>
            </a:r>
            <a:endParaRPr lang="en-US" sz="1400" dirty="0"/>
          </a:p>
        </p:txBody>
      </p:sp>
      <p:sp>
        <p:nvSpPr>
          <p:cNvPr id="25" name="Desc"/>
          <p:cNvSpPr/>
          <p:nvPr/>
        </p:nvSpPr>
        <p:spPr>
          <a:xfrm>
            <a:off x="1554480" y="5016440"/>
            <a:ext cx="9902952" cy="230000"/>
          </a:xfrm>
          <a:prstGeom prst="rect">
            <a:avLst/>
          </a:prstGeom>
          <a:noFill/>
          <a:ln/>
        </p:spPr>
        <p:txBody>
          <a:bodyPr wrap="square" rtlCol="0" anchor="t"/>
          <a:lstStyle/>
          <a:p>
            <a:pPr marL="0" indent="0">
              <a:buNone/>
            </a:pPr>
            <a:r>
              <a:rPr lang="en-US" sz="1150" dirty="0">
                <a:solidFill>
                  <a:srgbClr val="475569"/>
                </a:solidFill>
                <a:latin typeface="Calibri" pitchFamily="34" charset="0"/>
                <a:ea typeface="Calibri" pitchFamily="34" charset="-122"/>
                <a:cs typeface="Calibri" pitchFamily="34" charset="-120"/>
              </a:rPr>
              <a:t>En el caso lineal, la solución vive donde P(x) y Q(x) son continuas — no donde “se ve bien” la fórmula.</a:t>
            </a:r>
            <a:endParaRPr lang="en-US" sz="1150" dirty="0"/>
          </a:p>
        </p:txBody>
      </p:sp>
      <p:sp>
        <p:nvSpPr>
          <p:cNvPr id="26" name="RowCard"/>
          <p:cNvSpPr/>
          <p:nvPr/>
        </p:nvSpPr>
        <p:spPr>
          <a:xfrm>
            <a:off x="548640" y="5360880"/>
            <a:ext cx="11091672" cy="723000"/>
          </a:xfrm>
          <a:prstGeom prst="roundRect">
            <a:avLst>
              <a:gd name="adj" fmla="val 6000"/>
            </a:avLst>
          </a:prstGeom>
          <a:solidFill>
            <a:srgbClr val="F1F5F9"/>
          </a:solidFill>
          <a:ln w="12700">
            <a:solidFill>
              <a:srgbClr val="E2E8F0"/>
            </a:solidFill>
            <a:prstDash val="solid"/>
          </a:ln>
        </p:spPr>
        <p:txBody>
          <a:bodyPr/>
          <a:lstStyle/>
          <a:p>
            <a:endParaRPr lang="es-MX"/>
          </a:p>
        </p:txBody>
      </p:sp>
      <p:sp>
        <p:nvSpPr>
          <p:cNvPr id="27" name="Chip"/>
          <p:cNvSpPr/>
          <p:nvPr/>
        </p:nvSpPr>
        <p:spPr>
          <a:xfrm>
            <a:off x="731520" y="5562360"/>
            <a:ext cx="640080" cy="320040"/>
          </a:xfrm>
          <a:prstGeom prst="roundRect">
            <a:avLst>
              <a:gd name="adj" fmla="val 25000"/>
            </a:avLst>
          </a:prstGeom>
          <a:solidFill>
            <a:srgbClr val="FFE4E6"/>
          </a:solidFill>
          <a:ln/>
        </p:spPr>
        <p:txBody>
          <a:bodyPr/>
          <a:lstStyle/>
          <a:p>
            <a:endParaRPr lang="es-MX"/>
          </a:p>
        </p:txBody>
      </p:sp>
      <p:sp>
        <p:nvSpPr>
          <p:cNvPr id="28" name="ChipText"/>
          <p:cNvSpPr/>
          <p:nvPr/>
        </p:nvSpPr>
        <p:spPr>
          <a:xfrm>
            <a:off x="731520" y="5562360"/>
            <a:ext cx="640080" cy="320040"/>
          </a:xfrm>
          <a:prstGeom prst="rect">
            <a:avLst/>
          </a:prstGeom>
          <a:noFill/>
          <a:ln/>
        </p:spPr>
        <p:txBody>
          <a:bodyPr wrap="square" rtlCol="0" anchor="ctr"/>
          <a:lstStyle/>
          <a:p>
            <a:pPr marL="0" indent="0" algn="ctr">
              <a:buNone/>
            </a:pPr>
            <a:r>
              <a:rPr lang="en-US" sz="1200" b="1" dirty="0">
                <a:solidFill>
                  <a:srgbClr val="BE123C"/>
                </a:solidFill>
                <a:latin typeface="Calibri" pitchFamily="34" charset="0"/>
                <a:ea typeface="Calibri" pitchFamily="34" charset="-122"/>
                <a:cs typeface="Calibri" pitchFamily="34" charset="-120"/>
              </a:rPr>
              <a:t>S5</a:t>
            </a:r>
            <a:endParaRPr lang="en-US" sz="1200" dirty="0"/>
          </a:p>
        </p:txBody>
      </p:sp>
      <p:sp>
        <p:nvSpPr>
          <p:cNvPr id="29" name="Headline"/>
          <p:cNvSpPr/>
          <p:nvPr/>
        </p:nvSpPr>
        <p:spPr>
          <a:xfrm>
            <a:off x="1554480" y="5478880"/>
            <a:ext cx="9902952" cy="320040"/>
          </a:xfrm>
          <a:prstGeom prst="rect">
            <a:avLst/>
          </a:prstGeom>
          <a:noFill/>
          <a:ln/>
        </p:spPr>
        <p:txBody>
          <a:bodyPr wrap="square" rtlCol="0" anchor="t"/>
          <a:lstStyle/>
          <a:p>
            <a:pPr marL="0" indent="0">
              <a:buNone/>
            </a:pPr>
            <a:r>
              <a:rPr lang="en-US" sz="1400" b="1" dirty="0">
                <a:solidFill>
                  <a:srgbClr val="0F172A"/>
                </a:solidFill>
                <a:latin typeface="Calibri" pitchFamily="34" charset="0"/>
                <a:ea typeface="Calibri" pitchFamily="34" charset="-122"/>
                <a:cs typeface="Calibri" pitchFamily="34" charset="-120"/>
              </a:rPr>
              <a:t>Asumir exactitud sin verificar</a:t>
            </a:r>
            <a:endParaRPr lang="en-US" sz="1400" dirty="0"/>
          </a:p>
        </p:txBody>
      </p:sp>
      <p:sp>
        <p:nvSpPr>
          <p:cNvPr id="30" name="Desc"/>
          <p:cNvSpPr/>
          <p:nvPr/>
        </p:nvSpPr>
        <p:spPr>
          <a:xfrm>
            <a:off x="1554480" y="5830880"/>
            <a:ext cx="9902952" cy="230000"/>
          </a:xfrm>
          <a:prstGeom prst="rect">
            <a:avLst/>
          </a:prstGeom>
          <a:noFill/>
          <a:ln/>
        </p:spPr>
        <p:txBody>
          <a:bodyPr wrap="square" rtlCol="0" anchor="t"/>
          <a:lstStyle/>
          <a:p>
            <a:pPr marL="0" indent="0">
              <a:buNone/>
            </a:pPr>
            <a:r>
              <a:rPr lang="en-US" sz="1150" dirty="0">
                <a:solidFill>
                  <a:srgbClr val="475569"/>
                </a:solidFill>
                <a:latin typeface="Calibri" pitchFamily="34" charset="0"/>
                <a:ea typeface="Calibri" pitchFamily="34" charset="-122"/>
                <a:cs typeface="Calibri" pitchFamily="34" charset="-120"/>
              </a:rPr>
              <a:t>M_y = N_x es obligatorio antes de integrar; si falla, necesitan un factor integrante.</a:t>
            </a:r>
            <a:endParaRPr lang="en-US" sz="1150" dirty="0"/>
          </a:p>
        </p:txBody>
      </p:sp>
      <p:sp>
        <p:nvSpPr>
          <p:cNvPr id="31" name="Text F"/>
          <p:cNvSpPr/>
          <p:nvPr/>
        </p:nvSpPr>
        <p:spPr>
          <a:xfrm>
            <a:off x="11521440" y="6446520"/>
            <a:ext cx="457200" cy="292608"/>
          </a:xfrm>
          <a:prstGeom prst="rect">
            <a:avLst/>
          </a:prstGeom>
          <a:noFill/>
          <a:ln/>
        </p:spPr>
        <p:txBody>
          <a:bodyPr wrap="square" rtlCol="0" anchor="ctr"/>
          <a:lstStyle/>
          <a:p>
            <a:pPr marL="0" indent="0" algn="r">
              <a:buNone/>
            </a:pPr>
            <a:r>
              <a:rPr lang="en-US" sz="1200" dirty="0">
                <a:solidFill>
                  <a:srgbClr val="475569"/>
                </a:solidFill>
                <a:latin typeface="Calibri" pitchFamily="34" charset="0"/>
                <a:ea typeface="Calibri" pitchFamily="34" charset="-122"/>
                <a:cs typeface="Calibri"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412480" y="-2103120"/>
            <a:ext cx="4572000" cy="4572000"/>
          </a:xfrm>
          <a:prstGeom prst="ellipse">
            <a:avLst/>
          </a:prstGeom>
          <a:solidFill>
            <a:srgbClr val="6D28D9"/>
          </a:solidFill>
          <a:ln/>
        </p:spPr>
        <p:txBody>
          <a:bodyPr/>
          <a:lstStyle/>
          <a:p>
            <a:endParaRPr lang="es-MX"/>
          </a:p>
        </p:txBody>
      </p:sp>
      <p:sp>
        <p:nvSpPr>
          <p:cNvPr id="3" name="Shape 1"/>
          <p:cNvSpPr/>
          <p:nvPr/>
        </p:nvSpPr>
        <p:spPr>
          <a:xfrm>
            <a:off x="548640" y="365760"/>
            <a:ext cx="1828800" cy="384048"/>
          </a:xfrm>
          <a:prstGeom prst="roundRect">
            <a:avLst>
              <a:gd name="adj" fmla="val 50000"/>
            </a:avLst>
          </a:prstGeom>
          <a:solidFill>
            <a:srgbClr val="EDE9FE"/>
          </a:solidFill>
          <a:ln/>
        </p:spPr>
        <p:txBody>
          <a:bodyPr/>
          <a:lstStyle/>
          <a:p>
            <a:endParaRPr lang="es-MX"/>
          </a:p>
        </p:txBody>
      </p:sp>
      <p:sp>
        <p:nvSpPr>
          <p:cNvPr id="4" name="Text 2"/>
          <p:cNvSpPr/>
          <p:nvPr/>
        </p:nvSpPr>
        <p:spPr>
          <a:xfrm>
            <a:off x="548640" y="365760"/>
            <a:ext cx="1828800" cy="384048"/>
          </a:xfrm>
          <a:prstGeom prst="rect">
            <a:avLst/>
          </a:prstGeom>
          <a:noFill/>
          <a:ln/>
        </p:spPr>
        <p:txBody>
          <a:bodyPr wrap="square" rtlCol="0" anchor="ctr"/>
          <a:lstStyle/>
          <a:p>
            <a:pPr marL="0" indent="0" algn="ctr">
              <a:buNone/>
            </a:pPr>
            <a:r>
              <a:rPr lang="en-US" sz="1300" b="1" kern="0" spc="100" dirty="0">
                <a:solidFill>
                  <a:srgbClr val="6D28D9"/>
                </a:solidFill>
                <a:latin typeface="Calibri" pitchFamily="34" charset="0"/>
                <a:ea typeface="Calibri" pitchFamily="34" charset="-122"/>
                <a:cs typeface="Calibri" pitchFamily="34" charset="-120"/>
              </a:rPr>
              <a:t>CONCLUSIÓN</a:t>
            </a:r>
            <a:endParaRPr lang="en-US" sz="1300" dirty="0"/>
          </a:p>
        </p:txBody>
      </p:sp>
      <p:sp>
        <p:nvSpPr>
          <p:cNvPr id="5" name="Text 3"/>
          <p:cNvSpPr/>
          <p:nvPr/>
        </p:nvSpPr>
        <p:spPr>
          <a:xfrm>
            <a:off x="548640" y="868680"/>
            <a:ext cx="11091672" cy="731520"/>
          </a:xfrm>
          <a:prstGeom prst="rect">
            <a:avLst/>
          </a:prstGeom>
          <a:noFill/>
          <a:ln/>
        </p:spPr>
        <p:txBody>
          <a:bodyPr wrap="square" rtlCol="0" anchor="t"/>
          <a:lstStyle/>
          <a:p>
            <a:pPr marL="0" indent="0" algn="l">
              <a:buNone/>
            </a:pPr>
            <a:r>
              <a:rPr lang="en-US" sz="3400" b="1" dirty="0">
                <a:solidFill>
                  <a:srgbClr val="0F172A"/>
                </a:solidFill>
                <a:latin typeface="Calibri" pitchFamily="34" charset="0"/>
                <a:ea typeface="Calibri" pitchFamily="34" charset="-122"/>
                <a:cs typeface="Calibri" pitchFamily="34" charset="-120"/>
              </a:rPr>
              <a:t>Resumen de la Sesión</a:t>
            </a:r>
            <a:endParaRPr lang="en-US" sz="3400" dirty="0"/>
          </a:p>
        </p:txBody>
      </p:sp>
      <p:sp>
        <p:nvSpPr>
          <p:cNvPr id="6" name="Shape 4"/>
          <p:cNvSpPr/>
          <p:nvPr/>
        </p:nvSpPr>
        <p:spPr>
          <a:xfrm>
            <a:off x="777240" y="1965960"/>
            <a:ext cx="3429000" cy="2331720"/>
          </a:xfrm>
          <a:prstGeom prst="roundRect">
            <a:avLst>
              <a:gd name="adj" fmla="val 3922"/>
            </a:avLst>
          </a:prstGeom>
          <a:solidFill>
            <a:srgbClr val="F1F5F9"/>
          </a:solidFill>
          <a:ln w="12700">
            <a:solidFill>
              <a:srgbClr val="E2E8F0"/>
            </a:solidFill>
            <a:prstDash val="solid"/>
          </a:ln>
        </p:spPr>
        <p:txBody>
          <a:bodyPr/>
          <a:lstStyle/>
          <a:p>
            <a:endParaRPr lang="es-MX"/>
          </a:p>
        </p:txBody>
      </p:sp>
      <p:sp>
        <p:nvSpPr>
          <p:cNvPr id="7" name="Text 5"/>
          <p:cNvSpPr/>
          <p:nvPr/>
        </p:nvSpPr>
        <p:spPr>
          <a:xfrm>
            <a:off x="777240" y="2194560"/>
            <a:ext cx="3429000" cy="685800"/>
          </a:xfrm>
          <a:prstGeom prst="rect">
            <a:avLst/>
          </a:prstGeom>
          <a:noFill/>
          <a:ln/>
        </p:spPr>
        <p:txBody>
          <a:bodyPr wrap="square" rtlCol="0" anchor="ctr"/>
          <a:lstStyle/>
          <a:p>
            <a:pPr marL="0" indent="0" algn="ctr">
              <a:buNone/>
            </a:pPr>
            <a:r>
              <a:rPr lang="en-US" sz="3400" dirty="0">
                <a:solidFill>
                  <a:srgbClr val="000000"/>
                </a:solidFill>
              </a:rPr>
              <a:t>🧭</a:t>
            </a:r>
            <a:endParaRPr lang="en-US" sz="3400" dirty="0"/>
          </a:p>
        </p:txBody>
      </p:sp>
      <p:sp>
        <p:nvSpPr>
          <p:cNvPr id="8" name="Text 6"/>
          <p:cNvSpPr/>
          <p:nvPr/>
        </p:nvSpPr>
        <p:spPr>
          <a:xfrm>
            <a:off x="960120" y="2880360"/>
            <a:ext cx="3063240" cy="520000"/>
          </a:xfrm>
          <a:prstGeom prst="rect">
            <a:avLst/>
          </a:prstGeom>
          <a:noFill/>
          <a:ln/>
        </p:spPr>
        <p:txBody>
          <a:bodyPr wrap="square" rtlCol="0" anchor="ctr"/>
          <a:lstStyle/>
          <a:p>
            <a:pPr marL="0" indent="0" algn="ctr">
              <a:buNone/>
            </a:pPr>
            <a:r>
              <a:rPr lang="en-US" sz="1500" b="1" dirty="0">
                <a:solidFill>
                  <a:srgbClr val="0F172A"/>
                </a:solidFill>
                <a:latin typeface="Calibri" pitchFamily="34" charset="0"/>
                <a:ea typeface="Calibri" pitchFamily="34" charset="-122"/>
                <a:cs typeface="Calibri" pitchFamily="34" charset="-120"/>
              </a:rPr>
              <a:t>El Pipeline Completo</a:t>
            </a:r>
            <a:endParaRPr lang="en-US" sz="1500" dirty="0"/>
          </a:p>
        </p:txBody>
      </p:sp>
      <p:sp>
        <p:nvSpPr>
          <p:cNvPr id="9" name="Text 7"/>
          <p:cNvSpPr/>
          <p:nvPr/>
        </p:nvSpPr>
        <p:spPr>
          <a:xfrm>
            <a:off x="914400" y="3446080"/>
            <a:ext cx="3154680" cy="760160"/>
          </a:xfrm>
          <a:prstGeom prst="rect">
            <a:avLst/>
          </a:prstGeom>
          <a:noFill/>
          <a:ln/>
        </p:spPr>
        <p:txBody>
          <a:bodyPr wrap="square" rtlCol="0" anchor="t"/>
          <a:lstStyle/>
          <a:p>
            <a:pPr marL="0" indent="0" algn="ctr">
              <a:lnSpc>
                <a:spcPct val="125000"/>
              </a:lnSpc>
              <a:buNone/>
            </a:pPr>
            <a:r>
              <a:rPr lang="en-US" sz="1100" dirty="0">
                <a:solidFill>
                  <a:srgbClr val="475569"/>
                </a:solidFill>
                <a:latin typeface="Calibri" pitchFamily="34" charset="0"/>
                <a:ea typeface="Calibri" pitchFamily="34" charset="-122"/>
                <a:cs typeface="Calibri" pitchFamily="34" charset="-120"/>
              </a:rPr>
              <a:t>Formular, clasificar, verificar, resolver e interpretar — en ese orden, siempre.</a:t>
            </a:r>
            <a:endParaRPr lang="en-US" sz="1100" dirty="0"/>
          </a:p>
        </p:txBody>
      </p:sp>
      <p:sp>
        <p:nvSpPr>
          <p:cNvPr id="10" name="Shape 8"/>
          <p:cNvSpPr/>
          <p:nvPr/>
        </p:nvSpPr>
        <p:spPr>
          <a:xfrm>
            <a:off x="4572000" y="1965960"/>
            <a:ext cx="3429000" cy="2331720"/>
          </a:xfrm>
          <a:prstGeom prst="roundRect">
            <a:avLst>
              <a:gd name="adj" fmla="val 3922"/>
            </a:avLst>
          </a:prstGeom>
          <a:solidFill>
            <a:srgbClr val="F1F5F9"/>
          </a:solidFill>
          <a:ln w="12700">
            <a:solidFill>
              <a:srgbClr val="E2E8F0"/>
            </a:solidFill>
            <a:prstDash val="solid"/>
          </a:ln>
        </p:spPr>
        <p:txBody>
          <a:bodyPr/>
          <a:lstStyle/>
          <a:p>
            <a:endParaRPr lang="es-MX"/>
          </a:p>
        </p:txBody>
      </p:sp>
      <p:sp>
        <p:nvSpPr>
          <p:cNvPr id="11" name="Text 9"/>
          <p:cNvSpPr/>
          <p:nvPr/>
        </p:nvSpPr>
        <p:spPr>
          <a:xfrm>
            <a:off x="4572000" y="2194560"/>
            <a:ext cx="3429000" cy="685800"/>
          </a:xfrm>
          <a:prstGeom prst="rect">
            <a:avLst/>
          </a:prstGeom>
          <a:noFill/>
          <a:ln/>
        </p:spPr>
        <p:txBody>
          <a:bodyPr wrap="square" rtlCol="0" anchor="ctr"/>
          <a:lstStyle/>
          <a:p>
            <a:pPr marL="0" indent="0" algn="ctr">
              <a:buNone/>
            </a:pPr>
            <a:r>
              <a:rPr lang="en-US" sz="3400" dirty="0">
                <a:solidFill>
                  <a:srgbClr val="000000"/>
                </a:solidFill>
              </a:rPr>
              <a:t>🔀</a:t>
            </a:r>
            <a:endParaRPr lang="en-US" sz="3400" dirty="0"/>
          </a:p>
        </p:txBody>
      </p:sp>
      <p:sp>
        <p:nvSpPr>
          <p:cNvPr id="12" name="Text 10"/>
          <p:cNvSpPr/>
          <p:nvPr/>
        </p:nvSpPr>
        <p:spPr>
          <a:xfrm>
            <a:off x="4754880" y="2880360"/>
            <a:ext cx="3063240" cy="520000"/>
          </a:xfrm>
          <a:prstGeom prst="rect">
            <a:avLst/>
          </a:prstGeom>
          <a:noFill/>
          <a:ln/>
        </p:spPr>
        <p:txBody>
          <a:bodyPr wrap="square" rtlCol="0" anchor="ctr"/>
          <a:lstStyle/>
          <a:p>
            <a:pPr marL="0" indent="0" algn="ctr">
              <a:buNone/>
            </a:pPr>
            <a:r>
              <a:rPr lang="en-US" sz="1500" b="1" dirty="0">
                <a:solidFill>
                  <a:srgbClr val="0F172A"/>
                </a:solidFill>
                <a:latin typeface="Calibri" pitchFamily="34" charset="0"/>
                <a:ea typeface="Calibri" pitchFamily="34" charset="-122"/>
                <a:cs typeface="Calibri" pitchFamily="34" charset="-120"/>
              </a:rPr>
              <a:t>Un Modelo, Varias Herramientas</a:t>
            </a:r>
            <a:endParaRPr lang="en-US" sz="1500" dirty="0"/>
          </a:p>
        </p:txBody>
      </p:sp>
      <p:sp>
        <p:nvSpPr>
          <p:cNvPr id="13" name="Text 11"/>
          <p:cNvSpPr/>
          <p:nvPr/>
        </p:nvSpPr>
        <p:spPr>
          <a:xfrm>
            <a:off x="4709160" y="3446080"/>
            <a:ext cx="3154680" cy="760160"/>
          </a:xfrm>
          <a:prstGeom prst="rect">
            <a:avLst/>
          </a:prstGeom>
          <a:noFill/>
          <a:ln/>
        </p:spPr>
        <p:txBody>
          <a:bodyPr wrap="square" rtlCol="0" anchor="t"/>
          <a:lstStyle/>
          <a:p>
            <a:pPr marL="0" indent="0" algn="ctr">
              <a:lnSpc>
                <a:spcPct val="125000"/>
              </a:lnSpc>
              <a:buNone/>
            </a:pPr>
            <a:r>
              <a:rPr lang="en-US" sz="1100" dirty="0">
                <a:solidFill>
                  <a:srgbClr val="475569"/>
                </a:solidFill>
                <a:latin typeface="Calibri" pitchFamily="34" charset="0"/>
                <a:ea typeface="Calibri" pitchFamily="34" charset="-122"/>
                <a:cs typeface="Calibri" pitchFamily="34" charset="-120"/>
              </a:rPr>
              <a:t>El enfriamiento y el decaimiento son separables Y lineales a la vez: la 'técnica correcta' a veces es la que más control les da.</a:t>
            </a:r>
            <a:endParaRPr lang="en-US" sz="1100" dirty="0"/>
          </a:p>
        </p:txBody>
      </p:sp>
      <p:sp>
        <p:nvSpPr>
          <p:cNvPr id="14" name="Shape 12"/>
          <p:cNvSpPr/>
          <p:nvPr/>
        </p:nvSpPr>
        <p:spPr>
          <a:xfrm>
            <a:off x="8366760" y="1965960"/>
            <a:ext cx="3429000" cy="2331720"/>
          </a:xfrm>
          <a:prstGeom prst="roundRect">
            <a:avLst>
              <a:gd name="adj" fmla="val 3922"/>
            </a:avLst>
          </a:prstGeom>
          <a:solidFill>
            <a:srgbClr val="F1F5F9"/>
          </a:solidFill>
          <a:ln w="12700">
            <a:solidFill>
              <a:srgbClr val="E2E8F0"/>
            </a:solidFill>
            <a:prstDash val="solid"/>
          </a:ln>
        </p:spPr>
        <p:txBody>
          <a:bodyPr/>
          <a:lstStyle/>
          <a:p>
            <a:endParaRPr lang="es-MX"/>
          </a:p>
        </p:txBody>
      </p:sp>
      <p:sp>
        <p:nvSpPr>
          <p:cNvPr id="15" name="Text 13"/>
          <p:cNvSpPr/>
          <p:nvPr/>
        </p:nvSpPr>
        <p:spPr>
          <a:xfrm>
            <a:off x="8366760" y="2194560"/>
            <a:ext cx="3429000" cy="685800"/>
          </a:xfrm>
          <a:prstGeom prst="rect">
            <a:avLst/>
          </a:prstGeom>
          <a:noFill/>
          <a:ln/>
        </p:spPr>
        <p:txBody>
          <a:bodyPr wrap="square" rtlCol="0" anchor="ctr"/>
          <a:lstStyle/>
          <a:p>
            <a:pPr marL="0" indent="0" algn="ctr">
              <a:buNone/>
            </a:pPr>
            <a:r>
              <a:rPr lang="en-US" sz="3400" dirty="0">
                <a:solidFill>
                  <a:srgbClr val="000000"/>
                </a:solidFill>
              </a:rPr>
              <a:t>⚖️</a:t>
            </a:r>
            <a:endParaRPr lang="en-US" sz="3400" dirty="0"/>
          </a:p>
        </p:txBody>
      </p:sp>
      <p:sp>
        <p:nvSpPr>
          <p:cNvPr id="16" name="Text 14"/>
          <p:cNvSpPr/>
          <p:nvPr/>
        </p:nvSpPr>
        <p:spPr>
          <a:xfrm>
            <a:off x="8549640" y="2880360"/>
            <a:ext cx="3063240" cy="520000"/>
          </a:xfrm>
          <a:prstGeom prst="rect">
            <a:avLst/>
          </a:prstGeom>
          <a:noFill/>
          <a:ln/>
        </p:spPr>
        <p:txBody>
          <a:bodyPr wrap="square" rtlCol="0" anchor="ctr"/>
          <a:lstStyle/>
          <a:p>
            <a:pPr marL="0" indent="0" algn="ctr">
              <a:buNone/>
            </a:pPr>
            <a:r>
              <a:rPr lang="en-US" sz="1500" b="1" dirty="0">
                <a:solidFill>
                  <a:srgbClr val="0F172A"/>
                </a:solidFill>
                <a:latin typeface="Calibri" pitchFamily="34" charset="0"/>
                <a:ea typeface="Calibri" pitchFamily="34" charset="-122"/>
                <a:cs typeface="Calibri" pitchFamily="34" charset="-120"/>
              </a:rPr>
              <a:t>El Rigor Es Parte del Entregable</a:t>
            </a:r>
            <a:endParaRPr lang="en-US" sz="1500" dirty="0"/>
          </a:p>
        </p:txBody>
      </p:sp>
      <p:sp>
        <p:nvSpPr>
          <p:cNvPr id="17" name="Text 15"/>
          <p:cNvSpPr/>
          <p:nvPr/>
        </p:nvSpPr>
        <p:spPr>
          <a:xfrm>
            <a:off x="8503920" y="3446080"/>
            <a:ext cx="3154680" cy="760160"/>
          </a:xfrm>
          <a:prstGeom prst="rect">
            <a:avLst/>
          </a:prstGeom>
          <a:noFill/>
          <a:ln/>
        </p:spPr>
        <p:txBody>
          <a:bodyPr wrap="square" rtlCol="0" anchor="t"/>
          <a:lstStyle/>
          <a:p>
            <a:pPr marL="0" indent="0" algn="ctr">
              <a:lnSpc>
                <a:spcPct val="125000"/>
              </a:lnSpc>
              <a:buNone/>
            </a:pPr>
            <a:r>
              <a:rPr lang="en-US" sz="1100" dirty="0">
                <a:solidFill>
                  <a:srgbClr val="475569"/>
                </a:solidFill>
                <a:latin typeface="Calibri" pitchFamily="34" charset="0"/>
                <a:ea typeface="Calibri" pitchFamily="34" charset="-122"/>
                <a:cs typeface="Calibri" pitchFamily="34" charset="-120"/>
              </a:rPr>
              <a:t>Un resultado sin verificar existencia y unicidad, ni interpretar sus unidades, no es un modelo — es una adivinanza con álgebra.</a:t>
            </a:r>
            <a:endParaRPr lang="en-US" sz="1100" dirty="0"/>
          </a:p>
        </p:txBody>
      </p:sp>
      <p:sp>
        <p:nvSpPr>
          <p:cNvPr id="18" name="Shape 16"/>
          <p:cNvSpPr/>
          <p:nvPr/>
        </p:nvSpPr>
        <p:spPr>
          <a:xfrm>
            <a:off x="548640" y="4709160"/>
            <a:ext cx="11091672" cy="1417320"/>
          </a:xfrm>
          <a:prstGeom prst="roundRect">
            <a:avLst>
              <a:gd name="adj" fmla="val 6452"/>
            </a:avLst>
          </a:prstGeom>
          <a:solidFill>
            <a:srgbClr val="EDE9FE"/>
          </a:solidFill>
          <a:ln/>
        </p:spPr>
        <p:txBody>
          <a:bodyPr/>
          <a:lstStyle/>
          <a:p>
            <a:endParaRPr lang="es-MX"/>
          </a:p>
        </p:txBody>
      </p:sp>
      <p:sp>
        <p:nvSpPr>
          <p:cNvPr id="19" name="Text 17"/>
          <p:cNvSpPr/>
          <p:nvPr/>
        </p:nvSpPr>
        <p:spPr>
          <a:xfrm>
            <a:off x="914400" y="4709160"/>
            <a:ext cx="10360152" cy="1417320"/>
          </a:xfrm>
          <a:prstGeom prst="rect">
            <a:avLst/>
          </a:prstGeom>
          <a:noFill/>
          <a:ln/>
        </p:spPr>
        <p:txBody>
          <a:bodyPr wrap="square" rtlCol="0" anchor="ctr"/>
          <a:lstStyle/>
          <a:p>
            <a:pPr marL="0" indent="0" algn="ctr">
              <a:lnSpc>
                <a:spcPct val="132000"/>
              </a:lnSpc>
              <a:buNone/>
            </a:pPr>
            <a:r>
              <a:rPr lang="en-US" sz="1450" b="1" dirty="0">
                <a:solidFill>
                  <a:srgbClr val="5B21B6"/>
                </a:solidFill>
                <a:latin typeface="Calibri" pitchFamily="34" charset="0"/>
                <a:ea typeface="Calibri" pitchFamily="34" charset="-122"/>
                <a:cs typeface="Calibri" pitchFamily="34" charset="-120"/>
              </a:rPr>
              <a:t>💼  Próximo paso de las Firmas:  </a:t>
            </a:r>
            <a:r>
              <a:rPr lang="en-US" sz="1450" dirty="0">
                <a:solidFill>
                  <a:srgbClr val="5B21B6"/>
                </a:solidFill>
                <a:latin typeface="Calibri" pitchFamily="34" charset="0"/>
                <a:ea typeface="Calibri" pitchFamily="34" charset="-122"/>
                <a:cs typeface="Calibri" pitchFamily="34" charset="-120"/>
              </a:rPr>
              <a:t>Ya saben modelar con las herramientas que tienen. ¿Pero qué pasa cuando la ecuación no es separable, ni lineal, ni exacta? En la próxima sesión conoceremos las sustituciones — Ecuaciones Homogéneas y de Bernoulli — para transformar lo desconocido en algo que ya sabemos resolver.</a:t>
            </a:r>
            <a:endParaRPr lang="en-US" sz="1450" dirty="0"/>
          </a:p>
        </p:txBody>
      </p:sp>
      <p:sp>
        <p:nvSpPr>
          <p:cNvPr id="20" name="Text 18"/>
          <p:cNvSpPr/>
          <p:nvPr/>
        </p:nvSpPr>
        <p:spPr>
          <a:xfrm>
            <a:off x="11521440" y="6446520"/>
            <a:ext cx="457200" cy="292608"/>
          </a:xfrm>
          <a:prstGeom prst="rect">
            <a:avLst/>
          </a:prstGeom>
          <a:noFill/>
          <a:ln/>
        </p:spPr>
        <p:txBody>
          <a:bodyPr wrap="square" rtlCol="0" anchor="ctr"/>
          <a:lstStyle/>
          <a:p>
            <a:pPr marL="0" indent="0" algn="r">
              <a:buNone/>
            </a:pPr>
            <a:r>
              <a:rPr lang="en-US" sz="1200" dirty="0">
                <a:solidFill>
                  <a:srgbClr val="475569"/>
                </a:solidFill>
                <a:latin typeface="Calibri" pitchFamily="34" charset="0"/>
                <a:ea typeface="Calibri" pitchFamily="34" charset="-122"/>
                <a:cs typeface="Calibri" pitchFamily="34" charset="-120"/>
              </a:rPr>
              <a:t>15</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TotalTime>
  <Words>1868</Words>
  <Application>Microsoft Office PowerPoint</Application>
  <PresentationFormat>Widescreen</PresentationFormat>
  <Paragraphs>191</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Eduardo Javier Serna Duarte</cp:lastModifiedBy>
  <cp:revision>2</cp:revision>
  <dcterms:created xsi:type="dcterms:W3CDTF">2026-08-24T18:02:16Z</dcterms:created>
  <dcterms:modified xsi:type="dcterms:W3CDTF">2026-09-03T00:16:38Z</dcterms:modified>
</cp:coreProperties>
</file>